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 id="2147483828" r:id="rId2"/>
  </p:sldMasterIdLst>
  <p:notesMasterIdLst>
    <p:notesMasterId r:id="rId41"/>
  </p:notesMasterIdLst>
  <p:sldIdLst>
    <p:sldId id="256" r:id="rId3"/>
    <p:sldId id="257" r:id="rId4"/>
    <p:sldId id="259" r:id="rId5"/>
    <p:sldId id="258" r:id="rId6"/>
    <p:sldId id="261" r:id="rId7"/>
    <p:sldId id="260" r:id="rId8"/>
    <p:sldId id="262" r:id="rId9"/>
    <p:sldId id="264" r:id="rId10"/>
    <p:sldId id="266" r:id="rId11"/>
    <p:sldId id="267" r:id="rId12"/>
    <p:sldId id="270" r:id="rId13"/>
    <p:sldId id="272" r:id="rId14"/>
    <p:sldId id="271" r:id="rId15"/>
    <p:sldId id="275" r:id="rId16"/>
    <p:sldId id="276" r:id="rId17"/>
    <p:sldId id="277" r:id="rId18"/>
    <p:sldId id="278" r:id="rId19"/>
    <p:sldId id="279" r:id="rId20"/>
    <p:sldId id="281" r:id="rId21"/>
    <p:sldId id="282" r:id="rId22"/>
    <p:sldId id="283" r:id="rId23"/>
    <p:sldId id="284" r:id="rId24"/>
    <p:sldId id="285" r:id="rId25"/>
    <p:sldId id="286" r:id="rId26"/>
    <p:sldId id="288" r:id="rId27"/>
    <p:sldId id="287" r:id="rId28"/>
    <p:sldId id="290" r:id="rId29"/>
    <p:sldId id="291" r:id="rId30"/>
    <p:sldId id="292" r:id="rId31"/>
    <p:sldId id="293" r:id="rId32"/>
    <p:sldId id="296" r:id="rId33"/>
    <p:sldId id="297" r:id="rId34"/>
    <p:sldId id="298" r:id="rId35"/>
    <p:sldId id="294" r:id="rId36"/>
    <p:sldId id="295" r:id="rId37"/>
    <p:sldId id="299" r:id="rId38"/>
    <p:sldId id="300" r:id="rId39"/>
    <p:sldId id="30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660"/>
  </p:normalViewPr>
  <p:slideViewPr>
    <p:cSldViewPr snapToGrid="0">
      <p:cViewPr varScale="1">
        <p:scale>
          <a:sx n="86" d="100"/>
          <a:sy n="86"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0746A-1847-40EC-B93C-F7873E555D98}" type="datetimeFigureOut">
              <a:rPr lang="en-US" smtClean="0"/>
              <a:t>4/9/2018</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6FAC4-1E03-49E8-BD28-AF1566EF4093}" type="slidenum">
              <a:rPr lang="en-US" smtClean="0"/>
              <a:t>‹#›</a:t>
            </a:fld>
            <a:endParaRPr lang="en-US"/>
          </a:p>
        </p:txBody>
      </p:sp>
    </p:spTree>
    <p:extLst>
      <p:ext uri="{BB962C8B-B14F-4D97-AF65-F5344CB8AC3E}">
        <p14:creationId xmlns:p14="http://schemas.microsoft.com/office/powerpoint/2010/main" val="4179859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82310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9448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6B51CB8E-6F81-4EA9-97B5-248BF9D22C8A}" type="datetimeFigureOut">
              <a:rPr lang="en-US" smtClean="0"/>
              <a:t>4/9/2018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9848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6B51CB8E-6F81-4EA9-97B5-248BF9D22C8A}" type="datetimeFigureOut">
              <a:rPr lang="en-US" smtClean="0"/>
              <a:t>4/9/2018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905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45127" y="2507550"/>
            <a:ext cx="5156200"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6172200" y="2507550"/>
            <a:ext cx="5181601"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B51CB8E-6F81-4EA9-97B5-248BF9D22C8A}" type="datetimeFigureOut">
              <a:rPr lang="en-US" smtClean="0"/>
              <a:t>4/9/2018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DC7EB3-5AE8-4FED-A667-9442F52E7975}" type="slidenum">
              <a:rPr lang="en-US" smtClean="0"/>
              <a:t>‹#›</a:t>
            </a:fld>
            <a:endParaRPr lang="en-US"/>
          </a:p>
        </p:txBody>
      </p:sp>
      <p:sp>
        <p:nvSpPr>
          <p:cNvPr id="10" name="Title 9"/>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418815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B51CB8E-6F81-4EA9-97B5-248BF9D22C8A}" type="datetimeFigureOut">
              <a:rPr lang="en-US" smtClean="0"/>
              <a:t>4/9/2018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DC7EB3-5AE8-4FED-A667-9442F52E7975}" type="slidenum">
              <a:rPr lang="en-US" smtClean="0"/>
              <a:t>‹#›</a:t>
            </a:fld>
            <a:endParaRPr lang="en-US"/>
          </a:p>
        </p:txBody>
      </p:sp>
      <p:sp>
        <p:nvSpPr>
          <p:cNvPr id="6" name="Title 5"/>
          <p:cNvSpPr>
            <a:spLocks noGrp="1"/>
          </p:cNvSpPr>
          <p:nvPr>
            <p:ph type="title"/>
          </p:nvPr>
        </p:nvSpPr>
        <p:spPr/>
        <p:txBody>
          <a:bodyPr/>
          <a:lstStyle/>
          <a:p>
            <a:r>
              <a:rPr lang="ko-KR" altLang="en-US"/>
              <a:t>마스터 제목 스타일 편집</a:t>
            </a:r>
            <a:endParaRPr lang="en-US"/>
          </a:p>
        </p:txBody>
      </p:sp>
    </p:spTree>
    <p:extLst>
      <p:ext uri="{BB962C8B-B14F-4D97-AF65-F5344CB8AC3E}">
        <p14:creationId xmlns:p14="http://schemas.microsoft.com/office/powerpoint/2010/main" val="277249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1CB8E-6F81-4EA9-97B5-248BF9D22C8A}" type="datetimeFigureOut">
              <a:rPr lang="en-US" smtClean="0"/>
              <a:t>4/9/2018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20478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ko-KR" altLang="en-US"/>
              <a:t>마스터 제목 스타일 편집</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4/9/2018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94833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ko-KR" altLang="en-US"/>
              <a:t>마스터 제목 스타일 편집</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4/9/2018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23229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92998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B51CB8E-6F81-4EA9-97B5-248BF9D22C8A}" type="datetimeFigureOut">
              <a:rPr lang="en-US" smtClean="0"/>
              <a:t>4/9/2018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1115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E778D0-FFC8-41A2-B947-98DA5567D1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13FE50C6-4AE6-4854-9690-468A21E4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85CC4856-83A7-4A2E-94B0-9B59BEA46A6D}"/>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5" name="바닥글 개체 틀 4">
            <a:extLst>
              <a:ext uri="{FF2B5EF4-FFF2-40B4-BE49-F238E27FC236}">
                <a16:creationId xmlns:a16="http://schemas.microsoft.com/office/drawing/2014/main" id="{81ADA6B5-36DA-4622-977E-C5EE2D797A0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D64629E-5C28-40C0-BE9C-C384FD89C126}"/>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283425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5390A2-6434-466B-B133-59B47A53BDF5}"/>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4BB85408-5405-43F3-A997-A5686CB94D15}"/>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AF144089-4D32-4F98-A7FB-1C2A8F3484AF}"/>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5" name="바닥글 개체 틀 4">
            <a:extLst>
              <a:ext uri="{FF2B5EF4-FFF2-40B4-BE49-F238E27FC236}">
                <a16:creationId xmlns:a16="http://schemas.microsoft.com/office/drawing/2014/main" id="{D7CE616D-41EF-418F-A2DB-F20A6BC0FC7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9010034-811C-4DD9-A1C6-D621CFFF5C7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48386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68C6EF-60E1-435A-9C44-04A6091F806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AFD2ED5B-91D1-4F8A-8EF6-4279E4857B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78E68F84-151A-4C60-A3B2-A14C668FA552}"/>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5" name="바닥글 개체 틀 4">
            <a:extLst>
              <a:ext uri="{FF2B5EF4-FFF2-40B4-BE49-F238E27FC236}">
                <a16:creationId xmlns:a16="http://schemas.microsoft.com/office/drawing/2014/main" id="{A292B3AA-C5D3-4832-8649-68BDB7487DFE}"/>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386E432-659F-44D8-8A12-8103CF70B771}"/>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84794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32EB8B-677E-4694-A127-91719DD3DC5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ECDC3F7-1B55-4876-BD32-3ED444C9060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a:extLst>
              <a:ext uri="{FF2B5EF4-FFF2-40B4-BE49-F238E27FC236}">
                <a16:creationId xmlns:a16="http://schemas.microsoft.com/office/drawing/2014/main" id="{92E494C3-D018-424F-9050-572713E91683}"/>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a:extLst>
              <a:ext uri="{FF2B5EF4-FFF2-40B4-BE49-F238E27FC236}">
                <a16:creationId xmlns:a16="http://schemas.microsoft.com/office/drawing/2014/main" id="{06A2F95C-92E5-4C9D-AC9B-2966B84EB5CE}"/>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6" name="바닥글 개체 틀 5">
            <a:extLst>
              <a:ext uri="{FF2B5EF4-FFF2-40B4-BE49-F238E27FC236}">
                <a16:creationId xmlns:a16="http://schemas.microsoft.com/office/drawing/2014/main" id="{584F9551-3C93-4A80-BDDC-AA153393454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46AE71EF-8BA6-43D5-810C-030E0FD55C5B}"/>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345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1A59D0-50BB-4170-BE00-42EF8EECFC9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D9ED1FFE-B351-410A-9A93-BE911A56C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7D3C85-3EEF-4978-B964-F1D03497B7C3}"/>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a:extLst>
              <a:ext uri="{FF2B5EF4-FFF2-40B4-BE49-F238E27FC236}">
                <a16:creationId xmlns:a16="http://schemas.microsoft.com/office/drawing/2014/main" id="{D5E88F12-E7A7-437A-AA0B-C98CD8E0E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7898A3E-6654-40A8-A650-6E10B53188E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a:extLst>
              <a:ext uri="{FF2B5EF4-FFF2-40B4-BE49-F238E27FC236}">
                <a16:creationId xmlns:a16="http://schemas.microsoft.com/office/drawing/2014/main" id="{78793AD4-71BB-44BC-A819-00BBEEC948B3}"/>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8" name="바닥글 개체 틀 7">
            <a:extLst>
              <a:ext uri="{FF2B5EF4-FFF2-40B4-BE49-F238E27FC236}">
                <a16:creationId xmlns:a16="http://schemas.microsoft.com/office/drawing/2014/main" id="{CC0C474A-9D29-4AC6-8099-6936A0E575AB}"/>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C22D096-7FC8-4B85-8DD2-B78BD83B609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445372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9AB49E-DD91-4743-92FB-333855004BE6}"/>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7AE0E5B3-D27E-4B0B-A82F-85B74A4375AF}"/>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4" name="바닥글 개체 틀 3">
            <a:extLst>
              <a:ext uri="{FF2B5EF4-FFF2-40B4-BE49-F238E27FC236}">
                <a16:creationId xmlns:a16="http://schemas.microsoft.com/office/drawing/2014/main" id="{55F03F2D-2E51-47B2-9792-4A28229B2DA9}"/>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40E86D9-06A5-423D-9C31-F9F01177E1DF}"/>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164234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00617D2-FE63-4DB6-BD5C-11EE21791A69}"/>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3" name="바닥글 개체 틀 2">
            <a:extLst>
              <a:ext uri="{FF2B5EF4-FFF2-40B4-BE49-F238E27FC236}">
                <a16:creationId xmlns:a16="http://schemas.microsoft.com/office/drawing/2014/main" id="{1711279F-9A6E-47B3-9E75-B09142F8F915}"/>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FCC0ED18-147D-426B-9BDD-47F0CE69CC3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1777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74A789-8FA9-42C2-BEFB-69AD8A34321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E60AB4-FE26-42E4-A180-FA71B0343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a:extLst>
              <a:ext uri="{FF2B5EF4-FFF2-40B4-BE49-F238E27FC236}">
                <a16:creationId xmlns:a16="http://schemas.microsoft.com/office/drawing/2014/main" id="{2B10925E-B44B-4012-8EC7-A74A62A74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05E7592C-F6DE-4074-8536-7C84DF98C4F4}"/>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6" name="바닥글 개체 틀 5">
            <a:extLst>
              <a:ext uri="{FF2B5EF4-FFF2-40B4-BE49-F238E27FC236}">
                <a16:creationId xmlns:a16="http://schemas.microsoft.com/office/drawing/2014/main" id="{8BFFF679-1D3C-43D1-879D-9C72BEF3F3F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0A742E1-198A-4145-A47C-D4260E3C8138}"/>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4002161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69BCFA-8E3D-45E0-A5E3-B6C5C7EAF26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A4E60FB5-BCE8-4367-A632-8ACED7768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AE884AB8-4C1E-4530-9662-D640EA6E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142870E-9785-42DB-AFAE-67F54B4C5585}"/>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6" name="바닥글 개체 틀 5">
            <a:extLst>
              <a:ext uri="{FF2B5EF4-FFF2-40B4-BE49-F238E27FC236}">
                <a16:creationId xmlns:a16="http://schemas.microsoft.com/office/drawing/2014/main" id="{894BBD24-2034-4783-814F-E89080E8BF9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E4CF8DE-F01A-4779-9306-48C82822047E}"/>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24044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B82F0D-D432-49E7-9257-67F148EFBE20}"/>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50BB3D6E-B8FE-40AC-9CE1-EE9EAC32405E}"/>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C986245-99D4-4649-AC16-BA8FCD2187BF}"/>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5" name="바닥글 개체 틀 4">
            <a:extLst>
              <a:ext uri="{FF2B5EF4-FFF2-40B4-BE49-F238E27FC236}">
                <a16:creationId xmlns:a16="http://schemas.microsoft.com/office/drawing/2014/main" id="{05575F22-0CA1-46F3-8E0C-39BE6690750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0E33A0-8EEF-46E0-BCCB-52BD11470EF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51314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13BE6CC-C1FF-4C17-B34B-0A76B083633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A4585AA7-3746-4B4D-AF4D-FCC51BCC64B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E4FA8AE-CD0B-461D-82D3-C07B14B5B226}"/>
              </a:ext>
            </a:extLst>
          </p:cNvPr>
          <p:cNvSpPr>
            <a:spLocks noGrp="1"/>
          </p:cNvSpPr>
          <p:nvPr>
            <p:ph type="dt" sz="half" idx="10"/>
          </p:nvPr>
        </p:nvSpPr>
        <p:spPr/>
        <p:txBody>
          <a:bodyPr/>
          <a:lstStyle/>
          <a:p>
            <a:fld id="{6B51CB8E-6F81-4EA9-97B5-248BF9D22C8A}" type="datetimeFigureOut">
              <a:rPr lang="en-US" smtClean="0"/>
              <a:t>4/9/2018</a:t>
            </a:fld>
            <a:endParaRPr lang="en-US"/>
          </a:p>
        </p:txBody>
      </p:sp>
      <p:sp>
        <p:nvSpPr>
          <p:cNvPr id="5" name="바닥글 개체 틀 4">
            <a:extLst>
              <a:ext uri="{FF2B5EF4-FFF2-40B4-BE49-F238E27FC236}">
                <a16:creationId xmlns:a16="http://schemas.microsoft.com/office/drawing/2014/main" id="{E224693C-45D0-4197-81DE-EFF297EB153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52520C0C-F115-4D8E-9B96-6D53880C9C33}"/>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79720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B51CB8E-6F81-4EA9-97B5-248BF9D22C8A}" type="datetimeFigureOut">
              <a:rPr lang="en-US" smtClean="0"/>
              <a:t>4/9/2018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398897856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279CF3A-34F9-4D70-B5AF-11E9FE85AF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FEA94A1-E614-4C83-97E7-4191D8659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2B4E1FAA-6D6A-4AA7-9C6D-935F7F5D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1CB8E-6F81-4EA9-97B5-248BF9D22C8A}" type="datetimeFigureOut">
              <a:rPr lang="en-US" smtClean="0"/>
              <a:t>4/9/2018</a:t>
            </a:fld>
            <a:endParaRPr lang="en-US"/>
          </a:p>
        </p:txBody>
      </p:sp>
      <p:sp>
        <p:nvSpPr>
          <p:cNvPr id="5" name="바닥글 개체 틀 4">
            <a:extLst>
              <a:ext uri="{FF2B5EF4-FFF2-40B4-BE49-F238E27FC236}">
                <a16:creationId xmlns:a16="http://schemas.microsoft.com/office/drawing/2014/main" id="{CF9DAEA3-9658-4897-9B7E-6310FDF2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a:extLst>
              <a:ext uri="{FF2B5EF4-FFF2-40B4-BE49-F238E27FC236}">
                <a16:creationId xmlns:a16="http://schemas.microsoft.com/office/drawing/2014/main" id="{8B099C83-9D8F-49C9-BAC8-4DA77C413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17656720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76D051-E4B5-482E-B56D-9743B8F63B61}"/>
              </a:ext>
            </a:extLst>
          </p:cNvPr>
          <p:cNvSpPr>
            <a:spLocks noGrp="1"/>
          </p:cNvSpPr>
          <p:nvPr>
            <p:ph type="ctrTitle"/>
          </p:nvPr>
        </p:nvSpPr>
        <p:spPr>
          <a:xfrm>
            <a:off x="1162975" y="1839318"/>
            <a:ext cx="9866050" cy="820029"/>
          </a:xfrm>
        </p:spPr>
        <p:txBody>
          <a:bodyPr>
            <a:noAutofit/>
          </a:bodyPr>
          <a:lstStyle/>
          <a:p>
            <a:r>
              <a:rPr lang="en-US" dirty="0"/>
              <a:t>Social Network Analysis</a:t>
            </a:r>
          </a:p>
        </p:txBody>
      </p:sp>
      <p:sp>
        <p:nvSpPr>
          <p:cNvPr id="3" name="부제목 2">
            <a:extLst>
              <a:ext uri="{FF2B5EF4-FFF2-40B4-BE49-F238E27FC236}">
                <a16:creationId xmlns:a16="http://schemas.microsoft.com/office/drawing/2014/main" id="{9C1003AF-8E5C-46DF-8B69-6FDCCB43535B}"/>
              </a:ext>
            </a:extLst>
          </p:cNvPr>
          <p:cNvSpPr>
            <a:spLocks noGrp="1"/>
          </p:cNvSpPr>
          <p:nvPr>
            <p:ph type="subTitle" idx="1"/>
          </p:nvPr>
        </p:nvSpPr>
        <p:spPr>
          <a:xfrm>
            <a:off x="3311370" y="5032044"/>
            <a:ext cx="8528482" cy="1655762"/>
          </a:xfrm>
        </p:spPr>
        <p:txBody>
          <a:bodyPr>
            <a:normAutofit fontScale="92500" lnSpcReduction="20000"/>
          </a:bodyPr>
          <a:lstStyle/>
          <a:p>
            <a:pPr algn="r"/>
            <a:r>
              <a:rPr lang="en-US" dirty="0"/>
              <a:t>Prof. </a:t>
            </a:r>
            <a:r>
              <a:rPr lang="en-US" dirty="0" err="1"/>
              <a:t>Keeheon</a:t>
            </a:r>
            <a:r>
              <a:rPr lang="en-US" dirty="0"/>
              <a:t> Lee</a:t>
            </a:r>
          </a:p>
          <a:p>
            <a:pPr algn="r"/>
            <a:endParaRPr lang="en-US" dirty="0"/>
          </a:p>
          <a:p>
            <a:pPr algn="r"/>
            <a:r>
              <a:rPr lang="en-US" dirty="0"/>
              <a:t>TA. </a:t>
            </a:r>
            <a:r>
              <a:rPr lang="en-US" dirty="0" err="1"/>
              <a:t>Jaekeun</a:t>
            </a:r>
            <a:r>
              <a:rPr lang="en-US" dirty="0"/>
              <a:t> Lee</a:t>
            </a:r>
            <a:br>
              <a:rPr lang="en-US" dirty="0"/>
            </a:br>
            <a:r>
              <a:rPr lang="en-US" dirty="0"/>
              <a:t>010-5599-9411</a:t>
            </a:r>
            <a:br>
              <a:rPr lang="en-US" dirty="0"/>
            </a:br>
            <a:r>
              <a:rPr lang="en-US" dirty="0"/>
              <a:t>agdal1125@gmail.com</a:t>
            </a:r>
          </a:p>
        </p:txBody>
      </p:sp>
      <p:sp>
        <p:nvSpPr>
          <p:cNvPr id="4" name="제목 1">
            <a:extLst>
              <a:ext uri="{FF2B5EF4-FFF2-40B4-BE49-F238E27FC236}">
                <a16:creationId xmlns:a16="http://schemas.microsoft.com/office/drawing/2014/main" id="{2FBAF3C4-19D9-4DA7-8BC8-3BB32DC4E825}"/>
              </a:ext>
            </a:extLst>
          </p:cNvPr>
          <p:cNvSpPr txBox="1">
            <a:spLocks/>
          </p:cNvSpPr>
          <p:nvPr/>
        </p:nvSpPr>
        <p:spPr>
          <a:xfrm>
            <a:off x="838200" y="224933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t>Graph Theory and Social Networks</a:t>
            </a:r>
          </a:p>
        </p:txBody>
      </p:sp>
    </p:spTree>
    <p:extLst>
      <p:ext uri="{BB962C8B-B14F-4D97-AF65-F5344CB8AC3E}">
        <p14:creationId xmlns:p14="http://schemas.microsoft.com/office/powerpoint/2010/main" val="2579392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88DDFD7D-610F-4AE3-9776-3F48FEC95545}"/>
              </a:ext>
            </a:extLst>
          </p:cNvPr>
          <p:cNvSpPr>
            <a:spLocks noGrp="1"/>
          </p:cNvSpPr>
          <p:nvPr>
            <p:ph type="title"/>
          </p:nvPr>
        </p:nvSpPr>
        <p:spPr>
          <a:xfrm>
            <a:off x="838199" y="834501"/>
            <a:ext cx="7409156" cy="4074850"/>
          </a:xfrm>
        </p:spPr>
        <p:txBody>
          <a:bodyPr>
            <a:normAutofit fontScale="90000"/>
          </a:bodyPr>
          <a:lstStyle/>
          <a:p>
            <a:r>
              <a:rPr lang="en-US" dirty="0"/>
              <a:t>Table of Contents</a:t>
            </a:r>
            <a:br>
              <a:rPr lang="en-US" dirty="0"/>
            </a:br>
            <a:br>
              <a:rPr lang="en-US" dirty="0"/>
            </a:br>
            <a:r>
              <a:rPr lang="en-US" sz="3600" dirty="0"/>
              <a:t>- Graphs</a:t>
            </a:r>
            <a:br>
              <a:rPr lang="en-US" sz="3600" dirty="0"/>
            </a:br>
            <a:r>
              <a:rPr lang="en-US" sz="3600" dirty="0"/>
              <a:t>- Strong and Weak Ties</a:t>
            </a:r>
            <a:br>
              <a:rPr lang="en-US" sz="3600" dirty="0"/>
            </a:br>
            <a:r>
              <a:rPr lang="en-US" sz="3600" dirty="0"/>
              <a:t>- Networks in their surrounding Contexts</a:t>
            </a:r>
            <a:br>
              <a:rPr lang="en-US" sz="3600" dirty="0"/>
            </a:br>
            <a:r>
              <a:rPr lang="en-US" sz="3600" dirty="0"/>
              <a:t>- Positive and Negative Relationship</a:t>
            </a:r>
            <a:br>
              <a:rPr lang="en-US" dirty="0"/>
            </a:br>
            <a:endParaRPr lang="en-US" dirty="0"/>
          </a:p>
        </p:txBody>
      </p:sp>
    </p:spTree>
    <p:extLst>
      <p:ext uri="{BB962C8B-B14F-4D97-AF65-F5344CB8AC3E}">
        <p14:creationId xmlns:p14="http://schemas.microsoft.com/office/powerpoint/2010/main" val="3491649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37DCE1-86B7-4714-91A2-8AEE73D48EAF}"/>
              </a:ext>
            </a:extLst>
          </p:cNvPr>
          <p:cNvSpPr>
            <a:spLocks noGrp="1"/>
          </p:cNvSpPr>
          <p:nvPr>
            <p:ph type="title"/>
          </p:nvPr>
        </p:nvSpPr>
        <p:spPr>
          <a:xfrm>
            <a:off x="4753253" y="2664442"/>
            <a:ext cx="10515600" cy="1325563"/>
          </a:xfrm>
        </p:spPr>
        <p:txBody>
          <a:bodyPr/>
          <a:lstStyle/>
          <a:p>
            <a:r>
              <a:rPr lang="en-US" b="1" dirty="0"/>
              <a:t>Graphs</a:t>
            </a:r>
          </a:p>
        </p:txBody>
      </p:sp>
    </p:spTree>
    <p:extLst>
      <p:ext uri="{BB962C8B-B14F-4D97-AF65-F5344CB8AC3E}">
        <p14:creationId xmlns:p14="http://schemas.microsoft.com/office/powerpoint/2010/main" val="753801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p:txBody>
          <a:bodyPr/>
          <a:lstStyle/>
          <a:p>
            <a:r>
              <a:rPr lang="en-US" dirty="0"/>
              <a:t>Basic Definitions</a:t>
            </a:r>
          </a:p>
        </p:txBody>
      </p:sp>
      <p:sp>
        <p:nvSpPr>
          <p:cNvPr id="3" name="내용 개체 틀 2">
            <a:extLst>
              <a:ext uri="{FF2B5EF4-FFF2-40B4-BE49-F238E27FC236}">
                <a16:creationId xmlns:a16="http://schemas.microsoft.com/office/drawing/2014/main" id="{38CC2954-A864-4FFA-8ED8-6E91B7655A77}"/>
              </a:ext>
            </a:extLst>
          </p:cNvPr>
          <p:cNvSpPr>
            <a:spLocks noGrp="1"/>
          </p:cNvSpPr>
          <p:nvPr>
            <p:ph idx="1"/>
          </p:nvPr>
        </p:nvSpPr>
        <p:spPr>
          <a:xfrm>
            <a:off x="838200" y="1580251"/>
            <a:ext cx="10631750" cy="1166215"/>
          </a:xfrm>
        </p:spPr>
        <p:txBody>
          <a:bodyPr>
            <a:normAutofit fontScale="92500" lnSpcReduction="10000"/>
          </a:bodyPr>
          <a:lstStyle/>
          <a:p>
            <a:pPr marL="0" indent="0">
              <a:buNone/>
            </a:pPr>
            <a:r>
              <a:rPr lang="en-US" i="1" dirty="0"/>
              <a:t>Graph </a:t>
            </a:r>
            <a:r>
              <a:rPr lang="en-US" dirty="0"/>
              <a:t> </a:t>
            </a:r>
          </a:p>
          <a:p>
            <a:pPr lvl="1"/>
            <a:r>
              <a:rPr lang="en-US" dirty="0"/>
              <a:t>a way of specifying relationships among a collection of items</a:t>
            </a:r>
          </a:p>
          <a:p>
            <a:pPr lvl="1"/>
            <a:r>
              <a:rPr lang="en-US" dirty="0"/>
              <a:t>consists of nodes and edges</a:t>
            </a:r>
          </a:p>
          <a:p>
            <a:pPr marL="0" indent="0">
              <a:buNone/>
            </a:pPr>
            <a:endParaRPr lang="en-US" dirty="0"/>
          </a:p>
        </p:txBody>
      </p:sp>
      <p:grpSp>
        <p:nvGrpSpPr>
          <p:cNvPr id="19" name="그룹 18">
            <a:extLst>
              <a:ext uri="{FF2B5EF4-FFF2-40B4-BE49-F238E27FC236}">
                <a16:creationId xmlns:a16="http://schemas.microsoft.com/office/drawing/2014/main" id="{48CEF78B-12F0-4008-87B5-037102E6377E}"/>
              </a:ext>
            </a:extLst>
          </p:cNvPr>
          <p:cNvGrpSpPr/>
          <p:nvPr/>
        </p:nvGrpSpPr>
        <p:grpSpPr>
          <a:xfrm>
            <a:off x="3103281" y="3846004"/>
            <a:ext cx="1767702" cy="2297344"/>
            <a:chOff x="2095131" y="3097352"/>
            <a:chExt cx="2166152" cy="2815177"/>
          </a:xfrm>
        </p:grpSpPr>
        <p:sp>
          <p:nvSpPr>
            <p:cNvPr id="4" name="타원 3">
              <a:extLst>
                <a:ext uri="{FF2B5EF4-FFF2-40B4-BE49-F238E27FC236}">
                  <a16:creationId xmlns:a16="http://schemas.microsoft.com/office/drawing/2014/main" id="{163242E2-493B-4946-A155-6B96275476F3}"/>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타원 4">
              <a:extLst>
                <a:ext uri="{FF2B5EF4-FFF2-40B4-BE49-F238E27FC236}">
                  <a16:creationId xmlns:a16="http://schemas.microsoft.com/office/drawing/2014/main" id="{D6A40A57-0D69-4121-9DF1-BB6E632985B0}"/>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타원 5">
              <a:extLst>
                <a:ext uri="{FF2B5EF4-FFF2-40B4-BE49-F238E27FC236}">
                  <a16:creationId xmlns:a16="http://schemas.microsoft.com/office/drawing/2014/main" id="{3F27F442-7161-43EA-B9FF-C2AB46B242CB}"/>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타원 6">
              <a:extLst>
                <a:ext uri="{FF2B5EF4-FFF2-40B4-BE49-F238E27FC236}">
                  <a16:creationId xmlns:a16="http://schemas.microsoft.com/office/drawing/2014/main" id="{8E96D93A-3B8F-4D3E-BD31-23DF54F42B64}"/>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타원 7">
              <a:extLst>
                <a:ext uri="{FF2B5EF4-FFF2-40B4-BE49-F238E27FC236}">
                  <a16:creationId xmlns:a16="http://schemas.microsoft.com/office/drawing/2014/main" id="{1BEFBD87-E90A-4EDF-9D92-55FD6464FCC0}"/>
                </a:ext>
              </a:extLst>
            </p:cNvPr>
            <p:cNvSpPr/>
            <p:nvPr/>
          </p:nvSpPr>
          <p:spPr>
            <a:xfrm>
              <a:off x="2117327"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직선 연결선 10">
              <a:extLst>
                <a:ext uri="{FF2B5EF4-FFF2-40B4-BE49-F238E27FC236}">
                  <a16:creationId xmlns:a16="http://schemas.microsoft.com/office/drawing/2014/main" id="{E55E54A9-DFE5-457F-8767-4748F44E3239}"/>
                </a:ext>
              </a:extLst>
            </p:cNvPr>
            <p:cNvCxnSpPr>
              <a:stCxn id="4" idx="4"/>
              <a:endCxn id="5"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7A27F4E1-F87A-43F7-A909-FE9F7EF34119}"/>
                </a:ext>
              </a:extLst>
            </p:cNvPr>
            <p:cNvCxnSpPr>
              <a:cxnSpLocks/>
              <a:stCxn id="7" idx="6"/>
              <a:endCxn id="6"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81EBDE83-6D03-4415-B47C-9D00EBBF0061}"/>
                </a:ext>
              </a:extLst>
            </p:cNvPr>
            <p:cNvCxnSpPr>
              <a:cxnSpLocks/>
              <a:stCxn id="8" idx="7"/>
              <a:endCxn id="5" idx="3"/>
            </p:cNvCxnSpPr>
            <p:nvPr/>
          </p:nvCxnSpPr>
          <p:spPr>
            <a:xfrm flipV="1">
              <a:off x="2458318" y="5045201"/>
              <a:ext cx="591962"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타원 8">
              <a:extLst>
                <a:ext uri="{FF2B5EF4-FFF2-40B4-BE49-F238E27FC236}">
                  <a16:creationId xmlns:a16="http://schemas.microsoft.com/office/drawing/2014/main" id="{35168F95-4DE9-4735-962A-5CE86F23EF9F}"/>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그룹 19">
            <a:extLst>
              <a:ext uri="{FF2B5EF4-FFF2-40B4-BE49-F238E27FC236}">
                <a16:creationId xmlns:a16="http://schemas.microsoft.com/office/drawing/2014/main" id="{009F903B-B26E-4CCC-AD2D-7C307BB5035F}"/>
              </a:ext>
            </a:extLst>
          </p:cNvPr>
          <p:cNvGrpSpPr/>
          <p:nvPr/>
        </p:nvGrpSpPr>
        <p:grpSpPr>
          <a:xfrm>
            <a:off x="7407557" y="3846004"/>
            <a:ext cx="1767702" cy="2297344"/>
            <a:chOff x="2095131" y="3097352"/>
            <a:chExt cx="2166152" cy="2815177"/>
          </a:xfrm>
        </p:grpSpPr>
        <p:sp>
          <p:nvSpPr>
            <p:cNvPr id="21" name="타원 20">
              <a:extLst>
                <a:ext uri="{FF2B5EF4-FFF2-40B4-BE49-F238E27FC236}">
                  <a16:creationId xmlns:a16="http://schemas.microsoft.com/office/drawing/2014/main" id="{86076045-82D1-4106-96C6-D0162066ECFB}"/>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타원 21">
              <a:extLst>
                <a:ext uri="{FF2B5EF4-FFF2-40B4-BE49-F238E27FC236}">
                  <a16:creationId xmlns:a16="http://schemas.microsoft.com/office/drawing/2014/main" id="{30287D58-1477-47B0-879E-CD63E912312E}"/>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타원 22">
              <a:extLst>
                <a:ext uri="{FF2B5EF4-FFF2-40B4-BE49-F238E27FC236}">
                  <a16:creationId xmlns:a16="http://schemas.microsoft.com/office/drawing/2014/main" id="{83E94EA2-5CF8-4601-B246-C9CAEAB314AA}"/>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타원 23">
              <a:extLst>
                <a:ext uri="{FF2B5EF4-FFF2-40B4-BE49-F238E27FC236}">
                  <a16:creationId xmlns:a16="http://schemas.microsoft.com/office/drawing/2014/main" id="{9A1F2F37-E534-43E0-8E96-817E45FD44A0}"/>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타원 24">
              <a:extLst>
                <a:ext uri="{FF2B5EF4-FFF2-40B4-BE49-F238E27FC236}">
                  <a16:creationId xmlns:a16="http://schemas.microsoft.com/office/drawing/2014/main" id="{DDB07A36-532C-4174-8D91-F00A086B974A}"/>
                </a:ext>
              </a:extLst>
            </p:cNvPr>
            <p:cNvSpPr/>
            <p:nvPr/>
          </p:nvSpPr>
          <p:spPr>
            <a:xfrm>
              <a:off x="2117327"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직선 연결선 25">
              <a:extLst>
                <a:ext uri="{FF2B5EF4-FFF2-40B4-BE49-F238E27FC236}">
                  <a16:creationId xmlns:a16="http://schemas.microsoft.com/office/drawing/2014/main" id="{4D923444-56A0-4FB4-92BD-B8FFFBA66743}"/>
                </a:ext>
              </a:extLst>
            </p:cNvPr>
            <p:cNvCxnSpPr>
              <a:cxnSpLocks/>
              <a:stCxn id="21" idx="4"/>
              <a:endCxn id="29" idx="0"/>
            </p:cNvCxnSpPr>
            <p:nvPr/>
          </p:nvCxnSpPr>
          <p:spPr>
            <a:xfrm>
              <a:off x="3191523" y="3496848"/>
              <a:ext cx="0" cy="403933"/>
            </a:xfrm>
            <a:prstGeom prst="line">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B4AECDCF-0FF0-49EA-B377-5D8E43B9C733}"/>
                </a:ext>
              </a:extLst>
            </p:cNvPr>
            <p:cNvCxnSpPr>
              <a:cxnSpLocks/>
              <a:stCxn id="24" idx="6"/>
              <a:endCxn id="23" idx="2"/>
            </p:cNvCxnSpPr>
            <p:nvPr/>
          </p:nvCxnSpPr>
          <p:spPr>
            <a:xfrm>
              <a:off x="2494627" y="4101484"/>
              <a:ext cx="1367160" cy="0"/>
            </a:xfrm>
            <a:prstGeom prst="line">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직선 연결선 27">
              <a:extLst>
                <a:ext uri="{FF2B5EF4-FFF2-40B4-BE49-F238E27FC236}">
                  <a16:creationId xmlns:a16="http://schemas.microsoft.com/office/drawing/2014/main" id="{3FDAEC6C-901F-409D-B5C0-F3CC4F23EA0D}"/>
                </a:ext>
              </a:extLst>
            </p:cNvPr>
            <p:cNvCxnSpPr>
              <a:cxnSpLocks/>
              <a:stCxn id="25" idx="7"/>
              <a:endCxn id="22" idx="3"/>
            </p:cNvCxnSpPr>
            <p:nvPr/>
          </p:nvCxnSpPr>
          <p:spPr>
            <a:xfrm flipV="1">
              <a:off x="2458318" y="5045201"/>
              <a:ext cx="591962" cy="526337"/>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타원 28">
              <a:extLst>
                <a:ext uri="{FF2B5EF4-FFF2-40B4-BE49-F238E27FC236}">
                  <a16:creationId xmlns:a16="http://schemas.microsoft.com/office/drawing/2014/main" id="{9D3221C2-B170-48D5-8229-B300F446B874}"/>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직선 연결선 30">
              <a:extLst>
                <a:ext uri="{FF2B5EF4-FFF2-40B4-BE49-F238E27FC236}">
                  <a16:creationId xmlns:a16="http://schemas.microsoft.com/office/drawing/2014/main" id="{F70DDF1B-80A8-417F-873D-76EC6AF12109}"/>
                </a:ext>
              </a:extLst>
            </p:cNvPr>
            <p:cNvCxnSpPr>
              <a:cxnSpLocks/>
              <a:stCxn id="29" idx="4"/>
              <a:endCxn id="22" idx="0"/>
            </p:cNvCxnSpPr>
            <p:nvPr/>
          </p:nvCxnSpPr>
          <p:spPr>
            <a:xfrm>
              <a:off x="3191523" y="4300277"/>
              <a:ext cx="0" cy="403933"/>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2" name="그룹 41">
            <a:extLst>
              <a:ext uri="{FF2B5EF4-FFF2-40B4-BE49-F238E27FC236}">
                <a16:creationId xmlns:a16="http://schemas.microsoft.com/office/drawing/2014/main" id="{22E0DB3E-B445-4A5E-A8AF-60573735114F}"/>
              </a:ext>
            </a:extLst>
          </p:cNvPr>
          <p:cNvGrpSpPr/>
          <p:nvPr/>
        </p:nvGrpSpPr>
        <p:grpSpPr>
          <a:xfrm>
            <a:off x="555860" y="4097923"/>
            <a:ext cx="1745201" cy="1000431"/>
            <a:chOff x="838200" y="3311371"/>
            <a:chExt cx="1745201" cy="1000431"/>
          </a:xfrm>
        </p:grpSpPr>
        <p:cxnSp>
          <p:nvCxnSpPr>
            <p:cNvPr id="35" name="직선 연결선 34">
              <a:extLst>
                <a:ext uri="{FF2B5EF4-FFF2-40B4-BE49-F238E27FC236}">
                  <a16:creationId xmlns:a16="http://schemas.microsoft.com/office/drawing/2014/main" id="{63973334-9F8C-4796-B91E-D04F29644A56}"/>
                </a:ext>
              </a:extLst>
            </p:cNvPr>
            <p:cNvCxnSpPr>
              <a:cxnSpLocks/>
            </p:cNvCxnSpPr>
            <p:nvPr/>
          </p:nvCxnSpPr>
          <p:spPr>
            <a:xfrm>
              <a:off x="1136155" y="4106826"/>
              <a:ext cx="2354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그룹 40">
              <a:extLst>
                <a:ext uri="{FF2B5EF4-FFF2-40B4-BE49-F238E27FC236}">
                  <a16:creationId xmlns:a16="http://schemas.microsoft.com/office/drawing/2014/main" id="{69BB440D-FE17-4A4A-98C5-6A09EB80F220}"/>
                </a:ext>
              </a:extLst>
            </p:cNvPr>
            <p:cNvGrpSpPr/>
            <p:nvPr/>
          </p:nvGrpSpPr>
          <p:grpSpPr>
            <a:xfrm>
              <a:off x="838200" y="3311371"/>
              <a:ext cx="1745201" cy="1000431"/>
              <a:chOff x="838200" y="3311371"/>
              <a:chExt cx="1745201" cy="1000431"/>
            </a:xfrm>
          </p:grpSpPr>
          <p:sp>
            <p:nvSpPr>
              <p:cNvPr id="40" name="직사각형 39">
                <a:extLst>
                  <a:ext uri="{FF2B5EF4-FFF2-40B4-BE49-F238E27FC236}">
                    <a16:creationId xmlns:a16="http://schemas.microsoft.com/office/drawing/2014/main" id="{B2006176-74ED-4748-A1A4-D56A3BFCD547}"/>
                  </a:ext>
                </a:extLst>
              </p:cNvPr>
              <p:cNvSpPr/>
              <p:nvPr/>
            </p:nvSpPr>
            <p:spPr>
              <a:xfrm>
                <a:off x="838200" y="3311371"/>
                <a:ext cx="1585375" cy="100043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타원 33">
                <a:extLst>
                  <a:ext uri="{FF2B5EF4-FFF2-40B4-BE49-F238E27FC236}">
                    <a16:creationId xmlns:a16="http://schemas.microsoft.com/office/drawing/2014/main" id="{BF699A33-481B-4382-A844-8650C9301A14}"/>
                  </a:ext>
                </a:extLst>
              </p:cNvPr>
              <p:cNvSpPr/>
              <p:nvPr/>
            </p:nvSpPr>
            <p:spPr>
              <a:xfrm>
                <a:off x="1136155" y="3489828"/>
                <a:ext cx="235444" cy="235444"/>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4520D3D0-C384-42FC-8210-8A5AB8D73FAB}"/>
                  </a:ext>
                </a:extLst>
              </p:cNvPr>
              <p:cNvSpPr txBox="1"/>
              <p:nvPr/>
            </p:nvSpPr>
            <p:spPr>
              <a:xfrm>
                <a:off x="1597980" y="3432206"/>
                <a:ext cx="985421" cy="383712"/>
              </a:xfrm>
              <a:prstGeom prst="rect">
                <a:avLst/>
              </a:prstGeom>
              <a:noFill/>
            </p:spPr>
            <p:txBody>
              <a:bodyPr wrap="square" rtlCol="0">
                <a:spAutoFit/>
              </a:bodyPr>
              <a:lstStyle/>
              <a:p>
                <a:r>
                  <a:rPr lang="en-US" dirty="0"/>
                  <a:t>Node</a:t>
                </a:r>
              </a:p>
            </p:txBody>
          </p:sp>
          <p:sp>
            <p:nvSpPr>
              <p:cNvPr id="38" name="TextBox 37">
                <a:extLst>
                  <a:ext uri="{FF2B5EF4-FFF2-40B4-BE49-F238E27FC236}">
                    <a16:creationId xmlns:a16="http://schemas.microsoft.com/office/drawing/2014/main" id="{8B9124D2-88BF-4D16-99C0-B781A846CDBD}"/>
                  </a:ext>
                </a:extLst>
              </p:cNvPr>
              <p:cNvSpPr txBox="1"/>
              <p:nvPr/>
            </p:nvSpPr>
            <p:spPr>
              <a:xfrm>
                <a:off x="1597980" y="3894906"/>
                <a:ext cx="985421" cy="383712"/>
              </a:xfrm>
              <a:prstGeom prst="rect">
                <a:avLst/>
              </a:prstGeom>
              <a:noFill/>
            </p:spPr>
            <p:txBody>
              <a:bodyPr wrap="square" rtlCol="0">
                <a:spAutoFit/>
              </a:bodyPr>
              <a:lstStyle/>
              <a:p>
                <a:r>
                  <a:rPr lang="en-US" dirty="0"/>
                  <a:t>Edge</a:t>
                </a:r>
              </a:p>
            </p:txBody>
          </p:sp>
        </p:grpSp>
      </p:grpSp>
      <p:sp>
        <p:nvSpPr>
          <p:cNvPr id="43" name="내용 개체 틀 2">
            <a:extLst>
              <a:ext uri="{FF2B5EF4-FFF2-40B4-BE49-F238E27FC236}">
                <a16:creationId xmlns:a16="http://schemas.microsoft.com/office/drawing/2014/main" id="{31123BEA-CEFD-4D30-9EBD-62139E085CB4}"/>
              </a:ext>
            </a:extLst>
          </p:cNvPr>
          <p:cNvSpPr txBox="1">
            <a:spLocks/>
          </p:cNvSpPr>
          <p:nvPr/>
        </p:nvSpPr>
        <p:spPr>
          <a:xfrm>
            <a:off x="896275" y="2932955"/>
            <a:ext cx="10515600" cy="73114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i="1" dirty="0"/>
              <a:t>Node :</a:t>
            </a:r>
            <a:r>
              <a:rPr lang="en-US" dirty="0"/>
              <a:t> object in a graph</a:t>
            </a:r>
          </a:p>
          <a:p>
            <a:pPr marL="457200" lvl="1" indent="0">
              <a:buNone/>
            </a:pPr>
            <a:r>
              <a:rPr lang="en-US" i="1" dirty="0"/>
              <a:t>Edge </a:t>
            </a:r>
            <a:r>
              <a:rPr lang="en-US" dirty="0"/>
              <a:t>: link that connect a pair of objects</a:t>
            </a:r>
          </a:p>
        </p:txBody>
      </p:sp>
      <p:sp>
        <p:nvSpPr>
          <p:cNvPr id="44" name="직사각형 43">
            <a:extLst>
              <a:ext uri="{FF2B5EF4-FFF2-40B4-BE49-F238E27FC236}">
                <a16:creationId xmlns:a16="http://schemas.microsoft.com/office/drawing/2014/main" id="{37812EDC-816C-4EA1-BEF2-20D82A26B20E}"/>
              </a:ext>
            </a:extLst>
          </p:cNvPr>
          <p:cNvSpPr/>
          <p:nvPr/>
        </p:nvSpPr>
        <p:spPr>
          <a:xfrm>
            <a:off x="2681921" y="6348824"/>
            <a:ext cx="2306144" cy="369332"/>
          </a:xfrm>
          <a:prstGeom prst="rect">
            <a:avLst/>
          </a:prstGeom>
        </p:spPr>
        <p:txBody>
          <a:bodyPr wrap="none">
            <a:spAutoFit/>
          </a:bodyPr>
          <a:lstStyle/>
          <a:p>
            <a:pPr lvl="1"/>
            <a:r>
              <a:rPr lang="en-US" i="1" dirty="0"/>
              <a:t>Undirected Graph</a:t>
            </a:r>
            <a:endParaRPr lang="en-US" dirty="0"/>
          </a:p>
        </p:txBody>
      </p:sp>
      <p:sp>
        <p:nvSpPr>
          <p:cNvPr id="45" name="직사각형 44">
            <a:extLst>
              <a:ext uri="{FF2B5EF4-FFF2-40B4-BE49-F238E27FC236}">
                <a16:creationId xmlns:a16="http://schemas.microsoft.com/office/drawing/2014/main" id="{C77215D5-D04A-42D4-ADB7-8A5E03058389}"/>
              </a:ext>
            </a:extLst>
          </p:cNvPr>
          <p:cNvSpPr/>
          <p:nvPr/>
        </p:nvSpPr>
        <p:spPr>
          <a:xfrm>
            <a:off x="6940182" y="6348824"/>
            <a:ext cx="2064091" cy="369332"/>
          </a:xfrm>
          <a:prstGeom prst="rect">
            <a:avLst/>
          </a:prstGeom>
        </p:spPr>
        <p:txBody>
          <a:bodyPr wrap="none">
            <a:spAutoFit/>
          </a:bodyPr>
          <a:lstStyle/>
          <a:p>
            <a:pPr lvl="1"/>
            <a:r>
              <a:rPr lang="en-US" i="1" dirty="0"/>
              <a:t>Directed Graph</a:t>
            </a:r>
            <a:endParaRPr lang="en-US" dirty="0"/>
          </a:p>
        </p:txBody>
      </p:sp>
    </p:spTree>
    <p:extLst>
      <p:ext uri="{BB962C8B-B14F-4D97-AF65-F5344CB8AC3E}">
        <p14:creationId xmlns:p14="http://schemas.microsoft.com/office/powerpoint/2010/main" val="1856746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p:txBody>
          <a:bodyPr/>
          <a:lstStyle/>
          <a:p>
            <a:r>
              <a:rPr lang="en-US" dirty="0"/>
              <a:t>Basic Definitions</a:t>
            </a:r>
          </a:p>
        </p:txBody>
      </p:sp>
      <p:sp>
        <p:nvSpPr>
          <p:cNvPr id="3" name="내용 개체 틀 2">
            <a:extLst>
              <a:ext uri="{FF2B5EF4-FFF2-40B4-BE49-F238E27FC236}">
                <a16:creationId xmlns:a16="http://schemas.microsoft.com/office/drawing/2014/main" id="{38CC2954-A864-4FFA-8ED8-6E91B7655A77}"/>
              </a:ext>
            </a:extLst>
          </p:cNvPr>
          <p:cNvSpPr>
            <a:spLocks noGrp="1"/>
          </p:cNvSpPr>
          <p:nvPr>
            <p:ph idx="1"/>
          </p:nvPr>
        </p:nvSpPr>
        <p:spPr>
          <a:xfrm>
            <a:off x="838200" y="1580251"/>
            <a:ext cx="10631750" cy="1166215"/>
          </a:xfrm>
        </p:spPr>
        <p:txBody>
          <a:bodyPr>
            <a:normAutofit fontScale="92500" lnSpcReduction="10000"/>
          </a:bodyPr>
          <a:lstStyle/>
          <a:p>
            <a:pPr marL="0" indent="0">
              <a:buNone/>
            </a:pPr>
            <a:r>
              <a:rPr lang="en-US" i="1" dirty="0"/>
              <a:t>Graph </a:t>
            </a:r>
            <a:r>
              <a:rPr lang="en-US" dirty="0"/>
              <a:t> </a:t>
            </a:r>
          </a:p>
          <a:p>
            <a:pPr lvl="1"/>
            <a:r>
              <a:rPr lang="en-US" dirty="0"/>
              <a:t>serve as a mathematical models of network structures</a:t>
            </a:r>
          </a:p>
          <a:p>
            <a:pPr lvl="1"/>
            <a:r>
              <a:rPr lang="en-US" dirty="0"/>
              <a:t>depending on its nodes and edges type of network differs</a:t>
            </a:r>
          </a:p>
          <a:p>
            <a:pPr marL="0" indent="0">
              <a:buNone/>
            </a:pPr>
            <a:endParaRPr lang="en-US" dirty="0"/>
          </a:p>
        </p:txBody>
      </p:sp>
      <p:pic>
        <p:nvPicPr>
          <p:cNvPr id="10" name="그림 9">
            <a:extLst>
              <a:ext uri="{FF2B5EF4-FFF2-40B4-BE49-F238E27FC236}">
                <a16:creationId xmlns:a16="http://schemas.microsoft.com/office/drawing/2014/main" id="{50ABE01A-0DFE-48C3-B5E3-A5C3472A0BE6}"/>
              </a:ext>
            </a:extLst>
          </p:cNvPr>
          <p:cNvPicPr>
            <a:picLocks noChangeAspect="1"/>
          </p:cNvPicPr>
          <p:nvPr/>
        </p:nvPicPr>
        <p:blipFill>
          <a:blip r:embed="rId2"/>
          <a:stretch>
            <a:fillRect/>
          </a:stretch>
        </p:blipFill>
        <p:spPr>
          <a:xfrm>
            <a:off x="468275" y="2848072"/>
            <a:ext cx="5073543" cy="2888879"/>
          </a:xfrm>
          <a:prstGeom prst="rect">
            <a:avLst/>
          </a:prstGeom>
        </p:spPr>
      </p:pic>
      <p:sp>
        <p:nvSpPr>
          <p:cNvPr id="13" name="TextBox 12">
            <a:extLst>
              <a:ext uri="{FF2B5EF4-FFF2-40B4-BE49-F238E27FC236}">
                <a16:creationId xmlns:a16="http://schemas.microsoft.com/office/drawing/2014/main" id="{68EDD2DE-7DA8-4ED1-B8F9-F0A8932E8A36}"/>
              </a:ext>
            </a:extLst>
          </p:cNvPr>
          <p:cNvSpPr txBox="1"/>
          <p:nvPr/>
        </p:nvSpPr>
        <p:spPr>
          <a:xfrm>
            <a:off x="0" y="6604084"/>
            <a:ext cx="1632178" cy="253916"/>
          </a:xfrm>
          <a:prstGeom prst="rect">
            <a:avLst/>
          </a:prstGeom>
          <a:noFill/>
        </p:spPr>
        <p:txBody>
          <a:bodyPr wrap="none" rtlCol="0">
            <a:spAutoFit/>
          </a:bodyPr>
          <a:lstStyle/>
          <a:p>
            <a:r>
              <a:rPr lang="en-US" sz="1050" dirty="0"/>
              <a:t>source : www.dailymail.uk</a:t>
            </a:r>
          </a:p>
        </p:txBody>
      </p:sp>
      <p:sp>
        <p:nvSpPr>
          <p:cNvPr id="39" name="내용 개체 틀 2">
            <a:extLst>
              <a:ext uri="{FF2B5EF4-FFF2-40B4-BE49-F238E27FC236}">
                <a16:creationId xmlns:a16="http://schemas.microsoft.com/office/drawing/2014/main" id="{CDCCDC4B-D01B-44B5-A3CC-15951C3C1DFD}"/>
              </a:ext>
            </a:extLst>
          </p:cNvPr>
          <p:cNvSpPr txBox="1">
            <a:spLocks/>
          </p:cNvSpPr>
          <p:nvPr/>
        </p:nvSpPr>
        <p:spPr>
          <a:xfrm>
            <a:off x="-1257072" y="5879709"/>
            <a:ext cx="8038267" cy="8670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pPr>
            <a:r>
              <a:rPr lang="en-US" sz="1400" dirty="0"/>
              <a:t>Example of  </a:t>
            </a:r>
            <a:r>
              <a:rPr lang="en-US" sz="1400" i="1" dirty="0"/>
              <a:t>Communication Network</a:t>
            </a:r>
            <a:endParaRPr lang="en-US" sz="1400" dirty="0"/>
          </a:p>
          <a:p>
            <a:pPr marL="457200" lvl="1" indent="0" algn="ctr">
              <a:buNone/>
            </a:pPr>
            <a:r>
              <a:rPr lang="en-US" sz="1400" dirty="0"/>
              <a:t>&lt;A network that depicts the sites on the Internet in its early days (1973)&gt;</a:t>
            </a:r>
          </a:p>
        </p:txBody>
      </p:sp>
      <p:graphicFrame>
        <p:nvGraphicFramePr>
          <p:cNvPr id="17" name="표 16">
            <a:extLst>
              <a:ext uri="{FF2B5EF4-FFF2-40B4-BE49-F238E27FC236}">
                <a16:creationId xmlns:a16="http://schemas.microsoft.com/office/drawing/2014/main" id="{4B9AA37E-2E3A-4357-BDA8-6A3256BE151B}"/>
              </a:ext>
            </a:extLst>
          </p:cNvPr>
          <p:cNvGraphicFramePr>
            <a:graphicFrameLocks noGrp="1"/>
          </p:cNvGraphicFramePr>
          <p:nvPr>
            <p:extLst>
              <p:ext uri="{D42A27DB-BD31-4B8C-83A1-F6EECF244321}">
                <p14:modId xmlns:p14="http://schemas.microsoft.com/office/powerpoint/2010/main" val="2358826248"/>
              </p:ext>
            </p:extLst>
          </p:nvPr>
        </p:nvGraphicFramePr>
        <p:xfrm>
          <a:off x="5965144" y="3120751"/>
          <a:ext cx="6226856" cy="2616200"/>
        </p:xfrm>
        <a:graphic>
          <a:graphicData uri="http://schemas.openxmlformats.org/drawingml/2006/table">
            <a:tbl>
              <a:tblPr firstRow="1" bandRow="1">
                <a:tableStyleId>{D7AC3CCA-C797-4891-BE02-D94E43425B78}</a:tableStyleId>
              </a:tblPr>
              <a:tblGrid>
                <a:gridCol w="1560351">
                  <a:extLst>
                    <a:ext uri="{9D8B030D-6E8A-4147-A177-3AD203B41FA5}">
                      <a16:colId xmlns:a16="http://schemas.microsoft.com/office/drawing/2014/main" val="2788945781"/>
                    </a:ext>
                  </a:extLst>
                </a:gridCol>
                <a:gridCol w="2275164">
                  <a:extLst>
                    <a:ext uri="{9D8B030D-6E8A-4147-A177-3AD203B41FA5}">
                      <a16:colId xmlns:a16="http://schemas.microsoft.com/office/drawing/2014/main" val="1736529306"/>
                    </a:ext>
                  </a:extLst>
                </a:gridCol>
                <a:gridCol w="2391341">
                  <a:extLst>
                    <a:ext uri="{9D8B030D-6E8A-4147-A177-3AD203B41FA5}">
                      <a16:colId xmlns:a16="http://schemas.microsoft.com/office/drawing/2014/main" val="2096973755"/>
                    </a:ext>
                  </a:extLst>
                </a:gridCol>
              </a:tblGrid>
              <a:tr h="370840">
                <a:tc>
                  <a:txBody>
                    <a:bodyPr/>
                    <a:lstStyle/>
                    <a:p>
                      <a:r>
                        <a:rPr lang="en-US" sz="1500" dirty="0"/>
                        <a:t>Network Types</a:t>
                      </a:r>
                    </a:p>
                  </a:txBody>
                  <a:tcPr/>
                </a:tc>
                <a:tc>
                  <a:txBody>
                    <a:bodyPr/>
                    <a:lstStyle/>
                    <a:p>
                      <a:r>
                        <a:rPr lang="en-US" sz="1500" dirty="0"/>
                        <a:t>Node</a:t>
                      </a:r>
                    </a:p>
                  </a:txBody>
                  <a:tcPr/>
                </a:tc>
                <a:tc>
                  <a:txBody>
                    <a:bodyPr/>
                    <a:lstStyle/>
                    <a:p>
                      <a:r>
                        <a:rPr lang="en-US" sz="1500" dirty="0"/>
                        <a:t>Edges</a:t>
                      </a:r>
                    </a:p>
                  </a:txBody>
                  <a:tcPr/>
                </a:tc>
                <a:extLst>
                  <a:ext uri="{0D108BD9-81ED-4DB2-BD59-A6C34878D82A}">
                    <a16:rowId xmlns:a16="http://schemas.microsoft.com/office/drawing/2014/main" val="22077337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Communication Network</a:t>
                      </a:r>
                    </a:p>
                  </a:txBody>
                  <a:tcPr/>
                </a:tc>
                <a:tc>
                  <a:txBody>
                    <a:bodyPr/>
                    <a:lstStyle/>
                    <a:p>
                      <a:r>
                        <a:rPr lang="en-US" sz="1500" dirty="0"/>
                        <a:t>Computers or devices that relay messages</a:t>
                      </a:r>
                    </a:p>
                  </a:txBody>
                  <a:tcPr/>
                </a:tc>
                <a:tc>
                  <a:txBody>
                    <a:bodyPr/>
                    <a:lstStyle/>
                    <a:p>
                      <a:r>
                        <a:rPr lang="en-US" sz="1500" dirty="0"/>
                        <a:t>Direct links where messages can be transmitted</a:t>
                      </a:r>
                    </a:p>
                  </a:txBody>
                  <a:tcPr/>
                </a:tc>
                <a:extLst>
                  <a:ext uri="{0D108BD9-81ED-4DB2-BD59-A6C34878D82A}">
                    <a16:rowId xmlns:a16="http://schemas.microsoft.com/office/drawing/2014/main" val="21630379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Social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Network</a:t>
                      </a:r>
                    </a:p>
                  </a:txBody>
                  <a:tcPr/>
                </a:tc>
                <a:tc>
                  <a:txBody>
                    <a:bodyPr/>
                    <a:lstStyle/>
                    <a:p>
                      <a:r>
                        <a:rPr lang="en-US" sz="1500" dirty="0"/>
                        <a:t>People or group</a:t>
                      </a:r>
                    </a:p>
                  </a:txBody>
                  <a:tcPr/>
                </a:tc>
                <a:tc>
                  <a:txBody>
                    <a:bodyPr/>
                    <a:lstStyle/>
                    <a:p>
                      <a:r>
                        <a:rPr lang="en-US" sz="1500" dirty="0"/>
                        <a:t>Social interaction</a:t>
                      </a:r>
                    </a:p>
                  </a:txBody>
                  <a:tcPr/>
                </a:tc>
                <a:extLst>
                  <a:ext uri="{0D108BD9-81ED-4DB2-BD59-A6C34878D82A}">
                    <a16:rowId xmlns:a16="http://schemas.microsoft.com/office/drawing/2014/main" val="41790017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Information Network</a:t>
                      </a:r>
                    </a:p>
                  </a:txBody>
                  <a:tcPr/>
                </a:tc>
                <a:tc>
                  <a:txBody>
                    <a:bodyPr/>
                    <a:lstStyle/>
                    <a:p>
                      <a:r>
                        <a:rPr lang="en-US" sz="1500" dirty="0"/>
                        <a:t>Information Resources (web pages, documents)</a:t>
                      </a:r>
                    </a:p>
                  </a:txBody>
                  <a:tcPr/>
                </a:tc>
                <a:tc>
                  <a:txBody>
                    <a:bodyPr/>
                    <a:lstStyle/>
                    <a:p>
                      <a:r>
                        <a:rPr lang="en-US" sz="1500" dirty="0"/>
                        <a:t>Logical connections (hyperlinks, citations, cross references</a:t>
                      </a:r>
                    </a:p>
                  </a:txBody>
                  <a:tcPr/>
                </a:tc>
                <a:extLst>
                  <a:ext uri="{0D108BD9-81ED-4DB2-BD59-A6C34878D82A}">
                    <a16:rowId xmlns:a16="http://schemas.microsoft.com/office/drawing/2014/main" val="2194317792"/>
                  </a:ext>
                </a:extLst>
              </a:tr>
              <a:tr h="370840">
                <a:tc>
                  <a:txBody>
                    <a:bodyPr/>
                    <a:lstStyle/>
                    <a:p>
                      <a:r>
                        <a:rPr lang="en-US" sz="1500" dirty="0"/>
                        <a:t>….</a:t>
                      </a:r>
                    </a:p>
                  </a:txBody>
                  <a:tcPr/>
                </a:tc>
                <a:tc>
                  <a:txBody>
                    <a:bodyPr/>
                    <a:lstStyle/>
                    <a:p>
                      <a:r>
                        <a:rPr lang="en-US" sz="1500" dirty="0"/>
                        <a:t>….</a:t>
                      </a:r>
                    </a:p>
                  </a:txBody>
                  <a:tcPr/>
                </a:tc>
                <a:tc>
                  <a:txBody>
                    <a:bodyPr/>
                    <a:lstStyle/>
                    <a:p>
                      <a:endParaRPr lang="en-US" sz="1500" dirty="0"/>
                    </a:p>
                  </a:txBody>
                  <a:tcPr/>
                </a:tc>
                <a:extLst>
                  <a:ext uri="{0D108BD9-81ED-4DB2-BD59-A6C34878D82A}">
                    <a16:rowId xmlns:a16="http://schemas.microsoft.com/office/drawing/2014/main" val="245679481"/>
                  </a:ext>
                </a:extLst>
              </a:tr>
            </a:tbl>
          </a:graphicData>
        </a:graphic>
      </p:graphicFrame>
    </p:spTree>
    <p:extLst>
      <p:ext uri="{BB962C8B-B14F-4D97-AF65-F5344CB8AC3E}">
        <p14:creationId xmlns:p14="http://schemas.microsoft.com/office/powerpoint/2010/main" val="4192265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p:txBody>
          <a:bodyPr/>
          <a:lstStyle/>
          <a:p>
            <a:r>
              <a:rPr lang="en-US" dirty="0"/>
              <a:t>Paths and Connectivity</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234026" y="1500453"/>
            <a:ext cx="11795094" cy="2967448"/>
          </a:xfrm>
        </p:spPr>
        <p:txBody>
          <a:bodyPr>
            <a:normAutofit/>
          </a:bodyPr>
          <a:lstStyle/>
          <a:p>
            <a:pPr marL="0" indent="0">
              <a:buNone/>
            </a:pPr>
            <a:r>
              <a:rPr lang="en-US" sz="2400" i="1" dirty="0"/>
              <a:t>Path</a:t>
            </a:r>
            <a:r>
              <a:rPr lang="en-US" sz="2400" dirty="0"/>
              <a:t>: </a:t>
            </a:r>
            <a:r>
              <a:rPr lang="en-US" sz="2000" dirty="0"/>
              <a:t>sequence of nodes with the property that each consecutive pair in the sequence is connected by an edge 	</a:t>
            </a:r>
            <a:r>
              <a:rPr lang="en-US" sz="1800" i="1" dirty="0"/>
              <a:t>ex) A, C , E , F</a:t>
            </a:r>
          </a:p>
          <a:p>
            <a:pPr marL="0" indent="0">
              <a:buNone/>
            </a:pPr>
            <a:br>
              <a:rPr lang="en-US" sz="2400" i="1" dirty="0"/>
            </a:br>
            <a:r>
              <a:rPr lang="en-US" sz="2400" i="1" dirty="0"/>
              <a:t>Cycle: </a:t>
            </a:r>
            <a:r>
              <a:rPr lang="en-US" sz="2000" dirty="0"/>
              <a:t>“ring” structure. Path with at least three edges where  first and last nodes are the same</a:t>
            </a:r>
            <a:br>
              <a:rPr lang="en-US" sz="2000" dirty="0"/>
            </a:br>
            <a:r>
              <a:rPr lang="en-US" sz="2000" dirty="0"/>
              <a:t>	</a:t>
            </a:r>
            <a:r>
              <a:rPr lang="en-US" sz="1800" i="1" dirty="0"/>
              <a:t>ex) A-D-C ,   D-C-A,   B-C-E-F-B</a:t>
            </a:r>
          </a:p>
          <a:p>
            <a:pPr marL="0" indent="0">
              <a:buNone/>
            </a:pPr>
            <a:br>
              <a:rPr lang="en-US" sz="2400" i="1" dirty="0"/>
            </a:br>
            <a:r>
              <a:rPr lang="en-US" sz="2400" i="1" dirty="0"/>
              <a:t>Connectivity: </a:t>
            </a:r>
            <a:r>
              <a:rPr lang="en-US" sz="2000" dirty="0"/>
              <a:t>Graph is connected if, for every pair of nodes, there is a path between them</a:t>
            </a:r>
            <a:br>
              <a:rPr lang="en-US" sz="2000" dirty="0"/>
            </a:br>
            <a:r>
              <a:rPr lang="en-US" sz="2000" dirty="0"/>
              <a:t>	</a:t>
            </a:r>
            <a:r>
              <a:rPr lang="en-US" sz="1800" i="1" dirty="0"/>
              <a:t>ex) In a Social Network, there might be two people who are isolated such as the graph below</a:t>
            </a:r>
          </a:p>
          <a:p>
            <a:pPr marL="0" indent="0">
              <a:buNone/>
            </a:pPr>
            <a:endParaRPr lang="en-US" dirty="0"/>
          </a:p>
          <a:p>
            <a:pPr marL="0" indent="0">
              <a:buNone/>
            </a:pPr>
            <a:endParaRPr lang="en-US" sz="2000" i="1" dirty="0"/>
          </a:p>
          <a:p>
            <a:pPr marL="0" indent="0">
              <a:buNone/>
            </a:pPr>
            <a:endParaRPr lang="en-US" sz="2000" i="1" dirty="0"/>
          </a:p>
        </p:txBody>
      </p:sp>
      <p:grpSp>
        <p:nvGrpSpPr>
          <p:cNvPr id="33" name="그룹 32">
            <a:extLst>
              <a:ext uri="{FF2B5EF4-FFF2-40B4-BE49-F238E27FC236}">
                <a16:creationId xmlns:a16="http://schemas.microsoft.com/office/drawing/2014/main" id="{D1948642-1D9A-48CA-A8DC-B3BC419F43C9}"/>
              </a:ext>
            </a:extLst>
          </p:cNvPr>
          <p:cNvGrpSpPr/>
          <p:nvPr/>
        </p:nvGrpSpPr>
        <p:grpSpPr>
          <a:xfrm>
            <a:off x="9827548" y="4128117"/>
            <a:ext cx="2201572" cy="2068498"/>
            <a:chOff x="9512959" y="4059069"/>
            <a:chExt cx="2445140" cy="2297344"/>
          </a:xfrm>
        </p:grpSpPr>
        <p:grpSp>
          <p:nvGrpSpPr>
            <p:cNvPr id="4" name="그룹 3">
              <a:extLst>
                <a:ext uri="{FF2B5EF4-FFF2-40B4-BE49-F238E27FC236}">
                  <a16:creationId xmlns:a16="http://schemas.microsoft.com/office/drawing/2014/main" id="{812882BA-6186-4D77-9F20-6DCE5BE3157C}"/>
                </a:ext>
              </a:extLst>
            </p:cNvPr>
            <p:cNvGrpSpPr/>
            <p:nvPr/>
          </p:nvGrpSpPr>
          <p:grpSpPr>
            <a:xfrm>
              <a:off x="9512959" y="4059069"/>
              <a:ext cx="2119129" cy="2297344"/>
              <a:chOff x="2095131" y="3097352"/>
              <a:chExt cx="2596791" cy="2815177"/>
            </a:xfrm>
          </p:grpSpPr>
          <p:sp>
            <p:nvSpPr>
              <p:cNvPr id="5" name="타원 4">
                <a:extLst>
                  <a:ext uri="{FF2B5EF4-FFF2-40B4-BE49-F238E27FC236}">
                    <a16:creationId xmlns:a16="http://schemas.microsoft.com/office/drawing/2014/main" id="{61214497-9A47-43BD-AB7A-7F4EBB015AEF}"/>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타원 5">
                <a:extLst>
                  <a:ext uri="{FF2B5EF4-FFF2-40B4-BE49-F238E27FC236}">
                    <a16:creationId xmlns:a16="http://schemas.microsoft.com/office/drawing/2014/main" id="{5F48A7AD-CF72-4BC2-A8BB-3AC6558B87F2}"/>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 name="타원 6">
                <a:extLst>
                  <a:ext uri="{FF2B5EF4-FFF2-40B4-BE49-F238E27FC236}">
                    <a16:creationId xmlns:a16="http://schemas.microsoft.com/office/drawing/2014/main" id="{5015BE84-EFAF-4C06-8AA2-0B84DC899862}"/>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타원 7">
                <a:extLst>
                  <a:ext uri="{FF2B5EF4-FFF2-40B4-BE49-F238E27FC236}">
                    <a16:creationId xmlns:a16="http://schemas.microsoft.com/office/drawing/2014/main" id="{6ACE243F-02B2-46B0-BF17-DCC3B86F04BB}"/>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9" name="타원 8">
                <a:extLst>
                  <a:ext uri="{FF2B5EF4-FFF2-40B4-BE49-F238E27FC236}">
                    <a16:creationId xmlns:a16="http://schemas.microsoft.com/office/drawing/2014/main" id="{3276DAAA-F45D-421F-BFC6-09CFB3539F52}"/>
                  </a:ext>
                </a:extLst>
              </p:cNvPr>
              <p:cNvSpPr/>
              <p:nvPr/>
            </p:nvSpPr>
            <p:spPr>
              <a:xfrm>
                <a:off x="2117327"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10" name="직선 연결선 9">
                <a:extLst>
                  <a:ext uri="{FF2B5EF4-FFF2-40B4-BE49-F238E27FC236}">
                    <a16:creationId xmlns:a16="http://schemas.microsoft.com/office/drawing/2014/main" id="{C70DD756-EF0A-47B4-AE6B-69BA462DE13E}"/>
                  </a:ext>
                </a:extLst>
              </p:cNvPr>
              <p:cNvCxnSpPr>
                <a:stCxn id="5" idx="4"/>
                <a:endCxn id="6"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DC2D86E9-4C4E-480C-A8CD-C3BBA6F6CD8F}"/>
                  </a:ext>
                </a:extLst>
              </p:cNvPr>
              <p:cNvCxnSpPr>
                <a:cxnSpLocks/>
                <a:stCxn id="8" idx="6"/>
                <a:endCxn id="7"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922B1A22-C9E0-4551-8F41-3C6F7BF47444}"/>
                  </a:ext>
                </a:extLst>
              </p:cNvPr>
              <p:cNvCxnSpPr>
                <a:cxnSpLocks/>
                <a:stCxn id="9" idx="7"/>
                <a:endCxn id="6" idx="3"/>
              </p:cNvCxnSpPr>
              <p:nvPr/>
            </p:nvCxnSpPr>
            <p:spPr>
              <a:xfrm flipV="1">
                <a:off x="2458318" y="5045201"/>
                <a:ext cx="591962"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a:extLst>
                  <a:ext uri="{FF2B5EF4-FFF2-40B4-BE49-F238E27FC236}">
                    <a16:creationId xmlns:a16="http://schemas.microsoft.com/office/drawing/2014/main" id="{7009A85F-7D67-4700-B1A2-C686CE6F0427}"/>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7" name="타원 16">
                <a:extLst>
                  <a:ext uri="{FF2B5EF4-FFF2-40B4-BE49-F238E27FC236}">
                    <a16:creationId xmlns:a16="http://schemas.microsoft.com/office/drawing/2014/main" id="{5BF41A6C-9703-4817-9ED1-8027427C3786}"/>
                  </a:ext>
                </a:extLst>
              </p:cNvPr>
              <p:cNvSpPr/>
              <p:nvPr/>
            </p:nvSpPr>
            <p:spPr>
              <a:xfrm>
                <a:off x="3861786"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cxnSp>
            <p:nvCxnSpPr>
              <p:cNvPr id="18" name="직선 연결선 17">
                <a:extLst>
                  <a:ext uri="{FF2B5EF4-FFF2-40B4-BE49-F238E27FC236}">
                    <a16:creationId xmlns:a16="http://schemas.microsoft.com/office/drawing/2014/main" id="{370FF444-7347-458C-9375-5917B85FCBE3}"/>
                  </a:ext>
                </a:extLst>
              </p:cNvPr>
              <p:cNvCxnSpPr>
                <a:cxnSpLocks/>
                <a:stCxn id="17" idx="1"/>
                <a:endCxn id="6" idx="5"/>
              </p:cNvCxnSpPr>
              <p:nvPr/>
            </p:nvCxnSpPr>
            <p:spPr>
              <a:xfrm flipH="1" flipV="1">
                <a:off x="3332766" y="5045201"/>
                <a:ext cx="587524"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5A910362-C8CF-4049-852D-5ACDDB71AECA}"/>
                  </a:ext>
                </a:extLst>
              </p:cNvPr>
              <p:cNvCxnSpPr>
                <a:cxnSpLocks/>
                <a:stCxn id="9" idx="0"/>
                <a:endCxn id="8" idx="4"/>
              </p:cNvCxnSpPr>
              <p:nvPr/>
            </p:nvCxnSpPr>
            <p:spPr>
              <a:xfrm flipH="1" flipV="1">
                <a:off x="2294879" y="4301232"/>
                <a:ext cx="22196" cy="12118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A6C15363-3152-49F5-AA5A-853A7E87C0F8}"/>
                  </a:ext>
                </a:extLst>
              </p:cNvPr>
              <p:cNvCxnSpPr>
                <a:cxnSpLocks/>
                <a:stCxn id="7" idx="1"/>
                <a:endCxn id="5" idx="5"/>
              </p:cNvCxnSpPr>
              <p:nvPr/>
            </p:nvCxnSpPr>
            <p:spPr>
              <a:xfrm flipH="1" flipV="1">
                <a:off x="3332765" y="3438343"/>
                <a:ext cx="587527" cy="52189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B501F5E-D550-4D19-A358-D65D159A0EE1}"/>
                  </a:ext>
                </a:extLst>
              </p:cNvPr>
              <p:cNvCxnSpPr>
                <a:cxnSpLocks/>
                <a:stCxn id="29" idx="2"/>
                <a:endCxn id="28" idx="6"/>
              </p:cNvCxnSpPr>
              <p:nvPr/>
            </p:nvCxnSpPr>
            <p:spPr>
              <a:xfrm flipH="1">
                <a:off x="4261282" y="4904385"/>
                <a:ext cx="430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타원 27">
              <a:extLst>
                <a:ext uri="{FF2B5EF4-FFF2-40B4-BE49-F238E27FC236}">
                  <a16:creationId xmlns:a16="http://schemas.microsoft.com/office/drawing/2014/main" id="{70A0B44A-5383-4B7B-99CB-CF5A59E59F08}"/>
                </a:ext>
              </a:extLst>
            </p:cNvPr>
            <p:cNvSpPr/>
            <p:nvPr/>
          </p:nvSpPr>
          <p:spPr>
            <a:xfrm>
              <a:off x="10954650" y="5370704"/>
              <a:ext cx="326011" cy="326011"/>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29" name="타원 28">
              <a:extLst>
                <a:ext uri="{FF2B5EF4-FFF2-40B4-BE49-F238E27FC236}">
                  <a16:creationId xmlns:a16="http://schemas.microsoft.com/office/drawing/2014/main" id="{461E93DE-8CE3-4C8D-B918-00404FE4FAAE}"/>
                </a:ext>
              </a:extLst>
            </p:cNvPr>
            <p:cNvSpPr/>
            <p:nvPr/>
          </p:nvSpPr>
          <p:spPr>
            <a:xfrm>
              <a:off x="11632088" y="5370704"/>
              <a:ext cx="326011" cy="326011"/>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6288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223655"/>
            <a:ext cx="10515600" cy="1325563"/>
          </a:xfrm>
        </p:spPr>
        <p:txBody>
          <a:bodyPr/>
          <a:lstStyle/>
          <a:p>
            <a:r>
              <a:rPr lang="en-US" dirty="0"/>
              <a:t>Paths and Connectivity</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234025" y="1018391"/>
            <a:ext cx="11327859" cy="5451867"/>
          </a:xfrm>
        </p:spPr>
        <p:txBody>
          <a:bodyPr>
            <a:normAutofit/>
          </a:bodyPr>
          <a:lstStyle/>
          <a:p>
            <a:pPr marL="0" indent="0">
              <a:buNone/>
            </a:pPr>
            <a:endParaRPr lang="en-US" sz="2400" i="1" dirty="0"/>
          </a:p>
          <a:p>
            <a:pPr marL="0" indent="0">
              <a:buNone/>
            </a:pPr>
            <a:r>
              <a:rPr lang="en-US" sz="2400" i="1" dirty="0"/>
              <a:t>Component ( Connected Component): </a:t>
            </a:r>
            <a:r>
              <a:rPr lang="en-US" sz="2000" dirty="0"/>
              <a:t>Internally connected free standing “piece” of a graph</a:t>
            </a:r>
            <a:br>
              <a:rPr lang="en-US" sz="2400" i="1" dirty="0"/>
            </a:br>
            <a:r>
              <a:rPr lang="en-US" sz="2400" i="1" dirty="0"/>
              <a:t>					  </a:t>
            </a:r>
            <a:r>
              <a:rPr lang="en-US" sz="2000" dirty="0"/>
              <a:t>subset of nodes that fulfills two following conditions:</a:t>
            </a:r>
            <a:br>
              <a:rPr lang="en-US" sz="2000" dirty="0"/>
            </a:br>
            <a:r>
              <a:rPr lang="en-US" sz="2000" dirty="0"/>
              <a:t>	   					</a:t>
            </a:r>
            <a:br>
              <a:rPr lang="en-US" sz="2000" dirty="0"/>
            </a:br>
            <a:r>
              <a:rPr lang="en-US" sz="2000" dirty="0"/>
              <a:t>						</a:t>
            </a:r>
            <a:r>
              <a:rPr lang="en-US" sz="2000" dirty="0" err="1"/>
              <a:t>i</a:t>
            </a:r>
            <a:r>
              <a:rPr lang="en-US" sz="2000" dirty="0"/>
              <a:t>) every node in the subset has a path to every other</a:t>
            </a:r>
            <a:br>
              <a:rPr lang="en-US" sz="2000" dirty="0"/>
            </a:br>
            <a:r>
              <a:rPr lang="en-US" sz="2000" dirty="0"/>
              <a:t>	 					ii) subset is not part of some larger set</a:t>
            </a:r>
          </a:p>
          <a:p>
            <a:pPr marL="0" indent="0">
              <a:buNone/>
            </a:pPr>
            <a:r>
              <a:rPr lang="en-US" dirty="0"/>
              <a:t>	</a:t>
            </a:r>
            <a:r>
              <a:rPr lang="en-US" sz="1800" dirty="0"/>
              <a:t>ex) A-C-D is not a component (violates ii) / G-H is a component</a:t>
            </a:r>
            <a:endParaRPr lang="en-US" dirty="0"/>
          </a:p>
          <a:p>
            <a:pPr marL="0" indent="0">
              <a:buNone/>
            </a:pPr>
            <a:endParaRPr lang="en-US" sz="2400" i="1" dirty="0"/>
          </a:p>
          <a:p>
            <a:pPr marL="0" indent="0">
              <a:buNone/>
            </a:pPr>
            <a:r>
              <a:rPr lang="en-US" sz="2400" i="1" dirty="0"/>
              <a:t>Giant Component:</a:t>
            </a:r>
            <a:r>
              <a:rPr lang="en-US" sz="2400" dirty="0"/>
              <a:t> - </a:t>
            </a:r>
            <a:r>
              <a:rPr lang="en-US" sz="2000" dirty="0"/>
              <a:t>When a giant component exists, it is quite distinguishable</a:t>
            </a:r>
            <a:br>
              <a:rPr lang="en-US" sz="2000" dirty="0"/>
            </a:br>
            <a:r>
              <a:rPr lang="en-US" sz="2000" dirty="0"/>
              <a:t>		         - It is an informal term for a connected component that contains</a:t>
            </a:r>
            <a:br>
              <a:rPr lang="en-US" sz="2000" dirty="0"/>
            </a:br>
            <a:r>
              <a:rPr lang="en-US" sz="2000" dirty="0"/>
              <a:t>                                            a significant fraction of all nodes. </a:t>
            </a:r>
          </a:p>
          <a:p>
            <a:pPr marL="0" indent="0">
              <a:buNone/>
            </a:pPr>
            <a:r>
              <a:rPr lang="en-US" sz="2000" dirty="0"/>
              <a:t>	</a:t>
            </a:r>
            <a:r>
              <a:rPr lang="en-US" sz="1800" dirty="0"/>
              <a:t>ex) From the example graph, giant component may refer to </a:t>
            </a:r>
            <a:br>
              <a:rPr lang="en-US" sz="1800" dirty="0"/>
            </a:br>
            <a:r>
              <a:rPr lang="en-US" sz="1800" dirty="0"/>
              <a:t>                        the big component that contains all nodes in the graph</a:t>
            </a:r>
            <a:br>
              <a:rPr lang="en-US" sz="1800" dirty="0"/>
            </a:br>
            <a:r>
              <a:rPr lang="en-US" sz="1800" dirty="0"/>
              <a:t>                        except for G and H</a:t>
            </a:r>
            <a:br>
              <a:rPr lang="en-US" sz="1800" dirty="0"/>
            </a:br>
            <a:r>
              <a:rPr lang="en-US" sz="2000" dirty="0"/>
              <a:t> </a:t>
            </a:r>
            <a:endParaRPr lang="en-US" sz="2000" i="1" dirty="0"/>
          </a:p>
        </p:txBody>
      </p:sp>
      <p:grpSp>
        <p:nvGrpSpPr>
          <p:cNvPr id="33" name="그룹 32">
            <a:extLst>
              <a:ext uri="{FF2B5EF4-FFF2-40B4-BE49-F238E27FC236}">
                <a16:creationId xmlns:a16="http://schemas.microsoft.com/office/drawing/2014/main" id="{D1948642-1D9A-48CA-A8DC-B3BC419F43C9}"/>
              </a:ext>
            </a:extLst>
          </p:cNvPr>
          <p:cNvGrpSpPr/>
          <p:nvPr/>
        </p:nvGrpSpPr>
        <p:grpSpPr>
          <a:xfrm>
            <a:off x="9381393" y="4128117"/>
            <a:ext cx="2647725" cy="2068498"/>
            <a:chOff x="9017446" y="4059069"/>
            <a:chExt cx="2940653" cy="2297344"/>
          </a:xfrm>
        </p:grpSpPr>
        <p:grpSp>
          <p:nvGrpSpPr>
            <p:cNvPr id="4" name="그룹 3">
              <a:extLst>
                <a:ext uri="{FF2B5EF4-FFF2-40B4-BE49-F238E27FC236}">
                  <a16:creationId xmlns:a16="http://schemas.microsoft.com/office/drawing/2014/main" id="{812882BA-6186-4D77-9F20-6DCE5BE3157C}"/>
                </a:ext>
              </a:extLst>
            </p:cNvPr>
            <p:cNvGrpSpPr/>
            <p:nvPr/>
          </p:nvGrpSpPr>
          <p:grpSpPr>
            <a:xfrm>
              <a:off x="9017446" y="4059069"/>
              <a:ext cx="2614642" cy="2297344"/>
              <a:chOff x="1487927" y="3097352"/>
              <a:chExt cx="3203995" cy="2815177"/>
            </a:xfrm>
          </p:grpSpPr>
          <p:sp>
            <p:nvSpPr>
              <p:cNvPr id="5" name="타원 4">
                <a:extLst>
                  <a:ext uri="{FF2B5EF4-FFF2-40B4-BE49-F238E27FC236}">
                    <a16:creationId xmlns:a16="http://schemas.microsoft.com/office/drawing/2014/main" id="{61214497-9A47-43BD-AB7A-7F4EBB015AEF}"/>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타원 5">
                <a:extLst>
                  <a:ext uri="{FF2B5EF4-FFF2-40B4-BE49-F238E27FC236}">
                    <a16:creationId xmlns:a16="http://schemas.microsoft.com/office/drawing/2014/main" id="{5F48A7AD-CF72-4BC2-A8BB-3AC6558B87F2}"/>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 name="타원 6">
                <a:extLst>
                  <a:ext uri="{FF2B5EF4-FFF2-40B4-BE49-F238E27FC236}">
                    <a16:creationId xmlns:a16="http://schemas.microsoft.com/office/drawing/2014/main" id="{5015BE84-EFAF-4C06-8AA2-0B84DC899862}"/>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타원 7">
                <a:extLst>
                  <a:ext uri="{FF2B5EF4-FFF2-40B4-BE49-F238E27FC236}">
                    <a16:creationId xmlns:a16="http://schemas.microsoft.com/office/drawing/2014/main" id="{6ACE243F-02B2-46B0-BF17-DCC3B86F04BB}"/>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9" name="타원 8">
                <a:extLst>
                  <a:ext uri="{FF2B5EF4-FFF2-40B4-BE49-F238E27FC236}">
                    <a16:creationId xmlns:a16="http://schemas.microsoft.com/office/drawing/2014/main" id="{3276DAAA-F45D-421F-BFC6-09CFB3539F52}"/>
                  </a:ext>
                </a:extLst>
              </p:cNvPr>
              <p:cNvSpPr/>
              <p:nvPr/>
            </p:nvSpPr>
            <p:spPr>
              <a:xfrm>
                <a:off x="2117327"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10" name="직선 연결선 9">
                <a:extLst>
                  <a:ext uri="{FF2B5EF4-FFF2-40B4-BE49-F238E27FC236}">
                    <a16:creationId xmlns:a16="http://schemas.microsoft.com/office/drawing/2014/main" id="{C70DD756-EF0A-47B4-AE6B-69BA462DE13E}"/>
                  </a:ext>
                </a:extLst>
              </p:cNvPr>
              <p:cNvCxnSpPr>
                <a:stCxn id="5" idx="4"/>
                <a:endCxn id="6"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DC2D86E9-4C4E-480C-A8CD-C3BBA6F6CD8F}"/>
                  </a:ext>
                </a:extLst>
              </p:cNvPr>
              <p:cNvCxnSpPr>
                <a:cxnSpLocks/>
                <a:stCxn id="8" idx="6"/>
                <a:endCxn id="7"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922B1A22-C9E0-4551-8F41-3C6F7BF47444}"/>
                  </a:ext>
                </a:extLst>
              </p:cNvPr>
              <p:cNvCxnSpPr>
                <a:cxnSpLocks/>
                <a:stCxn id="9" idx="7"/>
                <a:endCxn id="6" idx="3"/>
              </p:cNvCxnSpPr>
              <p:nvPr/>
            </p:nvCxnSpPr>
            <p:spPr>
              <a:xfrm flipV="1">
                <a:off x="2458318" y="5045201"/>
                <a:ext cx="591962"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a:extLst>
                  <a:ext uri="{FF2B5EF4-FFF2-40B4-BE49-F238E27FC236}">
                    <a16:creationId xmlns:a16="http://schemas.microsoft.com/office/drawing/2014/main" id="{7009A85F-7D67-4700-B1A2-C686CE6F0427}"/>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7" name="타원 16">
                <a:extLst>
                  <a:ext uri="{FF2B5EF4-FFF2-40B4-BE49-F238E27FC236}">
                    <a16:creationId xmlns:a16="http://schemas.microsoft.com/office/drawing/2014/main" id="{5BF41A6C-9703-4817-9ED1-8027427C3786}"/>
                  </a:ext>
                </a:extLst>
              </p:cNvPr>
              <p:cNvSpPr/>
              <p:nvPr/>
            </p:nvSpPr>
            <p:spPr>
              <a:xfrm>
                <a:off x="3861786"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cxnSp>
            <p:nvCxnSpPr>
              <p:cNvPr id="18" name="직선 연결선 17">
                <a:extLst>
                  <a:ext uri="{FF2B5EF4-FFF2-40B4-BE49-F238E27FC236}">
                    <a16:creationId xmlns:a16="http://schemas.microsoft.com/office/drawing/2014/main" id="{370FF444-7347-458C-9375-5917B85FCBE3}"/>
                  </a:ext>
                </a:extLst>
              </p:cNvPr>
              <p:cNvCxnSpPr>
                <a:cxnSpLocks/>
                <a:stCxn id="17" idx="1"/>
                <a:endCxn id="6" idx="5"/>
              </p:cNvCxnSpPr>
              <p:nvPr/>
            </p:nvCxnSpPr>
            <p:spPr>
              <a:xfrm flipH="1" flipV="1">
                <a:off x="3332766" y="5045201"/>
                <a:ext cx="587524"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5A910362-C8CF-4049-852D-5ACDDB71AECA}"/>
                  </a:ext>
                </a:extLst>
              </p:cNvPr>
              <p:cNvCxnSpPr>
                <a:cxnSpLocks/>
                <a:stCxn id="9" idx="0"/>
                <a:endCxn id="8" idx="4"/>
              </p:cNvCxnSpPr>
              <p:nvPr/>
            </p:nvCxnSpPr>
            <p:spPr>
              <a:xfrm flipH="1" flipV="1">
                <a:off x="2294879" y="4301232"/>
                <a:ext cx="22196" cy="12118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A6C15363-3152-49F5-AA5A-853A7E87C0F8}"/>
                  </a:ext>
                </a:extLst>
              </p:cNvPr>
              <p:cNvCxnSpPr>
                <a:cxnSpLocks/>
                <a:stCxn id="7" idx="1"/>
                <a:endCxn id="5" idx="5"/>
              </p:cNvCxnSpPr>
              <p:nvPr/>
            </p:nvCxnSpPr>
            <p:spPr>
              <a:xfrm flipH="1" flipV="1">
                <a:off x="3332765" y="3438343"/>
                <a:ext cx="587527" cy="52189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B501F5E-D550-4D19-A358-D65D159A0EE1}"/>
                  </a:ext>
                </a:extLst>
              </p:cNvPr>
              <p:cNvCxnSpPr>
                <a:cxnSpLocks/>
                <a:stCxn id="29" idx="2"/>
                <a:endCxn id="28" idx="6"/>
              </p:cNvCxnSpPr>
              <p:nvPr/>
            </p:nvCxnSpPr>
            <p:spPr>
              <a:xfrm flipH="1">
                <a:off x="4261282" y="4904385"/>
                <a:ext cx="430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2258E22A-1C8A-4289-A0C8-21DFE82B151D}"/>
                  </a:ext>
                </a:extLst>
              </p:cNvPr>
              <p:cNvCxnSpPr>
                <a:cxnSpLocks/>
                <a:endCxn id="9" idx="2"/>
              </p:cNvCxnSpPr>
              <p:nvPr/>
            </p:nvCxnSpPr>
            <p:spPr>
              <a:xfrm flipV="1">
                <a:off x="1487927" y="5712781"/>
                <a:ext cx="629400" cy="1997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타원 27">
              <a:extLst>
                <a:ext uri="{FF2B5EF4-FFF2-40B4-BE49-F238E27FC236}">
                  <a16:creationId xmlns:a16="http://schemas.microsoft.com/office/drawing/2014/main" id="{70A0B44A-5383-4B7B-99CB-CF5A59E59F08}"/>
                </a:ext>
              </a:extLst>
            </p:cNvPr>
            <p:cNvSpPr/>
            <p:nvPr/>
          </p:nvSpPr>
          <p:spPr>
            <a:xfrm>
              <a:off x="10954650" y="5370704"/>
              <a:ext cx="326011" cy="326011"/>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29" name="타원 28">
              <a:extLst>
                <a:ext uri="{FF2B5EF4-FFF2-40B4-BE49-F238E27FC236}">
                  <a16:creationId xmlns:a16="http://schemas.microsoft.com/office/drawing/2014/main" id="{461E93DE-8CE3-4C8D-B918-00404FE4FAAE}"/>
                </a:ext>
              </a:extLst>
            </p:cNvPr>
            <p:cNvSpPr/>
            <p:nvPr/>
          </p:nvSpPr>
          <p:spPr>
            <a:xfrm>
              <a:off x="11632088" y="5370704"/>
              <a:ext cx="326011" cy="326011"/>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nvGrpSpPr>
          <p:cNvPr id="25" name="그룹 24">
            <a:extLst>
              <a:ext uri="{FF2B5EF4-FFF2-40B4-BE49-F238E27FC236}">
                <a16:creationId xmlns:a16="http://schemas.microsoft.com/office/drawing/2014/main" id="{868057AC-6C9D-491D-86CA-1A41809A857A}"/>
              </a:ext>
            </a:extLst>
          </p:cNvPr>
          <p:cNvGrpSpPr/>
          <p:nvPr/>
        </p:nvGrpSpPr>
        <p:grpSpPr>
          <a:xfrm rot="15158769">
            <a:off x="7201899" y="4690935"/>
            <a:ext cx="1767702" cy="2297344"/>
            <a:chOff x="2095131" y="3097352"/>
            <a:chExt cx="2166152" cy="2815177"/>
          </a:xfrm>
        </p:grpSpPr>
        <p:sp>
          <p:nvSpPr>
            <p:cNvPr id="26" name="타원 25">
              <a:extLst>
                <a:ext uri="{FF2B5EF4-FFF2-40B4-BE49-F238E27FC236}">
                  <a16:creationId xmlns:a16="http://schemas.microsoft.com/office/drawing/2014/main" id="{3E7D8983-7DDF-4EF9-91C2-A937E63AA010}"/>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타원 26">
              <a:extLst>
                <a:ext uri="{FF2B5EF4-FFF2-40B4-BE49-F238E27FC236}">
                  <a16:creationId xmlns:a16="http://schemas.microsoft.com/office/drawing/2014/main" id="{F8795358-1AD7-46A1-9063-2C0D6795D3E3}"/>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타원 30">
              <a:extLst>
                <a:ext uri="{FF2B5EF4-FFF2-40B4-BE49-F238E27FC236}">
                  <a16:creationId xmlns:a16="http://schemas.microsoft.com/office/drawing/2014/main" id="{8D26753D-255A-4C0C-8D6E-EE78A0164D15}"/>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타원 31">
              <a:extLst>
                <a:ext uri="{FF2B5EF4-FFF2-40B4-BE49-F238E27FC236}">
                  <a16:creationId xmlns:a16="http://schemas.microsoft.com/office/drawing/2014/main" id="{AD33B9D7-DC0C-4B30-9EBE-25333C68F39B}"/>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타원 33">
              <a:extLst>
                <a:ext uri="{FF2B5EF4-FFF2-40B4-BE49-F238E27FC236}">
                  <a16:creationId xmlns:a16="http://schemas.microsoft.com/office/drawing/2014/main" id="{BA0B6965-5FCB-4AAB-A502-614E88581E8D}"/>
                </a:ext>
              </a:extLst>
            </p:cNvPr>
            <p:cNvSpPr/>
            <p:nvPr/>
          </p:nvSpPr>
          <p:spPr>
            <a:xfrm>
              <a:off x="2117327"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직선 연결선 34">
              <a:extLst>
                <a:ext uri="{FF2B5EF4-FFF2-40B4-BE49-F238E27FC236}">
                  <a16:creationId xmlns:a16="http://schemas.microsoft.com/office/drawing/2014/main" id="{6A3E02EB-F608-4BCF-8474-9381158BFBC4}"/>
                </a:ext>
              </a:extLst>
            </p:cNvPr>
            <p:cNvCxnSpPr>
              <a:stCxn id="26" idx="4"/>
              <a:endCxn id="27"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FE73733C-C3D1-4BB5-9F8D-74FC95A51DF8}"/>
                </a:ext>
              </a:extLst>
            </p:cNvPr>
            <p:cNvCxnSpPr>
              <a:cxnSpLocks/>
              <a:stCxn id="32" idx="6"/>
              <a:endCxn id="31"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53B531C3-F2A8-4F5F-BC0F-DBA202A8A802}"/>
                </a:ext>
              </a:extLst>
            </p:cNvPr>
            <p:cNvCxnSpPr>
              <a:cxnSpLocks/>
              <a:stCxn id="34" idx="7"/>
              <a:endCxn id="27" idx="3"/>
            </p:cNvCxnSpPr>
            <p:nvPr/>
          </p:nvCxnSpPr>
          <p:spPr>
            <a:xfrm flipV="1">
              <a:off x="2458318" y="5045201"/>
              <a:ext cx="591962"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타원 37">
              <a:extLst>
                <a:ext uri="{FF2B5EF4-FFF2-40B4-BE49-F238E27FC236}">
                  <a16:creationId xmlns:a16="http://schemas.microsoft.com/office/drawing/2014/main" id="{34E2DA1C-961D-4F61-95CD-700DF72ED188}"/>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4702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Distance and Breadth-First-Search</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234026" y="1385814"/>
            <a:ext cx="11795094" cy="2826458"/>
          </a:xfrm>
        </p:spPr>
        <p:txBody>
          <a:bodyPr>
            <a:normAutofit lnSpcReduction="10000"/>
          </a:bodyPr>
          <a:lstStyle/>
          <a:p>
            <a:pPr marL="0" indent="0">
              <a:buNone/>
            </a:pPr>
            <a:r>
              <a:rPr lang="en-US" sz="2400" i="1" dirty="0"/>
              <a:t>Length</a:t>
            </a:r>
            <a:r>
              <a:rPr lang="en-US" sz="2400" dirty="0"/>
              <a:t>: </a:t>
            </a:r>
            <a:r>
              <a:rPr lang="en-US" sz="2000" dirty="0"/>
              <a:t>A path to be the number </a:t>
            </a:r>
            <a:r>
              <a:rPr lang="en-US" sz="2000" dirty="0" err="1"/>
              <a:t>fo</a:t>
            </a:r>
            <a:r>
              <a:rPr lang="en-US" sz="2000" dirty="0"/>
              <a:t> steps it contains from the beginning to the end</a:t>
            </a:r>
            <a:br>
              <a:rPr lang="en-US" sz="2000" dirty="0"/>
            </a:br>
            <a:r>
              <a:rPr lang="en-US" sz="2000" dirty="0"/>
              <a:t> 	</a:t>
            </a:r>
            <a:r>
              <a:rPr lang="en-US" sz="1800" i="1" dirty="0"/>
              <a:t>ex) Length of path “A-C-E-F-B”   =   4 </a:t>
            </a:r>
          </a:p>
          <a:p>
            <a:pPr marL="0" indent="0">
              <a:buNone/>
            </a:pPr>
            <a:br>
              <a:rPr lang="en-US" sz="2400" i="1" dirty="0"/>
            </a:br>
            <a:r>
              <a:rPr lang="en-US" sz="2400" i="1" dirty="0"/>
              <a:t>Distance: </a:t>
            </a:r>
            <a:r>
              <a:rPr lang="en-US" sz="2000" dirty="0"/>
              <a:t>The length of the shortest path between the two nodes</a:t>
            </a:r>
            <a:br>
              <a:rPr lang="en-US" sz="2000" dirty="0"/>
            </a:br>
            <a:r>
              <a:rPr lang="en-US" sz="2000" dirty="0"/>
              <a:t>	</a:t>
            </a:r>
            <a:r>
              <a:rPr lang="en-US" sz="1800" i="1" dirty="0"/>
              <a:t>ex) Distance from “A to E”   =  2   ; A-C-E </a:t>
            </a:r>
          </a:p>
          <a:p>
            <a:pPr marL="0" indent="0">
              <a:buNone/>
            </a:pPr>
            <a:br>
              <a:rPr lang="en-US" sz="2400" i="1" dirty="0"/>
            </a:br>
            <a:r>
              <a:rPr lang="en-US" sz="2400" i="1" dirty="0"/>
              <a:t>Breadth-First Search: </a:t>
            </a:r>
            <a:r>
              <a:rPr lang="en-US" sz="2000" dirty="0"/>
              <a:t>Most natural and efficient way to calculate distances in a </a:t>
            </a:r>
            <a:r>
              <a:rPr lang="en-US" sz="2000" b="1" dirty="0"/>
              <a:t>large network data</a:t>
            </a:r>
            <a:r>
              <a:rPr lang="en-US" sz="2000" dirty="0"/>
              <a:t>.</a:t>
            </a:r>
            <a:br>
              <a:rPr lang="en-US" sz="2000" dirty="0"/>
            </a:br>
            <a:r>
              <a:rPr lang="en-US" sz="2000" dirty="0"/>
              <a:t>		               </a:t>
            </a:r>
            <a:br>
              <a:rPr lang="en-US" sz="2000" dirty="0"/>
            </a:br>
            <a:r>
              <a:rPr lang="en-US" sz="2000" dirty="0"/>
              <a:t>	</a:t>
            </a:r>
            <a:endParaRPr lang="en-US" sz="2000" i="1" dirty="0"/>
          </a:p>
          <a:p>
            <a:pPr marL="0" indent="0">
              <a:buNone/>
            </a:pPr>
            <a:endParaRPr lang="en-US" sz="2000" i="1" dirty="0"/>
          </a:p>
        </p:txBody>
      </p:sp>
      <p:grpSp>
        <p:nvGrpSpPr>
          <p:cNvPr id="22" name="그룹 21">
            <a:extLst>
              <a:ext uri="{FF2B5EF4-FFF2-40B4-BE49-F238E27FC236}">
                <a16:creationId xmlns:a16="http://schemas.microsoft.com/office/drawing/2014/main" id="{4E049459-E34B-415F-960B-DBAA64C2D804}"/>
              </a:ext>
            </a:extLst>
          </p:cNvPr>
          <p:cNvGrpSpPr/>
          <p:nvPr/>
        </p:nvGrpSpPr>
        <p:grpSpPr>
          <a:xfrm>
            <a:off x="9489888" y="973772"/>
            <a:ext cx="2201572" cy="2068498"/>
            <a:chOff x="9512959" y="4059069"/>
            <a:chExt cx="2445140" cy="2297344"/>
          </a:xfrm>
        </p:grpSpPr>
        <p:grpSp>
          <p:nvGrpSpPr>
            <p:cNvPr id="23" name="그룹 22">
              <a:extLst>
                <a:ext uri="{FF2B5EF4-FFF2-40B4-BE49-F238E27FC236}">
                  <a16:creationId xmlns:a16="http://schemas.microsoft.com/office/drawing/2014/main" id="{92B6996A-5D2C-4801-907A-919A907E9427}"/>
                </a:ext>
              </a:extLst>
            </p:cNvPr>
            <p:cNvGrpSpPr/>
            <p:nvPr/>
          </p:nvGrpSpPr>
          <p:grpSpPr>
            <a:xfrm>
              <a:off x="9512959" y="4059069"/>
              <a:ext cx="2119129" cy="2297344"/>
              <a:chOff x="2095131" y="3097352"/>
              <a:chExt cx="2596791" cy="2815177"/>
            </a:xfrm>
          </p:grpSpPr>
          <p:sp>
            <p:nvSpPr>
              <p:cNvPr id="27" name="타원 26">
                <a:extLst>
                  <a:ext uri="{FF2B5EF4-FFF2-40B4-BE49-F238E27FC236}">
                    <a16:creationId xmlns:a16="http://schemas.microsoft.com/office/drawing/2014/main" id="{2110DF7E-D191-42B8-92AB-C2F5093DBEDD}"/>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1" name="타원 30">
                <a:extLst>
                  <a:ext uri="{FF2B5EF4-FFF2-40B4-BE49-F238E27FC236}">
                    <a16:creationId xmlns:a16="http://schemas.microsoft.com/office/drawing/2014/main" id="{CA393618-459E-49B3-A23D-C47AB1087A43}"/>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2" name="타원 31">
                <a:extLst>
                  <a:ext uri="{FF2B5EF4-FFF2-40B4-BE49-F238E27FC236}">
                    <a16:creationId xmlns:a16="http://schemas.microsoft.com/office/drawing/2014/main" id="{31E6B805-7EC0-4CB4-BCA9-3DB470965AEA}"/>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4" name="타원 33">
                <a:extLst>
                  <a:ext uri="{FF2B5EF4-FFF2-40B4-BE49-F238E27FC236}">
                    <a16:creationId xmlns:a16="http://schemas.microsoft.com/office/drawing/2014/main" id="{4BD15704-EB3D-474E-8896-3A93F00FC109}"/>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5" name="타원 34">
                <a:extLst>
                  <a:ext uri="{FF2B5EF4-FFF2-40B4-BE49-F238E27FC236}">
                    <a16:creationId xmlns:a16="http://schemas.microsoft.com/office/drawing/2014/main" id="{8F47FA84-0884-4803-8369-E83AF236417C}"/>
                  </a:ext>
                </a:extLst>
              </p:cNvPr>
              <p:cNvSpPr/>
              <p:nvPr/>
            </p:nvSpPr>
            <p:spPr>
              <a:xfrm>
                <a:off x="2117327"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36" name="직선 연결선 35">
                <a:extLst>
                  <a:ext uri="{FF2B5EF4-FFF2-40B4-BE49-F238E27FC236}">
                    <a16:creationId xmlns:a16="http://schemas.microsoft.com/office/drawing/2014/main" id="{A79D679B-FB30-4D8E-8E7E-21850036E0C8}"/>
                  </a:ext>
                </a:extLst>
              </p:cNvPr>
              <p:cNvCxnSpPr>
                <a:stCxn id="27" idx="4"/>
                <a:endCxn id="31"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5AD7DBF-0CD6-4C82-B0BE-4CD07254DD9F}"/>
                  </a:ext>
                </a:extLst>
              </p:cNvPr>
              <p:cNvCxnSpPr>
                <a:cxnSpLocks/>
                <a:stCxn id="34" idx="6"/>
                <a:endCxn id="32"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AD44FA2C-2269-4CAF-B4F4-C01658D16950}"/>
                  </a:ext>
                </a:extLst>
              </p:cNvPr>
              <p:cNvCxnSpPr>
                <a:cxnSpLocks/>
                <a:stCxn id="35" idx="7"/>
                <a:endCxn id="31" idx="3"/>
              </p:cNvCxnSpPr>
              <p:nvPr/>
            </p:nvCxnSpPr>
            <p:spPr>
              <a:xfrm flipV="1">
                <a:off x="2458318" y="5045201"/>
                <a:ext cx="591962"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타원 38">
                <a:extLst>
                  <a:ext uri="{FF2B5EF4-FFF2-40B4-BE49-F238E27FC236}">
                    <a16:creationId xmlns:a16="http://schemas.microsoft.com/office/drawing/2014/main" id="{E2ED23E6-5B39-4C56-98EE-F547ACFBB69D}"/>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0" name="타원 39">
                <a:extLst>
                  <a:ext uri="{FF2B5EF4-FFF2-40B4-BE49-F238E27FC236}">
                    <a16:creationId xmlns:a16="http://schemas.microsoft.com/office/drawing/2014/main" id="{F49A31A5-99A4-40FB-9301-BC50FD9B6AE0}"/>
                  </a:ext>
                </a:extLst>
              </p:cNvPr>
              <p:cNvSpPr/>
              <p:nvPr/>
            </p:nvSpPr>
            <p:spPr>
              <a:xfrm>
                <a:off x="3861786" y="5513033"/>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cxnSp>
            <p:nvCxnSpPr>
              <p:cNvPr id="41" name="직선 연결선 40">
                <a:extLst>
                  <a:ext uri="{FF2B5EF4-FFF2-40B4-BE49-F238E27FC236}">
                    <a16:creationId xmlns:a16="http://schemas.microsoft.com/office/drawing/2014/main" id="{8876F597-529D-418B-959E-D267CC61E0CE}"/>
                  </a:ext>
                </a:extLst>
              </p:cNvPr>
              <p:cNvCxnSpPr>
                <a:cxnSpLocks/>
                <a:stCxn id="40" idx="1"/>
                <a:endCxn id="31" idx="5"/>
              </p:cNvCxnSpPr>
              <p:nvPr/>
            </p:nvCxnSpPr>
            <p:spPr>
              <a:xfrm flipH="1" flipV="1">
                <a:off x="3332766" y="5045201"/>
                <a:ext cx="587524" cy="5263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51BD7F67-C3C0-40C2-805F-2232D4C76CC6}"/>
                  </a:ext>
                </a:extLst>
              </p:cNvPr>
              <p:cNvCxnSpPr>
                <a:cxnSpLocks/>
                <a:stCxn id="35" idx="0"/>
                <a:endCxn id="34" idx="4"/>
              </p:cNvCxnSpPr>
              <p:nvPr/>
            </p:nvCxnSpPr>
            <p:spPr>
              <a:xfrm flipH="1" flipV="1">
                <a:off x="2294879" y="4301232"/>
                <a:ext cx="22196" cy="12118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AAA75F5B-5EEC-4F17-84A1-847FD4A35A75}"/>
                  </a:ext>
                </a:extLst>
              </p:cNvPr>
              <p:cNvCxnSpPr>
                <a:cxnSpLocks/>
                <a:stCxn id="32" idx="1"/>
                <a:endCxn id="27" idx="5"/>
              </p:cNvCxnSpPr>
              <p:nvPr/>
            </p:nvCxnSpPr>
            <p:spPr>
              <a:xfrm flipH="1" flipV="1">
                <a:off x="3332765" y="3438343"/>
                <a:ext cx="587527" cy="52189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A6EA3A80-8DCE-4958-9181-F932C7989E75}"/>
                  </a:ext>
                </a:extLst>
              </p:cNvPr>
              <p:cNvCxnSpPr>
                <a:cxnSpLocks/>
                <a:stCxn id="26" idx="2"/>
                <a:endCxn id="25" idx="6"/>
              </p:cNvCxnSpPr>
              <p:nvPr/>
            </p:nvCxnSpPr>
            <p:spPr>
              <a:xfrm flipH="1">
                <a:off x="4261282" y="4904385"/>
                <a:ext cx="430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타원 24">
              <a:extLst>
                <a:ext uri="{FF2B5EF4-FFF2-40B4-BE49-F238E27FC236}">
                  <a16:creationId xmlns:a16="http://schemas.microsoft.com/office/drawing/2014/main" id="{FD81A27C-AB5E-40AA-977B-D23C8027CB89}"/>
                </a:ext>
              </a:extLst>
            </p:cNvPr>
            <p:cNvSpPr/>
            <p:nvPr/>
          </p:nvSpPr>
          <p:spPr>
            <a:xfrm>
              <a:off x="10954650" y="5370704"/>
              <a:ext cx="326011" cy="326011"/>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26" name="타원 25">
              <a:extLst>
                <a:ext uri="{FF2B5EF4-FFF2-40B4-BE49-F238E27FC236}">
                  <a16:creationId xmlns:a16="http://schemas.microsoft.com/office/drawing/2014/main" id="{35DEE27B-7C9F-4A68-BDF2-743129C8B410}"/>
                </a:ext>
              </a:extLst>
            </p:cNvPr>
            <p:cNvSpPr/>
            <p:nvPr/>
          </p:nvSpPr>
          <p:spPr>
            <a:xfrm>
              <a:off x="11632088" y="5370704"/>
              <a:ext cx="326011" cy="326011"/>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
        <p:nvSpPr>
          <p:cNvPr id="14" name="직사각형 13">
            <a:extLst>
              <a:ext uri="{FF2B5EF4-FFF2-40B4-BE49-F238E27FC236}">
                <a16:creationId xmlns:a16="http://schemas.microsoft.com/office/drawing/2014/main" id="{33194BEE-82EB-4106-A145-C91FE64AFE0C}"/>
              </a:ext>
            </a:extLst>
          </p:cNvPr>
          <p:cNvSpPr/>
          <p:nvPr/>
        </p:nvSpPr>
        <p:spPr>
          <a:xfrm>
            <a:off x="251668" y="4095677"/>
            <a:ext cx="6296662" cy="2462213"/>
          </a:xfrm>
          <a:prstGeom prst="rect">
            <a:avLst/>
          </a:prstGeom>
        </p:spPr>
        <p:txBody>
          <a:bodyPr wrap="square">
            <a:spAutoFit/>
          </a:bodyPr>
          <a:lstStyle/>
          <a:p>
            <a:r>
              <a:rPr lang="en-US" sz="1400" i="1" dirty="0"/>
              <a:t>How to conduct Breath-First Search from “A to Z”:</a:t>
            </a:r>
          </a:p>
          <a:p>
            <a:r>
              <a:rPr lang="en-US" sz="1400" i="1" dirty="0"/>
              <a:t>	</a:t>
            </a:r>
            <a:r>
              <a:rPr lang="en-US" sz="1400" dirty="0"/>
              <a:t>1. Declare all of nodes that are at distance of 1 from A</a:t>
            </a:r>
            <a:br>
              <a:rPr lang="en-US" sz="1400" dirty="0"/>
            </a:br>
            <a:endParaRPr lang="en-US" sz="1400" dirty="0"/>
          </a:p>
          <a:p>
            <a:r>
              <a:rPr lang="en-US" sz="1400" dirty="0"/>
              <a:t>	2. From nodes found in 1, find all their linked nodes ( distance 2 from A)</a:t>
            </a:r>
            <a:br>
              <a:rPr lang="en-US" sz="1400" dirty="0"/>
            </a:br>
            <a:r>
              <a:rPr lang="en-US" sz="1400" dirty="0"/>
              <a:t>                                        * Do not include nodes that have been counted at least once</a:t>
            </a:r>
            <a:br>
              <a:rPr lang="en-US" sz="1400" dirty="0"/>
            </a:br>
            <a:br>
              <a:rPr lang="en-US" sz="1400" dirty="0"/>
            </a:br>
            <a:r>
              <a:rPr lang="en-US" sz="1400" dirty="0"/>
              <a:t>	3. From nodes found in 2, find all their linked nodes ( distance 3 from A)</a:t>
            </a:r>
            <a:br>
              <a:rPr lang="en-US" sz="1400" dirty="0"/>
            </a:br>
            <a:r>
              <a:rPr lang="en-US" sz="1400" dirty="0"/>
              <a:t>                   	                  * Do not include nodes that have been counted at least once</a:t>
            </a:r>
            <a:br>
              <a:rPr lang="en-US" sz="1400" dirty="0"/>
            </a:br>
            <a:br>
              <a:rPr lang="en-US" sz="1400" dirty="0"/>
            </a:br>
            <a:r>
              <a:rPr lang="en-US" sz="1400" dirty="0"/>
              <a:t>	(…) Continue until Z is found in the search.  </a:t>
            </a:r>
          </a:p>
          <a:p>
            <a:endParaRPr lang="en-US" sz="1400" dirty="0"/>
          </a:p>
        </p:txBody>
      </p:sp>
    </p:spTree>
    <p:extLst>
      <p:ext uri="{BB962C8B-B14F-4D97-AF65-F5344CB8AC3E}">
        <p14:creationId xmlns:p14="http://schemas.microsoft.com/office/powerpoint/2010/main" val="1503838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Distance and Breadth-First-Search</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234026" y="1385813"/>
            <a:ext cx="9052017" cy="5366679"/>
          </a:xfrm>
        </p:spPr>
        <p:txBody>
          <a:bodyPr>
            <a:normAutofit/>
          </a:bodyPr>
          <a:lstStyle/>
          <a:p>
            <a:pPr marL="0" indent="0">
              <a:buNone/>
            </a:pPr>
            <a:r>
              <a:rPr lang="en-US" sz="2400" i="1" dirty="0"/>
              <a:t>Small world phenomenon</a:t>
            </a:r>
            <a:r>
              <a:rPr lang="en-US" sz="2400" dirty="0"/>
              <a:t> </a:t>
            </a:r>
          </a:p>
          <a:p>
            <a:pPr marL="0" indent="0">
              <a:buNone/>
            </a:pPr>
            <a:r>
              <a:rPr lang="en-US" sz="2000" dirty="0"/>
              <a:t>We are often surprised to find unexpected people to be chained to our acquaintance, </a:t>
            </a:r>
            <a:br>
              <a:rPr lang="en-US" sz="2000" dirty="0"/>
            </a:br>
            <a:r>
              <a:rPr lang="en-US" sz="2000" dirty="0"/>
              <a:t>just like the idiom:  “It is a small world!” </a:t>
            </a:r>
            <a:endParaRPr lang="en-US" sz="1800" dirty="0"/>
          </a:p>
          <a:p>
            <a:pPr marL="0" indent="0">
              <a:buNone/>
            </a:pPr>
            <a:r>
              <a:rPr lang="en-US" sz="2000" dirty="0"/>
              <a:t>This phenomenon is closely related to distance of human network.</a:t>
            </a:r>
          </a:p>
          <a:p>
            <a:pPr>
              <a:buFontTx/>
              <a:buChar char="-"/>
            </a:pPr>
            <a:r>
              <a:rPr lang="en-US" sz="2000" i="1" dirty="0"/>
              <a:t>Six Degrees of </a:t>
            </a:r>
            <a:r>
              <a:rPr lang="en-US" sz="2000" i="1" dirty="0" err="1"/>
              <a:t>Sepration</a:t>
            </a:r>
            <a:r>
              <a:rPr lang="en-US" sz="2000" i="1" dirty="0"/>
              <a:t> (John </a:t>
            </a:r>
            <a:r>
              <a:rPr lang="en-US" sz="2000" i="1" dirty="0" err="1"/>
              <a:t>Guare’s</a:t>
            </a:r>
            <a:r>
              <a:rPr lang="en-US" sz="2000" i="1" dirty="0"/>
              <a:t> play title)</a:t>
            </a:r>
          </a:p>
          <a:p>
            <a:pPr marL="457200" lvl="1" indent="0">
              <a:buNone/>
            </a:pPr>
            <a:r>
              <a:rPr lang="en-US" sz="1600" dirty="0"/>
              <a:t>“ I read somewhere than everybody on this planet is separated by only six other people. </a:t>
            </a:r>
            <a:br>
              <a:rPr lang="en-US" sz="1600" dirty="0"/>
            </a:br>
            <a:r>
              <a:rPr lang="en-US" sz="1600" dirty="0"/>
              <a:t>Six degrees of separation. Between us and everyone else on this planet ”</a:t>
            </a:r>
          </a:p>
          <a:p>
            <a:pPr>
              <a:buFontTx/>
              <a:buChar char="-"/>
            </a:pPr>
            <a:endParaRPr lang="en-US" sz="2000" i="1" dirty="0"/>
          </a:p>
          <a:p>
            <a:pPr>
              <a:buFontTx/>
              <a:buChar char="-"/>
            </a:pPr>
            <a:r>
              <a:rPr lang="en-US" sz="2000" i="1" dirty="0"/>
              <a:t>Six Degrees of Kevin Bacon</a:t>
            </a:r>
          </a:p>
          <a:p>
            <a:pPr>
              <a:buFontTx/>
              <a:buChar char="-"/>
            </a:pPr>
            <a:endParaRPr lang="en-US" sz="2000" i="1" dirty="0"/>
          </a:p>
          <a:p>
            <a:pPr>
              <a:buFontTx/>
              <a:buChar char="-"/>
            </a:pPr>
            <a:r>
              <a:rPr lang="en-US" sz="2000" i="1" dirty="0"/>
              <a:t>Milgram’s Small world experiment</a:t>
            </a:r>
          </a:p>
          <a:p>
            <a:pPr marL="0" indent="0">
              <a:buNone/>
            </a:pPr>
            <a:br>
              <a:rPr lang="en-US" sz="2400" i="1" dirty="0"/>
            </a:br>
            <a:endParaRPr lang="en-US" dirty="0"/>
          </a:p>
          <a:p>
            <a:pPr marL="0" indent="0">
              <a:buNone/>
            </a:pPr>
            <a:endParaRPr lang="en-US" sz="2000" i="1" dirty="0"/>
          </a:p>
          <a:p>
            <a:pPr marL="0" indent="0">
              <a:buNone/>
            </a:pPr>
            <a:endParaRPr lang="en-US" sz="2000" i="1" dirty="0"/>
          </a:p>
        </p:txBody>
      </p:sp>
      <p:pic>
        <p:nvPicPr>
          <p:cNvPr id="2050" name="Picture 2" descr="Image result for small world phenomenon">
            <a:extLst>
              <a:ext uri="{FF2B5EF4-FFF2-40B4-BE49-F238E27FC236}">
                <a16:creationId xmlns:a16="http://schemas.microsoft.com/office/drawing/2014/main" id="{7D48E293-8094-4A9C-AFBD-FBF9C5A28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2332" y="3852907"/>
            <a:ext cx="4567421" cy="2617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934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3483745" y="2593420"/>
            <a:ext cx="10515600" cy="1325563"/>
          </a:xfrm>
        </p:spPr>
        <p:txBody>
          <a:bodyPr/>
          <a:lstStyle/>
          <a:p>
            <a:r>
              <a:rPr lang="en-US" b="1" dirty="0"/>
              <a:t>Strong and Weak Ties</a:t>
            </a:r>
          </a:p>
        </p:txBody>
      </p:sp>
    </p:spTree>
    <p:extLst>
      <p:ext uri="{BB962C8B-B14F-4D97-AF65-F5344CB8AC3E}">
        <p14:creationId xmlns:p14="http://schemas.microsoft.com/office/powerpoint/2010/main" val="4225396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Triadic Closure</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234026" y="1135031"/>
            <a:ext cx="10515600" cy="5366679"/>
          </a:xfrm>
        </p:spPr>
        <p:txBody>
          <a:bodyPr>
            <a:normAutofit/>
          </a:bodyPr>
          <a:lstStyle/>
          <a:p>
            <a:pPr marL="0" indent="0">
              <a:buNone/>
            </a:pPr>
            <a:r>
              <a:rPr lang="en-US" sz="2000" dirty="0"/>
              <a:t>Network can evolve over time. New edges and nodes can be generated. One of the most basic principal of predicting the change of network is Triadic closure. </a:t>
            </a:r>
            <a:br>
              <a:rPr lang="en-US" sz="2000" dirty="0"/>
            </a:br>
            <a:endParaRPr lang="en-US" sz="2400" i="1" dirty="0"/>
          </a:p>
          <a:p>
            <a:pPr marL="0" indent="0">
              <a:buNone/>
            </a:pPr>
            <a:r>
              <a:rPr lang="en-US" sz="2400" i="1" dirty="0"/>
              <a:t>Triadic Closure: </a:t>
            </a:r>
            <a:r>
              <a:rPr lang="en-US" sz="2000" dirty="0"/>
              <a:t>effect of “closing” the last side of triangle</a:t>
            </a:r>
            <a:endParaRPr lang="en-US" sz="2400" dirty="0"/>
          </a:p>
          <a:p>
            <a:pPr marL="0" indent="0">
              <a:buNone/>
            </a:pPr>
            <a:r>
              <a:rPr lang="en-US" sz="2000" dirty="0"/>
              <a:t>“If two people in the social network have a friend in common, then there is an increased likelihood that they will become friends themselves at some point in the future”</a:t>
            </a:r>
            <a:r>
              <a:rPr lang="en-US" sz="2000" i="1" dirty="0"/>
              <a:t> </a:t>
            </a:r>
          </a:p>
          <a:p>
            <a:pPr marL="0" indent="0">
              <a:buNone/>
            </a:pPr>
            <a:r>
              <a:rPr lang="en-US" sz="1800" i="1" dirty="0"/>
              <a:t> - </a:t>
            </a:r>
            <a:r>
              <a:rPr lang="en-US" sz="1600" i="1" dirty="0"/>
              <a:t>Spread of Information through a population with socio-structural bias 1: Assumption of transitivity</a:t>
            </a:r>
            <a:r>
              <a:rPr lang="en-US" sz="1600" dirty="0"/>
              <a:t>  Anatole Rapoport – </a:t>
            </a:r>
            <a:endParaRPr lang="en-US" sz="1800" dirty="0"/>
          </a:p>
          <a:p>
            <a:pPr marL="0" indent="0">
              <a:buNone/>
            </a:pPr>
            <a:r>
              <a:rPr lang="en-US" sz="1800" dirty="0"/>
              <a:t>ex) The formation of edge A – B , D – E, and B - F illustrates the effects of triadic closure</a:t>
            </a:r>
            <a:endParaRPr lang="en-US" sz="2000" dirty="0"/>
          </a:p>
          <a:p>
            <a:pPr marL="0" indent="0">
              <a:buNone/>
            </a:pPr>
            <a:r>
              <a:rPr lang="en-US" sz="2000" i="1" dirty="0"/>
              <a:t> </a:t>
            </a:r>
          </a:p>
        </p:txBody>
      </p:sp>
      <p:grpSp>
        <p:nvGrpSpPr>
          <p:cNvPr id="6" name="그룹 5">
            <a:extLst>
              <a:ext uri="{FF2B5EF4-FFF2-40B4-BE49-F238E27FC236}">
                <a16:creationId xmlns:a16="http://schemas.microsoft.com/office/drawing/2014/main" id="{E728F019-2E99-43C8-BB64-2D8085A8B018}"/>
              </a:ext>
            </a:extLst>
          </p:cNvPr>
          <p:cNvGrpSpPr/>
          <p:nvPr/>
        </p:nvGrpSpPr>
        <p:grpSpPr>
          <a:xfrm>
            <a:off x="1789591" y="4437938"/>
            <a:ext cx="2015805" cy="2210540"/>
            <a:chOff x="1517821" y="3097352"/>
            <a:chExt cx="2743462" cy="3008493"/>
          </a:xfrm>
        </p:grpSpPr>
        <p:sp>
          <p:nvSpPr>
            <p:cNvPr id="9" name="타원 8">
              <a:extLst>
                <a:ext uri="{FF2B5EF4-FFF2-40B4-BE49-F238E27FC236}">
                  <a16:creationId xmlns:a16="http://schemas.microsoft.com/office/drawing/2014/main" id="{F3B02EE5-9107-4DD5-BDD0-725A68EE77AA}"/>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0" name="타원 9">
              <a:extLst>
                <a:ext uri="{FF2B5EF4-FFF2-40B4-BE49-F238E27FC236}">
                  <a16:creationId xmlns:a16="http://schemas.microsoft.com/office/drawing/2014/main" id="{B1AB9624-031E-4CE8-9058-C7006D9E2676}"/>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 name="타원 10">
              <a:extLst>
                <a:ext uri="{FF2B5EF4-FFF2-40B4-BE49-F238E27FC236}">
                  <a16:creationId xmlns:a16="http://schemas.microsoft.com/office/drawing/2014/main" id="{9C9F7FCF-8687-4B0F-B395-99F0DACF84B7}"/>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2" name="타원 11">
              <a:extLst>
                <a:ext uri="{FF2B5EF4-FFF2-40B4-BE49-F238E27FC236}">
                  <a16:creationId xmlns:a16="http://schemas.microsoft.com/office/drawing/2014/main" id="{39E068DA-1D97-4FE7-9EEF-7E7934F5D109}"/>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4" name="직선 연결선 13">
              <a:extLst>
                <a:ext uri="{FF2B5EF4-FFF2-40B4-BE49-F238E27FC236}">
                  <a16:creationId xmlns:a16="http://schemas.microsoft.com/office/drawing/2014/main" id="{5D017E65-04CD-493B-9687-06C1DA531261}"/>
                </a:ext>
              </a:extLst>
            </p:cNvPr>
            <p:cNvCxnSpPr>
              <a:cxnSpLocks/>
              <a:stCxn id="9" idx="4"/>
              <a:endCxn id="10"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2569DE1B-6AB5-49BB-BC53-27D305E9C5C9}"/>
                </a:ext>
              </a:extLst>
            </p:cNvPr>
            <p:cNvCxnSpPr>
              <a:cxnSpLocks/>
              <a:stCxn id="12" idx="6"/>
              <a:endCxn id="11"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F66A53C6-4B2F-47D1-BDF7-7D2D55E46AF5}"/>
                </a:ext>
              </a:extLst>
            </p:cNvPr>
            <p:cNvCxnSpPr>
              <a:cxnSpLocks/>
              <a:stCxn id="12" idx="5"/>
              <a:endCxn id="10" idx="1"/>
            </p:cNvCxnSpPr>
            <p:nvPr/>
          </p:nvCxnSpPr>
          <p:spPr>
            <a:xfrm>
              <a:off x="2436122" y="4242727"/>
              <a:ext cx="614157" cy="519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타원 16">
              <a:extLst>
                <a:ext uri="{FF2B5EF4-FFF2-40B4-BE49-F238E27FC236}">
                  <a16:creationId xmlns:a16="http://schemas.microsoft.com/office/drawing/2014/main" id="{901D3102-4EC5-4482-83A0-25C30F5D3CAF}"/>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8" name="타원 17">
              <a:extLst>
                <a:ext uri="{FF2B5EF4-FFF2-40B4-BE49-F238E27FC236}">
                  <a16:creationId xmlns:a16="http://schemas.microsoft.com/office/drawing/2014/main" id="{8DB7DB65-0CDE-4A19-A787-D2C3AECE337A}"/>
                </a:ext>
              </a:extLst>
            </p:cNvPr>
            <p:cNvSpPr/>
            <p:nvPr/>
          </p:nvSpPr>
          <p:spPr>
            <a:xfrm>
              <a:off x="1517821" y="5706349"/>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19" name="직선 연결선 18">
              <a:extLst>
                <a:ext uri="{FF2B5EF4-FFF2-40B4-BE49-F238E27FC236}">
                  <a16:creationId xmlns:a16="http://schemas.microsoft.com/office/drawing/2014/main" id="{A22C55CC-1078-425B-B693-1FE788C0EF2B}"/>
                </a:ext>
              </a:extLst>
            </p:cNvPr>
            <p:cNvCxnSpPr>
              <a:cxnSpLocks/>
              <a:stCxn id="18" idx="7"/>
              <a:endCxn id="10" idx="3"/>
            </p:cNvCxnSpPr>
            <p:nvPr/>
          </p:nvCxnSpPr>
          <p:spPr>
            <a:xfrm flipV="1">
              <a:off x="1858812" y="5045201"/>
              <a:ext cx="1191468" cy="719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B3D6B516-26B5-48DE-ACF5-4F57BDBA0A34}"/>
                </a:ext>
              </a:extLst>
            </p:cNvPr>
            <p:cNvCxnSpPr>
              <a:cxnSpLocks/>
              <a:stCxn id="11" idx="1"/>
              <a:endCxn id="9" idx="5"/>
            </p:cNvCxnSpPr>
            <p:nvPr/>
          </p:nvCxnSpPr>
          <p:spPr>
            <a:xfrm flipH="1" flipV="1">
              <a:off x="3332766" y="3438343"/>
              <a:ext cx="587526" cy="521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52" name="화살표: 오른쪽 2051">
            <a:extLst>
              <a:ext uri="{FF2B5EF4-FFF2-40B4-BE49-F238E27FC236}">
                <a16:creationId xmlns:a16="http://schemas.microsoft.com/office/drawing/2014/main" id="{C40F8564-F2E6-4665-A991-E9C013A4D5BB}"/>
              </a:ext>
            </a:extLst>
          </p:cNvPr>
          <p:cNvSpPr/>
          <p:nvPr/>
        </p:nvSpPr>
        <p:spPr>
          <a:xfrm>
            <a:off x="5038244" y="5329723"/>
            <a:ext cx="1885400" cy="3390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그룹 36">
            <a:extLst>
              <a:ext uri="{FF2B5EF4-FFF2-40B4-BE49-F238E27FC236}">
                <a16:creationId xmlns:a16="http://schemas.microsoft.com/office/drawing/2014/main" id="{8FEF6C76-9FCC-4F2E-9F83-3DEFF53B6F23}"/>
              </a:ext>
            </a:extLst>
          </p:cNvPr>
          <p:cNvGrpSpPr/>
          <p:nvPr/>
        </p:nvGrpSpPr>
        <p:grpSpPr>
          <a:xfrm>
            <a:off x="7799302" y="4437938"/>
            <a:ext cx="2015805" cy="2210540"/>
            <a:chOff x="1517821" y="3097352"/>
            <a:chExt cx="2743462" cy="3008493"/>
          </a:xfrm>
        </p:grpSpPr>
        <p:sp>
          <p:nvSpPr>
            <p:cNvPr id="38" name="타원 37">
              <a:extLst>
                <a:ext uri="{FF2B5EF4-FFF2-40B4-BE49-F238E27FC236}">
                  <a16:creationId xmlns:a16="http://schemas.microsoft.com/office/drawing/2014/main" id="{BC8116C2-659E-4040-9645-7F974E0DB175}"/>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타원 38">
              <a:extLst>
                <a:ext uri="{FF2B5EF4-FFF2-40B4-BE49-F238E27FC236}">
                  <a16:creationId xmlns:a16="http://schemas.microsoft.com/office/drawing/2014/main" id="{72A9B26F-0157-41FD-A901-13AAA0EEC0D7}"/>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타원 39">
              <a:extLst>
                <a:ext uri="{FF2B5EF4-FFF2-40B4-BE49-F238E27FC236}">
                  <a16:creationId xmlns:a16="http://schemas.microsoft.com/office/drawing/2014/main" id="{49B3B805-E814-46DF-A931-FE4563393EA7}"/>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타원 40">
              <a:extLst>
                <a:ext uri="{FF2B5EF4-FFF2-40B4-BE49-F238E27FC236}">
                  <a16:creationId xmlns:a16="http://schemas.microsoft.com/office/drawing/2014/main" id="{80709BF1-A5B2-4483-B4B3-7E011D4367C1}"/>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42" name="직선 연결선 41">
              <a:extLst>
                <a:ext uri="{FF2B5EF4-FFF2-40B4-BE49-F238E27FC236}">
                  <a16:creationId xmlns:a16="http://schemas.microsoft.com/office/drawing/2014/main" id="{9D1B74DE-7EB7-4830-BF0C-695E826B03F0}"/>
                </a:ext>
              </a:extLst>
            </p:cNvPr>
            <p:cNvCxnSpPr>
              <a:cxnSpLocks/>
              <a:stCxn id="38" idx="4"/>
              <a:endCxn id="39"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EC95D5F5-A718-4920-9EAC-877F97D6963B}"/>
                </a:ext>
              </a:extLst>
            </p:cNvPr>
            <p:cNvCxnSpPr>
              <a:cxnSpLocks/>
              <a:stCxn id="41" idx="6"/>
              <a:endCxn id="40"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CD8C0BD1-8368-4FA0-A5CB-8C169930C6BF}"/>
                </a:ext>
              </a:extLst>
            </p:cNvPr>
            <p:cNvCxnSpPr>
              <a:cxnSpLocks/>
              <a:stCxn id="41" idx="5"/>
              <a:endCxn id="39" idx="1"/>
            </p:cNvCxnSpPr>
            <p:nvPr/>
          </p:nvCxnSpPr>
          <p:spPr>
            <a:xfrm>
              <a:off x="2436122" y="4242727"/>
              <a:ext cx="614157" cy="519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타원 44">
              <a:extLst>
                <a:ext uri="{FF2B5EF4-FFF2-40B4-BE49-F238E27FC236}">
                  <a16:creationId xmlns:a16="http://schemas.microsoft.com/office/drawing/2014/main" id="{26911852-A92E-446F-82B5-82E8A3E8A7E6}"/>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6" name="타원 45">
              <a:extLst>
                <a:ext uri="{FF2B5EF4-FFF2-40B4-BE49-F238E27FC236}">
                  <a16:creationId xmlns:a16="http://schemas.microsoft.com/office/drawing/2014/main" id="{13E631B8-40E5-4354-B313-927429A73F94}"/>
                </a:ext>
              </a:extLst>
            </p:cNvPr>
            <p:cNvSpPr/>
            <p:nvPr/>
          </p:nvSpPr>
          <p:spPr>
            <a:xfrm>
              <a:off x="1517821" y="5706349"/>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47" name="직선 연결선 46">
              <a:extLst>
                <a:ext uri="{FF2B5EF4-FFF2-40B4-BE49-F238E27FC236}">
                  <a16:creationId xmlns:a16="http://schemas.microsoft.com/office/drawing/2014/main" id="{5D269E80-0F0D-4755-B5E1-B21A785CE0F4}"/>
                </a:ext>
              </a:extLst>
            </p:cNvPr>
            <p:cNvCxnSpPr>
              <a:cxnSpLocks/>
              <a:stCxn id="46" idx="7"/>
              <a:endCxn id="39" idx="3"/>
            </p:cNvCxnSpPr>
            <p:nvPr/>
          </p:nvCxnSpPr>
          <p:spPr>
            <a:xfrm flipV="1">
              <a:off x="1858812" y="5045201"/>
              <a:ext cx="1191468" cy="719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712F2C90-3F1D-4C63-93B9-C15DAAD2A525}"/>
                </a:ext>
              </a:extLst>
            </p:cNvPr>
            <p:cNvCxnSpPr>
              <a:cxnSpLocks/>
              <a:stCxn id="40" idx="1"/>
              <a:endCxn id="38" idx="5"/>
            </p:cNvCxnSpPr>
            <p:nvPr/>
          </p:nvCxnSpPr>
          <p:spPr>
            <a:xfrm flipH="1" flipV="1">
              <a:off x="3332766" y="3438343"/>
              <a:ext cx="587526" cy="521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3ABB5DF5-1848-4C2D-A2EF-A8A1B1BC54E3}"/>
                </a:ext>
              </a:extLst>
            </p:cNvPr>
            <p:cNvCxnSpPr>
              <a:cxnSpLocks/>
              <a:stCxn id="41" idx="7"/>
              <a:endCxn id="38" idx="3"/>
            </p:cNvCxnSpPr>
            <p:nvPr/>
          </p:nvCxnSpPr>
          <p:spPr>
            <a:xfrm flipV="1">
              <a:off x="2436122" y="3438343"/>
              <a:ext cx="614158" cy="52189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761CE9B3-61AE-4CE5-BE80-7BEED18DA753}"/>
                </a:ext>
              </a:extLst>
            </p:cNvPr>
            <p:cNvCxnSpPr>
              <a:cxnSpLocks/>
              <a:stCxn id="39" idx="7"/>
              <a:endCxn id="40" idx="3"/>
            </p:cNvCxnSpPr>
            <p:nvPr/>
          </p:nvCxnSpPr>
          <p:spPr>
            <a:xfrm flipV="1">
              <a:off x="3332767" y="4242727"/>
              <a:ext cx="587525" cy="5199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FA82E71-FF33-471D-AD90-06751AE89D1E}"/>
                </a:ext>
              </a:extLst>
            </p:cNvPr>
            <p:cNvCxnSpPr>
              <a:cxnSpLocks/>
              <a:stCxn id="46" idx="7"/>
              <a:endCxn id="41" idx="3"/>
            </p:cNvCxnSpPr>
            <p:nvPr/>
          </p:nvCxnSpPr>
          <p:spPr>
            <a:xfrm flipV="1">
              <a:off x="1858812" y="4242727"/>
              <a:ext cx="294823" cy="152212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061" name="직사각형 2060">
            <a:extLst>
              <a:ext uri="{FF2B5EF4-FFF2-40B4-BE49-F238E27FC236}">
                <a16:creationId xmlns:a16="http://schemas.microsoft.com/office/drawing/2014/main" id="{CE3EF5AF-0E8A-4364-B2F9-60275523C955}"/>
              </a:ext>
            </a:extLst>
          </p:cNvPr>
          <p:cNvSpPr/>
          <p:nvPr/>
        </p:nvSpPr>
        <p:spPr>
          <a:xfrm>
            <a:off x="5089247" y="5028271"/>
            <a:ext cx="1597104" cy="369332"/>
          </a:xfrm>
          <a:prstGeom prst="rect">
            <a:avLst/>
          </a:prstGeom>
        </p:spPr>
        <p:txBody>
          <a:bodyPr wrap="none">
            <a:spAutoFit/>
          </a:bodyPr>
          <a:lstStyle/>
          <a:p>
            <a:r>
              <a:rPr lang="en-US" dirty="0"/>
              <a:t>triadic closures</a:t>
            </a:r>
            <a:endParaRPr lang="en-US" i="1" dirty="0"/>
          </a:p>
        </p:txBody>
      </p:sp>
    </p:spTree>
    <p:extLst>
      <p:ext uri="{BB962C8B-B14F-4D97-AF65-F5344CB8AC3E}">
        <p14:creationId xmlns:p14="http://schemas.microsoft.com/office/powerpoint/2010/main" val="1206103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Triadic Closure</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234026" y="1135032"/>
            <a:ext cx="11653174" cy="2036395"/>
          </a:xfrm>
        </p:spPr>
        <p:txBody>
          <a:bodyPr>
            <a:normAutofit/>
          </a:bodyPr>
          <a:lstStyle/>
          <a:p>
            <a:pPr marL="0" indent="0">
              <a:buNone/>
            </a:pPr>
            <a:r>
              <a:rPr lang="en-US" sz="2400" i="1" dirty="0"/>
              <a:t>Clustering Coefficient </a:t>
            </a:r>
            <a:r>
              <a:rPr lang="en-US" sz="2000" i="1" dirty="0"/>
              <a:t>(Local)</a:t>
            </a:r>
            <a:r>
              <a:rPr lang="en-US" sz="2400" i="1" dirty="0"/>
              <a:t> : </a:t>
            </a:r>
          </a:p>
          <a:p>
            <a:r>
              <a:rPr lang="en-US" sz="2000" dirty="0"/>
              <a:t>Measurement to capture prevalence of triadic closure.</a:t>
            </a:r>
          </a:p>
          <a:p>
            <a:r>
              <a:rPr lang="en-US" sz="2000" dirty="0"/>
              <a:t>Probability that two randomly selected nodes connected to the observed node are connected to each other by edges.</a:t>
            </a:r>
          </a:p>
          <a:p>
            <a:r>
              <a:rPr lang="en-US" sz="2000" dirty="0"/>
              <a:t>Ranges from 0 </a:t>
            </a:r>
            <a:r>
              <a:rPr lang="en-US" sz="1400" b="1" dirty="0"/>
              <a:t>(none of the connected nodes are also linked to each other)</a:t>
            </a:r>
            <a:r>
              <a:rPr lang="en-US" sz="2000" dirty="0"/>
              <a:t> to 1 </a:t>
            </a:r>
            <a:r>
              <a:rPr lang="en-US" sz="1400" b="1" dirty="0"/>
              <a:t>(all of the connected nodes are also linked to each other)</a:t>
            </a:r>
            <a:endParaRPr lang="en-US" sz="2200" b="1" dirty="0"/>
          </a:p>
        </p:txBody>
      </p:sp>
      <p:grpSp>
        <p:nvGrpSpPr>
          <p:cNvPr id="6" name="그룹 5">
            <a:extLst>
              <a:ext uri="{FF2B5EF4-FFF2-40B4-BE49-F238E27FC236}">
                <a16:creationId xmlns:a16="http://schemas.microsoft.com/office/drawing/2014/main" id="{E728F019-2E99-43C8-BB64-2D8085A8B018}"/>
              </a:ext>
            </a:extLst>
          </p:cNvPr>
          <p:cNvGrpSpPr/>
          <p:nvPr/>
        </p:nvGrpSpPr>
        <p:grpSpPr>
          <a:xfrm>
            <a:off x="434471" y="3363740"/>
            <a:ext cx="2015805" cy="2210539"/>
            <a:chOff x="1517821" y="3097353"/>
            <a:chExt cx="2743462" cy="3008492"/>
          </a:xfrm>
        </p:grpSpPr>
        <p:sp>
          <p:nvSpPr>
            <p:cNvPr id="9" name="타원 8">
              <a:extLst>
                <a:ext uri="{FF2B5EF4-FFF2-40B4-BE49-F238E27FC236}">
                  <a16:creationId xmlns:a16="http://schemas.microsoft.com/office/drawing/2014/main" id="{F3B02EE5-9107-4DD5-BDD0-725A68EE77AA}"/>
                </a:ext>
              </a:extLst>
            </p:cNvPr>
            <p:cNvSpPr/>
            <p:nvPr/>
          </p:nvSpPr>
          <p:spPr>
            <a:xfrm>
              <a:off x="2991776" y="3097353"/>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0" name="타원 9">
              <a:extLst>
                <a:ext uri="{FF2B5EF4-FFF2-40B4-BE49-F238E27FC236}">
                  <a16:creationId xmlns:a16="http://schemas.microsoft.com/office/drawing/2014/main" id="{B1AB9624-031E-4CE8-9058-C7006D9E2676}"/>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 name="타원 10">
              <a:extLst>
                <a:ext uri="{FF2B5EF4-FFF2-40B4-BE49-F238E27FC236}">
                  <a16:creationId xmlns:a16="http://schemas.microsoft.com/office/drawing/2014/main" id="{9C9F7FCF-8687-4B0F-B395-99F0DACF84B7}"/>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2" name="타원 11">
              <a:extLst>
                <a:ext uri="{FF2B5EF4-FFF2-40B4-BE49-F238E27FC236}">
                  <a16:creationId xmlns:a16="http://schemas.microsoft.com/office/drawing/2014/main" id="{39E068DA-1D97-4FE7-9EEF-7E7934F5D109}"/>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4" name="직선 연결선 13">
              <a:extLst>
                <a:ext uri="{FF2B5EF4-FFF2-40B4-BE49-F238E27FC236}">
                  <a16:creationId xmlns:a16="http://schemas.microsoft.com/office/drawing/2014/main" id="{5D017E65-04CD-493B-9687-06C1DA531261}"/>
                </a:ext>
              </a:extLst>
            </p:cNvPr>
            <p:cNvCxnSpPr>
              <a:cxnSpLocks/>
              <a:stCxn id="9" idx="4"/>
              <a:endCxn id="10"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2569DE1B-6AB5-49BB-BC53-27D305E9C5C9}"/>
                </a:ext>
              </a:extLst>
            </p:cNvPr>
            <p:cNvCxnSpPr>
              <a:cxnSpLocks/>
              <a:stCxn id="12" idx="6"/>
              <a:endCxn id="11"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F66A53C6-4B2F-47D1-BDF7-7D2D55E46AF5}"/>
                </a:ext>
              </a:extLst>
            </p:cNvPr>
            <p:cNvCxnSpPr>
              <a:cxnSpLocks/>
              <a:stCxn id="12" idx="5"/>
              <a:endCxn id="10" idx="1"/>
            </p:cNvCxnSpPr>
            <p:nvPr/>
          </p:nvCxnSpPr>
          <p:spPr>
            <a:xfrm>
              <a:off x="2436122" y="4242727"/>
              <a:ext cx="614157" cy="519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타원 16">
              <a:extLst>
                <a:ext uri="{FF2B5EF4-FFF2-40B4-BE49-F238E27FC236}">
                  <a16:creationId xmlns:a16="http://schemas.microsoft.com/office/drawing/2014/main" id="{901D3102-4EC5-4482-83A0-25C30F5D3CAF}"/>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8" name="타원 17">
              <a:extLst>
                <a:ext uri="{FF2B5EF4-FFF2-40B4-BE49-F238E27FC236}">
                  <a16:creationId xmlns:a16="http://schemas.microsoft.com/office/drawing/2014/main" id="{8DB7DB65-0CDE-4A19-A787-D2C3AECE337A}"/>
                </a:ext>
              </a:extLst>
            </p:cNvPr>
            <p:cNvSpPr/>
            <p:nvPr/>
          </p:nvSpPr>
          <p:spPr>
            <a:xfrm>
              <a:off x="1517821" y="5706349"/>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19" name="직선 연결선 18">
              <a:extLst>
                <a:ext uri="{FF2B5EF4-FFF2-40B4-BE49-F238E27FC236}">
                  <a16:creationId xmlns:a16="http://schemas.microsoft.com/office/drawing/2014/main" id="{A22C55CC-1078-425B-B693-1FE788C0EF2B}"/>
                </a:ext>
              </a:extLst>
            </p:cNvPr>
            <p:cNvCxnSpPr>
              <a:cxnSpLocks/>
              <a:stCxn id="18" idx="7"/>
              <a:endCxn id="10" idx="3"/>
            </p:cNvCxnSpPr>
            <p:nvPr/>
          </p:nvCxnSpPr>
          <p:spPr>
            <a:xfrm flipV="1">
              <a:off x="1858812" y="5045201"/>
              <a:ext cx="1191468" cy="719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B3D6B516-26B5-48DE-ACF5-4F57BDBA0A34}"/>
                </a:ext>
              </a:extLst>
            </p:cNvPr>
            <p:cNvCxnSpPr>
              <a:cxnSpLocks/>
              <a:stCxn id="11" idx="1"/>
              <a:endCxn id="9" idx="5"/>
            </p:cNvCxnSpPr>
            <p:nvPr/>
          </p:nvCxnSpPr>
          <p:spPr>
            <a:xfrm flipH="1" flipV="1">
              <a:off x="3332766" y="3438343"/>
              <a:ext cx="587526" cy="521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3" name="내용 개체 틀 2">
                <a:extLst>
                  <a:ext uri="{FF2B5EF4-FFF2-40B4-BE49-F238E27FC236}">
                    <a16:creationId xmlns:a16="http://schemas.microsoft.com/office/drawing/2014/main" id="{2ED84F00-1583-4049-8012-593A54716ACE}"/>
                  </a:ext>
                </a:extLst>
              </p:cNvPr>
              <p:cNvSpPr txBox="1">
                <a:spLocks/>
              </p:cNvSpPr>
              <p:nvPr/>
            </p:nvSpPr>
            <p:spPr>
              <a:xfrm>
                <a:off x="2623065" y="4947853"/>
                <a:ext cx="8641955" cy="6657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ex) Clustering Coefficient of Node C   = </a:t>
                </a:r>
                <a14:m>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m:t>
                        </m:r>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𝐷</m:t>
                        </m:r>
                        <m:r>
                          <a:rPr lang="en-US" sz="1800" b="0" i="1" smtClean="0">
                            <a:latin typeface="Cambria Math" panose="02040503050406030204" pitchFamily="18" charset="0"/>
                          </a:rPr>
                          <m:t>),   (</m:t>
                        </m:r>
                        <m:r>
                          <a:rPr lang="en-US" sz="1800" b="0" i="1" smtClean="0">
                            <a:latin typeface="Cambria Math" panose="02040503050406030204" pitchFamily="18" charset="0"/>
                          </a:rPr>
                          <m:t>𝐵</m:t>
                        </m:r>
                        <m:r>
                          <a:rPr lang="en-US" sz="1800" b="0" i="1" smtClean="0">
                            <a:latin typeface="Cambria Math" panose="02040503050406030204" pitchFamily="18" charset="0"/>
                          </a:rPr>
                          <m:t>−</m:t>
                        </m:r>
                        <m:r>
                          <a:rPr lang="en-US" sz="1800" b="0" i="1" smtClean="0">
                            <a:latin typeface="Cambria Math" panose="02040503050406030204" pitchFamily="18" charset="0"/>
                          </a:rPr>
                          <m:t>𝐸</m:t>
                        </m:r>
                        <m:r>
                          <a:rPr lang="en-US" sz="1800" b="0" i="1" smtClean="0">
                            <a:latin typeface="Cambria Math" panose="02040503050406030204" pitchFamily="18" charset="0"/>
                          </a:rPr>
                          <m:t>)</m:t>
                        </m:r>
                      </m:num>
                      <m:den>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𝐵</m:t>
                            </m:r>
                          </m:e>
                        </m:d>
                        <m:r>
                          <a:rPr lang="en-US" sz="1800" b="0" i="1" smtClean="0">
                            <a:latin typeface="Cambria Math" panose="02040503050406030204" pitchFamily="18" charset="0"/>
                          </a:rPr>
                          <m:t>,  </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𝐷</m:t>
                            </m:r>
                          </m:e>
                        </m:d>
                        <m:r>
                          <a:rPr lang="en-US" sz="1800" b="0" i="1" smtClean="0">
                            <a:latin typeface="Cambria Math" panose="02040503050406030204" pitchFamily="18" charset="0"/>
                          </a:rPr>
                          <m:t>,   </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𝐸</m:t>
                            </m:r>
                          </m:e>
                        </m:d>
                        <m:r>
                          <a:rPr lang="en-US" sz="1800" b="0" i="1" smtClean="0">
                            <a:latin typeface="Cambria Math" panose="02040503050406030204" pitchFamily="18" charset="0"/>
                          </a:rPr>
                          <m:t>,   </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𝐵</m:t>
                            </m:r>
                            <m:r>
                              <a:rPr lang="en-US" sz="1800" b="0" i="1" smtClean="0">
                                <a:latin typeface="Cambria Math" panose="02040503050406030204" pitchFamily="18" charset="0"/>
                              </a:rPr>
                              <m:t>−</m:t>
                            </m:r>
                            <m:r>
                              <a:rPr lang="en-US" sz="1800" b="0" i="1" smtClean="0">
                                <a:latin typeface="Cambria Math" panose="02040503050406030204" pitchFamily="18" charset="0"/>
                              </a:rPr>
                              <m:t>𝐷</m:t>
                            </m:r>
                          </m:e>
                        </m:d>
                        <m:r>
                          <a:rPr lang="en-US" sz="1800" b="0" i="1" smtClean="0">
                            <a:latin typeface="Cambria Math" panose="02040503050406030204" pitchFamily="18" charset="0"/>
                          </a:rPr>
                          <m:t>,   </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𝐵</m:t>
                            </m:r>
                            <m:r>
                              <a:rPr lang="en-US" sz="1800" b="0" i="1" smtClean="0">
                                <a:latin typeface="Cambria Math" panose="02040503050406030204" pitchFamily="18" charset="0"/>
                              </a:rPr>
                              <m:t>−</m:t>
                            </m:r>
                            <m:r>
                              <a:rPr lang="en-US" sz="1800" b="0" i="1" smtClean="0">
                                <a:latin typeface="Cambria Math" panose="02040503050406030204" pitchFamily="18" charset="0"/>
                              </a:rPr>
                              <m:t>𝐸</m:t>
                            </m:r>
                          </m:e>
                        </m:d>
                        <m:r>
                          <a:rPr lang="en-US" sz="1800" b="0" i="1" smtClean="0">
                            <a:latin typeface="Cambria Math" panose="02040503050406030204" pitchFamily="18" charset="0"/>
                          </a:rPr>
                          <m:t>,   (</m:t>
                        </m:r>
                        <m:r>
                          <a:rPr lang="en-US" sz="1800" b="0" i="1" smtClean="0">
                            <a:latin typeface="Cambria Math" panose="02040503050406030204" pitchFamily="18" charset="0"/>
                          </a:rPr>
                          <m:t>𝐷</m:t>
                        </m:r>
                        <m:r>
                          <a:rPr lang="en-US" sz="1800" b="0" i="1" smtClean="0">
                            <a:latin typeface="Cambria Math" panose="02040503050406030204" pitchFamily="18" charset="0"/>
                          </a:rPr>
                          <m:t>−</m:t>
                        </m:r>
                        <m:r>
                          <a:rPr lang="en-US" sz="1800" b="0" i="1" smtClean="0">
                            <a:latin typeface="Cambria Math" panose="02040503050406030204" pitchFamily="18" charset="0"/>
                          </a:rPr>
                          <m:t>𝐸</m:t>
                        </m:r>
                        <m:r>
                          <a:rPr lang="en-US" sz="1800" b="0" i="1" smtClean="0">
                            <a:latin typeface="Cambria Math" panose="02040503050406030204" pitchFamily="18" charset="0"/>
                          </a:rPr>
                          <m:t>)</m:t>
                        </m:r>
                      </m:den>
                    </m:f>
                    <m:r>
                      <a:rPr lang="en-US" sz="1800" b="0" i="0" smtClean="0">
                        <a:latin typeface="Cambria Math" panose="02040503050406030204" pitchFamily="18" charset="0"/>
                      </a:rPr>
                      <m:t>=</m:t>
                    </m:r>
                    <m:f>
                      <m:fPr>
                        <m:ctrlPr>
                          <a:rPr lang="en-US" sz="1800" i="1" smtClean="0">
                            <a:latin typeface="Cambria Math" panose="02040503050406030204" pitchFamily="18" charset="0"/>
                          </a:rPr>
                        </m:ctrlPr>
                      </m:fPr>
                      <m:num>
                        <m:r>
                          <a:rPr lang="en-US" sz="1800" b="0" i="1" smtClean="0">
                            <a:latin typeface="Cambria Math" panose="02040503050406030204" pitchFamily="18" charset="0"/>
                          </a:rPr>
                          <m:t>2</m:t>
                        </m:r>
                      </m:num>
                      <m:den>
                        <m:r>
                          <a:rPr lang="en-US" sz="1800" b="0" i="1" smtClean="0">
                            <a:latin typeface="Cambria Math" panose="02040503050406030204" pitchFamily="18" charset="0"/>
                          </a:rPr>
                          <m:t>4</m:t>
                        </m:r>
                        <m:r>
                          <a:rPr lang="en-US" sz="1800" b="0" i="1" smtClean="0">
                            <a:latin typeface="Cambria Math" panose="02040503050406030204" pitchFamily="18" charset="0"/>
                          </a:rPr>
                          <m:t>𝐶</m:t>
                        </m:r>
                        <m:r>
                          <a:rPr lang="en-US" sz="1800" b="0" i="1" smtClean="0">
                            <a:latin typeface="Cambria Math" panose="02040503050406030204" pitchFamily="18" charset="0"/>
                          </a:rPr>
                          <m:t>2</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3</m:t>
                        </m:r>
                      </m:den>
                    </m:f>
                  </m:oMath>
                </a14:m>
                <a:r>
                  <a:rPr lang="en-US" sz="1800" dirty="0"/>
                  <a:t> </a:t>
                </a:r>
              </a:p>
            </p:txBody>
          </p:sp>
        </mc:Choice>
        <mc:Fallback xmlns="">
          <p:sp>
            <p:nvSpPr>
              <p:cNvPr id="33" name="내용 개체 틀 2">
                <a:extLst>
                  <a:ext uri="{FF2B5EF4-FFF2-40B4-BE49-F238E27FC236}">
                    <a16:creationId xmlns:a16="http://schemas.microsoft.com/office/drawing/2014/main" id="{2ED84F00-1583-4049-8012-593A54716ACE}"/>
                  </a:ext>
                </a:extLst>
              </p:cNvPr>
              <p:cNvSpPr txBox="1">
                <a:spLocks noRot="1" noChangeAspect="1" noMove="1" noResize="1" noEditPoints="1" noAdjustHandles="1" noChangeArrowheads="1" noChangeShapeType="1" noTextEdit="1"/>
              </p:cNvSpPr>
              <p:nvPr/>
            </p:nvSpPr>
            <p:spPr>
              <a:xfrm>
                <a:off x="2623065" y="4947853"/>
                <a:ext cx="8641955" cy="665780"/>
              </a:xfrm>
              <a:prstGeom prst="rect">
                <a:avLst/>
              </a:prstGeom>
              <a:blipFill>
                <a:blip r:embed="rId2"/>
                <a:stretch>
                  <a:fillRect l="-564" t="-917"/>
                </a:stretch>
              </a:blipFill>
            </p:spPr>
            <p:txBody>
              <a:bodyPr/>
              <a:lstStyle/>
              <a:p>
                <a:r>
                  <a:rPr lang="en-US">
                    <a:noFill/>
                  </a:rPr>
                  <a:t> </a:t>
                </a:r>
              </a:p>
            </p:txBody>
          </p:sp>
        </mc:Fallback>
      </mc:AlternateContent>
    </p:spTree>
    <p:extLst>
      <p:ext uri="{BB962C8B-B14F-4D97-AF65-F5344CB8AC3E}">
        <p14:creationId xmlns:p14="http://schemas.microsoft.com/office/powerpoint/2010/main" val="2941729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Triadic Closure</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778386" y="1771623"/>
            <a:ext cx="6370960" cy="1909982"/>
          </a:xfrm>
        </p:spPr>
        <p:txBody>
          <a:bodyPr>
            <a:normAutofit/>
          </a:bodyPr>
          <a:lstStyle/>
          <a:p>
            <a:pPr marL="0" indent="0">
              <a:buNone/>
            </a:pPr>
            <a:r>
              <a:rPr lang="en-US" sz="2400" i="1" dirty="0"/>
              <a:t>The Reason for Triadic Closure:</a:t>
            </a:r>
          </a:p>
          <a:p>
            <a:pPr marL="0" indent="0">
              <a:buNone/>
            </a:pPr>
            <a:r>
              <a:rPr lang="en-US" sz="2400" i="1" dirty="0"/>
              <a:t>	</a:t>
            </a:r>
            <a:r>
              <a:rPr lang="en-US" sz="2400" dirty="0"/>
              <a:t>1. </a:t>
            </a:r>
            <a:r>
              <a:rPr lang="en-US" sz="2400" b="1" dirty="0"/>
              <a:t>Opportunity</a:t>
            </a:r>
            <a:r>
              <a:rPr lang="en-US" sz="2400" dirty="0"/>
              <a:t> to meet increases </a:t>
            </a:r>
            <a:br>
              <a:rPr lang="en-US" sz="2000" i="1" dirty="0"/>
            </a:br>
            <a:r>
              <a:rPr lang="en-US" sz="2000" i="1" dirty="0"/>
              <a:t>	</a:t>
            </a:r>
            <a:r>
              <a:rPr lang="en-US" sz="2400" dirty="0"/>
              <a:t>2. Mutual node gives a basis for </a:t>
            </a:r>
            <a:r>
              <a:rPr lang="en-US" sz="2400" b="1" dirty="0"/>
              <a:t>trusting</a:t>
            </a:r>
            <a:br>
              <a:rPr lang="en-US" sz="2400" b="1" dirty="0"/>
            </a:br>
            <a:r>
              <a:rPr lang="en-US" sz="2400" b="1" dirty="0"/>
              <a:t>	</a:t>
            </a:r>
            <a:r>
              <a:rPr lang="en-US" sz="2400" dirty="0"/>
              <a:t>3. </a:t>
            </a:r>
            <a:r>
              <a:rPr lang="en-US" sz="2400" b="1" dirty="0"/>
              <a:t>Incentive-wise</a:t>
            </a:r>
          </a:p>
        </p:txBody>
      </p:sp>
      <p:grpSp>
        <p:nvGrpSpPr>
          <p:cNvPr id="4" name="그룹 3">
            <a:extLst>
              <a:ext uri="{FF2B5EF4-FFF2-40B4-BE49-F238E27FC236}">
                <a16:creationId xmlns:a16="http://schemas.microsoft.com/office/drawing/2014/main" id="{6E6902F7-262E-4FFC-97E1-6A6CE2797C5A}"/>
              </a:ext>
            </a:extLst>
          </p:cNvPr>
          <p:cNvGrpSpPr/>
          <p:nvPr/>
        </p:nvGrpSpPr>
        <p:grpSpPr>
          <a:xfrm>
            <a:off x="1789591" y="4437938"/>
            <a:ext cx="8025516" cy="2210540"/>
            <a:chOff x="1789591" y="4437938"/>
            <a:chExt cx="8025516" cy="2210540"/>
          </a:xfrm>
        </p:grpSpPr>
        <p:grpSp>
          <p:nvGrpSpPr>
            <p:cNvPr id="6" name="그룹 5">
              <a:extLst>
                <a:ext uri="{FF2B5EF4-FFF2-40B4-BE49-F238E27FC236}">
                  <a16:creationId xmlns:a16="http://schemas.microsoft.com/office/drawing/2014/main" id="{E728F019-2E99-43C8-BB64-2D8085A8B018}"/>
                </a:ext>
              </a:extLst>
            </p:cNvPr>
            <p:cNvGrpSpPr/>
            <p:nvPr/>
          </p:nvGrpSpPr>
          <p:grpSpPr>
            <a:xfrm>
              <a:off x="1789591" y="4437938"/>
              <a:ext cx="2015805" cy="2210540"/>
              <a:chOff x="1517821" y="3097352"/>
              <a:chExt cx="2743462" cy="3008493"/>
            </a:xfrm>
          </p:grpSpPr>
          <p:sp>
            <p:nvSpPr>
              <p:cNvPr id="9" name="타원 8">
                <a:extLst>
                  <a:ext uri="{FF2B5EF4-FFF2-40B4-BE49-F238E27FC236}">
                    <a16:creationId xmlns:a16="http://schemas.microsoft.com/office/drawing/2014/main" id="{F3B02EE5-9107-4DD5-BDD0-725A68EE77AA}"/>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0" name="타원 9">
                <a:extLst>
                  <a:ext uri="{FF2B5EF4-FFF2-40B4-BE49-F238E27FC236}">
                    <a16:creationId xmlns:a16="http://schemas.microsoft.com/office/drawing/2014/main" id="{B1AB9624-031E-4CE8-9058-C7006D9E2676}"/>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 name="타원 10">
                <a:extLst>
                  <a:ext uri="{FF2B5EF4-FFF2-40B4-BE49-F238E27FC236}">
                    <a16:creationId xmlns:a16="http://schemas.microsoft.com/office/drawing/2014/main" id="{9C9F7FCF-8687-4B0F-B395-99F0DACF84B7}"/>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2" name="타원 11">
                <a:extLst>
                  <a:ext uri="{FF2B5EF4-FFF2-40B4-BE49-F238E27FC236}">
                    <a16:creationId xmlns:a16="http://schemas.microsoft.com/office/drawing/2014/main" id="{39E068DA-1D97-4FE7-9EEF-7E7934F5D109}"/>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4" name="직선 연결선 13">
                <a:extLst>
                  <a:ext uri="{FF2B5EF4-FFF2-40B4-BE49-F238E27FC236}">
                    <a16:creationId xmlns:a16="http://schemas.microsoft.com/office/drawing/2014/main" id="{5D017E65-04CD-493B-9687-06C1DA531261}"/>
                  </a:ext>
                </a:extLst>
              </p:cNvPr>
              <p:cNvCxnSpPr>
                <a:cxnSpLocks/>
                <a:stCxn id="9" idx="4"/>
                <a:endCxn id="10"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2569DE1B-6AB5-49BB-BC53-27D305E9C5C9}"/>
                  </a:ext>
                </a:extLst>
              </p:cNvPr>
              <p:cNvCxnSpPr>
                <a:cxnSpLocks/>
                <a:stCxn id="12" idx="6"/>
                <a:endCxn id="11"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F66A53C6-4B2F-47D1-BDF7-7D2D55E46AF5}"/>
                  </a:ext>
                </a:extLst>
              </p:cNvPr>
              <p:cNvCxnSpPr>
                <a:cxnSpLocks/>
                <a:stCxn id="12" idx="5"/>
                <a:endCxn id="10" idx="1"/>
              </p:cNvCxnSpPr>
              <p:nvPr/>
            </p:nvCxnSpPr>
            <p:spPr>
              <a:xfrm>
                <a:off x="2436122" y="4242727"/>
                <a:ext cx="614157" cy="519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타원 16">
                <a:extLst>
                  <a:ext uri="{FF2B5EF4-FFF2-40B4-BE49-F238E27FC236}">
                    <a16:creationId xmlns:a16="http://schemas.microsoft.com/office/drawing/2014/main" id="{901D3102-4EC5-4482-83A0-25C30F5D3CAF}"/>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8" name="타원 17">
                <a:extLst>
                  <a:ext uri="{FF2B5EF4-FFF2-40B4-BE49-F238E27FC236}">
                    <a16:creationId xmlns:a16="http://schemas.microsoft.com/office/drawing/2014/main" id="{8DB7DB65-0CDE-4A19-A787-D2C3AECE337A}"/>
                  </a:ext>
                </a:extLst>
              </p:cNvPr>
              <p:cNvSpPr/>
              <p:nvPr/>
            </p:nvSpPr>
            <p:spPr>
              <a:xfrm>
                <a:off x="1517821" y="5706349"/>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19" name="직선 연결선 18">
                <a:extLst>
                  <a:ext uri="{FF2B5EF4-FFF2-40B4-BE49-F238E27FC236}">
                    <a16:creationId xmlns:a16="http://schemas.microsoft.com/office/drawing/2014/main" id="{A22C55CC-1078-425B-B693-1FE788C0EF2B}"/>
                  </a:ext>
                </a:extLst>
              </p:cNvPr>
              <p:cNvCxnSpPr>
                <a:cxnSpLocks/>
                <a:stCxn id="18" idx="7"/>
                <a:endCxn id="10" idx="3"/>
              </p:cNvCxnSpPr>
              <p:nvPr/>
            </p:nvCxnSpPr>
            <p:spPr>
              <a:xfrm flipV="1">
                <a:off x="1858812" y="5045201"/>
                <a:ext cx="1191468" cy="719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B3D6B516-26B5-48DE-ACF5-4F57BDBA0A34}"/>
                  </a:ext>
                </a:extLst>
              </p:cNvPr>
              <p:cNvCxnSpPr>
                <a:cxnSpLocks/>
                <a:stCxn id="11" idx="1"/>
                <a:endCxn id="9" idx="5"/>
              </p:cNvCxnSpPr>
              <p:nvPr/>
            </p:nvCxnSpPr>
            <p:spPr>
              <a:xfrm flipH="1" flipV="1">
                <a:off x="3332766" y="3438343"/>
                <a:ext cx="587526" cy="521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52" name="화살표: 오른쪽 2051">
              <a:extLst>
                <a:ext uri="{FF2B5EF4-FFF2-40B4-BE49-F238E27FC236}">
                  <a16:creationId xmlns:a16="http://schemas.microsoft.com/office/drawing/2014/main" id="{C40F8564-F2E6-4665-A991-E9C013A4D5BB}"/>
                </a:ext>
              </a:extLst>
            </p:cNvPr>
            <p:cNvSpPr/>
            <p:nvPr/>
          </p:nvSpPr>
          <p:spPr>
            <a:xfrm>
              <a:off x="5038244" y="5329723"/>
              <a:ext cx="1885400" cy="3390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그룹 36">
              <a:extLst>
                <a:ext uri="{FF2B5EF4-FFF2-40B4-BE49-F238E27FC236}">
                  <a16:creationId xmlns:a16="http://schemas.microsoft.com/office/drawing/2014/main" id="{8FEF6C76-9FCC-4F2E-9F83-3DEFF53B6F23}"/>
                </a:ext>
              </a:extLst>
            </p:cNvPr>
            <p:cNvGrpSpPr/>
            <p:nvPr/>
          </p:nvGrpSpPr>
          <p:grpSpPr>
            <a:xfrm>
              <a:off x="7799302" y="4437938"/>
              <a:ext cx="2015805" cy="2210540"/>
              <a:chOff x="1517821" y="3097352"/>
              <a:chExt cx="2743462" cy="3008493"/>
            </a:xfrm>
          </p:grpSpPr>
          <p:sp>
            <p:nvSpPr>
              <p:cNvPr id="38" name="타원 37">
                <a:extLst>
                  <a:ext uri="{FF2B5EF4-FFF2-40B4-BE49-F238E27FC236}">
                    <a16:creationId xmlns:a16="http://schemas.microsoft.com/office/drawing/2014/main" id="{BC8116C2-659E-4040-9645-7F974E0DB175}"/>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타원 38">
                <a:extLst>
                  <a:ext uri="{FF2B5EF4-FFF2-40B4-BE49-F238E27FC236}">
                    <a16:creationId xmlns:a16="http://schemas.microsoft.com/office/drawing/2014/main" id="{72A9B26F-0157-41FD-A901-13AAA0EEC0D7}"/>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타원 39">
                <a:extLst>
                  <a:ext uri="{FF2B5EF4-FFF2-40B4-BE49-F238E27FC236}">
                    <a16:creationId xmlns:a16="http://schemas.microsoft.com/office/drawing/2014/main" id="{49B3B805-E814-46DF-A931-FE4563393EA7}"/>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타원 40">
                <a:extLst>
                  <a:ext uri="{FF2B5EF4-FFF2-40B4-BE49-F238E27FC236}">
                    <a16:creationId xmlns:a16="http://schemas.microsoft.com/office/drawing/2014/main" id="{80709BF1-A5B2-4483-B4B3-7E011D4367C1}"/>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42" name="직선 연결선 41">
                <a:extLst>
                  <a:ext uri="{FF2B5EF4-FFF2-40B4-BE49-F238E27FC236}">
                    <a16:creationId xmlns:a16="http://schemas.microsoft.com/office/drawing/2014/main" id="{9D1B74DE-7EB7-4830-BF0C-695E826B03F0}"/>
                  </a:ext>
                </a:extLst>
              </p:cNvPr>
              <p:cNvCxnSpPr>
                <a:cxnSpLocks/>
                <a:stCxn id="38" idx="4"/>
                <a:endCxn id="39"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EC95D5F5-A718-4920-9EAC-877F97D6963B}"/>
                  </a:ext>
                </a:extLst>
              </p:cNvPr>
              <p:cNvCxnSpPr>
                <a:cxnSpLocks/>
                <a:stCxn id="41" idx="6"/>
                <a:endCxn id="40"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CD8C0BD1-8368-4FA0-A5CB-8C169930C6BF}"/>
                  </a:ext>
                </a:extLst>
              </p:cNvPr>
              <p:cNvCxnSpPr>
                <a:cxnSpLocks/>
                <a:stCxn id="41" idx="5"/>
                <a:endCxn id="39" idx="1"/>
              </p:cNvCxnSpPr>
              <p:nvPr/>
            </p:nvCxnSpPr>
            <p:spPr>
              <a:xfrm>
                <a:off x="2436122" y="4242727"/>
                <a:ext cx="614157" cy="519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타원 44">
                <a:extLst>
                  <a:ext uri="{FF2B5EF4-FFF2-40B4-BE49-F238E27FC236}">
                    <a16:creationId xmlns:a16="http://schemas.microsoft.com/office/drawing/2014/main" id="{26911852-A92E-446F-82B5-82E8A3E8A7E6}"/>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6" name="타원 45">
                <a:extLst>
                  <a:ext uri="{FF2B5EF4-FFF2-40B4-BE49-F238E27FC236}">
                    <a16:creationId xmlns:a16="http://schemas.microsoft.com/office/drawing/2014/main" id="{13E631B8-40E5-4354-B313-927429A73F94}"/>
                  </a:ext>
                </a:extLst>
              </p:cNvPr>
              <p:cNvSpPr/>
              <p:nvPr/>
            </p:nvSpPr>
            <p:spPr>
              <a:xfrm>
                <a:off x="1517821" y="5706349"/>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47" name="직선 연결선 46">
                <a:extLst>
                  <a:ext uri="{FF2B5EF4-FFF2-40B4-BE49-F238E27FC236}">
                    <a16:creationId xmlns:a16="http://schemas.microsoft.com/office/drawing/2014/main" id="{5D269E80-0F0D-4755-B5E1-B21A785CE0F4}"/>
                  </a:ext>
                </a:extLst>
              </p:cNvPr>
              <p:cNvCxnSpPr>
                <a:cxnSpLocks/>
                <a:stCxn id="46" idx="7"/>
                <a:endCxn id="39" idx="3"/>
              </p:cNvCxnSpPr>
              <p:nvPr/>
            </p:nvCxnSpPr>
            <p:spPr>
              <a:xfrm flipV="1">
                <a:off x="1858812" y="5045201"/>
                <a:ext cx="1191468" cy="719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712F2C90-3F1D-4C63-93B9-C15DAAD2A525}"/>
                  </a:ext>
                </a:extLst>
              </p:cNvPr>
              <p:cNvCxnSpPr>
                <a:cxnSpLocks/>
                <a:stCxn id="40" idx="1"/>
                <a:endCxn id="38" idx="5"/>
              </p:cNvCxnSpPr>
              <p:nvPr/>
            </p:nvCxnSpPr>
            <p:spPr>
              <a:xfrm flipH="1" flipV="1">
                <a:off x="3332766" y="3438343"/>
                <a:ext cx="587526" cy="521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3ABB5DF5-1848-4C2D-A2EF-A8A1B1BC54E3}"/>
                  </a:ext>
                </a:extLst>
              </p:cNvPr>
              <p:cNvCxnSpPr>
                <a:cxnSpLocks/>
                <a:stCxn id="41" idx="7"/>
                <a:endCxn id="38" idx="3"/>
              </p:cNvCxnSpPr>
              <p:nvPr/>
            </p:nvCxnSpPr>
            <p:spPr>
              <a:xfrm flipV="1">
                <a:off x="2436122" y="3438343"/>
                <a:ext cx="614158" cy="52189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761CE9B3-61AE-4CE5-BE80-7BEED18DA753}"/>
                  </a:ext>
                </a:extLst>
              </p:cNvPr>
              <p:cNvCxnSpPr>
                <a:cxnSpLocks/>
                <a:stCxn id="39" idx="7"/>
                <a:endCxn id="40" idx="3"/>
              </p:cNvCxnSpPr>
              <p:nvPr/>
            </p:nvCxnSpPr>
            <p:spPr>
              <a:xfrm flipV="1">
                <a:off x="3332767" y="4242727"/>
                <a:ext cx="587525" cy="5199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FA82E71-FF33-471D-AD90-06751AE89D1E}"/>
                  </a:ext>
                </a:extLst>
              </p:cNvPr>
              <p:cNvCxnSpPr>
                <a:cxnSpLocks/>
                <a:stCxn id="46" idx="7"/>
                <a:endCxn id="41" idx="3"/>
              </p:cNvCxnSpPr>
              <p:nvPr/>
            </p:nvCxnSpPr>
            <p:spPr>
              <a:xfrm flipV="1">
                <a:off x="1858812" y="4242727"/>
                <a:ext cx="294823" cy="152212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061" name="직사각형 2060">
              <a:extLst>
                <a:ext uri="{FF2B5EF4-FFF2-40B4-BE49-F238E27FC236}">
                  <a16:creationId xmlns:a16="http://schemas.microsoft.com/office/drawing/2014/main" id="{CE3EF5AF-0E8A-4364-B2F9-60275523C955}"/>
                </a:ext>
              </a:extLst>
            </p:cNvPr>
            <p:cNvSpPr/>
            <p:nvPr/>
          </p:nvSpPr>
          <p:spPr>
            <a:xfrm>
              <a:off x="5089247" y="5028271"/>
              <a:ext cx="1597104" cy="369332"/>
            </a:xfrm>
            <a:prstGeom prst="rect">
              <a:avLst/>
            </a:prstGeom>
          </p:spPr>
          <p:txBody>
            <a:bodyPr wrap="none">
              <a:spAutoFit/>
            </a:bodyPr>
            <a:lstStyle/>
            <a:p>
              <a:r>
                <a:rPr lang="en-US" dirty="0"/>
                <a:t>triadic closures</a:t>
              </a:r>
              <a:endParaRPr lang="en-US" i="1" dirty="0"/>
            </a:p>
          </p:txBody>
        </p:sp>
      </p:grpSp>
    </p:spTree>
    <p:extLst>
      <p:ext uri="{BB962C8B-B14F-4D97-AF65-F5344CB8AC3E}">
        <p14:creationId xmlns:p14="http://schemas.microsoft.com/office/powerpoint/2010/main" val="2559437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The Strength of Weak Ties</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322924" y="1287032"/>
            <a:ext cx="12105813" cy="3019174"/>
          </a:xfrm>
        </p:spPr>
        <p:txBody>
          <a:bodyPr>
            <a:normAutofit/>
          </a:bodyPr>
          <a:lstStyle/>
          <a:p>
            <a:pPr marL="0" indent="0">
              <a:buNone/>
            </a:pPr>
            <a:r>
              <a:rPr lang="en-US" sz="2400" i="1" dirty="0"/>
              <a:t>Bridge: </a:t>
            </a:r>
            <a:r>
              <a:rPr lang="en-US" sz="2000" dirty="0"/>
              <a:t>A particular edge that if deleted, it would cause the connected nodes to lie in different components</a:t>
            </a:r>
          </a:p>
          <a:p>
            <a:pPr marL="0" indent="0">
              <a:buNone/>
            </a:pPr>
            <a:r>
              <a:rPr lang="en-US" sz="2400" i="1" dirty="0"/>
              <a:t>Local Bridge: </a:t>
            </a:r>
            <a:r>
              <a:rPr lang="en-US" sz="2000" dirty="0"/>
              <a:t>A particular edge that if deleted, it would cause the connected nodes to have no mutual friends.</a:t>
            </a:r>
            <a:br>
              <a:rPr lang="en-US" sz="2000" dirty="0"/>
            </a:br>
            <a:r>
              <a:rPr lang="en-US" sz="2000" dirty="0"/>
              <a:t>                              ( the length of path between connected nodes will to become more than 2 )</a:t>
            </a:r>
            <a:endParaRPr lang="en-US" sz="2400" i="1" dirty="0"/>
          </a:p>
          <a:p>
            <a:pPr marL="0" indent="0">
              <a:buNone/>
            </a:pPr>
            <a:r>
              <a:rPr lang="en-US" sz="2400" i="1" dirty="0"/>
              <a:t>Span of Local Bridge: </a:t>
            </a:r>
            <a:r>
              <a:rPr lang="en-US" sz="2000" dirty="0"/>
              <a:t>distance of its end points(nodes) if the bridge is deleted</a:t>
            </a:r>
          </a:p>
          <a:p>
            <a:pPr marL="0" indent="0">
              <a:buNone/>
            </a:pPr>
            <a:endParaRPr lang="en-US" sz="2000" i="1" dirty="0"/>
          </a:p>
          <a:p>
            <a:pPr marL="0" indent="0">
              <a:buNone/>
            </a:pPr>
            <a:r>
              <a:rPr lang="en-US" sz="1600" dirty="0"/>
              <a:t>ex) Bridge = (2,3)</a:t>
            </a:r>
            <a:br>
              <a:rPr lang="en-US" sz="2000" dirty="0"/>
            </a:br>
            <a:r>
              <a:rPr lang="en-US" sz="2000" dirty="0"/>
              <a:t>     </a:t>
            </a:r>
            <a:r>
              <a:rPr lang="en-US" sz="1600" dirty="0"/>
              <a:t>Local Bridge = (E, J), (F,M) , (G,M), (A, F)</a:t>
            </a:r>
            <a:br>
              <a:rPr lang="en-US" sz="1600" dirty="0"/>
            </a:br>
            <a:r>
              <a:rPr lang="en-US" sz="1600" dirty="0"/>
              <a:t>      Span of (E, J) , (F,M), (G,M), (A, F) = 7</a:t>
            </a:r>
          </a:p>
        </p:txBody>
      </p:sp>
      <p:cxnSp>
        <p:nvCxnSpPr>
          <p:cNvPr id="43" name="직선 연결선 42">
            <a:extLst>
              <a:ext uri="{FF2B5EF4-FFF2-40B4-BE49-F238E27FC236}">
                <a16:creationId xmlns:a16="http://schemas.microsoft.com/office/drawing/2014/main" id="{EC95D5F5-A718-4920-9EAC-877F97D6963B}"/>
              </a:ext>
            </a:extLst>
          </p:cNvPr>
          <p:cNvCxnSpPr>
            <a:cxnSpLocks/>
            <a:stCxn id="41" idx="6"/>
            <a:endCxn id="40" idx="2"/>
          </p:cNvCxnSpPr>
          <p:nvPr/>
        </p:nvCxnSpPr>
        <p:spPr>
          <a:xfrm>
            <a:off x="9945710" y="4970756"/>
            <a:ext cx="10045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1" name="그룹 2070">
            <a:extLst>
              <a:ext uri="{FF2B5EF4-FFF2-40B4-BE49-F238E27FC236}">
                <a16:creationId xmlns:a16="http://schemas.microsoft.com/office/drawing/2014/main" id="{C7230852-D0BD-4D14-8219-DEDA9F6D0211}"/>
              </a:ext>
            </a:extLst>
          </p:cNvPr>
          <p:cNvGrpSpPr/>
          <p:nvPr/>
        </p:nvGrpSpPr>
        <p:grpSpPr>
          <a:xfrm>
            <a:off x="6336977" y="4229836"/>
            <a:ext cx="4906814" cy="1477320"/>
            <a:chOff x="5830501" y="4557458"/>
            <a:chExt cx="4906814" cy="1477320"/>
          </a:xfrm>
        </p:grpSpPr>
        <p:grpSp>
          <p:nvGrpSpPr>
            <p:cNvPr id="2070" name="그룹 2069">
              <a:extLst>
                <a:ext uri="{FF2B5EF4-FFF2-40B4-BE49-F238E27FC236}">
                  <a16:creationId xmlns:a16="http://schemas.microsoft.com/office/drawing/2014/main" id="{64CCD985-4635-4A19-B3CC-969CC886AB8B}"/>
                </a:ext>
              </a:extLst>
            </p:cNvPr>
            <p:cNvGrpSpPr/>
            <p:nvPr/>
          </p:nvGrpSpPr>
          <p:grpSpPr>
            <a:xfrm>
              <a:off x="5830501" y="4557458"/>
              <a:ext cx="4906814" cy="1477320"/>
              <a:chOff x="5830501" y="4557458"/>
              <a:chExt cx="4906814" cy="1477320"/>
            </a:xfrm>
          </p:grpSpPr>
          <p:grpSp>
            <p:nvGrpSpPr>
              <p:cNvPr id="6" name="그룹 5">
                <a:extLst>
                  <a:ext uri="{FF2B5EF4-FFF2-40B4-BE49-F238E27FC236}">
                    <a16:creationId xmlns:a16="http://schemas.microsoft.com/office/drawing/2014/main" id="{E728F019-2E99-43C8-BB64-2D8085A8B018}"/>
                  </a:ext>
                </a:extLst>
              </p:cNvPr>
              <p:cNvGrpSpPr/>
              <p:nvPr/>
            </p:nvGrpSpPr>
            <p:grpSpPr>
              <a:xfrm>
                <a:off x="5830501" y="4557458"/>
                <a:ext cx="3156225" cy="1477320"/>
                <a:chOff x="2095131" y="3093108"/>
                <a:chExt cx="4295545" cy="2010598"/>
              </a:xfrm>
            </p:grpSpPr>
            <p:sp>
              <p:nvSpPr>
                <p:cNvPr id="9" name="타원 8">
                  <a:extLst>
                    <a:ext uri="{FF2B5EF4-FFF2-40B4-BE49-F238E27FC236}">
                      <a16:creationId xmlns:a16="http://schemas.microsoft.com/office/drawing/2014/main" id="{F3B02EE5-9107-4DD5-BDD0-725A68EE77AA}"/>
                    </a:ext>
                  </a:extLst>
                </p:cNvPr>
                <p:cNvSpPr/>
                <p:nvPr/>
              </p:nvSpPr>
              <p:spPr>
                <a:xfrm>
                  <a:off x="2991775" y="3097352"/>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0" name="타원 9">
                  <a:extLst>
                    <a:ext uri="{FF2B5EF4-FFF2-40B4-BE49-F238E27FC236}">
                      <a16:creationId xmlns:a16="http://schemas.microsoft.com/office/drawing/2014/main" id="{B1AB9624-031E-4CE8-9058-C7006D9E2676}"/>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 name="타원 10">
                  <a:extLst>
                    <a:ext uri="{FF2B5EF4-FFF2-40B4-BE49-F238E27FC236}">
                      <a16:creationId xmlns:a16="http://schemas.microsoft.com/office/drawing/2014/main" id="{9C9F7FCF-8687-4B0F-B395-99F0DACF84B7}"/>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2" name="타원 11">
                  <a:extLst>
                    <a:ext uri="{FF2B5EF4-FFF2-40B4-BE49-F238E27FC236}">
                      <a16:creationId xmlns:a16="http://schemas.microsoft.com/office/drawing/2014/main" id="{39E068DA-1D97-4FE7-9EEF-7E7934F5D109}"/>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4" name="직선 연결선 13">
                  <a:extLst>
                    <a:ext uri="{FF2B5EF4-FFF2-40B4-BE49-F238E27FC236}">
                      <a16:creationId xmlns:a16="http://schemas.microsoft.com/office/drawing/2014/main" id="{5D017E65-04CD-493B-9687-06C1DA531261}"/>
                    </a:ext>
                  </a:extLst>
                </p:cNvPr>
                <p:cNvCxnSpPr>
                  <a:cxnSpLocks/>
                  <a:stCxn id="9" idx="4"/>
                  <a:endCxn id="10" idx="0"/>
                </p:cNvCxnSpPr>
                <p:nvPr/>
              </p:nvCxnSpPr>
              <p:spPr>
                <a:xfrm>
                  <a:off x="3191523" y="3496848"/>
                  <a:ext cx="0" cy="12073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2569DE1B-6AB5-49BB-BC53-27D305E9C5C9}"/>
                    </a:ext>
                  </a:extLst>
                </p:cNvPr>
                <p:cNvCxnSpPr>
                  <a:cxnSpLocks/>
                  <a:stCxn id="12" idx="6"/>
                  <a:endCxn id="11" idx="2"/>
                </p:cNvCxnSpPr>
                <p:nvPr/>
              </p:nvCxnSpPr>
              <p:spPr>
                <a:xfrm>
                  <a:off x="2494627" y="4101484"/>
                  <a:ext cx="1367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F66A53C6-4B2F-47D1-BDF7-7D2D55E46AF5}"/>
                    </a:ext>
                  </a:extLst>
                </p:cNvPr>
                <p:cNvCxnSpPr>
                  <a:cxnSpLocks/>
                  <a:stCxn id="12" idx="5"/>
                  <a:endCxn id="10" idx="1"/>
                </p:cNvCxnSpPr>
                <p:nvPr/>
              </p:nvCxnSpPr>
              <p:spPr>
                <a:xfrm>
                  <a:off x="2436122" y="4242727"/>
                  <a:ext cx="614157" cy="519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타원 16">
                  <a:extLst>
                    <a:ext uri="{FF2B5EF4-FFF2-40B4-BE49-F238E27FC236}">
                      <a16:creationId xmlns:a16="http://schemas.microsoft.com/office/drawing/2014/main" id="{901D3102-4EC5-4482-83A0-25C30F5D3CAF}"/>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8" name="타원 17">
                  <a:extLst>
                    <a:ext uri="{FF2B5EF4-FFF2-40B4-BE49-F238E27FC236}">
                      <a16:creationId xmlns:a16="http://schemas.microsoft.com/office/drawing/2014/main" id="{8DB7DB65-0CDE-4A19-A787-D2C3AECE337A}"/>
                    </a:ext>
                  </a:extLst>
                </p:cNvPr>
                <p:cNvSpPr/>
                <p:nvPr/>
              </p:nvSpPr>
              <p:spPr>
                <a:xfrm>
                  <a:off x="3861786" y="3093108"/>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19" name="직선 연결선 18">
                  <a:extLst>
                    <a:ext uri="{FF2B5EF4-FFF2-40B4-BE49-F238E27FC236}">
                      <a16:creationId xmlns:a16="http://schemas.microsoft.com/office/drawing/2014/main" id="{A22C55CC-1078-425B-B693-1FE788C0EF2B}"/>
                    </a:ext>
                  </a:extLst>
                </p:cNvPr>
                <p:cNvCxnSpPr>
                  <a:cxnSpLocks/>
                  <a:stCxn id="18" idx="2"/>
                  <a:endCxn id="9" idx="6"/>
                </p:cNvCxnSpPr>
                <p:nvPr/>
              </p:nvCxnSpPr>
              <p:spPr>
                <a:xfrm flipH="1">
                  <a:off x="3391270" y="3292856"/>
                  <a:ext cx="470517" cy="42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B3D6B516-26B5-48DE-ACF5-4F57BDBA0A34}"/>
                    </a:ext>
                  </a:extLst>
                </p:cNvPr>
                <p:cNvCxnSpPr>
                  <a:cxnSpLocks/>
                  <a:stCxn id="11" idx="1"/>
                  <a:endCxn id="9" idx="5"/>
                </p:cNvCxnSpPr>
                <p:nvPr/>
              </p:nvCxnSpPr>
              <p:spPr>
                <a:xfrm flipH="1" flipV="1">
                  <a:off x="3332766" y="3438343"/>
                  <a:ext cx="587526" cy="521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타원 51">
                  <a:extLst>
                    <a:ext uri="{FF2B5EF4-FFF2-40B4-BE49-F238E27FC236}">
                      <a16:creationId xmlns:a16="http://schemas.microsoft.com/office/drawing/2014/main" id="{4A526836-D43A-489F-975B-DE8E3B68D722}"/>
                    </a:ext>
                  </a:extLst>
                </p:cNvPr>
                <p:cNvSpPr/>
                <p:nvPr/>
              </p:nvSpPr>
              <p:spPr>
                <a:xfrm>
                  <a:off x="5991181" y="3093108"/>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
                  </a:r>
                </a:p>
              </p:txBody>
            </p:sp>
          </p:grpSp>
          <p:sp>
            <p:nvSpPr>
              <p:cNvPr id="38" name="타원 37">
                <a:extLst>
                  <a:ext uri="{FF2B5EF4-FFF2-40B4-BE49-F238E27FC236}">
                    <a16:creationId xmlns:a16="http://schemas.microsoft.com/office/drawing/2014/main" id="{BC8116C2-659E-4040-9645-7F974E0DB175}"/>
                  </a:ext>
                </a:extLst>
              </p:cNvPr>
              <p:cNvSpPr/>
              <p:nvPr/>
            </p:nvSpPr>
            <p:spPr>
              <a:xfrm>
                <a:off x="9804523" y="4560576"/>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39" name="타원 38">
                <a:extLst>
                  <a:ext uri="{FF2B5EF4-FFF2-40B4-BE49-F238E27FC236}">
                    <a16:creationId xmlns:a16="http://schemas.microsoft.com/office/drawing/2014/main" id="{72A9B26F-0157-41FD-A901-13AAA0EEC0D7}"/>
                  </a:ext>
                </a:extLst>
              </p:cNvPr>
              <p:cNvSpPr/>
              <p:nvPr/>
            </p:nvSpPr>
            <p:spPr>
              <a:xfrm>
                <a:off x="9804523" y="5741241"/>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a:t>
                </a:r>
              </a:p>
            </p:txBody>
          </p:sp>
          <p:sp>
            <p:nvSpPr>
              <p:cNvPr id="40" name="타원 39">
                <a:extLst>
                  <a:ext uri="{FF2B5EF4-FFF2-40B4-BE49-F238E27FC236}">
                    <a16:creationId xmlns:a16="http://schemas.microsoft.com/office/drawing/2014/main" id="{49B3B805-E814-46DF-A931-FE4563393EA7}"/>
                  </a:ext>
                </a:extLst>
              </p:cNvPr>
              <p:cNvSpPr/>
              <p:nvPr/>
            </p:nvSpPr>
            <p:spPr>
              <a:xfrm>
                <a:off x="10443779" y="5151610"/>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1" name="타원 40">
                <a:extLst>
                  <a:ext uri="{FF2B5EF4-FFF2-40B4-BE49-F238E27FC236}">
                    <a16:creationId xmlns:a16="http://schemas.microsoft.com/office/drawing/2014/main" id="{80709BF1-A5B2-4483-B4B3-7E011D4367C1}"/>
                  </a:ext>
                </a:extLst>
              </p:cNvPr>
              <p:cNvSpPr/>
              <p:nvPr/>
            </p:nvSpPr>
            <p:spPr>
              <a:xfrm>
                <a:off x="9145698" y="5151610"/>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cxnSp>
            <p:nvCxnSpPr>
              <p:cNvPr id="42" name="직선 연결선 41">
                <a:extLst>
                  <a:ext uri="{FF2B5EF4-FFF2-40B4-BE49-F238E27FC236}">
                    <a16:creationId xmlns:a16="http://schemas.microsoft.com/office/drawing/2014/main" id="{9D1B74DE-7EB7-4830-BF0C-695E826B03F0}"/>
                  </a:ext>
                </a:extLst>
              </p:cNvPr>
              <p:cNvCxnSpPr>
                <a:cxnSpLocks/>
                <a:stCxn id="38" idx="4"/>
                <a:endCxn id="39" idx="0"/>
              </p:cNvCxnSpPr>
              <p:nvPr/>
            </p:nvCxnSpPr>
            <p:spPr>
              <a:xfrm>
                <a:off x="9951291" y="4854112"/>
                <a:ext cx="0" cy="8871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CD8C0BD1-8368-4FA0-A5CB-8C169930C6BF}"/>
                  </a:ext>
                </a:extLst>
              </p:cNvPr>
              <p:cNvCxnSpPr>
                <a:cxnSpLocks/>
                <a:stCxn id="41" idx="5"/>
              </p:cNvCxnSpPr>
              <p:nvPr/>
            </p:nvCxnSpPr>
            <p:spPr>
              <a:xfrm>
                <a:off x="9396247" y="5402159"/>
                <a:ext cx="451262" cy="3820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712F2C90-3F1D-4C63-93B9-C15DAAD2A525}"/>
                  </a:ext>
                </a:extLst>
              </p:cNvPr>
              <p:cNvCxnSpPr>
                <a:cxnSpLocks/>
                <a:stCxn id="40" idx="1"/>
                <a:endCxn id="38" idx="5"/>
              </p:cNvCxnSpPr>
              <p:nvPr/>
            </p:nvCxnSpPr>
            <p:spPr>
              <a:xfrm flipH="1" flipV="1">
                <a:off x="10055071" y="4811125"/>
                <a:ext cx="431695"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3ABB5DF5-1848-4C2D-A2EF-A8A1B1BC54E3}"/>
                  </a:ext>
                </a:extLst>
              </p:cNvPr>
              <p:cNvCxnSpPr>
                <a:cxnSpLocks/>
                <a:stCxn id="41" idx="7"/>
                <a:endCxn id="38" idx="3"/>
              </p:cNvCxnSpPr>
              <p:nvPr/>
            </p:nvCxnSpPr>
            <p:spPr>
              <a:xfrm flipV="1">
                <a:off x="9396247" y="4811125"/>
                <a:ext cx="451263"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761CE9B3-61AE-4CE5-BE80-7BEED18DA753}"/>
                  </a:ext>
                </a:extLst>
              </p:cNvPr>
              <p:cNvCxnSpPr>
                <a:cxnSpLocks/>
                <a:endCxn id="40" idx="3"/>
              </p:cNvCxnSpPr>
              <p:nvPr/>
            </p:nvCxnSpPr>
            <p:spPr>
              <a:xfrm flipV="1">
                <a:off x="10055072" y="5402159"/>
                <a:ext cx="431694" cy="382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172128B6-F63F-49B4-A50B-7EA25F651285}"/>
                  </a:ext>
                </a:extLst>
              </p:cNvPr>
              <p:cNvCxnSpPr>
                <a:cxnSpLocks/>
                <a:endCxn id="38" idx="2"/>
              </p:cNvCxnSpPr>
              <p:nvPr/>
            </p:nvCxnSpPr>
            <p:spPr>
              <a:xfrm>
                <a:off x="8993079" y="4704226"/>
                <a:ext cx="811444" cy="31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5" name="타원 44">
              <a:extLst>
                <a:ext uri="{FF2B5EF4-FFF2-40B4-BE49-F238E27FC236}">
                  <a16:creationId xmlns:a16="http://schemas.microsoft.com/office/drawing/2014/main" id="{26911852-A92E-446F-82B5-82E8A3E8A7E6}"/>
                </a:ext>
              </a:extLst>
            </p:cNvPr>
            <p:cNvSpPr/>
            <p:nvPr/>
          </p:nvSpPr>
          <p:spPr>
            <a:xfrm>
              <a:off x="9804523" y="515090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p>
          </p:txBody>
        </p:sp>
      </p:grpSp>
      <p:cxnSp>
        <p:nvCxnSpPr>
          <p:cNvPr id="47" name="직선 연결선 46">
            <a:extLst>
              <a:ext uri="{FF2B5EF4-FFF2-40B4-BE49-F238E27FC236}">
                <a16:creationId xmlns:a16="http://schemas.microsoft.com/office/drawing/2014/main" id="{5D269E80-0F0D-4755-B5E1-B21A785CE0F4}"/>
              </a:ext>
            </a:extLst>
          </p:cNvPr>
          <p:cNvCxnSpPr>
            <a:cxnSpLocks/>
            <a:stCxn id="10" idx="6"/>
            <a:endCxn id="39" idx="2"/>
          </p:cNvCxnSpPr>
          <p:nvPr/>
        </p:nvCxnSpPr>
        <p:spPr>
          <a:xfrm flipV="1">
            <a:off x="7289338" y="5560387"/>
            <a:ext cx="3021661"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BD58BDF3-52AA-4C09-9611-885E795124D5}"/>
              </a:ext>
            </a:extLst>
          </p:cNvPr>
          <p:cNvCxnSpPr>
            <a:cxnSpLocks/>
            <a:stCxn id="18" idx="6"/>
            <a:endCxn id="52" idx="2"/>
          </p:cNvCxnSpPr>
          <p:nvPr/>
        </p:nvCxnSpPr>
        <p:spPr>
          <a:xfrm>
            <a:off x="7928593" y="4376604"/>
            <a:ext cx="127107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57" name="그룹 56">
            <a:extLst>
              <a:ext uri="{FF2B5EF4-FFF2-40B4-BE49-F238E27FC236}">
                <a16:creationId xmlns:a16="http://schemas.microsoft.com/office/drawing/2014/main" id="{D1C0C62A-C830-4E7B-9772-FE23784838E1}"/>
              </a:ext>
            </a:extLst>
          </p:cNvPr>
          <p:cNvGrpSpPr/>
          <p:nvPr/>
        </p:nvGrpSpPr>
        <p:grpSpPr>
          <a:xfrm>
            <a:off x="960894" y="4231761"/>
            <a:ext cx="2336653" cy="1477304"/>
            <a:chOff x="2095131" y="3093128"/>
            <a:chExt cx="3110025" cy="2010578"/>
          </a:xfrm>
        </p:grpSpPr>
        <p:sp>
          <p:nvSpPr>
            <p:cNvPr id="58" name="타원 57">
              <a:extLst>
                <a:ext uri="{FF2B5EF4-FFF2-40B4-BE49-F238E27FC236}">
                  <a16:creationId xmlns:a16="http://schemas.microsoft.com/office/drawing/2014/main" id="{AD3AB8DB-2D59-4303-804A-815CF0BDF4D3}"/>
                </a:ext>
              </a:extLst>
            </p:cNvPr>
            <p:cNvSpPr/>
            <p:nvPr/>
          </p:nvSpPr>
          <p:spPr>
            <a:xfrm>
              <a:off x="4805661" y="3910398"/>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0" name="타원 59">
              <a:extLst>
                <a:ext uri="{FF2B5EF4-FFF2-40B4-BE49-F238E27FC236}">
                  <a16:creationId xmlns:a16="http://schemas.microsoft.com/office/drawing/2014/main" id="{2F80EE4A-A011-404F-8AA6-7E0E7B04AC2D}"/>
                </a:ext>
              </a:extLst>
            </p:cNvPr>
            <p:cNvSpPr/>
            <p:nvPr/>
          </p:nvSpPr>
          <p:spPr>
            <a:xfrm>
              <a:off x="2991775" y="4704210"/>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1" name="타원 60">
              <a:extLst>
                <a:ext uri="{FF2B5EF4-FFF2-40B4-BE49-F238E27FC236}">
                  <a16:creationId xmlns:a16="http://schemas.microsoft.com/office/drawing/2014/main" id="{2B40C6DA-298F-4DA0-8816-E3A9AC7B51F7}"/>
                </a:ext>
              </a:extLst>
            </p:cNvPr>
            <p:cNvSpPr/>
            <p:nvPr/>
          </p:nvSpPr>
          <p:spPr>
            <a:xfrm>
              <a:off x="3861787"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2" name="타원 61">
              <a:extLst>
                <a:ext uri="{FF2B5EF4-FFF2-40B4-BE49-F238E27FC236}">
                  <a16:creationId xmlns:a16="http://schemas.microsoft.com/office/drawing/2014/main" id="{0D732622-F4F4-46B8-93B9-54FAE5018434}"/>
                </a:ext>
              </a:extLst>
            </p:cNvPr>
            <p:cNvSpPr/>
            <p:nvPr/>
          </p:nvSpPr>
          <p:spPr>
            <a:xfrm>
              <a:off x="2095131" y="3901736"/>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63" name="직선 연결선 62">
              <a:extLst>
                <a:ext uri="{FF2B5EF4-FFF2-40B4-BE49-F238E27FC236}">
                  <a16:creationId xmlns:a16="http://schemas.microsoft.com/office/drawing/2014/main" id="{64B613EA-8E02-4B7E-9376-15968B7660E1}"/>
                </a:ext>
              </a:extLst>
            </p:cNvPr>
            <p:cNvCxnSpPr>
              <a:cxnSpLocks/>
              <a:stCxn id="58" idx="2"/>
              <a:endCxn id="61" idx="6"/>
            </p:cNvCxnSpPr>
            <p:nvPr/>
          </p:nvCxnSpPr>
          <p:spPr>
            <a:xfrm flipH="1" flipV="1">
              <a:off x="4261282" y="4101484"/>
              <a:ext cx="544379" cy="86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528358F4-DFC3-47C2-BEBC-3708136CECA7}"/>
                </a:ext>
              </a:extLst>
            </p:cNvPr>
            <p:cNvCxnSpPr>
              <a:cxnSpLocks/>
              <a:stCxn id="66" idx="6"/>
              <a:endCxn id="61" idx="2"/>
            </p:cNvCxnSpPr>
            <p:nvPr/>
          </p:nvCxnSpPr>
          <p:spPr>
            <a:xfrm>
              <a:off x="3391271" y="4100529"/>
              <a:ext cx="470515" cy="95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EC0C9677-C182-454F-8E5F-DFDE3B936B6F}"/>
                </a:ext>
              </a:extLst>
            </p:cNvPr>
            <p:cNvCxnSpPr>
              <a:cxnSpLocks/>
              <a:stCxn id="62" idx="5"/>
              <a:endCxn id="60" idx="1"/>
            </p:cNvCxnSpPr>
            <p:nvPr/>
          </p:nvCxnSpPr>
          <p:spPr>
            <a:xfrm>
              <a:off x="2436122" y="4242727"/>
              <a:ext cx="614157" cy="519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타원 65">
              <a:extLst>
                <a:ext uri="{FF2B5EF4-FFF2-40B4-BE49-F238E27FC236}">
                  <a16:creationId xmlns:a16="http://schemas.microsoft.com/office/drawing/2014/main" id="{52F807F0-8905-43A1-B64B-EE722F54A93D}"/>
                </a:ext>
              </a:extLst>
            </p:cNvPr>
            <p:cNvSpPr/>
            <p:nvPr/>
          </p:nvSpPr>
          <p:spPr>
            <a:xfrm>
              <a:off x="2991775" y="3900781"/>
              <a:ext cx="399496"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7" name="타원 66">
              <a:extLst>
                <a:ext uri="{FF2B5EF4-FFF2-40B4-BE49-F238E27FC236}">
                  <a16:creationId xmlns:a16="http://schemas.microsoft.com/office/drawing/2014/main" id="{C46622DC-7EB0-4997-9FDB-0E887341CA92}"/>
                </a:ext>
              </a:extLst>
            </p:cNvPr>
            <p:cNvSpPr/>
            <p:nvPr/>
          </p:nvSpPr>
          <p:spPr>
            <a:xfrm>
              <a:off x="4805661" y="3093128"/>
              <a:ext cx="399495" cy="39949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68" name="직선 연결선 67">
              <a:extLst>
                <a:ext uri="{FF2B5EF4-FFF2-40B4-BE49-F238E27FC236}">
                  <a16:creationId xmlns:a16="http://schemas.microsoft.com/office/drawing/2014/main" id="{E43C74D2-EB94-4E28-B827-0CE876063A5B}"/>
                </a:ext>
              </a:extLst>
            </p:cNvPr>
            <p:cNvCxnSpPr>
              <a:cxnSpLocks/>
              <a:stCxn id="67" idx="4"/>
              <a:endCxn id="58" idx="0"/>
            </p:cNvCxnSpPr>
            <p:nvPr/>
          </p:nvCxnSpPr>
          <p:spPr>
            <a:xfrm>
              <a:off x="5005409" y="3492624"/>
              <a:ext cx="0" cy="4177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직선 연결선 68">
              <a:extLst>
                <a:ext uri="{FF2B5EF4-FFF2-40B4-BE49-F238E27FC236}">
                  <a16:creationId xmlns:a16="http://schemas.microsoft.com/office/drawing/2014/main" id="{529213E6-EB3F-4220-A71F-8C773ACA5789}"/>
                </a:ext>
              </a:extLst>
            </p:cNvPr>
            <p:cNvCxnSpPr>
              <a:cxnSpLocks/>
              <a:stCxn id="61" idx="7"/>
              <a:endCxn id="67" idx="3"/>
            </p:cNvCxnSpPr>
            <p:nvPr/>
          </p:nvCxnSpPr>
          <p:spPr>
            <a:xfrm flipV="1">
              <a:off x="4202778" y="3434119"/>
              <a:ext cx="661388" cy="526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FEF8E90-7C0C-4EE9-BA96-AD178701679A}"/>
                </a:ext>
              </a:extLst>
            </p:cNvPr>
            <p:cNvCxnSpPr>
              <a:cxnSpLocks/>
              <a:stCxn id="60" idx="0"/>
              <a:endCxn id="66" idx="4"/>
            </p:cNvCxnSpPr>
            <p:nvPr/>
          </p:nvCxnSpPr>
          <p:spPr>
            <a:xfrm flipV="1">
              <a:off x="3191524" y="4300277"/>
              <a:ext cx="0" cy="4039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직선 연결선 82">
              <a:extLst>
                <a:ext uri="{FF2B5EF4-FFF2-40B4-BE49-F238E27FC236}">
                  <a16:creationId xmlns:a16="http://schemas.microsoft.com/office/drawing/2014/main" id="{263C0DE2-F9F1-45EC-B159-5E628BD6B2AC}"/>
                </a:ext>
              </a:extLst>
            </p:cNvPr>
            <p:cNvCxnSpPr>
              <a:cxnSpLocks/>
              <a:stCxn id="62" idx="6"/>
              <a:endCxn id="66" idx="2"/>
            </p:cNvCxnSpPr>
            <p:nvPr/>
          </p:nvCxnSpPr>
          <p:spPr>
            <a:xfrm flipV="1">
              <a:off x="2494627" y="4100529"/>
              <a:ext cx="497148" cy="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69" name="직사각형 2068">
            <a:extLst>
              <a:ext uri="{FF2B5EF4-FFF2-40B4-BE49-F238E27FC236}">
                <a16:creationId xmlns:a16="http://schemas.microsoft.com/office/drawing/2014/main" id="{77740AEC-E394-44DF-A6A8-C9F22EFF2DDE}"/>
              </a:ext>
            </a:extLst>
          </p:cNvPr>
          <p:cNvSpPr/>
          <p:nvPr/>
        </p:nvSpPr>
        <p:spPr>
          <a:xfrm>
            <a:off x="1896656" y="6123001"/>
            <a:ext cx="9309280" cy="646331"/>
          </a:xfrm>
          <a:prstGeom prst="rect">
            <a:avLst/>
          </a:prstGeom>
        </p:spPr>
        <p:txBody>
          <a:bodyPr wrap="none">
            <a:spAutoFit/>
          </a:bodyPr>
          <a:lstStyle/>
          <a:p>
            <a:r>
              <a:rPr lang="en-US" i="1" dirty="0"/>
              <a:t>Groups that are closely knitted together are likely to have similar information.</a:t>
            </a:r>
            <a:br>
              <a:rPr lang="en-US" i="1" dirty="0"/>
            </a:br>
            <a:r>
              <a:rPr lang="en-US" i="1" dirty="0"/>
              <a:t>In this sense new information will, not always but unusually often, be provided through the bridge</a:t>
            </a:r>
          </a:p>
        </p:txBody>
      </p:sp>
    </p:spTree>
    <p:extLst>
      <p:ext uri="{BB962C8B-B14F-4D97-AF65-F5344CB8AC3E}">
        <p14:creationId xmlns:p14="http://schemas.microsoft.com/office/powerpoint/2010/main" val="604485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The Strength of Weak Ties</a:t>
            </a:r>
          </a:p>
        </p:txBody>
      </p:sp>
      <p:sp>
        <p:nvSpPr>
          <p:cNvPr id="3" name="내용 개체 틀 2">
            <a:extLst>
              <a:ext uri="{FF2B5EF4-FFF2-40B4-BE49-F238E27FC236}">
                <a16:creationId xmlns:a16="http://schemas.microsoft.com/office/drawing/2014/main" id="{E77C532D-3668-4514-8DAD-F32D24E7BFB0}"/>
              </a:ext>
            </a:extLst>
          </p:cNvPr>
          <p:cNvSpPr>
            <a:spLocks noGrp="1"/>
          </p:cNvSpPr>
          <p:nvPr>
            <p:ph idx="1"/>
          </p:nvPr>
        </p:nvSpPr>
        <p:spPr>
          <a:xfrm>
            <a:off x="237107" y="1174084"/>
            <a:ext cx="12105813" cy="3483516"/>
          </a:xfrm>
        </p:spPr>
        <p:txBody>
          <a:bodyPr>
            <a:normAutofit/>
          </a:bodyPr>
          <a:lstStyle/>
          <a:p>
            <a:pPr marL="0" indent="0">
              <a:buNone/>
            </a:pPr>
            <a:r>
              <a:rPr lang="en-US" sz="2400" i="1" dirty="0"/>
              <a:t>Strength: </a:t>
            </a:r>
            <a:r>
              <a:rPr lang="en-US" sz="2000" dirty="0"/>
              <a:t>In the links of social network, strong and weak relationships will co-exist. Thus, it is rational to </a:t>
            </a:r>
            <a:br>
              <a:rPr lang="en-US" sz="2000" dirty="0"/>
            </a:br>
            <a:r>
              <a:rPr lang="en-US" sz="2000" dirty="0"/>
              <a:t>                      classify the links into </a:t>
            </a:r>
            <a:r>
              <a:rPr lang="en-US" sz="2000" b="1" dirty="0"/>
              <a:t>strong ties</a:t>
            </a:r>
            <a:r>
              <a:rPr lang="en-US" sz="2000" dirty="0"/>
              <a:t>, or </a:t>
            </a:r>
            <a:r>
              <a:rPr lang="en-US" sz="2000" b="1" dirty="0"/>
              <a:t>weak ties. </a:t>
            </a:r>
            <a:r>
              <a:rPr lang="en-US" sz="2000" dirty="0"/>
              <a:t>We can refer to this concept as: </a:t>
            </a:r>
            <a:r>
              <a:rPr lang="en-US" sz="2000" b="1" dirty="0"/>
              <a:t>strength</a:t>
            </a:r>
            <a:r>
              <a:rPr lang="en-US" sz="2000" dirty="0"/>
              <a:t> of relationship</a:t>
            </a:r>
            <a:endParaRPr lang="en-US" sz="2000" b="1" dirty="0"/>
          </a:p>
          <a:p>
            <a:pPr marL="0" indent="0">
              <a:buNone/>
            </a:pPr>
            <a:br>
              <a:rPr lang="en-US" sz="2000" i="1" dirty="0"/>
            </a:br>
            <a:r>
              <a:rPr lang="en-US" sz="2400" i="1" dirty="0"/>
              <a:t>Strong Triadic Closure Property: </a:t>
            </a:r>
            <a:r>
              <a:rPr lang="en-US" sz="2000" dirty="0"/>
              <a:t>If edges (A,B) and (A,C) are strong ties, B and C are </a:t>
            </a:r>
            <a:r>
              <a:rPr lang="en-US" sz="2000" b="1" dirty="0"/>
              <a:t>especially likely</a:t>
            </a:r>
            <a:r>
              <a:rPr lang="en-US" sz="2000" dirty="0"/>
              <a:t> to form      				      connection </a:t>
            </a:r>
            <a:br>
              <a:rPr lang="en-US" sz="2000" dirty="0"/>
            </a:br>
            <a:r>
              <a:rPr lang="en-US" sz="2000" dirty="0"/>
              <a:t>					</a:t>
            </a:r>
            <a:br>
              <a:rPr lang="en-US" sz="2000" dirty="0"/>
            </a:br>
            <a:br>
              <a:rPr lang="en-US" sz="2000" dirty="0"/>
            </a:br>
            <a:br>
              <a:rPr lang="en-US" sz="2000" i="1" dirty="0"/>
            </a:br>
            <a:br>
              <a:rPr lang="en-US" sz="2000" i="1" dirty="0"/>
            </a:br>
            <a:r>
              <a:rPr lang="en-US" sz="2000" i="1" dirty="0"/>
              <a:t>                                                                                  </a:t>
            </a:r>
          </a:p>
          <a:p>
            <a:pPr marL="0" indent="0">
              <a:buNone/>
            </a:pPr>
            <a:endParaRPr lang="en-US" sz="2000" dirty="0"/>
          </a:p>
        </p:txBody>
      </p:sp>
      <p:grpSp>
        <p:nvGrpSpPr>
          <p:cNvPr id="36" name="그룹 35">
            <a:extLst>
              <a:ext uri="{FF2B5EF4-FFF2-40B4-BE49-F238E27FC236}">
                <a16:creationId xmlns:a16="http://schemas.microsoft.com/office/drawing/2014/main" id="{FED97446-9C24-4D35-BB53-AA97032C340B}"/>
              </a:ext>
            </a:extLst>
          </p:cNvPr>
          <p:cNvGrpSpPr/>
          <p:nvPr/>
        </p:nvGrpSpPr>
        <p:grpSpPr>
          <a:xfrm>
            <a:off x="383414" y="4040458"/>
            <a:ext cx="1756171" cy="2624712"/>
            <a:chOff x="2904675" y="3134555"/>
            <a:chExt cx="1159020" cy="1732230"/>
          </a:xfrm>
        </p:grpSpPr>
        <p:cxnSp>
          <p:nvCxnSpPr>
            <p:cNvPr id="43" name="직선 연결선 42">
              <a:extLst>
                <a:ext uri="{FF2B5EF4-FFF2-40B4-BE49-F238E27FC236}">
                  <a16:creationId xmlns:a16="http://schemas.microsoft.com/office/drawing/2014/main" id="{EC95D5F5-A718-4920-9EAC-877F97D6963B}"/>
                </a:ext>
              </a:extLst>
            </p:cNvPr>
            <p:cNvCxnSpPr>
              <a:cxnSpLocks/>
              <a:endCxn id="55" idx="3"/>
            </p:cNvCxnSpPr>
            <p:nvPr/>
          </p:nvCxnSpPr>
          <p:spPr>
            <a:xfrm flipV="1">
              <a:off x="3562870" y="3385104"/>
              <a:ext cx="249725" cy="1874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타원 48">
              <a:extLst>
                <a:ext uri="{FF2B5EF4-FFF2-40B4-BE49-F238E27FC236}">
                  <a16:creationId xmlns:a16="http://schemas.microsoft.com/office/drawing/2014/main" id="{0DEBB46E-798F-4C71-B145-C2B8861444AD}"/>
                </a:ext>
              </a:extLst>
            </p:cNvPr>
            <p:cNvSpPr/>
            <p:nvPr/>
          </p:nvSpPr>
          <p:spPr>
            <a:xfrm>
              <a:off x="2904675" y="3871779"/>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4" name="타원 53">
              <a:extLst>
                <a:ext uri="{FF2B5EF4-FFF2-40B4-BE49-F238E27FC236}">
                  <a16:creationId xmlns:a16="http://schemas.microsoft.com/office/drawing/2014/main" id="{DA27FFE8-B29A-4212-985B-0870394259C2}"/>
                </a:ext>
              </a:extLst>
            </p:cNvPr>
            <p:cNvSpPr/>
            <p:nvPr/>
          </p:nvSpPr>
          <p:spPr>
            <a:xfrm>
              <a:off x="3770158" y="4573249"/>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55" name="타원 54">
              <a:extLst>
                <a:ext uri="{FF2B5EF4-FFF2-40B4-BE49-F238E27FC236}">
                  <a16:creationId xmlns:a16="http://schemas.microsoft.com/office/drawing/2014/main" id="{8FBA5996-8938-4D8D-8564-32706C3C2278}"/>
                </a:ext>
              </a:extLst>
            </p:cNvPr>
            <p:cNvSpPr/>
            <p:nvPr/>
          </p:nvSpPr>
          <p:spPr>
            <a:xfrm>
              <a:off x="3769608" y="3134555"/>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59" name="직선 연결선 58">
              <a:extLst>
                <a:ext uri="{FF2B5EF4-FFF2-40B4-BE49-F238E27FC236}">
                  <a16:creationId xmlns:a16="http://schemas.microsoft.com/office/drawing/2014/main" id="{8ACD8646-940A-46DB-ABC5-D5365A668390}"/>
                </a:ext>
              </a:extLst>
            </p:cNvPr>
            <p:cNvCxnSpPr>
              <a:cxnSpLocks/>
              <a:endCxn id="54" idx="1"/>
            </p:cNvCxnSpPr>
            <p:nvPr/>
          </p:nvCxnSpPr>
          <p:spPr>
            <a:xfrm>
              <a:off x="3519827" y="4413149"/>
              <a:ext cx="293319" cy="2030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직사각형 12">
              <a:extLst>
                <a:ext uri="{FF2B5EF4-FFF2-40B4-BE49-F238E27FC236}">
                  <a16:creationId xmlns:a16="http://schemas.microsoft.com/office/drawing/2014/main" id="{BDC86926-50AD-43C3-84B3-BCE767A42283}"/>
                </a:ext>
              </a:extLst>
            </p:cNvPr>
            <p:cNvSpPr/>
            <p:nvPr/>
          </p:nvSpPr>
          <p:spPr>
            <a:xfrm>
              <a:off x="3427847" y="3522457"/>
              <a:ext cx="269626" cy="307777"/>
            </a:xfrm>
            <a:prstGeom prst="rect">
              <a:avLst/>
            </a:prstGeom>
          </p:spPr>
          <p:txBody>
            <a:bodyPr wrap="none">
              <a:spAutoFit/>
            </a:bodyPr>
            <a:lstStyle/>
            <a:p>
              <a:r>
                <a:rPr lang="en-US" sz="1400" b="1" dirty="0"/>
                <a:t>S</a:t>
              </a:r>
            </a:p>
          </p:txBody>
        </p:sp>
        <p:cxnSp>
          <p:nvCxnSpPr>
            <p:cNvPr id="70" name="직선 연결선 69">
              <a:extLst>
                <a:ext uri="{FF2B5EF4-FFF2-40B4-BE49-F238E27FC236}">
                  <a16:creationId xmlns:a16="http://schemas.microsoft.com/office/drawing/2014/main" id="{5C65AF59-F4F8-49A2-A3EB-7BB3D92FB281}"/>
                </a:ext>
              </a:extLst>
            </p:cNvPr>
            <p:cNvCxnSpPr>
              <a:cxnSpLocks/>
            </p:cNvCxnSpPr>
            <p:nvPr/>
          </p:nvCxnSpPr>
          <p:spPr>
            <a:xfrm flipV="1">
              <a:off x="3136913" y="3676345"/>
              <a:ext cx="303653" cy="2353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직사각형 70">
              <a:extLst>
                <a:ext uri="{FF2B5EF4-FFF2-40B4-BE49-F238E27FC236}">
                  <a16:creationId xmlns:a16="http://schemas.microsoft.com/office/drawing/2014/main" id="{D95C94FA-7D2E-4272-8702-CE9AE31DE222}"/>
                </a:ext>
              </a:extLst>
            </p:cNvPr>
            <p:cNvSpPr/>
            <p:nvPr/>
          </p:nvSpPr>
          <p:spPr>
            <a:xfrm>
              <a:off x="3359554" y="4265471"/>
              <a:ext cx="320547" cy="307777"/>
            </a:xfrm>
            <a:prstGeom prst="rect">
              <a:avLst/>
            </a:prstGeom>
          </p:spPr>
          <p:txBody>
            <a:bodyPr wrap="square">
              <a:spAutoFit/>
            </a:bodyPr>
            <a:lstStyle/>
            <a:p>
              <a:r>
                <a:rPr lang="en-US" sz="1400" b="1" dirty="0"/>
                <a:t>S</a:t>
              </a:r>
            </a:p>
          </p:txBody>
        </p:sp>
        <p:cxnSp>
          <p:nvCxnSpPr>
            <p:cNvPr id="72" name="직선 연결선 71">
              <a:extLst>
                <a:ext uri="{FF2B5EF4-FFF2-40B4-BE49-F238E27FC236}">
                  <a16:creationId xmlns:a16="http://schemas.microsoft.com/office/drawing/2014/main" id="{BDA4AD16-0EB5-486D-BE83-9178BE1C953E}"/>
                </a:ext>
              </a:extLst>
            </p:cNvPr>
            <p:cNvCxnSpPr>
              <a:cxnSpLocks/>
              <a:stCxn id="49" idx="5"/>
            </p:cNvCxnSpPr>
            <p:nvPr/>
          </p:nvCxnSpPr>
          <p:spPr>
            <a:xfrm>
              <a:off x="3155224" y="4122328"/>
              <a:ext cx="198764" cy="1791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직선 연결선 72">
              <a:extLst>
                <a:ext uri="{FF2B5EF4-FFF2-40B4-BE49-F238E27FC236}">
                  <a16:creationId xmlns:a16="http://schemas.microsoft.com/office/drawing/2014/main" id="{2ADDB9AA-6EB3-4B58-AA79-A28A2E7D5B05}"/>
                </a:ext>
              </a:extLst>
            </p:cNvPr>
            <p:cNvCxnSpPr>
              <a:cxnSpLocks/>
              <a:stCxn id="55" idx="4"/>
              <a:endCxn id="54" idx="0"/>
            </p:cNvCxnSpPr>
            <p:nvPr/>
          </p:nvCxnSpPr>
          <p:spPr>
            <a:xfrm>
              <a:off x="3916377" y="3428091"/>
              <a:ext cx="550" cy="1145158"/>
            </a:xfrm>
            <a:prstGeom prst="line">
              <a:avLst/>
            </a:prstGeom>
            <a:ln w="3810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6" name="직사각형 75">
              <a:extLst>
                <a:ext uri="{FF2B5EF4-FFF2-40B4-BE49-F238E27FC236}">
                  <a16:creationId xmlns:a16="http://schemas.microsoft.com/office/drawing/2014/main" id="{46288507-9DD9-4CA3-8BB6-6EC7F350CFD3}"/>
                </a:ext>
              </a:extLst>
            </p:cNvPr>
            <p:cNvSpPr/>
            <p:nvPr/>
          </p:nvSpPr>
          <p:spPr>
            <a:xfrm>
              <a:off x="3724893" y="3865021"/>
              <a:ext cx="292068" cy="369332"/>
            </a:xfrm>
            <a:prstGeom prst="rect">
              <a:avLst/>
            </a:prstGeom>
          </p:spPr>
          <p:txBody>
            <a:bodyPr wrap="none">
              <a:spAutoFit/>
            </a:bodyPr>
            <a:lstStyle/>
            <a:p>
              <a:r>
                <a:rPr lang="en-US" b="1" dirty="0"/>
                <a:t>?</a:t>
              </a:r>
              <a:endParaRPr lang="en-US" sz="1400" b="1" dirty="0"/>
            </a:p>
          </p:txBody>
        </p:sp>
      </p:grpSp>
      <p:sp>
        <p:nvSpPr>
          <p:cNvPr id="2049" name="직사각형 2048">
            <a:extLst>
              <a:ext uri="{FF2B5EF4-FFF2-40B4-BE49-F238E27FC236}">
                <a16:creationId xmlns:a16="http://schemas.microsoft.com/office/drawing/2014/main" id="{9E410D60-E3FE-4503-8737-19354DBEE567}"/>
              </a:ext>
            </a:extLst>
          </p:cNvPr>
          <p:cNvSpPr/>
          <p:nvPr/>
        </p:nvSpPr>
        <p:spPr>
          <a:xfrm>
            <a:off x="1980388" y="5157516"/>
            <a:ext cx="3600501" cy="338554"/>
          </a:xfrm>
          <a:prstGeom prst="rect">
            <a:avLst/>
          </a:prstGeom>
        </p:spPr>
        <p:txBody>
          <a:bodyPr wrap="square">
            <a:spAutoFit/>
          </a:bodyPr>
          <a:lstStyle/>
          <a:p>
            <a:r>
              <a:rPr lang="en-US" sz="1600" dirty="0">
                <a:sym typeface="Wingdings" panose="05000000000000000000" pitchFamily="2" charset="2"/>
              </a:rPr>
              <a:t> Most likely to have an edge</a:t>
            </a:r>
            <a:endParaRPr lang="en-US" sz="1400" dirty="0"/>
          </a:p>
        </p:txBody>
      </p:sp>
      <p:grpSp>
        <p:nvGrpSpPr>
          <p:cNvPr id="82" name="그룹 81">
            <a:extLst>
              <a:ext uri="{FF2B5EF4-FFF2-40B4-BE49-F238E27FC236}">
                <a16:creationId xmlns:a16="http://schemas.microsoft.com/office/drawing/2014/main" id="{A4183549-5F75-4AE2-80DF-0EBDCAF1B950}"/>
              </a:ext>
            </a:extLst>
          </p:cNvPr>
          <p:cNvGrpSpPr/>
          <p:nvPr/>
        </p:nvGrpSpPr>
        <p:grpSpPr>
          <a:xfrm>
            <a:off x="6825472" y="4458044"/>
            <a:ext cx="3086201" cy="2336559"/>
            <a:chOff x="1969790" y="3273941"/>
            <a:chExt cx="2287878" cy="1732148"/>
          </a:xfrm>
        </p:grpSpPr>
        <p:cxnSp>
          <p:nvCxnSpPr>
            <p:cNvPr id="84" name="직선 연결선 83">
              <a:extLst>
                <a:ext uri="{FF2B5EF4-FFF2-40B4-BE49-F238E27FC236}">
                  <a16:creationId xmlns:a16="http://schemas.microsoft.com/office/drawing/2014/main" id="{4CBBDBA9-90B4-412E-A2A4-68B15E43F961}"/>
                </a:ext>
              </a:extLst>
            </p:cNvPr>
            <p:cNvCxnSpPr>
              <a:cxnSpLocks/>
              <a:stCxn id="88" idx="3"/>
            </p:cNvCxnSpPr>
            <p:nvPr/>
          </p:nvCxnSpPr>
          <p:spPr>
            <a:xfrm flipH="1">
              <a:off x="3191911" y="3524490"/>
              <a:ext cx="74067" cy="963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타원 85">
              <a:extLst>
                <a:ext uri="{FF2B5EF4-FFF2-40B4-BE49-F238E27FC236}">
                  <a16:creationId xmlns:a16="http://schemas.microsoft.com/office/drawing/2014/main" id="{23B4F196-3F65-4075-8C35-1585A826562C}"/>
                </a:ext>
              </a:extLst>
            </p:cNvPr>
            <p:cNvSpPr/>
            <p:nvPr/>
          </p:nvSpPr>
          <p:spPr>
            <a:xfrm>
              <a:off x="2727281" y="3871779"/>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87" name="타원 86">
              <a:extLst>
                <a:ext uri="{FF2B5EF4-FFF2-40B4-BE49-F238E27FC236}">
                  <a16:creationId xmlns:a16="http://schemas.microsoft.com/office/drawing/2014/main" id="{95D2E4A5-A590-412F-AE43-16E7097CE127}"/>
                </a:ext>
              </a:extLst>
            </p:cNvPr>
            <p:cNvSpPr/>
            <p:nvPr/>
          </p:nvSpPr>
          <p:spPr>
            <a:xfrm>
              <a:off x="3836132" y="4608402"/>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88" name="타원 87">
              <a:extLst>
                <a:ext uri="{FF2B5EF4-FFF2-40B4-BE49-F238E27FC236}">
                  <a16:creationId xmlns:a16="http://schemas.microsoft.com/office/drawing/2014/main" id="{B7297143-221C-4222-9B7A-9041FFD065A6}"/>
                </a:ext>
              </a:extLst>
            </p:cNvPr>
            <p:cNvSpPr/>
            <p:nvPr/>
          </p:nvSpPr>
          <p:spPr>
            <a:xfrm>
              <a:off x="3222991" y="3273941"/>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89" name="직선 연결선 88">
              <a:extLst>
                <a:ext uri="{FF2B5EF4-FFF2-40B4-BE49-F238E27FC236}">
                  <a16:creationId xmlns:a16="http://schemas.microsoft.com/office/drawing/2014/main" id="{36290EBC-1383-4F83-8ED7-0749C0816F57}"/>
                </a:ext>
              </a:extLst>
            </p:cNvPr>
            <p:cNvCxnSpPr>
              <a:cxnSpLocks/>
              <a:endCxn id="87" idx="1"/>
            </p:cNvCxnSpPr>
            <p:nvPr/>
          </p:nvCxnSpPr>
          <p:spPr>
            <a:xfrm>
              <a:off x="3512997" y="4434506"/>
              <a:ext cx="366122" cy="2168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직사각형 89">
              <a:extLst>
                <a:ext uri="{FF2B5EF4-FFF2-40B4-BE49-F238E27FC236}">
                  <a16:creationId xmlns:a16="http://schemas.microsoft.com/office/drawing/2014/main" id="{4BEED64E-8AB4-438E-B868-ECD7AADB5226}"/>
                </a:ext>
              </a:extLst>
            </p:cNvPr>
            <p:cNvSpPr/>
            <p:nvPr/>
          </p:nvSpPr>
          <p:spPr>
            <a:xfrm>
              <a:off x="3039055" y="3572641"/>
              <a:ext cx="269626" cy="307777"/>
            </a:xfrm>
            <a:prstGeom prst="rect">
              <a:avLst/>
            </a:prstGeom>
          </p:spPr>
          <p:txBody>
            <a:bodyPr wrap="none">
              <a:spAutoFit/>
            </a:bodyPr>
            <a:lstStyle/>
            <a:p>
              <a:r>
                <a:rPr lang="en-US" sz="1400" b="1" dirty="0"/>
                <a:t>S</a:t>
              </a:r>
            </a:p>
          </p:txBody>
        </p:sp>
        <p:cxnSp>
          <p:nvCxnSpPr>
            <p:cNvPr id="91" name="직선 연결선 90">
              <a:extLst>
                <a:ext uri="{FF2B5EF4-FFF2-40B4-BE49-F238E27FC236}">
                  <a16:creationId xmlns:a16="http://schemas.microsoft.com/office/drawing/2014/main" id="{015EF449-0155-44C4-A0F9-8CF8BE781776}"/>
                </a:ext>
              </a:extLst>
            </p:cNvPr>
            <p:cNvCxnSpPr>
              <a:cxnSpLocks/>
              <a:endCxn id="86" idx="7"/>
            </p:cNvCxnSpPr>
            <p:nvPr/>
          </p:nvCxnSpPr>
          <p:spPr>
            <a:xfrm flipH="1">
              <a:off x="2977831" y="3745117"/>
              <a:ext cx="114947" cy="1696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직사각형 91">
              <a:extLst>
                <a:ext uri="{FF2B5EF4-FFF2-40B4-BE49-F238E27FC236}">
                  <a16:creationId xmlns:a16="http://schemas.microsoft.com/office/drawing/2014/main" id="{231D84D8-95B3-44E5-B55F-426B99550AA4}"/>
                </a:ext>
              </a:extLst>
            </p:cNvPr>
            <p:cNvSpPr/>
            <p:nvPr/>
          </p:nvSpPr>
          <p:spPr>
            <a:xfrm>
              <a:off x="3353695" y="4288907"/>
              <a:ext cx="320547" cy="307777"/>
            </a:xfrm>
            <a:prstGeom prst="rect">
              <a:avLst/>
            </a:prstGeom>
          </p:spPr>
          <p:txBody>
            <a:bodyPr wrap="square">
              <a:spAutoFit/>
            </a:bodyPr>
            <a:lstStyle/>
            <a:p>
              <a:r>
                <a:rPr lang="en-US" sz="1400" b="1" dirty="0"/>
                <a:t>S</a:t>
              </a:r>
            </a:p>
          </p:txBody>
        </p:sp>
        <p:cxnSp>
          <p:nvCxnSpPr>
            <p:cNvPr id="93" name="직선 연결선 92">
              <a:extLst>
                <a:ext uri="{FF2B5EF4-FFF2-40B4-BE49-F238E27FC236}">
                  <a16:creationId xmlns:a16="http://schemas.microsoft.com/office/drawing/2014/main" id="{935D617B-84A4-472A-A11D-8C2EE87E8618}"/>
                </a:ext>
              </a:extLst>
            </p:cNvPr>
            <p:cNvCxnSpPr>
              <a:cxnSpLocks/>
              <a:stCxn id="86" idx="5"/>
            </p:cNvCxnSpPr>
            <p:nvPr/>
          </p:nvCxnSpPr>
          <p:spPr>
            <a:xfrm>
              <a:off x="2977831" y="4122328"/>
              <a:ext cx="363366" cy="2254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직선 연결선 93">
              <a:extLst>
                <a:ext uri="{FF2B5EF4-FFF2-40B4-BE49-F238E27FC236}">
                  <a16:creationId xmlns:a16="http://schemas.microsoft.com/office/drawing/2014/main" id="{86DB112F-5245-416F-A19C-9639C3202E51}"/>
                </a:ext>
              </a:extLst>
            </p:cNvPr>
            <p:cNvCxnSpPr>
              <a:cxnSpLocks/>
              <a:stCxn id="88" idx="5"/>
              <a:endCxn id="87" idx="0"/>
            </p:cNvCxnSpPr>
            <p:nvPr/>
          </p:nvCxnSpPr>
          <p:spPr>
            <a:xfrm>
              <a:off x="3473541" y="3524490"/>
              <a:ext cx="509360" cy="1083911"/>
            </a:xfrm>
            <a:prstGeom prst="line">
              <a:avLst/>
            </a:prstGeom>
            <a:ln w="3810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5" name="직사각형 94">
              <a:extLst>
                <a:ext uri="{FF2B5EF4-FFF2-40B4-BE49-F238E27FC236}">
                  <a16:creationId xmlns:a16="http://schemas.microsoft.com/office/drawing/2014/main" id="{A51538CA-9F43-443F-ABBD-235372CD55AA}"/>
                </a:ext>
              </a:extLst>
            </p:cNvPr>
            <p:cNvSpPr/>
            <p:nvPr/>
          </p:nvSpPr>
          <p:spPr>
            <a:xfrm>
              <a:off x="3446489" y="3792731"/>
              <a:ext cx="292068" cy="369332"/>
            </a:xfrm>
            <a:prstGeom prst="rect">
              <a:avLst/>
            </a:prstGeom>
          </p:spPr>
          <p:txBody>
            <a:bodyPr wrap="none">
              <a:spAutoFit/>
            </a:bodyPr>
            <a:lstStyle/>
            <a:p>
              <a:r>
                <a:rPr lang="en-US" b="1" dirty="0"/>
                <a:t>?</a:t>
              </a:r>
              <a:endParaRPr lang="en-US" sz="1400" b="1" dirty="0"/>
            </a:p>
          </p:txBody>
        </p:sp>
        <p:cxnSp>
          <p:nvCxnSpPr>
            <p:cNvPr id="98" name="직선 연결선 97">
              <a:extLst>
                <a:ext uri="{FF2B5EF4-FFF2-40B4-BE49-F238E27FC236}">
                  <a16:creationId xmlns:a16="http://schemas.microsoft.com/office/drawing/2014/main" id="{4C6EC45A-B719-46CE-8EDB-1AC3963D770C}"/>
                </a:ext>
              </a:extLst>
            </p:cNvPr>
            <p:cNvCxnSpPr>
              <a:cxnSpLocks/>
              <a:stCxn id="87" idx="7"/>
            </p:cNvCxnSpPr>
            <p:nvPr/>
          </p:nvCxnSpPr>
          <p:spPr>
            <a:xfrm flipV="1">
              <a:off x="4086682" y="4253702"/>
              <a:ext cx="170986" cy="397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직선 연결선 100">
              <a:extLst>
                <a:ext uri="{FF2B5EF4-FFF2-40B4-BE49-F238E27FC236}">
                  <a16:creationId xmlns:a16="http://schemas.microsoft.com/office/drawing/2014/main" id="{F8C78FED-3E57-4663-B57E-03318C4AFE73}"/>
                </a:ext>
              </a:extLst>
            </p:cNvPr>
            <p:cNvCxnSpPr>
              <a:cxnSpLocks/>
              <a:stCxn id="87" idx="5"/>
            </p:cNvCxnSpPr>
            <p:nvPr/>
          </p:nvCxnSpPr>
          <p:spPr>
            <a:xfrm>
              <a:off x="4086682" y="4858951"/>
              <a:ext cx="170986" cy="1471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44DFBC9C-DB49-47B1-8F65-99D625F88EC0}"/>
                </a:ext>
              </a:extLst>
            </p:cNvPr>
            <p:cNvCxnSpPr>
              <a:cxnSpLocks/>
              <a:endCxn id="86" idx="2"/>
            </p:cNvCxnSpPr>
            <p:nvPr/>
          </p:nvCxnSpPr>
          <p:spPr>
            <a:xfrm>
              <a:off x="2166660" y="3911701"/>
              <a:ext cx="560620" cy="1068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67FDB872-F067-4E67-BFBD-FE3DCA9DBE69}"/>
                </a:ext>
              </a:extLst>
            </p:cNvPr>
            <p:cNvCxnSpPr>
              <a:cxnSpLocks/>
              <a:endCxn id="86" idx="3"/>
            </p:cNvCxnSpPr>
            <p:nvPr/>
          </p:nvCxnSpPr>
          <p:spPr>
            <a:xfrm flipV="1">
              <a:off x="2361783" y="4122328"/>
              <a:ext cx="408486" cy="450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직사각형 132">
              <a:extLst>
                <a:ext uri="{FF2B5EF4-FFF2-40B4-BE49-F238E27FC236}">
                  <a16:creationId xmlns:a16="http://schemas.microsoft.com/office/drawing/2014/main" id="{62FA2C05-8587-4093-9826-091053C39864}"/>
                </a:ext>
              </a:extLst>
            </p:cNvPr>
            <p:cNvSpPr/>
            <p:nvPr/>
          </p:nvSpPr>
          <p:spPr>
            <a:xfrm>
              <a:off x="3615369" y="3662109"/>
              <a:ext cx="292068" cy="369332"/>
            </a:xfrm>
            <a:prstGeom prst="rect">
              <a:avLst/>
            </a:prstGeom>
          </p:spPr>
          <p:txBody>
            <a:bodyPr wrap="none">
              <a:spAutoFit/>
            </a:bodyPr>
            <a:lstStyle/>
            <a:p>
              <a:r>
                <a:rPr lang="en-US" b="1" dirty="0"/>
                <a:t>?</a:t>
              </a:r>
              <a:endParaRPr lang="en-US" sz="1400" b="1" dirty="0"/>
            </a:p>
          </p:txBody>
        </p:sp>
        <p:sp>
          <p:nvSpPr>
            <p:cNvPr id="134" name="직사각형 133">
              <a:extLst>
                <a:ext uri="{FF2B5EF4-FFF2-40B4-BE49-F238E27FC236}">
                  <a16:creationId xmlns:a16="http://schemas.microsoft.com/office/drawing/2014/main" id="{AA210BEE-4C84-4C36-A5B4-EC9D65144A99}"/>
                </a:ext>
              </a:extLst>
            </p:cNvPr>
            <p:cNvSpPr/>
            <p:nvPr/>
          </p:nvSpPr>
          <p:spPr>
            <a:xfrm>
              <a:off x="1969790" y="4765633"/>
              <a:ext cx="1122988" cy="228163"/>
            </a:xfrm>
            <a:prstGeom prst="rect">
              <a:avLst/>
            </a:prstGeom>
          </p:spPr>
          <p:txBody>
            <a:bodyPr wrap="square">
              <a:spAutoFit/>
            </a:bodyPr>
            <a:lstStyle/>
            <a:p>
              <a:r>
                <a:rPr lang="en-US" sz="1400" b="1" dirty="0"/>
                <a:t>This should be W</a:t>
              </a:r>
            </a:p>
          </p:txBody>
        </p:sp>
        <p:cxnSp>
          <p:nvCxnSpPr>
            <p:cNvPr id="135" name="직선 연결선 134">
              <a:extLst>
                <a:ext uri="{FF2B5EF4-FFF2-40B4-BE49-F238E27FC236}">
                  <a16:creationId xmlns:a16="http://schemas.microsoft.com/office/drawing/2014/main" id="{3990C0F5-1FD8-4C7A-BFCC-3DB0230ED97B}"/>
                </a:ext>
              </a:extLst>
            </p:cNvPr>
            <p:cNvCxnSpPr>
              <a:cxnSpLocks/>
              <a:endCxn id="92" idx="1"/>
            </p:cNvCxnSpPr>
            <p:nvPr/>
          </p:nvCxnSpPr>
          <p:spPr>
            <a:xfrm flipV="1">
              <a:off x="2977831" y="4442795"/>
              <a:ext cx="375864" cy="322838"/>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2076" name="직사각형 2075">
            <a:extLst>
              <a:ext uri="{FF2B5EF4-FFF2-40B4-BE49-F238E27FC236}">
                <a16:creationId xmlns:a16="http://schemas.microsoft.com/office/drawing/2014/main" id="{DC8A0386-E3DC-47E1-AFB5-C65E077DA5CC}"/>
              </a:ext>
            </a:extLst>
          </p:cNvPr>
          <p:cNvSpPr/>
          <p:nvPr/>
        </p:nvSpPr>
        <p:spPr>
          <a:xfrm>
            <a:off x="4267014" y="2939674"/>
            <a:ext cx="7836482" cy="1384995"/>
          </a:xfrm>
          <a:prstGeom prst="rect">
            <a:avLst/>
          </a:prstGeom>
        </p:spPr>
        <p:txBody>
          <a:bodyPr wrap="square">
            <a:spAutoFit/>
          </a:bodyPr>
          <a:lstStyle/>
          <a:p>
            <a:r>
              <a:rPr lang="en-US" sz="1600" i="1" dirty="0"/>
              <a:t> </a:t>
            </a:r>
            <a:r>
              <a:rPr lang="en-US" sz="1000" i="1" dirty="0"/>
              <a:t>① </a:t>
            </a:r>
            <a:r>
              <a:rPr lang="en-US" sz="1600" i="1" dirty="0"/>
              <a:t>if a node A in a network satisfies the Strong Triadic Closure property, and is </a:t>
            </a:r>
            <a:r>
              <a:rPr lang="en-US" sz="1050" i="1" dirty="0"/>
              <a:t>② </a:t>
            </a:r>
            <a:r>
              <a:rPr lang="en-US" sz="1600" i="1" dirty="0"/>
              <a:t>involved in at least two strong ties </a:t>
            </a:r>
            <a:r>
              <a:rPr lang="en-US" sz="1600" i="1" dirty="0">
                <a:sym typeface="Wingdings" panose="05000000000000000000" pitchFamily="2" charset="2"/>
              </a:rPr>
              <a:t> </a:t>
            </a:r>
            <a:r>
              <a:rPr lang="en-US" sz="1600" b="1" i="1" dirty="0">
                <a:sym typeface="Wingdings" panose="05000000000000000000" pitchFamily="2" charset="2"/>
              </a:rPr>
              <a:t>contradiction</a:t>
            </a:r>
            <a:r>
              <a:rPr lang="en-US" sz="1600" i="1" dirty="0">
                <a:sym typeface="Wingdings" panose="05000000000000000000" pitchFamily="2" charset="2"/>
              </a:rPr>
              <a:t> occurs : </a:t>
            </a:r>
            <a:r>
              <a:rPr lang="en-US" sz="1600" i="1" u="sng" dirty="0">
                <a:sym typeface="Wingdings" panose="05000000000000000000" pitchFamily="2" charset="2"/>
              </a:rPr>
              <a:t>Thus, local bridge should be  a weak tie</a:t>
            </a:r>
            <a:endParaRPr lang="en-US" sz="1600" i="1" u="sng" dirty="0"/>
          </a:p>
          <a:p>
            <a:endParaRPr lang="en-US" sz="1600" b="1" i="1" dirty="0">
              <a:solidFill>
                <a:srgbClr val="FF0000"/>
              </a:solidFill>
              <a:sym typeface="Wingdings" panose="05000000000000000000" pitchFamily="2" charset="2"/>
            </a:endParaRPr>
          </a:p>
          <a:p>
            <a:r>
              <a:rPr lang="en-US" sz="1600" b="1" dirty="0">
                <a:solidFill>
                  <a:srgbClr val="FF0000"/>
                </a:solidFill>
                <a:sym typeface="Wingdings" panose="05000000000000000000" pitchFamily="2" charset="2"/>
              </a:rPr>
              <a:t>Hence, weak ties are crucial connective structure for holding together disparate communities and keep global structure of the giant component intact</a:t>
            </a:r>
            <a:r>
              <a:rPr lang="en-US" sz="2000" b="1" i="1" dirty="0">
                <a:solidFill>
                  <a:srgbClr val="FF0000"/>
                </a:solidFill>
                <a:sym typeface="Wingdings" panose="05000000000000000000" pitchFamily="2" charset="2"/>
              </a:rPr>
              <a:t> </a:t>
            </a:r>
            <a:r>
              <a:rPr lang="en-US" sz="2000" b="1" i="1" dirty="0">
                <a:solidFill>
                  <a:srgbClr val="FF0000"/>
                </a:solidFill>
              </a:rPr>
              <a:t> </a:t>
            </a:r>
            <a:endParaRPr lang="en-US" sz="2000" b="1" dirty="0">
              <a:solidFill>
                <a:srgbClr val="FF0000"/>
              </a:solidFill>
            </a:endParaRPr>
          </a:p>
        </p:txBody>
      </p:sp>
    </p:spTree>
    <p:extLst>
      <p:ext uri="{BB962C8B-B14F-4D97-AF65-F5344CB8AC3E}">
        <p14:creationId xmlns:p14="http://schemas.microsoft.com/office/powerpoint/2010/main" val="4218958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365125"/>
            <a:ext cx="11683013" cy="1325563"/>
          </a:xfrm>
        </p:spPr>
        <p:txBody>
          <a:bodyPr>
            <a:normAutofit/>
          </a:bodyPr>
          <a:lstStyle/>
          <a:p>
            <a:r>
              <a:rPr lang="en-US" sz="4000" dirty="0"/>
              <a:t>Tie Strength and Network Structure in Large-Scale Data</a:t>
            </a:r>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32B5A22E-4232-4B29-8784-68C3E36E579D}"/>
                  </a:ext>
                </a:extLst>
              </p:cNvPr>
              <p:cNvSpPr>
                <a:spLocks noGrp="1"/>
              </p:cNvSpPr>
              <p:nvPr>
                <p:ph idx="1"/>
              </p:nvPr>
            </p:nvSpPr>
            <p:spPr>
              <a:xfrm>
                <a:off x="227858" y="1568173"/>
                <a:ext cx="11683013" cy="999050"/>
              </a:xfrm>
            </p:spPr>
            <p:txBody>
              <a:bodyPr/>
              <a:lstStyle/>
              <a:p>
                <a:pPr marL="0" indent="0">
                  <a:buNone/>
                </a:pPr>
                <a:r>
                  <a:rPr lang="en-US" sz="2000" i="1" dirty="0"/>
                  <a:t>Neighborhood Overlap of edge A &amp; B  </a:t>
                </a:r>
                <a:r>
                  <a:rPr lang="en-US" dirty="0"/>
                  <a:t>=  </a:t>
                </a:r>
                <a14:m>
                  <m:oMath xmlns:m="http://schemas.openxmlformats.org/officeDocument/2006/math">
                    <m:f>
                      <m:fPr>
                        <m:ctrlPr>
                          <a:rPr lang="en-US" sz="1800" i="1" smtClean="0">
                            <a:latin typeface="Cambria Math" panose="02040503050406030204" pitchFamily="18" charset="0"/>
                          </a:rPr>
                        </m:ctrlPr>
                      </m:fPr>
                      <m:num>
                        <m:r>
                          <a:rPr lang="en-US" sz="1800" b="0" i="1" smtClean="0">
                            <a:latin typeface="Cambria Math" panose="02040503050406030204" pitchFamily="18" charset="0"/>
                          </a:rPr>
                          <m:t>𝑁𝑢𝑚𝑏𝑒𝑟</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𝑁𝑜𝑑𝑒𝑠</m:t>
                        </m:r>
                        <m:r>
                          <a:rPr lang="en-US" sz="1800" b="0" i="1" smtClean="0">
                            <a:latin typeface="Cambria Math" panose="02040503050406030204" pitchFamily="18" charset="0"/>
                          </a:rPr>
                          <m:t> </m:t>
                        </m:r>
                        <m:r>
                          <a:rPr lang="en-US" sz="1800" b="0" i="1" smtClean="0">
                            <a:latin typeface="Cambria Math" panose="02040503050406030204" pitchFamily="18" charset="0"/>
                          </a:rPr>
                          <m:t>𝑤h𝑜</m:t>
                        </m:r>
                        <m:r>
                          <a:rPr lang="en-US" sz="1800" b="0" i="1" smtClean="0">
                            <a:latin typeface="Cambria Math" panose="02040503050406030204" pitchFamily="18" charset="0"/>
                          </a:rPr>
                          <m:t> </m:t>
                        </m:r>
                        <m:r>
                          <a:rPr lang="en-US" sz="1800" b="0" i="1" smtClean="0">
                            <a:latin typeface="Cambria Math" panose="02040503050406030204" pitchFamily="18" charset="0"/>
                          </a:rPr>
                          <m:t>𝑎𝑟𝑒</m:t>
                        </m:r>
                        <m:r>
                          <a:rPr lang="en-US" sz="1800" b="0" i="1" smtClean="0">
                            <a:latin typeface="Cambria Math" panose="02040503050406030204" pitchFamily="18" charset="0"/>
                          </a:rPr>
                          <m:t> </m:t>
                        </m:r>
                        <m:r>
                          <a:rPr lang="en-US" sz="1800" b="0" i="1" smtClean="0">
                            <a:latin typeface="Cambria Math" panose="02040503050406030204" pitchFamily="18" charset="0"/>
                          </a:rPr>
                          <m:t>𝑛𝑒𝑖𝑔h𝑏𝑜𝑟𝑠</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𝑏𝑜𝑡h</m:t>
                        </m:r>
                        <m:r>
                          <a:rPr lang="en-US" sz="1800" b="0" i="1" smtClean="0">
                            <a:latin typeface="Cambria Math" panose="02040503050406030204" pitchFamily="18" charset="0"/>
                          </a:rPr>
                          <m:t> </m:t>
                        </m:r>
                        <m:r>
                          <a:rPr lang="en-US" sz="1800" b="0" i="1" smtClean="0">
                            <a:latin typeface="Cambria Math" panose="02040503050406030204" pitchFamily="18" charset="0"/>
                          </a:rPr>
                          <m:t>𝐴</m:t>
                        </m:r>
                        <m:r>
                          <a:rPr lang="en-US" sz="1800" b="0" i="1" smtClean="0">
                            <a:latin typeface="Cambria Math" panose="02040503050406030204" pitchFamily="18" charset="0"/>
                          </a:rPr>
                          <m:t> &amp; </m:t>
                        </m:r>
                        <m:r>
                          <a:rPr lang="en-US" sz="1800" b="0" i="1" smtClean="0">
                            <a:latin typeface="Cambria Math" panose="02040503050406030204" pitchFamily="18" charset="0"/>
                          </a:rPr>
                          <m:t>𝐵</m:t>
                        </m:r>
                      </m:num>
                      <m:den>
                        <m:r>
                          <a:rPr lang="en-US" sz="1800" b="0" i="1" smtClean="0">
                            <a:latin typeface="Cambria Math" panose="02040503050406030204" pitchFamily="18" charset="0"/>
                          </a:rPr>
                          <m:t>𝑁𝑢𝑚𝑏𝑒𝑟</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𝑛𝑜𝑑𝑒𝑠</m:t>
                        </m:r>
                        <m:r>
                          <a:rPr lang="en-US" sz="1800" b="0" i="1" smtClean="0">
                            <a:latin typeface="Cambria Math" panose="02040503050406030204" pitchFamily="18" charset="0"/>
                          </a:rPr>
                          <m:t> </m:t>
                        </m:r>
                        <m:r>
                          <a:rPr lang="en-US" sz="1800" b="0" i="1" smtClean="0">
                            <a:latin typeface="Cambria Math" panose="02040503050406030204" pitchFamily="18" charset="0"/>
                          </a:rPr>
                          <m:t>𝑤h𝑜</m:t>
                        </m:r>
                        <m:r>
                          <a:rPr lang="en-US" sz="1800" b="0" i="1" smtClean="0">
                            <a:latin typeface="Cambria Math" panose="02040503050406030204" pitchFamily="18" charset="0"/>
                          </a:rPr>
                          <m:t> </m:t>
                        </m:r>
                        <m:r>
                          <a:rPr lang="en-US" sz="1800" b="0" i="1" smtClean="0">
                            <a:latin typeface="Cambria Math" panose="02040503050406030204" pitchFamily="18" charset="0"/>
                          </a:rPr>
                          <m:t>𝑎𝑟𝑒</m:t>
                        </m:r>
                        <m:r>
                          <a:rPr lang="en-US" sz="1800" b="0" i="1" smtClean="0">
                            <a:latin typeface="Cambria Math" panose="02040503050406030204" pitchFamily="18" charset="0"/>
                          </a:rPr>
                          <m:t> </m:t>
                        </m:r>
                        <m:r>
                          <a:rPr lang="en-US" sz="1800" b="0" i="1" smtClean="0">
                            <a:latin typeface="Cambria Math" panose="02040503050406030204" pitchFamily="18" charset="0"/>
                          </a:rPr>
                          <m:t>𝑛𝑒𝑖𝑔h𝑏𝑜𝑟𝑠</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𝑎𝑡</m:t>
                        </m:r>
                        <m:r>
                          <a:rPr lang="en-US" sz="1800" b="0" i="1" smtClean="0">
                            <a:latin typeface="Cambria Math" panose="02040503050406030204" pitchFamily="18" charset="0"/>
                          </a:rPr>
                          <m:t> </m:t>
                        </m:r>
                        <m:r>
                          <a:rPr lang="en-US" sz="1800" b="0" i="1" smtClean="0">
                            <a:latin typeface="Cambria Math" panose="02040503050406030204" pitchFamily="18" charset="0"/>
                          </a:rPr>
                          <m:t>𝑙𝑒𝑎𝑠𝑡</m:t>
                        </m:r>
                        <m:r>
                          <a:rPr lang="en-US" sz="1800" b="0" i="1" smtClean="0">
                            <a:latin typeface="Cambria Math" panose="02040503050406030204" pitchFamily="18" charset="0"/>
                          </a:rPr>
                          <m:t> </m:t>
                        </m:r>
                        <m:r>
                          <a:rPr lang="en-US" sz="1800" b="0" i="1" smtClean="0">
                            <a:latin typeface="Cambria Math" panose="02040503050406030204" pitchFamily="18" charset="0"/>
                          </a:rPr>
                          <m:t>𝑜𝑛𝑒</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𝐴</m:t>
                        </m:r>
                        <m:r>
                          <a:rPr lang="en-US" sz="1800" b="0" i="1" smtClean="0">
                            <a:latin typeface="Cambria Math" panose="02040503050406030204" pitchFamily="18" charset="0"/>
                          </a:rPr>
                          <m:t> </m:t>
                        </m:r>
                        <m:r>
                          <a:rPr lang="en-US" sz="1800" b="0" i="1" smtClean="0">
                            <a:latin typeface="Cambria Math" panose="02040503050406030204" pitchFamily="18" charset="0"/>
                          </a:rPr>
                          <m:t>𝑜𝑟</m:t>
                        </m:r>
                        <m:r>
                          <a:rPr lang="en-US" sz="1800" b="0" i="1" smtClean="0">
                            <a:latin typeface="Cambria Math" panose="02040503050406030204" pitchFamily="18" charset="0"/>
                          </a:rPr>
                          <m:t> </m:t>
                        </m:r>
                        <m:r>
                          <a:rPr lang="en-US" sz="1800" b="0" i="1" smtClean="0">
                            <a:latin typeface="Cambria Math" panose="02040503050406030204" pitchFamily="18" charset="0"/>
                          </a:rPr>
                          <m:t>𝐵</m:t>
                        </m:r>
                        <m:r>
                          <a:rPr lang="en-US" sz="1800" b="0" i="1" smtClean="0">
                            <a:latin typeface="Cambria Math" panose="02040503050406030204" pitchFamily="18" charset="0"/>
                          </a:rPr>
                          <m:t> (</m:t>
                        </m:r>
                        <m:r>
                          <a:rPr lang="en-US" sz="1800" b="0" i="1" smtClean="0">
                            <a:latin typeface="Cambria Math" panose="02040503050406030204" pitchFamily="18" charset="0"/>
                          </a:rPr>
                          <m:t>𝐸𝑥𝑐𝑒𝑝𝑡</m:t>
                        </m:r>
                        <m:r>
                          <a:rPr lang="en-US" sz="1800" b="0" i="1" smtClean="0">
                            <a:latin typeface="Cambria Math" panose="02040503050406030204" pitchFamily="18" charset="0"/>
                          </a:rPr>
                          <m:t> </m:t>
                        </m:r>
                        <m:r>
                          <a:rPr lang="en-US" sz="1800" b="0" i="1" smtClean="0">
                            <a:latin typeface="Cambria Math" panose="02040503050406030204" pitchFamily="18" charset="0"/>
                          </a:rPr>
                          <m:t>𝐴</m:t>
                        </m:r>
                        <m:r>
                          <a:rPr lang="en-US" sz="1800" b="0" i="1" smtClean="0">
                            <a:latin typeface="Cambria Math" panose="02040503050406030204" pitchFamily="18" charset="0"/>
                          </a:rPr>
                          <m:t> </m:t>
                        </m:r>
                        <m:r>
                          <a:rPr lang="en-US" sz="1800" b="0" i="1" smtClean="0">
                            <a:latin typeface="Cambria Math" panose="02040503050406030204" pitchFamily="18" charset="0"/>
                          </a:rPr>
                          <m:t>𝑎𝑛𝑑</m:t>
                        </m:r>
                        <m:r>
                          <a:rPr lang="en-US" sz="1800" b="0" i="1" smtClean="0">
                            <a:latin typeface="Cambria Math" panose="02040503050406030204" pitchFamily="18" charset="0"/>
                          </a:rPr>
                          <m:t> </m:t>
                        </m:r>
                        <m:r>
                          <a:rPr lang="en-US" sz="1800" b="0" i="1" smtClean="0">
                            <a:latin typeface="Cambria Math" panose="02040503050406030204" pitchFamily="18" charset="0"/>
                          </a:rPr>
                          <m:t>𝐵</m:t>
                        </m:r>
                        <m:r>
                          <a:rPr lang="en-US" sz="1800" b="0" i="1" smtClean="0">
                            <a:latin typeface="Cambria Math" panose="02040503050406030204" pitchFamily="18" charset="0"/>
                          </a:rPr>
                          <m:t> )</m:t>
                        </m:r>
                      </m:den>
                    </m:f>
                  </m:oMath>
                </a14:m>
                <a:endParaRPr lang="en-US" i="1" dirty="0"/>
              </a:p>
              <a:p>
                <a:pPr marL="0" indent="0">
                  <a:buNone/>
                </a:pPr>
                <a:endParaRPr lang="en-US" sz="1800" dirty="0"/>
              </a:p>
            </p:txBody>
          </p:sp>
        </mc:Choice>
        <mc:Fallback xmlns="">
          <p:sp>
            <p:nvSpPr>
              <p:cNvPr id="3" name="내용 개체 틀 2">
                <a:extLst>
                  <a:ext uri="{FF2B5EF4-FFF2-40B4-BE49-F238E27FC236}">
                    <a16:creationId xmlns:a16="http://schemas.microsoft.com/office/drawing/2014/main" id="{32B5A22E-4232-4B29-8784-68C3E36E579D}"/>
                  </a:ext>
                </a:extLst>
              </p:cNvPr>
              <p:cNvSpPr>
                <a:spLocks noGrp="1" noRot="1" noChangeAspect="1" noMove="1" noResize="1" noEditPoints="1" noAdjustHandles="1" noChangeArrowheads="1" noChangeShapeType="1" noTextEdit="1"/>
              </p:cNvSpPr>
              <p:nvPr>
                <p:ph idx="1"/>
              </p:nvPr>
            </p:nvSpPr>
            <p:spPr>
              <a:xfrm>
                <a:off x="227858" y="1568173"/>
                <a:ext cx="11683013" cy="999050"/>
              </a:xfrm>
              <a:blipFill>
                <a:blip r:embed="rId2"/>
                <a:stretch>
                  <a:fillRect l="-522" t="-12195"/>
                </a:stretch>
              </a:blipFill>
            </p:spPr>
            <p:txBody>
              <a:bodyPr/>
              <a:lstStyle/>
              <a:p>
                <a:r>
                  <a:rPr lang="en-US">
                    <a:noFill/>
                  </a:rPr>
                  <a:t> </a:t>
                </a:r>
              </a:p>
            </p:txBody>
          </p:sp>
        </mc:Fallback>
      </mc:AlternateContent>
      <p:sp>
        <p:nvSpPr>
          <p:cNvPr id="4" name="직사각형 3">
            <a:extLst>
              <a:ext uri="{FF2B5EF4-FFF2-40B4-BE49-F238E27FC236}">
                <a16:creationId xmlns:a16="http://schemas.microsoft.com/office/drawing/2014/main" id="{1BAF3519-877C-4340-BC89-1C634A95B141}"/>
              </a:ext>
            </a:extLst>
          </p:cNvPr>
          <p:cNvSpPr/>
          <p:nvPr/>
        </p:nvSpPr>
        <p:spPr>
          <a:xfrm>
            <a:off x="6096000" y="2859818"/>
            <a:ext cx="4317510" cy="1200329"/>
          </a:xfrm>
          <a:prstGeom prst="rect">
            <a:avLst/>
          </a:prstGeom>
        </p:spPr>
        <p:txBody>
          <a:bodyPr wrap="square">
            <a:spAutoFit/>
          </a:bodyPr>
          <a:lstStyle/>
          <a:p>
            <a:endParaRPr lang="en-US" dirty="0"/>
          </a:p>
          <a:p>
            <a:r>
              <a:rPr lang="en-US" dirty="0"/>
              <a:t>In an empirical result, neighborhood overlap of an edge depends on the </a:t>
            </a:r>
            <a:r>
              <a:rPr lang="en-US" b="1" dirty="0"/>
              <a:t>strength of ties.</a:t>
            </a:r>
            <a:br>
              <a:rPr lang="en-US" dirty="0"/>
            </a:br>
            <a:endParaRPr lang="en-US" b="1" dirty="0"/>
          </a:p>
        </p:txBody>
      </p:sp>
      <p:sp>
        <p:nvSpPr>
          <p:cNvPr id="5" name="직사각형 4">
            <a:extLst>
              <a:ext uri="{FF2B5EF4-FFF2-40B4-BE49-F238E27FC236}">
                <a16:creationId xmlns:a16="http://schemas.microsoft.com/office/drawing/2014/main" id="{91169F25-FDE8-45C5-85BF-AC8D0C401DED}"/>
              </a:ext>
            </a:extLst>
          </p:cNvPr>
          <p:cNvSpPr/>
          <p:nvPr/>
        </p:nvSpPr>
        <p:spPr>
          <a:xfrm>
            <a:off x="435005" y="2228670"/>
            <a:ext cx="10662082" cy="338554"/>
          </a:xfrm>
          <a:prstGeom prst="rect">
            <a:avLst/>
          </a:prstGeom>
        </p:spPr>
        <p:txBody>
          <a:bodyPr wrap="square">
            <a:spAutoFit/>
          </a:bodyPr>
          <a:lstStyle/>
          <a:p>
            <a:r>
              <a:rPr lang="en-US" sz="1600" dirty="0"/>
              <a:t>*If neighborhood overlap = 0 </a:t>
            </a:r>
            <a:r>
              <a:rPr lang="en-US" sz="1200" dirty="0">
                <a:sym typeface="Wingdings" panose="05000000000000000000" pitchFamily="2" charset="2"/>
              </a:rPr>
              <a:t></a:t>
            </a:r>
            <a:r>
              <a:rPr lang="en-US" sz="1600" dirty="0">
                <a:sym typeface="Wingdings" panose="05000000000000000000" pitchFamily="2" charset="2"/>
              </a:rPr>
              <a:t> </a:t>
            </a:r>
            <a:r>
              <a:rPr lang="en-US" sz="1600" dirty="0"/>
              <a:t>edge A&amp;B is a local bridge. (Smaller the number, the edge will resemble a local bridge)</a:t>
            </a:r>
          </a:p>
        </p:txBody>
      </p:sp>
      <p:sp>
        <p:nvSpPr>
          <p:cNvPr id="6" name="직사각형 5">
            <a:extLst>
              <a:ext uri="{FF2B5EF4-FFF2-40B4-BE49-F238E27FC236}">
                <a16:creationId xmlns:a16="http://schemas.microsoft.com/office/drawing/2014/main" id="{74A8C585-3C46-471F-87C2-E93AFF0A9FC2}"/>
              </a:ext>
            </a:extLst>
          </p:cNvPr>
          <p:cNvSpPr/>
          <p:nvPr/>
        </p:nvSpPr>
        <p:spPr>
          <a:xfrm>
            <a:off x="6136890" y="3845997"/>
            <a:ext cx="5315304" cy="338554"/>
          </a:xfrm>
          <a:prstGeom prst="rect">
            <a:avLst/>
          </a:prstGeom>
        </p:spPr>
        <p:txBody>
          <a:bodyPr wrap="square">
            <a:spAutoFit/>
          </a:bodyPr>
          <a:lstStyle/>
          <a:p>
            <a:r>
              <a:rPr lang="en-US" sz="1600" dirty="0"/>
              <a:t>(Higher the strength, higher the neighborhood overlap value)</a:t>
            </a:r>
          </a:p>
        </p:txBody>
      </p:sp>
      <p:pic>
        <p:nvPicPr>
          <p:cNvPr id="7" name="그림 6">
            <a:extLst>
              <a:ext uri="{FF2B5EF4-FFF2-40B4-BE49-F238E27FC236}">
                <a16:creationId xmlns:a16="http://schemas.microsoft.com/office/drawing/2014/main" id="{7D712EEC-E40D-46D3-8A49-E84BC5741010}"/>
              </a:ext>
            </a:extLst>
          </p:cNvPr>
          <p:cNvPicPr>
            <a:picLocks noChangeAspect="1"/>
          </p:cNvPicPr>
          <p:nvPr/>
        </p:nvPicPr>
        <p:blipFill rotWithShape="1">
          <a:blip r:embed="rId3"/>
          <a:srcRect l="15292" t="29256" r="60680" b="29838"/>
          <a:stretch/>
        </p:blipFill>
        <p:spPr>
          <a:xfrm>
            <a:off x="2559730" y="2974179"/>
            <a:ext cx="3071533" cy="2941226"/>
          </a:xfrm>
          <a:prstGeom prst="rect">
            <a:avLst/>
          </a:prstGeom>
        </p:spPr>
      </p:pic>
      <p:sp>
        <p:nvSpPr>
          <p:cNvPr id="8" name="직사각형 7">
            <a:extLst>
              <a:ext uri="{FF2B5EF4-FFF2-40B4-BE49-F238E27FC236}">
                <a16:creationId xmlns:a16="http://schemas.microsoft.com/office/drawing/2014/main" id="{C05186D5-4A87-465B-AB32-D70F29C76539}"/>
              </a:ext>
            </a:extLst>
          </p:cNvPr>
          <p:cNvSpPr/>
          <p:nvPr/>
        </p:nvSpPr>
        <p:spPr>
          <a:xfrm>
            <a:off x="1604357" y="6060750"/>
            <a:ext cx="5826253" cy="523220"/>
          </a:xfrm>
          <a:prstGeom prst="rect">
            <a:avLst/>
          </a:prstGeom>
        </p:spPr>
        <p:txBody>
          <a:bodyPr wrap="square">
            <a:spAutoFit/>
          </a:bodyPr>
          <a:lstStyle/>
          <a:p>
            <a:pPr algn="ctr"/>
            <a:r>
              <a:rPr lang="en-US" sz="1400" dirty="0"/>
              <a:t>A plot of the neighborhood overlap of edges as a function of their percentile </a:t>
            </a:r>
          </a:p>
          <a:p>
            <a:pPr algn="ctr"/>
            <a:r>
              <a:rPr lang="en-US" sz="1400" dirty="0"/>
              <a:t>in the sorted order of all edges by tie strength. </a:t>
            </a:r>
          </a:p>
        </p:txBody>
      </p:sp>
    </p:spTree>
    <p:extLst>
      <p:ext uri="{BB962C8B-B14F-4D97-AF65-F5344CB8AC3E}">
        <p14:creationId xmlns:p14="http://schemas.microsoft.com/office/powerpoint/2010/main" val="1886982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6480145" cy="1347218"/>
          </a:xfrm>
        </p:spPr>
        <p:txBody>
          <a:bodyPr>
            <a:normAutofit/>
          </a:bodyPr>
          <a:lstStyle/>
          <a:p>
            <a:r>
              <a:rPr lang="en-US" sz="4000" dirty="0"/>
              <a:t>Tie Strength and Social Media</a:t>
            </a:r>
            <a:br>
              <a:rPr lang="en-US" sz="4000" dirty="0"/>
            </a:br>
            <a:r>
              <a:rPr lang="en-US" sz="3200" dirty="0"/>
              <a:t>Facebook</a:t>
            </a:r>
            <a:endParaRPr lang="en-US" sz="4000" dirty="0"/>
          </a:p>
        </p:txBody>
      </p:sp>
      <p:pic>
        <p:nvPicPr>
          <p:cNvPr id="11" name="그림 10">
            <a:extLst>
              <a:ext uri="{FF2B5EF4-FFF2-40B4-BE49-F238E27FC236}">
                <a16:creationId xmlns:a16="http://schemas.microsoft.com/office/drawing/2014/main" id="{A6BBE53C-4129-4914-B3B4-C316A8FD9F1A}"/>
              </a:ext>
            </a:extLst>
          </p:cNvPr>
          <p:cNvPicPr>
            <a:picLocks noChangeAspect="1"/>
          </p:cNvPicPr>
          <p:nvPr/>
        </p:nvPicPr>
        <p:blipFill rotWithShape="1">
          <a:blip r:embed="rId2"/>
          <a:srcRect l="14844" t="30139" r="59062" b="17499"/>
          <a:stretch/>
        </p:blipFill>
        <p:spPr>
          <a:xfrm>
            <a:off x="7044153" y="1383251"/>
            <a:ext cx="4619625" cy="5214369"/>
          </a:xfrm>
          <a:prstGeom prst="rect">
            <a:avLst/>
          </a:prstGeom>
        </p:spPr>
      </p:pic>
      <p:sp>
        <p:nvSpPr>
          <p:cNvPr id="13" name="직사각형 12">
            <a:extLst>
              <a:ext uri="{FF2B5EF4-FFF2-40B4-BE49-F238E27FC236}">
                <a16:creationId xmlns:a16="http://schemas.microsoft.com/office/drawing/2014/main" id="{154C9633-E767-4174-8177-34F6DB2838DF}"/>
              </a:ext>
            </a:extLst>
          </p:cNvPr>
          <p:cNvSpPr/>
          <p:nvPr/>
        </p:nvSpPr>
        <p:spPr>
          <a:xfrm>
            <a:off x="392287" y="2413061"/>
            <a:ext cx="6565580" cy="2554545"/>
          </a:xfrm>
          <a:prstGeom prst="rect">
            <a:avLst/>
          </a:prstGeom>
        </p:spPr>
        <p:txBody>
          <a:bodyPr wrap="none">
            <a:spAutoFit/>
          </a:bodyPr>
          <a:lstStyle/>
          <a:p>
            <a:r>
              <a:rPr lang="en-US" dirty="0"/>
              <a:t>All Friends: </a:t>
            </a:r>
            <a:r>
              <a:rPr lang="en-US" sz="1600" dirty="0"/>
              <a:t>Facebook friendship</a:t>
            </a:r>
          </a:p>
          <a:p>
            <a:endParaRPr lang="en-US" dirty="0"/>
          </a:p>
          <a:p>
            <a:r>
              <a:rPr lang="en-US" dirty="0"/>
              <a:t>Maintained Relationships: </a:t>
            </a:r>
            <a:r>
              <a:rPr lang="en-US" sz="1600" dirty="0"/>
              <a:t>users that followed other’s information</a:t>
            </a:r>
            <a:br>
              <a:rPr lang="en-US" sz="1600" dirty="0"/>
            </a:br>
            <a:r>
              <a:rPr lang="en-US" sz="1600" dirty="0"/>
              <a:t>                                                      (regardless of actual communication)</a:t>
            </a:r>
            <a:endParaRPr lang="en-US" dirty="0"/>
          </a:p>
          <a:p>
            <a:endParaRPr lang="en-US" dirty="0"/>
          </a:p>
          <a:p>
            <a:r>
              <a:rPr lang="en-US" dirty="0"/>
              <a:t>One-way Communication: </a:t>
            </a:r>
            <a:r>
              <a:rPr lang="en-US" sz="1600" dirty="0"/>
              <a:t>users that sent one or more messages to other</a:t>
            </a:r>
            <a:endParaRPr lang="en-US" dirty="0"/>
          </a:p>
          <a:p>
            <a:endParaRPr lang="en-US" dirty="0"/>
          </a:p>
          <a:p>
            <a:r>
              <a:rPr lang="en-US" dirty="0"/>
              <a:t>Mutual Communication: </a:t>
            </a:r>
            <a:r>
              <a:rPr lang="en-US" sz="1600" dirty="0"/>
              <a:t>users that both sent messages to each other</a:t>
            </a:r>
            <a:endParaRPr lang="en-US" dirty="0"/>
          </a:p>
          <a:p>
            <a:endParaRPr lang="en-US" dirty="0"/>
          </a:p>
        </p:txBody>
      </p:sp>
    </p:spTree>
    <p:extLst>
      <p:ext uri="{BB962C8B-B14F-4D97-AF65-F5344CB8AC3E}">
        <p14:creationId xmlns:p14="http://schemas.microsoft.com/office/powerpoint/2010/main" val="4109100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Closure, Structural Holes and Social Capital</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1" y="1271738"/>
            <a:ext cx="6285390" cy="2427676"/>
          </a:xfrm>
        </p:spPr>
        <p:txBody>
          <a:bodyPr>
            <a:normAutofit/>
          </a:bodyPr>
          <a:lstStyle/>
          <a:p>
            <a:pPr marL="0" indent="0">
              <a:buNone/>
            </a:pPr>
            <a:r>
              <a:rPr lang="en-US" sz="2400" i="1" dirty="0"/>
              <a:t>Embeddedness: </a:t>
            </a:r>
          </a:p>
          <a:p>
            <a:pPr marL="0" indent="0">
              <a:buNone/>
            </a:pPr>
            <a:endParaRPr lang="en-US" sz="2400" i="1" dirty="0"/>
          </a:p>
          <a:p>
            <a:pPr marL="0" indent="0">
              <a:buNone/>
            </a:pPr>
            <a:endParaRPr lang="en-US" sz="2400" i="1" dirty="0"/>
          </a:p>
          <a:p>
            <a:pPr marL="0" indent="0">
              <a:buNone/>
            </a:pPr>
            <a:r>
              <a:rPr lang="en-US" sz="2000" i="1" dirty="0"/>
              <a:t>		</a:t>
            </a:r>
            <a:br>
              <a:rPr lang="en-US" sz="2000" i="1" dirty="0"/>
            </a:br>
            <a:r>
              <a:rPr lang="en-US" sz="2000" i="1" dirty="0"/>
              <a:t>	</a:t>
            </a:r>
            <a:r>
              <a:rPr lang="en-US" sz="1600" i="1" dirty="0"/>
              <a:t>ex) </a:t>
            </a:r>
            <a:r>
              <a:rPr lang="en-US" sz="2000" i="1" dirty="0"/>
              <a:t> </a:t>
            </a:r>
            <a:r>
              <a:rPr lang="en-US" sz="1600" i="1" dirty="0"/>
              <a:t>Embeddedness of red line = 2                                 		        Embeddedness of yellow line = 0  (Local Bridge)</a:t>
            </a:r>
            <a:r>
              <a:rPr lang="en-US" sz="2000" i="1" dirty="0"/>
              <a:t>                                                     </a:t>
            </a:r>
          </a:p>
          <a:p>
            <a:pPr marL="0" indent="0">
              <a:buNone/>
            </a:pPr>
            <a:endParaRPr lang="en-US" sz="2000" dirty="0"/>
          </a:p>
        </p:txBody>
      </p:sp>
      <p:sp>
        <p:nvSpPr>
          <p:cNvPr id="5" name="직사각형 4">
            <a:extLst>
              <a:ext uri="{FF2B5EF4-FFF2-40B4-BE49-F238E27FC236}">
                <a16:creationId xmlns:a16="http://schemas.microsoft.com/office/drawing/2014/main" id="{B4F2B48C-5B29-4B0C-9986-3797E3860742}"/>
              </a:ext>
            </a:extLst>
          </p:cNvPr>
          <p:cNvSpPr/>
          <p:nvPr/>
        </p:nvSpPr>
        <p:spPr>
          <a:xfrm>
            <a:off x="5870368" y="3924827"/>
            <a:ext cx="6096000" cy="2123658"/>
          </a:xfrm>
          <a:prstGeom prst="rect">
            <a:avLst/>
          </a:prstGeom>
        </p:spPr>
        <p:txBody>
          <a:bodyPr>
            <a:spAutoFit/>
          </a:bodyPr>
          <a:lstStyle/>
          <a:p>
            <a:pPr algn="ctr"/>
            <a:br>
              <a:rPr lang="en-US" i="1" dirty="0"/>
            </a:br>
            <a:r>
              <a:rPr lang="en-US" i="1" dirty="0"/>
              <a:t>If two individuals are connected by an embedded edge, </a:t>
            </a:r>
          </a:p>
          <a:p>
            <a:pPr algn="ctr"/>
            <a:r>
              <a:rPr lang="en-US" i="1" dirty="0"/>
              <a:t>it is easier for them to trust on another and have confidence </a:t>
            </a:r>
          </a:p>
          <a:p>
            <a:pPr algn="ctr"/>
            <a:r>
              <a:rPr lang="en-US" i="1" dirty="0"/>
              <a:t>in the integrity of the transaction or communications</a:t>
            </a:r>
          </a:p>
          <a:p>
            <a:pPr algn="ctr"/>
            <a:endParaRPr lang="en-US" i="1" dirty="0"/>
          </a:p>
          <a:p>
            <a:pPr algn="just"/>
            <a:r>
              <a:rPr lang="en-US" sz="1400" i="1" dirty="0"/>
              <a:t>A – B interaction is more credible than B – C , because A – B have mutual friends who will eventually be aware of the interaction of A – B. Possibility of social sanction and reputational consequences reinforce this. </a:t>
            </a:r>
            <a:endParaRPr lang="en-US" sz="1400" dirty="0"/>
          </a:p>
        </p:txBody>
      </p:sp>
      <p:grpSp>
        <p:nvGrpSpPr>
          <p:cNvPr id="106" name="그룹 105">
            <a:extLst>
              <a:ext uri="{FF2B5EF4-FFF2-40B4-BE49-F238E27FC236}">
                <a16:creationId xmlns:a16="http://schemas.microsoft.com/office/drawing/2014/main" id="{C876450D-77E3-472E-A15B-D25AE744DFA6}"/>
              </a:ext>
            </a:extLst>
          </p:cNvPr>
          <p:cNvGrpSpPr/>
          <p:nvPr/>
        </p:nvGrpSpPr>
        <p:grpSpPr>
          <a:xfrm>
            <a:off x="485367" y="3759751"/>
            <a:ext cx="4996594" cy="2997667"/>
            <a:chOff x="2214842" y="3662295"/>
            <a:chExt cx="4996594" cy="2997667"/>
          </a:xfrm>
        </p:grpSpPr>
        <p:cxnSp>
          <p:nvCxnSpPr>
            <p:cNvPr id="88" name="직선 연결선 87">
              <a:extLst>
                <a:ext uri="{FF2B5EF4-FFF2-40B4-BE49-F238E27FC236}">
                  <a16:creationId xmlns:a16="http://schemas.microsoft.com/office/drawing/2014/main" id="{56F5DE9C-815C-428B-AB85-99C30B79FD7D}"/>
                </a:ext>
              </a:extLst>
            </p:cNvPr>
            <p:cNvCxnSpPr>
              <a:cxnSpLocks/>
              <a:stCxn id="22" idx="6"/>
              <a:endCxn id="21" idx="2"/>
            </p:cNvCxnSpPr>
            <p:nvPr/>
          </p:nvCxnSpPr>
          <p:spPr>
            <a:xfrm>
              <a:off x="5913355" y="4400097"/>
              <a:ext cx="10045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타원 28">
              <a:extLst>
                <a:ext uri="{FF2B5EF4-FFF2-40B4-BE49-F238E27FC236}">
                  <a16:creationId xmlns:a16="http://schemas.microsoft.com/office/drawing/2014/main" id="{8600B469-E490-4F39-94BC-453FA9F3DD3A}"/>
                </a:ext>
              </a:extLst>
            </p:cNvPr>
            <p:cNvSpPr/>
            <p:nvPr/>
          </p:nvSpPr>
          <p:spPr>
            <a:xfrm>
              <a:off x="2301112" y="3750244"/>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A</a:t>
              </a:r>
            </a:p>
          </p:txBody>
        </p:sp>
        <p:sp>
          <p:nvSpPr>
            <p:cNvPr id="30" name="타원 29">
              <a:extLst>
                <a:ext uri="{FF2B5EF4-FFF2-40B4-BE49-F238E27FC236}">
                  <a16:creationId xmlns:a16="http://schemas.microsoft.com/office/drawing/2014/main" id="{6655FCBF-8922-4352-ACCD-23568AD09376}"/>
                </a:ext>
              </a:extLst>
            </p:cNvPr>
            <p:cNvSpPr/>
            <p:nvPr/>
          </p:nvSpPr>
          <p:spPr>
            <a:xfrm>
              <a:off x="3015128" y="5059452"/>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E</a:t>
              </a:r>
            </a:p>
          </p:txBody>
        </p:sp>
        <p:sp>
          <p:nvSpPr>
            <p:cNvPr id="31" name="타원 30">
              <a:extLst>
                <a:ext uri="{FF2B5EF4-FFF2-40B4-BE49-F238E27FC236}">
                  <a16:creationId xmlns:a16="http://schemas.microsoft.com/office/drawing/2014/main" id="{DF2E1883-7BD2-46B6-BF9F-AD6775BECA30}"/>
                </a:ext>
              </a:extLst>
            </p:cNvPr>
            <p:cNvSpPr/>
            <p:nvPr/>
          </p:nvSpPr>
          <p:spPr>
            <a:xfrm>
              <a:off x="3476292" y="3984407"/>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D</a:t>
              </a:r>
            </a:p>
          </p:txBody>
        </p:sp>
        <p:sp>
          <p:nvSpPr>
            <p:cNvPr id="32" name="타원 31">
              <a:extLst>
                <a:ext uri="{FF2B5EF4-FFF2-40B4-BE49-F238E27FC236}">
                  <a16:creationId xmlns:a16="http://schemas.microsoft.com/office/drawing/2014/main" id="{FC3800E2-2390-4ECF-94E5-BE1CB89945B6}"/>
                </a:ext>
              </a:extLst>
            </p:cNvPr>
            <p:cNvSpPr/>
            <p:nvPr/>
          </p:nvSpPr>
          <p:spPr>
            <a:xfrm>
              <a:off x="2214842" y="4464537"/>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B</a:t>
              </a:r>
            </a:p>
          </p:txBody>
        </p:sp>
        <p:cxnSp>
          <p:nvCxnSpPr>
            <p:cNvPr id="34" name="직선 연결선 33">
              <a:extLst>
                <a:ext uri="{FF2B5EF4-FFF2-40B4-BE49-F238E27FC236}">
                  <a16:creationId xmlns:a16="http://schemas.microsoft.com/office/drawing/2014/main" id="{AF744945-BB9D-4397-B340-1EDC29E5A0E8}"/>
                </a:ext>
              </a:extLst>
            </p:cNvPr>
            <p:cNvCxnSpPr>
              <a:cxnSpLocks/>
              <a:stCxn id="32" idx="6"/>
              <a:endCxn id="36" idx="2"/>
            </p:cNvCxnSpPr>
            <p:nvPr/>
          </p:nvCxnSpPr>
          <p:spPr>
            <a:xfrm flipV="1">
              <a:off x="2508379" y="4574304"/>
              <a:ext cx="425465" cy="370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ABFEE193-B5EF-464A-9966-2CB8BCDB2C2B}"/>
                </a:ext>
              </a:extLst>
            </p:cNvPr>
            <p:cNvCxnSpPr>
              <a:cxnSpLocks/>
              <a:stCxn id="32" idx="5"/>
              <a:endCxn id="30" idx="1"/>
            </p:cNvCxnSpPr>
            <p:nvPr/>
          </p:nvCxnSpPr>
          <p:spPr>
            <a:xfrm>
              <a:off x="2465392" y="4715086"/>
              <a:ext cx="592723" cy="3873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타원 35">
              <a:extLst>
                <a:ext uri="{FF2B5EF4-FFF2-40B4-BE49-F238E27FC236}">
                  <a16:creationId xmlns:a16="http://schemas.microsoft.com/office/drawing/2014/main" id="{4FC1073D-AE35-43A4-B24B-6FA50436914E}"/>
                </a:ext>
              </a:extLst>
            </p:cNvPr>
            <p:cNvSpPr/>
            <p:nvPr/>
          </p:nvSpPr>
          <p:spPr>
            <a:xfrm>
              <a:off x="2933844" y="4427536"/>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37" name="타원 36">
              <a:extLst>
                <a:ext uri="{FF2B5EF4-FFF2-40B4-BE49-F238E27FC236}">
                  <a16:creationId xmlns:a16="http://schemas.microsoft.com/office/drawing/2014/main" id="{CE746BE4-CD2E-4921-91A7-85862005103B}"/>
                </a:ext>
              </a:extLst>
            </p:cNvPr>
            <p:cNvSpPr/>
            <p:nvPr/>
          </p:nvSpPr>
          <p:spPr>
            <a:xfrm>
              <a:off x="4614569" y="383860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39" name="직선 연결선 38">
              <a:extLst>
                <a:ext uri="{FF2B5EF4-FFF2-40B4-BE49-F238E27FC236}">
                  <a16:creationId xmlns:a16="http://schemas.microsoft.com/office/drawing/2014/main" id="{87A00A7A-A19F-4CF0-9097-9B038CCEBA71}"/>
                </a:ext>
              </a:extLst>
            </p:cNvPr>
            <p:cNvCxnSpPr>
              <a:cxnSpLocks/>
              <a:stCxn id="31" idx="1"/>
              <a:endCxn id="29" idx="6"/>
            </p:cNvCxnSpPr>
            <p:nvPr/>
          </p:nvCxnSpPr>
          <p:spPr>
            <a:xfrm flipH="1" flipV="1">
              <a:off x="2594649" y="3897012"/>
              <a:ext cx="924630" cy="1303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타원 18">
              <a:extLst>
                <a:ext uri="{FF2B5EF4-FFF2-40B4-BE49-F238E27FC236}">
                  <a16:creationId xmlns:a16="http://schemas.microsoft.com/office/drawing/2014/main" id="{459703FF-E131-4C46-826A-58B4352DC19C}"/>
                </a:ext>
              </a:extLst>
            </p:cNvPr>
            <p:cNvSpPr/>
            <p:nvPr/>
          </p:nvSpPr>
          <p:spPr>
            <a:xfrm>
              <a:off x="6278644" y="366229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G</a:t>
              </a:r>
            </a:p>
          </p:txBody>
        </p:sp>
        <p:sp>
          <p:nvSpPr>
            <p:cNvPr id="20" name="타원 19">
              <a:extLst>
                <a:ext uri="{FF2B5EF4-FFF2-40B4-BE49-F238E27FC236}">
                  <a16:creationId xmlns:a16="http://schemas.microsoft.com/office/drawing/2014/main" id="{3519AC11-E659-4F2B-B9CF-70C427E46031}"/>
                </a:ext>
              </a:extLst>
            </p:cNvPr>
            <p:cNvSpPr/>
            <p:nvPr/>
          </p:nvSpPr>
          <p:spPr>
            <a:xfrm>
              <a:off x="6278644" y="4842960"/>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J</a:t>
              </a:r>
            </a:p>
          </p:txBody>
        </p:sp>
        <p:sp>
          <p:nvSpPr>
            <p:cNvPr id="21" name="타원 20">
              <a:extLst>
                <a:ext uri="{FF2B5EF4-FFF2-40B4-BE49-F238E27FC236}">
                  <a16:creationId xmlns:a16="http://schemas.microsoft.com/office/drawing/2014/main" id="{5EBCA687-6B9C-4800-B8DA-1B6BB3476A6C}"/>
                </a:ext>
              </a:extLst>
            </p:cNvPr>
            <p:cNvSpPr/>
            <p:nvPr/>
          </p:nvSpPr>
          <p:spPr>
            <a:xfrm>
              <a:off x="6917900" y="425332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I</a:t>
              </a:r>
            </a:p>
          </p:txBody>
        </p:sp>
        <p:sp>
          <p:nvSpPr>
            <p:cNvPr id="22" name="타원 21">
              <a:extLst>
                <a:ext uri="{FF2B5EF4-FFF2-40B4-BE49-F238E27FC236}">
                  <a16:creationId xmlns:a16="http://schemas.microsoft.com/office/drawing/2014/main" id="{75FFC33F-63F8-4CF2-9D3B-3762E03ECD33}"/>
                </a:ext>
              </a:extLst>
            </p:cNvPr>
            <p:cNvSpPr/>
            <p:nvPr/>
          </p:nvSpPr>
          <p:spPr>
            <a:xfrm>
              <a:off x="5619819" y="425332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cxnSp>
          <p:nvCxnSpPr>
            <p:cNvPr id="23" name="직선 연결선 22">
              <a:extLst>
                <a:ext uri="{FF2B5EF4-FFF2-40B4-BE49-F238E27FC236}">
                  <a16:creationId xmlns:a16="http://schemas.microsoft.com/office/drawing/2014/main" id="{816CAB07-7F11-48CC-8C89-15979F1BE3E1}"/>
                </a:ext>
              </a:extLst>
            </p:cNvPr>
            <p:cNvCxnSpPr>
              <a:cxnSpLocks/>
              <a:stCxn id="19" idx="4"/>
              <a:endCxn id="20" idx="0"/>
            </p:cNvCxnSpPr>
            <p:nvPr/>
          </p:nvCxnSpPr>
          <p:spPr>
            <a:xfrm>
              <a:off x="6425412" y="3955831"/>
              <a:ext cx="0" cy="8871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663B2A0B-F1BE-4E1E-A79B-DA3D39492960}"/>
                </a:ext>
              </a:extLst>
            </p:cNvPr>
            <p:cNvCxnSpPr>
              <a:cxnSpLocks/>
              <a:stCxn id="22" idx="5"/>
            </p:cNvCxnSpPr>
            <p:nvPr/>
          </p:nvCxnSpPr>
          <p:spPr>
            <a:xfrm>
              <a:off x="5870368" y="4503878"/>
              <a:ext cx="451262" cy="3820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2D8B1CDB-AF4F-4E2C-A744-39ED2D80E85F}"/>
                </a:ext>
              </a:extLst>
            </p:cNvPr>
            <p:cNvCxnSpPr>
              <a:cxnSpLocks/>
              <a:stCxn id="21" idx="1"/>
              <a:endCxn id="19" idx="5"/>
            </p:cNvCxnSpPr>
            <p:nvPr/>
          </p:nvCxnSpPr>
          <p:spPr>
            <a:xfrm flipH="1" flipV="1">
              <a:off x="6529192" y="3912844"/>
              <a:ext cx="431695"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40E9DB9C-7789-4843-AC5C-22CD3CB62DFF}"/>
                </a:ext>
              </a:extLst>
            </p:cNvPr>
            <p:cNvCxnSpPr>
              <a:cxnSpLocks/>
              <a:stCxn id="22" idx="7"/>
              <a:endCxn id="19" idx="3"/>
            </p:cNvCxnSpPr>
            <p:nvPr/>
          </p:nvCxnSpPr>
          <p:spPr>
            <a:xfrm flipV="1">
              <a:off x="5870368" y="3912844"/>
              <a:ext cx="451263"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A5087F8E-8FD3-4F3B-BF8E-3519B3C7FCA0}"/>
                </a:ext>
              </a:extLst>
            </p:cNvPr>
            <p:cNvCxnSpPr>
              <a:cxnSpLocks/>
              <a:endCxn id="21" idx="3"/>
            </p:cNvCxnSpPr>
            <p:nvPr/>
          </p:nvCxnSpPr>
          <p:spPr>
            <a:xfrm flipV="1">
              <a:off x="6529193" y="4503878"/>
              <a:ext cx="431694" cy="382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타원 16">
              <a:extLst>
                <a:ext uri="{FF2B5EF4-FFF2-40B4-BE49-F238E27FC236}">
                  <a16:creationId xmlns:a16="http://schemas.microsoft.com/office/drawing/2014/main" id="{3E15C2A0-3A5C-4506-83F0-8E7A55D572CC}"/>
                </a:ext>
              </a:extLst>
            </p:cNvPr>
            <p:cNvSpPr/>
            <p:nvPr/>
          </p:nvSpPr>
          <p:spPr>
            <a:xfrm>
              <a:off x="6278644" y="425262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K</a:t>
              </a:r>
            </a:p>
          </p:txBody>
        </p:sp>
        <p:cxnSp>
          <p:nvCxnSpPr>
            <p:cNvPr id="41" name="직선 연결선 40">
              <a:extLst>
                <a:ext uri="{FF2B5EF4-FFF2-40B4-BE49-F238E27FC236}">
                  <a16:creationId xmlns:a16="http://schemas.microsoft.com/office/drawing/2014/main" id="{64A2EA0E-0044-404D-B1F7-EB752C8CC0C4}"/>
                </a:ext>
              </a:extLst>
            </p:cNvPr>
            <p:cNvCxnSpPr>
              <a:cxnSpLocks/>
              <a:stCxn id="31" idx="3"/>
              <a:endCxn id="36" idx="7"/>
            </p:cNvCxnSpPr>
            <p:nvPr/>
          </p:nvCxnSpPr>
          <p:spPr>
            <a:xfrm flipH="1">
              <a:off x="3184394" y="4234956"/>
              <a:ext cx="334885" cy="2355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674B9494-5048-454D-8A44-D0F376323A99}"/>
                </a:ext>
              </a:extLst>
            </p:cNvPr>
            <p:cNvCxnSpPr>
              <a:cxnSpLocks/>
              <a:stCxn id="37" idx="2"/>
              <a:endCxn id="36" idx="6"/>
            </p:cNvCxnSpPr>
            <p:nvPr/>
          </p:nvCxnSpPr>
          <p:spPr>
            <a:xfrm flipH="1">
              <a:off x="3227381" y="3985377"/>
              <a:ext cx="1387188" cy="58892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43242013-33AF-4D88-A9CA-973AC896E87C}"/>
                </a:ext>
              </a:extLst>
            </p:cNvPr>
            <p:cNvCxnSpPr>
              <a:cxnSpLocks/>
              <a:stCxn id="32" idx="0"/>
              <a:endCxn id="29" idx="4"/>
            </p:cNvCxnSpPr>
            <p:nvPr/>
          </p:nvCxnSpPr>
          <p:spPr>
            <a:xfrm flipV="1">
              <a:off x="2361611" y="4043780"/>
              <a:ext cx="86270" cy="4207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75EB5B75-B139-4654-BDF8-763005DD0259}"/>
                </a:ext>
              </a:extLst>
            </p:cNvPr>
            <p:cNvCxnSpPr>
              <a:cxnSpLocks/>
              <a:stCxn id="36" idx="4"/>
              <a:endCxn id="30" idx="0"/>
            </p:cNvCxnSpPr>
            <p:nvPr/>
          </p:nvCxnSpPr>
          <p:spPr>
            <a:xfrm>
              <a:off x="3080613" y="4721072"/>
              <a:ext cx="81284" cy="3383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9D77C4D-9DB7-416D-A2ED-8744A12FFE6C}"/>
                </a:ext>
              </a:extLst>
            </p:cNvPr>
            <p:cNvCxnSpPr>
              <a:cxnSpLocks/>
              <a:stCxn id="37" idx="6"/>
              <a:endCxn id="22" idx="2"/>
            </p:cNvCxnSpPr>
            <p:nvPr/>
          </p:nvCxnSpPr>
          <p:spPr>
            <a:xfrm>
              <a:off x="4908105" y="3985377"/>
              <a:ext cx="711714" cy="41472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91" name="직선 연결선 90">
              <a:extLst>
                <a:ext uri="{FF2B5EF4-FFF2-40B4-BE49-F238E27FC236}">
                  <a16:creationId xmlns:a16="http://schemas.microsoft.com/office/drawing/2014/main" id="{8E752D90-4CFF-48FA-9E38-A341B0494905}"/>
                </a:ext>
              </a:extLst>
            </p:cNvPr>
            <p:cNvCxnSpPr>
              <a:cxnSpLocks/>
              <a:stCxn id="96" idx="0"/>
              <a:endCxn id="37" idx="4"/>
            </p:cNvCxnSpPr>
            <p:nvPr/>
          </p:nvCxnSpPr>
          <p:spPr>
            <a:xfrm flipH="1" flipV="1">
              <a:off x="4761337" y="4132145"/>
              <a:ext cx="25171" cy="10694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55A825F5-428D-4668-9F1F-767B4DED78B6}"/>
                </a:ext>
              </a:extLst>
            </p:cNvPr>
            <p:cNvCxnSpPr>
              <a:cxnSpLocks/>
              <a:stCxn id="98" idx="6"/>
              <a:endCxn id="97" idx="2"/>
            </p:cNvCxnSpPr>
            <p:nvPr/>
          </p:nvCxnSpPr>
          <p:spPr>
            <a:xfrm>
              <a:off x="4274451" y="5939353"/>
              <a:ext cx="10045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타원 95">
              <a:extLst>
                <a:ext uri="{FF2B5EF4-FFF2-40B4-BE49-F238E27FC236}">
                  <a16:creationId xmlns:a16="http://schemas.microsoft.com/office/drawing/2014/main" id="{62B84B53-56BF-4450-B7CA-DD04552DAF7F}"/>
                </a:ext>
              </a:extLst>
            </p:cNvPr>
            <p:cNvSpPr/>
            <p:nvPr/>
          </p:nvSpPr>
          <p:spPr>
            <a:xfrm>
              <a:off x="4639740" y="5201551"/>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L</a:t>
              </a:r>
            </a:p>
          </p:txBody>
        </p:sp>
        <p:sp>
          <p:nvSpPr>
            <p:cNvPr id="97" name="타원 96">
              <a:extLst>
                <a:ext uri="{FF2B5EF4-FFF2-40B4-BE49-F238E27FC236}">
                  <a16:creationId xmlns:a16="http://schemas.microsoft.com/office/drawing/2014/main" id="{55C52F0C-CDBD-485A-B6C9-52F547D22045}"/>
                </a:ext>
              </a:extLst>
            </p:cNvPr>
            <p:cNvSpPr/>
            <p:nvPr/>
          </p:nvSpPr>
          <p:spPr>
            <a:xfrm>
              <a:off x="5278996" y="579258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O</a:t>
              </a:r>
            </a:p>
          </p:txBody>
        </p:sp>
        <p:sp>
          <p:nvSpPr>
            <p:cNvPr id="98" name="타원 97">
              <a:extLst>
                <a:ext uri="{FF2B5EF4-FFF2-40B4-BE49-F238E27FC236}">
                  <a16:creationId xmlns:a16="http://schemas.microsoft.com/office/drawing/2014/main" id="{30775071-1EBB-4328-AD72-1436D3BDFBEB}"/>
                </a:ext>
              </a:extLst>
            </p:cNvPr>
            <p:cNvSpPr/>
            <p:nvPr/>
          </p:nvSpPr>
          <p:spPr>
            <a:xfrm>
              <a:off x="3980915" y="579258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M</a:t>
              </a:r>
            </a:p>
          </p:txBody>
        </p:sp>
        <p:cxnSp>
          <p:nvCxnSpPr>
            <p:cNvPr id="99" name="직선 연결선 98">
              <a:extLst>
                <a:ext uri="{FF2B5EF4-FFF2-40B4-BE49-F238E27FC236}">
                  <a16:creationId xmlns:a16="http://schemas.microsoft.com/office/drawing/2014/main" id="{7BA02616-8F9C-442F-BFD3-F02F38B0666D}"/>
                </a:ext>
              </a:extLst>
            </p:cNvPr>
            <p:cNvCxnSpPr>
              <a:cxnSpLocks/>
              <a:stCxn id="96" idx="4"/>
            </p:cNvCxnSpPr>
            <p:nvPr/>
          </p:nvCxnSpPr>
          <p:spPr>
            <a:xfrm>
              <a:off x="4786508" y="5495087"/>
              <a:ext cx="0" cy="8871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313BDFBB-4243-44BA-BC1D-AA56E4DDBF3B}"/>
                </a:ext>
              </a:extLst>
            </p:cNvPr>
            <p:cNvCxnSpPr>
              <a:cxnSpLocks/>
              <a:stCxn id="98" idx="5"/>
            </p:cNvCxnSpPr>
            <p:nvPr/>
          </p:nvCxnSpPr>
          <p:spPr>
            <a:xfrm>
              <a:off x="4231464" y="6043134"/>
              <a:ext cx="451262" cy="3820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직선 연결선 100">
              <a:extLst>
                <a:ext uri="{FF2B5EF4-FFF2-40B4-BE49-F238E27FC236}">
                  <a16:creationId xmlns:a16="http://schemas.microsoft.com/office/drawing/2014/main" id="{7AD0BC8D-3468-40C1-BE9A-C1FD69FA1D9B}"/>
                </a:ext>
              </a:extLst>
            </p:cNvPr>
            <p:cNvCxnSpPr>
              <a:cxnSpLocks/>
              <a:stCxn id="97" idx="1"/>
              <a:endCxn id="96" idx="5"/>
            </p:cNvCxnSpPr>
            <p:nvPr/>
          </p:nvCxnSpPr>
          <p:spPr>
            <a:xfrm flipH="1" flipV="1">
              <a:off x="4890288" y="5452100"/>
              <a:ext cx="431695"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직선 연결선 101">
              <a:extLst>
                <a:ext uri="{FF2B5EF4-FFF2-40B4-BE49-F238E27FC236}">
                  <a16:creationId xmlns:a16="http://schemas.microsoft.com/office/drawing/2014/main" id="{E56B3DCB-1A32-4122-8F7F-3353896F1437}"/>
                </a:ext>
              </a:extLst>
            </p:cNvPr>
            <p:cNvCxnSpPr>
              <a:cxnSpLocks/>
              <a:stCxn id="98" idx="7"/>
              <a:endCxn id="96" idx="3"/>
            </p:cNvCxnSpPr>
            <p:nvPr/>
          </p:nvCxnSpPr>
          <p:spPr>
            <a:xfrm flipV="1">
              <a:off x="4231464" y="5452100"/>
              <a:ext cx="451263"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BE609E14-3C8C-4C41-8EFF-893DC2387E62}"/>
                </a:ext>
              </a:extLst>
            </p:cNvPr>
            <p:cNvCxnSpPr>
              <a:cxnSpLocks/>
              <a:endCxn id="97" idx="3"/>
            </p:cNvCxnSpPr>
            <p:nvPr/>
          </p:nvCxnSpPr>
          <p:spPr>
            <a:xfrm flipV="1">
              <a:off x="4890289" y="6043134"/>
              <a:ext cx="431694" cy="382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타원 103">
              <a:extLst>
                <a:ext uri="{FF2B5EF4-FFF2-40B4-BE49-F238E27FC236}">
                  <a16:creationId xmlns:a16="http://schemas.microsoft.com/office/drawing/2014/main" id="{69306E10-9823-433A-99A5-54BA0722D7D0}"/>
                </a:ext>
              </a:extLst>
            </p:cNvPr>
            <p:cNvSpPr/>
            <p:nvPr/>
          </p:nvSpPr>
          <p:spPr>
            <a:xfrm>
              <a:off x="4639740" y="579188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N</a:t>
              </a:r>
            </a:p>
          </p:txBody>
        </p:sp>
        <p:sp>
          <p:nvSpPr>
            <p:cNvPr id="105" name="타원 104">
              <a:extLst>
                <a:ext uri="{FF2B5EF4-FFF2-40B4-BE49-F238E27FC236}">
                  <a16:creationId xmlns:a16="http://schemas.microsoft.com/office/drawing/2014/main" id="{C07BB51B-9702-49ED-86F5-108ABD465522}"/>
                </a:ext>
              </a:extLst>
            </p:cNvPr>
            <p:cNvSpPr/>
            <p:nvPr/>
          </p:nvSpPr>
          <p:spPr>
            <a:xfrm>
              <a:off x="4639738" y="6366426"/>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P</a:t>
              </a:r>
            </a:p>
          </p:txBody>
        </p:sp>
        <p:cxnSp>
          <p:nvCxnSpPr>
            <p:cNvPr id="122" name="직선 연결선 121">
              <a:extLst>
                <a:ext uri="{FF2B5EF4-FFF2-40B4-BE49-F238E27FC236}">
                  <a16:creationId xmlns:a16="http://schemas.microsoft.com/office/drawing/2014/main" id="{58FE6230-B123-418B-BA46-0C123EBBDA89}"/>
                </a:ext>
              </a:extLst>
            </p:cNvPr>
            <p:cNvCxnSpPr>
              <a:cxnSpLocks/>
              <a:stCxn id="37" idx="2"/>
              <a:endCxn id="31" idx="7"/>
            </p:cNvCxnSpPr>
            <p:nvPr/>
          </p:nvCxnSpPr>
          <p:spPr>
            <a:xfrm flipH="1">
              <a:off x="3726842" y="3985377"/>
              <a:ext cx="887727" cy="420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직선 연결선 127">
              <a:extLst>
                <a:ext uri="{FF2B5EF4-FFF2-40B4-BE49-F238E27FC236}">
                  <a16:creationId xmlns:a16="http://schemas.microsoft.com/office/drawing/2014/main" id="{D545272B-F549-4A3B-B5FF-8D181937B9FD}"/>
                </a:ext>
              </a:extLst>
            </p:cNvPr>
            <p:cNvCxnSpPr>
              <a:cxnSpLocks/>
              <a:stCxn id="31" idx="4"/>
              <a:endCxn id="30" idx="7"/>
            </p:cNvCxnSpPr>
            <p:nvPr/>
          </p:nvCxnSpPr>
          <p:spPr>
            <a:xfrm flipH="1">
              <a:off x="3265678" y="4277943"/>
              <a:ext cx="357383" cy="8244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직선 연결선 131">
              <a:extLst>
                <a:ext uri="{FF2B5EF4-FFF2-40B4-BE49-F238E27FC236}">
                  <a16:creationId xmlns:a16="http://schemas.microsoft.com/office/drawing/2014/main" id="{7FEC6E33-9595-4865-AB2E-A4B1A1505110}"/>
                </a:ext>
              </a:extLst>
            </p:cNvPr>
            <p:cNvCxnSpPr>
              <a:cxnSpLocks/>
              <a:stCxn id="29" idx="5"/>
              <a:endCxn id="36" idx="1"/>
            </p:cNvCxnSpPr>
            <p:nvPr/>
          </p:nvCxnSpPr>
          <p:spPr>
            <a:xfrm>
              <a:off x="2551662" y="4000793"/>
              <a:ext cx="425169" cy="4697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직선 연결선 135">
              <a:extLst>
                <a:ext uri="{FF2B5EF4-FFF2-40B4-BE49-F238E27FC236}">
                  <a16:creationId xmlns:a16="http://schemas.microsoft.com/office/drawing/2014/main" id="{98FBE3B4-B011-4E8E-B1EF-3DF9DAB949C9}"/>
                </a:ext>
              </a:extLst>
            </p:cNvPr>
            <p:cNvCxnSpPr>
              <a:cxnSpLocks/>
              <a:stCxn id="29" idx="4"/>
              <a:endCxn id="30" idx="1"/>
            </p:cNvCxnSpPr>
            <p:nvPr/>
          </p:nvCxnSpPr>
          <p:spPr>
            <a:xfrm>
              <a:off x="2447881" y="4043780"/>
              <a:ext cx="610234" cy="10586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1474E569-3992-4417-BD9F-077F14F70DB9}"/>
                </a:ext>
              </a:extLst>
            </p:cNvPr>
            <p:cNvCxnSpPr>
              <a:cxnSpLocks/>
              <a:stCxn id="37" idx="2"/>
              <a:endCxn id="30" idx="6"/>
            </p:cNvCxnSpPr>
            <p:nvPr/>
          </p:nvCxnSpPr>
          <p:spPr>
            <a:xfrm flipH="1">
              <a:off x="3308665" y="3985377"/>
              <a:ext cx="1305904" cy="122084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7" name="직사각형 106">
            <a:extLst>
              <a:ext uri="{FF2B5EF4-FFF2-40B4-BE49-F238E27FC236}">
                <a16:creationId xmlns:a16="http://schemas.microsoft.com/office/drawing/2014/main" id="{89AEB865-CDB7-4193-8905-E3DA3C431A02}"/>
              </a:ext>
            </a:extLst>
          </p:cNvPr>
          <p:cNvSpPr/>
          <p:nvPr/>
        </p:nvSpPr>
        <p:spPr>
          <a:xfrm>
            <a:off x="2316906" y="1279696"/>
            <a:ext cx="7106924" cy="1754326"/>
          </a:xfrm>
          <a:prstGeom prst="rect">
            <a:avLst/>
          </a:prstGeom>
        </p:spPr>
        <p:txBody>
          <a:bodyPr wrap="square">
            <a:spAutoFit/>
          </a:bodyPr>
          <a:lstStyle/>
          <a:p>
            <a:pPr marL="285750" indent="-285750">
              <a:buFontTx/>
              <a:buChar char="-"/>
            </a:pPr>
            <a:r>
              <a:rPr lang="en-US" dirty="0"/>
              <a:t>Property of an edge in a network that is calculated by number of common neighbors shared by the end points of the edge (equal to numerator in the ratio that defines neighborhood overlap)</a:t>
            </a:r>
          </a:p>
          <a:p>
            <a:pPr marL="285750" indent="-285750">
              <a:buFontTx/>
              <a:buChar char="-"/>
            </a:pPr>
            <a:endParaRPr lang="en-US" dirty="0"/>
          </a:p>
          <a:p>
            <a:pPr marL="285750" indent="-285750">
              <a:buFontTx/>
              <a:buChar char="-"/>
            </a:pPr>
            <a:r>
              <a:rPr lang="en-US" dirty="0"/>
              <a:t>Embeddedness = 0 </a:t>
            </a:r>
            <a:r>
              <a:rPr lang="en-US" dirty="0">
                <a:sym typeface="Wingdings" panose="05000000000000000000" pitchFamily="2" charset="2"/>
              </a:rPr>
              <a:t> implies that the edge acts as an local bridge</a:t>
            </a:r>
            <a:r>
              <a:rPr lang="en-US" i="1" dirty="0"/>
              <a:t>  </a:t>
            </a:r>
          </a:p>
          <a:p>
            <a:endParaRPr lang="en-US" i="1" dirty="0"/>
          </a:p>
        </p:txBody>
      </p:sp>
    </p:spTree>
    <p:extLst>
      <p:ext uri="{BB962C8B-B14F-4D97-AF65-F5344CB8AC3E}">
        <p14:creationId xmlns:p14="http://schemas.microsoft.com/office/powerpoint/2010/main" val="3756782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Closure, Structural Holes and Social Capital</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203593" y="1262681"/>
            <a:ext cx="6285390" cy="2427676"/>
          </a:xfrm>
        </p:spPr>
        <p:txBody>
          <a:bodyPr>
            <a:normAutofit/>
          </a:bodyPr>
          <a:lstStyle/>
          <a:p>
            <a:pPr marL="0" indent="0">
              <a:buNone/>
            </a:pPr>
            <a:r>
              <a:rPr lang="en-US" sz="2400" i="1" dirty="0"/>
              <a:t>Structural Holes: </a:t>
            </a:r>
          </a:p>
          <a:p>
            <a:pPr marL="0" indent="0">
              <a:buNone/>
            </a:pPr>
            <a:endParaRPr lang="en-US" sz="2400" i="1" dirty="0"/>
          </a:p>
          <a:p>
            <a:pPr marL="0" indent="0">
              <a:buNone/>
            </a:pPr>
            <a:endParaRPr lang="en-US" sz="2400" i="1" dirty="0"/>
          </a:p>
          <a:p>
            <a:pPr marL="0" indent="0">
              <a:buNone/>
            </a:pPr>
            <a:r>
              <a:rPr lang="en-US" sz="2000" i="1" dirty="0"/>
              <a:t>		</a:t>
            </a:r>
            <a:br>
              <a:rPr lang="en-US" sz="2000" i="1" dirty="0"/>
            </a:br>
            <a:r>
              <a:rPr lang="en-US" sz="2000" i="1" dirty="0"/>
              <a:t>	</a:t>
            </a:r>
          </a:p>
          <a:p>
            <a:pPr marL="0" indent="0">
              <a:buNone/>
            </a:pPr>
            <a:endParaRPr lang="en-US" sz="2000" dirty="0"/>
          </a:p>
        </p:txBody>
      </p:sp>
      <p:grpSp>
        <p:nvGrpSpPr>
          <p:cNvPr id="106" name="그룹 105">
            <a:extLst>
              <a:ext uri="{FF2B5EF4-FFF2-40B4-BE49-F238E27FC236}">
                <a16:creationId xmlns:a16="http://schemas.microsoft.com/office/drawing/2014/main" id="{C876450D-77E3-472E-A15B-D25AE744DFA6}"/>
              </a:ext>
            </a:extLst>
          </p:cNvPr>
          <p:cNvGrpSpPr/>
          <p:nvPr/>
        </p:nvGrpSpPr>
        <p:grpSpPr>
          <a:xfrm>
            <a:off x="6710925" y="3690357"/>
            <a:ext cx="4996594" cy="2997667"/>
            <a:chOff x="2214842" y="3662295"/>
            <a:chExt cx="4996594" cy="2997667"/>
          </a:xfrm>
        </p:grpSpPr>
        <p:cxnSp>
          <p:nvCxnSpPr>
            <p:cNvPr id="88" name="직선 연결선 87">
              <a:extLst>
                <a:ext uri="{FF2B5EF4-FFF2-40B4-BE49-F238E27FC236}">
                  <a16:creationId xmlns:a16="http://schemas.microsoft.com/office/drawing/2014/main" id="{56F5DE9C-815C-428B-AB85-99C30B79FD7D}"/>
                </a:ext>
              </a:extLst>
            </p:cNvPr>
            <p:cNvCxnSpPr>
              <a:cxnSpLocks/>
              <a:stCxn id="22" idx="6"/>
              <a:endCxn id="21" idx="2"/>
            </p:cNvCxnSpPr>
            <p:nvPr/>
          </p:nvCxnSpPr>
          <p:spPr>
            <a:xfrm>
              <a:off x="5913355" y="4400097"/>
              <a:ext cx="10045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타원 28">
              <a:extLst>
                <a:ext uri="{FF2B5EF4-FFF2-40B4-BE49-F238E27FC236}">
                  <a16:creationId xmlns:a16="http://schemas.microsoft.com/office/drawing/2014/main" id="{8600B469-E490-4F39-94BC-453FA9F3DD3A}"/>
                </a:ext>
              </a:extLst>
            </p:cNvPr>
            <p:cNvSpPr/>
            <p:nvPr/>
          </p:nvSpPr>
          <p:spPr>
            <a:xfrm>
              <a:off x="2301112" y="3750244"/>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A</a:t>
              </a:r>
            </a:p>
          </p:txBody>
        </p:sp>
        <p:sp>
          <p:nvSpPr>
            <p:cNvPr id="30" name="타원 29">
              <a:extLst>
                <a:ext uri="{FF2B5EF4-FFF2-40B4-BE49-F238E27FC236}">
                  <a16:creationId xmlns:a16="http://schemas.microsoft.com/office/drawing/2014/main" id="{6655FCBF-8922-4352-ACCD-23568AD09376}"/>
                </a:ext>
              </a:extLst>
            </p:cNvPr>
            <p:cNvSpPr/>
            <p:nvPr/>
          </p:nvSpPr>
          <p:spPr>
            <a:xfrm>
              <a:off x="3015128" y="5059452"/>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E</a:t>
              </a:r>
            </a:p>
          </p:txBody>
        </p:sp>
        <p:sp>
          <p:nvSpPr>
            <p:cNvPr id="31" name="타원 30">
              <a:extLst>
                <a:ext uri="{FF2B5EF4-FFF2-40B4-BE49-F238E27FC236}">
                  <a16:creationId xmlns:a16="http://schemas.microsoft.com/office/drawing/2014/main" id="{DF2E1883-7BD2-46B6-BF9F-AD6775BECA30}"/>
                </a:ext>
              </a:extLst>
            </p:cNvPr>
            <p:cNvSpPr/>
            <p:nvPr/>
          </p:nvSpPr>
          <p:spPr>
            <a:xfrm>
              <a:off x="3476292" y="3984407"/>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D</a:t>
              </a:r>
            </a:p>
          </p:txBody>
        </p:sp>
        <p:sp>
          <p:nvSpPr>
            <p:cNvPr id="32" name="타원 31">
              <a:extLst>
                <a:ext uri="{FF2B5EF4-FFF2-40B4-BE49-F238E27FC236}">
                  <a16:creationId xmlns:a16="http://schemas.microsoft.com/office/drawing/2014/main" id="{FC3800E2-2390-4ECF-94E5-BE1CB89945B6}"/>
                </a:ext>
              </a:extLst>
            </p:cNvPr>
            <p:cNvSpPr/>
            <p:nvPr/>
          </p:nvSpPr>
          <p:spPr>
            <a:xfrm>
              <a:off x="2214842" y="4464537"/>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B</a:t>
              </a:r>
            </a:p>
          </p:txBody>
        </p:sp>
        <p:cxnSp>
          <p:nvCxnSpPr>
            <p:cNvPr id="34" name="직선 연결선 33">
              <a:extLst>
                <a:ext uri="{FF2B5EF4-FFF2-40B4-BE49-F238E27FC236}">
                  <a16:creationId xmlns:a16="http://schemas.microsoft.com/office/drawing/2014/main" id="{AF744945-BB9D-4397-B340-1EDC29E5A0E8}"/>
                </a:ext>
              </a:extLst>
            </p:cNvPr>
            <p:cNvCxnSpPr>
              <a:cxnSpLocks/>
              <a:stCxn id="32" idx="6"/>
              <a:endCxn id="36" idx="2"/>
            </p:cNvCxnSpPr>
            <p:nvPr/>
          </p:nvCxnSpPr>
          <p:spPr>
            <a:xfrm flipV="1">
              <a:off x="2508379" y="4574304"/>
              <a:ext cx="425465" cy="370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ABFEE193-B5EF-464A-9966-2CB8BCDB2C2B}"/>
                </a:ext>
              </a:extLst>
            </p:cNvPr>
            <p:cNvCxnSpPr>
              <a:cxnSpLocks/>
              <a:stCxn id="32" idx="5"/>
              <a:endCxn id="30" idx="1"/>
            </p:cNvCxnSpPr>
            <p:nvPr/>
          </p:nvCxnSpPr>
          <p:spPr>
            <a:xfrm>
              <a:off x="2465392" y="4715086"/>
              <a:ext cx="592723" cy="3873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타원 35">
              <a:extLst>
                <a:ext uri="{FF2B5EF4-FFF2-40B4-BE49-F238E27FC236}">
                  <a16:creationId xmlns:a16="http://schemas.microsoft.com/office/drawing/2014/main" id="{4FC1073D-AE35-43A4-B24B-6FA50436914E}"/>
                </a:ext>
              </a:extLst>
            </p:cNvPr>
            <p:cNvSpPr/>
            <p:nvPr/>
          </p:nvSpPr>
          <p:spPr>
            <a:xfrm>
              <a:off x="2933844" y="4427536"/>
              <a:ext cx="293537"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37" name="타원 36">
              <a:extLst>
                <a:ext uri="{FF2B5EF4-FFF2-40B4-BE49-F238E27FC236}">
                  <a16:creationId xmlns:a16="http://schemas.microsoft.com/office/drawing/2014/main" id="{CE746BE4-CD2E-4921-91A7-85862005103B}"/>
                </a:ext>
              </a:extLst>
            </p:cNvPr>
            <p:cNvSpPr/>
            <p:nvPr/>
          </p:nvSpPr>
          <p:spPr>
            <a:xfrm>
              <a:off x="4614569" y="3838609"/>
              <a:ext cx="293536" cy="293536"/>
            </a:xfrm>
            <a:prstGeom prst="ellipse">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39" name="직선 연결선 38">
              <a:extLst>
                <a:ext uri="{FF2B5EF4-FFF2-40B4-BE49-F238E27FC236}">
                  <a16:creationId xmlns:a16="http://schemas.microsoft.com/office/drawing/2014/main" id="{87A00A7A-A19F-4CF0-9097-9B038CCEBA71}"/>
                </a:ext>
              </a:extLst>
            </p:cNvPr>
            <p:cNvCxnSpPr>
              <a:cxnSpLocks/>
              <a:stCxn id="31" idx="1"/>
              <a:endCxn id="29" idx="6"/>
            </p:cNvCxnSpPr>
            <p:nvPr/>
          </p:nvCxnSpPr>
          <p:spPr>
            <a:xfrm flipH="1" flipV="1">
              <a:off x="2594649" y="3897012"/>
              <a:ext cx="924630" cy="1303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타원 18">
              <a:extLst>
                <a:ext uri="{FF2B5EF4-FFF2-40B4-BE49-F238E27FC236}">
                  <a16:creationId xmlns:a16="http://schemas.microsoft.com/office/drawing/2014/main" id="{459703FF-E131-4C46-826A-58B4352DC19C}"/>
                </a:ext>
              </a:extLst>
            </p:cNvPr>
            <p:cNvSpPr/>
            <p:nvPr/>
          </p:nvSpPr>
          <p:spPr>
            <a:xfrm>
              <a:off x="6278644" y="366229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G</a:t>
              </a:r>
            </a:p>
          </p:txBody>
        </p:sp>
        <p:sp>
          <p:nvSpPr>
            <p:cNvPr id="20" name="타원 19">
              <a:extLst>
                <a:ext uri="{FF2B5EF4-FFF2-40B4-BE49-F238E27FC236}">
                  <a16:creationId xmlns:a16="http://schemas.microsoft.com/office/drawing/2014/main" id="{3519AC11-E659-4F2B-B9CF-70C427E46031}"/>
                </a:ext>
              </a:extLst>
            </p:cNvPr>
            <p:cNvSpPr/>
            <p:nvPr/>
          </p:nvSpPr>
          <p:spPr>
            <a:xfrm>
              <a:off x="6278644" y="4842960"/>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J</a:t>
              </a:r>
            </a:p>
          </p:txBody>
        </p:sp>
        <p:sp>
          <p:nvSpPr>
            <p:cNvPr id="21" name="타원 20">
              <a:extLst>
                <a:ext uri="{FF2B5EF4-FFF2-40B4-BE49-F238E27FC236}">
                  <a16:creationId xmlns:a16="http://schemas.microsoft.com/office/drawing/2014/main" id="{5EBCA687-6B9C-4800-B8DA-1B6BB3476A6C}"/>
                </a:ext>
              </a:extLst>
            </p:cNvPr>
            <p:cNvSpPr/>
            <p:nvPr/>
          </p:nvSpPr>
          <p:spPr>
            <a:xfrm>
              <a:off x="6917900" y="425332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I</a:t>
              </a:r>
            </a:p>
          </p:txBody>
        </p:sp>
        <p:sp>
          <p:nvSpPr>
            <p:cNvPr id="22" name="타원 21">
              <a:extLst>
                <a:ext uri="{FF2B5EF4-FFF2-40B4-BE49-F238E27FC236}">
                  <a16:creationId xmlns:a16="http://schemas.microsoft.com/office/drawing/2014/main" id="{75FFC33F-63F8-4CF2-9D3B-3762E03ECD33}"/>
                </a:ext>
              </a:extLst>
            </p:cNvPr>
            <p:cNvSpPr/>
            <p:nvPr/>
          </p:nvSpPr>
          <p:spPr>
            <a:xfrm>
              <a:off x="5619819" y="425332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cxnSp>
          <p:nvCxnSpPr>
            <p:cNvPr id="23" name="직선 연결선 22">
              <a:extLst>
                <a:ext uri="{FF2B5EF4-FFF2-40B4-BE49-F238E27FC236}">
                  <a16:creationId xmlns:a16="http://schemas.microsoft.com/office/drawing/2014/main" id="{816CAB07-7F11-48CC-8C89-15979F1BE3E1}"/>
                </a:ext>
              </a:extLst>
            </p:cNvPr>
            <p:cNvCxnSpPr>
              <a:cxnSpLocks/>
              <a:stCxn id="19" idx="4"/>
              <a:endCxn id="20" idx="0"/>
            </p:cNvCxnSpPr>
            <p:nvPr/>
          </p:nvCxnSpPr>
          <p:spPr>
            <a:xfrm>
              <a:off x="6425412" y="3955831"/>
              <a:ext cx="0" cy="8871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663B2A0B-F1BE-4E1E-A79B-DA3D39492960}"/>
                </a:ext>
              </a:extLst>
            </p:cNvPr>
            <p:cNvCxnSpPr>
              <a:cxnSpLocks/>
              <a:stCxn id="22" idx="5"/>
            </p:cNvCxnSpPr>
            <p:nvPr/>
          </p:nvCxnSpPr>
          <p:spPr>
            <a:xfrm>
              <a:off x="5870368" y="4503878"/>
              <a:ext cx="451262" cy="3820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2D8B1CDB-AF4F-4E2C-A744-39ED2D80E85F}"/>
                </a:ext>
              </a:extLst>
            </p:cNvPr>
            <p:cNvCxnSpPr>
              <a:cxnSpLocks/>
              <a:stCxn id="21" idx="1"/>
              <a:endCxn id="19" idx="5"/>
            </p:cNvCxnSpPr>
            <p:nvPr/>
          </p:nvCxnSpPr>
          <p:spPr>
            <a:xfrm flipH="1" flipV="1">
              <a:off x="6529192" y="3912844"/>
              <a:ext cx="431695"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40E9DB9C-7789-4843-AC5C-22CD3CB62DFF}"/>
                </a:ext>
              </a:extLst>
            </p:cNvPr>
            <p:cNvCxnSpPr>
              <a:cxnSpLocks/>
              <a:stCxn id="22" idx="7"/>
              <a:endCxn id="19" idx="3"/>
            </p:cNvCxnSpPr>
            <p:nvPr/>
          </p:nvCxnSpPr>
          <p:spPr>
            <a:xfrm flipV="1">
              <a:off x="5870368" y="3912844"/>
              <a:ext cx="451263"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A5087F8E-8FD3-4F3B-BF8E-3519B3C7FCA0}"/>
                </a:ext>
              </a:extLst>
            </p:cNvPr>
            <p:cNvCxnSpPr>
              <a:cxnSpLocks/>
              <a:endCxn id="21" idx="3"/>
            </p:cNvCxnSpPr>
            <p:nvPr/>
          </p:nvCxnSpPr>
          <p:spPr>
            <a:xfrm flipV="1">
              <a:off x="6529193" y="4503878"/>
              <a:ext cx="431694" cy="382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타원 16">
              <a:extLst>
                <a:ext uri="{FF2B5EF4-FFF2-40B4-BE49-F238E27FC236}">
                  <a16:creationId xmlns:a16="http://schemas.microsoft.com/office/drawing/2014/main" id="{3E15C2A0-3A5C-4506-83F0-8E7A55D572CC}"/>
                </a:ext>
              </a:extLst>
            </p:cNvPr>
            <p:cNvSpPr/>
            <p:nvPr/>
          </p:nvSpPr>
          <p:spPr>
            <a:xfrm>
              <a:off x="6278644" y="425262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K</a:t>
              </a:r>
            </a:p>
          </p:txBody>
        </p:sp>
        <p:cxnSp>
          <p:nvCxnSpPr>
            <p:cNvPr id="41" name="직선 연결선 40">
              <a:extLst>
                <a:ext uri="{FF2B5EF4-FFF2-40B4-BE49-F238E27FC236}">
                  <a16:creationId xmlns:a16="http://schemas.microsoft.com/office/drawing/2014/main" id="{64A2EA0E-0044-404D-B1F7-EB752C8CC0C4}"/>
                </a:ext>
              </a:extLst>
            </p:cNvPr>
            <p:cNvCxnSpPr>
              <a:cxnSpLocks/>
              <a:stCxn id="31" idx="3"/>
              <a:endCxn id="36" idx="7"/>
            </p:cNvCxnSpPr>
            <p:nvPr/>
          </p:nvCxnSpPr>
          <p:spPr>
            <a:xfrm flipH="1">
              <a:off x="3184394" y="4234956"/>
              <a:ext cx="334885" cy="2355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674B9494-5048-454D-8A44-D0F376323A99}"/>
                </a:ext>
              </a:extLst>
            </p:cNvPr>
            <p:cNvCxnSpPr>
              <a:cxnSpLocks/>
              <a:stCxn id="37" idx="2"/>
              <a:endCxn id="36" idx="6"/>
            </p:cNvCxnSpPr>
            <p:nvPr/>
          </p:nvCxnSpPr>
          <p:spPr>
            <a:xfrm flipH="1">
              <a:off x="3227381" y="3985377"/>
              <a:ext cx="1387188" cy="5889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43242013-33AF-4D88-A9CA-973AC896E87C}"/>
                </a:ext>
              </a:extLst>
            </p:cNvPr>
            <p:cNvCxnSpPr>
              <a:cxnSpLocks/>
              <a:stCxn id="32" idx="0"/>
              <a:endCxn id="29" idx="4"/>
            </p:cNvCxnSpPr>
            <p:nvPr/>
          </p:nvCxnSpPr>
          <p:spPr>
            <a:xfrm flipV="1">
              <a:off x="2361611" y="4043780"/>
              <a:ext cx="86270" cy="4207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75EB5B75-B139-4654-BDF8-763005DD0259}"/>
                </a:ext>
              </a:extLst>
            </p:cNvPr>
            <p:cNvCxnSpPr>
              <a:cxnSpLocks/>
              <a:stCxn id="36" idx="4"/>
              <a:endCxn id="30" idx="0"/>
            </p:cNvCxnSpPr>
            <p:nvPr/>
          </p:nvCxnSpPr>
          <p:spPr>
            <a:xfrm>
              <a:off x="3080613" y="4721072"/>
              <a:ext cx="81284" cy="3383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9D77C4D-9DB7-416D-A2ED-8744A12FFE6C}"/>
                </a:ext>
              </a:extLst>
            </p:cNvPr>
            <p:cNvCxnSpPr>
              <a:cxnSpLocks/>
              <a:stCxn id="37" idx="6"/>
              <a:endCxn id="22" idx="2"/>
            </p:cNvCxnSpPr>
            <p:nvPr/>
          </p:nvCxnSpPr>
          <p:spPr>
            <a:xfrm>
              <a:off x="4908105" y="3985377"/>
              <a:ext cx="711714" cy="4147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직선 연결선 90">
              <a:extLst>
                <a:ext uri="{FF2B5EF4-FFF2-40B4-BE49-F238E27FC236}">
                  <a16:creationId xmlns:a16="http://schemas.microsoft.com/office/drawing/2014/main" id="{8E752D90-4CFF-48FA-9E38-A341B0494905}"/>
                </a:ext>
              </a:extLst>
            </p:cNvPr>
            <p:cNvCxnSpPr>
              <a:cxnSpLocks/>
              <a:stCxn id="96" idx="0"/>
              <a:endCxn id="37" idx="4"/>
            </p:cNvCxnSpPr>
            <p:nvPr/>
          </p:nvCxnSpPr>
          <p:spPr>
            <a:xfrm flipH="1" flipV="1">
              <a:off x="4761337" y="4132145"/>
              <a:ext cx="25171" cy="106940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55A825F5-428D-4668-9F1F-767B4DED78B6}"/>
                </a:ext>
              </a:extLst>
            </p:cNvPr>
            <p:cNvCxnSpPr>
              <a:cxnSpLocks/>
              <a:stCxn id="98" idx="6"/>
              <a:endCxn id="97" idx="2"/>
            </p:cNvCxnSpPr>
            <p:nvPr/>
          </p:nvCxnSpPr>
          <p:spPr>
            <a:xfrm>
              <a:off x="4274451" y="5939353"/>
              <a:ext cx="10045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타원 95">
              <a:extLst>
                <a:ext uri="{FF2B5EF4-FFF2-40B4-BE49-F238E27FC236}">
                  <a16:creationId xmlns:a16="http://schemas.microsoft.com/office/drawing/2014/main" id="{62B84B53-56BF-4450-B7CA-DD04552DAF7F}"/>
                </a:ext>
              </a:extLst>
            </p:cNvPr>
            <p:cNvSpPr/>
            <p:nvPr/>
          </p:nvSpPr>
          <p:spPr>
            <a:xfrm>
              <a:off x="4639740" y="5201551"/>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97" name="타원 96">
              <a:extLst>
                <a:ext uri="{FF2B5EF4-FFF2-40B4-BE49-F238E27FC236}">
                  <a16:creationId xmlns:a16="http://schemas.microsoft.com/office/drawing/2014/main" id="{55C52F0C-CDBD-485A-B6C9-52F547D22045}"/>
                </a:ext>
              </a:extLst>
            </p:cNvPr>
            <p:cNvSpPr/>
            <p:nvPr/>
          </p:nvSpPr>
          <p:spPr>
            <a:xfrm>
              <a:off x="5278996" y="579258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O</a:t>
              </a:r>
            </a:p>
          </p:txBody>
        </p:sp>
        <p:sp>
          <p:nvSpPr>
            <p:cNvPr id="98" name="타원 97">
              <a:extLst>
                <a:ext uri="{FF2B5EF4-FFF2-40B4-BE49-F238E27FC236}">
                  <a16:creationId xmlns:a16="http://schemas.microsoft.com/office/drawing/2014/main" id="{30775071-1EBB-4328-AD72-1436D3BDFBEB}"/>
                </a:ext>
              </a:extLst>
            </p:cNvPr>
            <p:cNvSpPr/>
            <p:nvPr/>
          </p:nvSpPr>
          <p:spPr>
            <a:xfrm>
              <a:off x="3980915" y="579258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M</a:t>
              </a:r>
            </a:p>
          </p:txBody>
        </p:sp>
        <p:cxnSp>
          <p:nvCxnSpPr>
            <p:cNvPr id="99" name="직선 연결선 98">
              <a:extLst>
                <a:ext uri="{FF2B5EF4-FFF2-40B4-BE49-F238E27FC236}">
                  <a16:creationId xmlns:a16="http://schemas.microsoft.com/office/drawing/2014/main" id="{7BA02616-8F9C-442F-BFD3-F02F38B0666D}"/>
                </a:ext>
              </a:extLst>
            </p:cNvPr>
            <p:cNvCxnSpPr>
              <a:cxnSpLocks/>
              <a:stCxn id="96" idx="4"/>
            </p:cNvCxnSpPr>
            <p:nvPr/>
          </p:nvCxnSpPr>
          <p:spPr>
            <a:xfrm>
              <a:off x="4786508" y="5495087"/>
              <a:ext cx="0" cy="8871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313BDFBB-4243-44BA-BC1D-AA56E4DDBF3B}"/>
                </a:ext>
              </a:extLst>
            </p:cNvPr>
            <p:cNvCxnSpPr>
              <a:cxnSpLocks/>
              <a:stCxn id="98" idx="5"/>
            </p:cNvCxnSpPr>
            <p:nvPr/>
          </p:nvCxnSpPr>
          <p:spPr>
            <a:xfrm>
              <a:off x="4231464" y="6043134"/>
              <a:ext cx="451262" cy="3820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직선 연결선 100">
              <a:extLst>
                <a:ext uri="{FF2B5EF4-FFF2-40B4-BE49-F238E27FC236}">
                  <a16:creationId xmlns:a16="http://schemas.microsoft.com/office/drawing/2014/main" id="{7AD0BC8D-3468-40C1-BE9A-C1FD69FA1D9B}"/>
                </a:ext>
              </a:extLst>
            </p:cNvPr>
            <p:cNvCxnSpPr>
              <a:cxnSpLocks/>
              <a:stCxn id="97" idx="1"/>
              <a:endCxn id="96" idx="5"/>
            </p:cNvCxnSpPr>
            <p:nvPr/>
          </p:nvCxnSpPr>
          <p:spPr>
            <a:xfrm flipH="1" flipV="1">
              <a:off x="4890288" y="5452100"/>
              <a:ext cx="431695"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직선 연결선 101">
              <a:extLst>
                <a:ext uri="{FF2B5EF4-FFF2-40B4-BE49-F238E27FC236}">
                  <a16:creationId xmlns:a16="http://schemas.microsoft.com/office/drawing/2014/main" id="{E56B3DCB-1A32-4122-8F7F-3353896F1437}"/>
                </a:ext>
              </a:extLst>
            </p:cNvPr>
            <p:cNvCxnSpPr>
              <a:cxnSpLocks/>
              <a:stCxn id="98" idx="7"/>
              <a:endCxn id="96" idx="3"/>
            </p:cNvCxnSpPr>
            <p:nvPr/>
          </p:nvCxnSpPr>
          <p:spPr>
            <a:xfrm flipV="1">
              <a:off x="4231464" y="5452100"/>
              <a:ext cx="451263" cy="383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BE609E14-3C8C-4C41-8EFF-893DC2387E62}"/>
                </a:ext>
              </a:extLst>
            </p:cNvPr>
            <p:cNvCxnSpPr>
              <a:cxnSpLocks/>
              <a:endCxn id="97" idx="3"/>
            </p:cNvCxnSpPr>
            <p:nvPr/>
          </p:nvCxnSpPr>
          <p:spPr>
            <a:xfrm flipV="1">
              <a:off x="4890289" y="6043134"/>
              <a:ext cx="431694" cy="382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타원 103">
              <a:extLst>
                <a:ext uri="{FF2B5EF4-FFF2-40B4-BE49-F238E27FC236}">
                  <a16:creationId xmlns:a16="http://schemas.microsoft.com/office/drawing/2014/main" id="{69306E10-9823-433A-99A5-54BA0722D7D0}"/>
                </a:ext>
              </a:extLst>
            </p:cNvPr>
            <p:cNvSpPr/>
            <p:nvPr/>
          </p:nvSpPr>
          <p:spPr>
            <a:xfrm>
              <a:off x="4639740" y="579188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N</a:t>
              </a:r>
            </a:p>
          </p:txBody>
        </p:sp>
        <p:sp>
          <p:nvSpPr>
            <p:cNvPr id="105" name="타원 104">
              <a:extLst>
                <a:ext uri="{FF2B5EF4-FFF2-40B4-BE49-F238E27FC236}">
                  <a16:creationId xmlns:a16="http://schemas.microsoft.com/office/drawing/2014/main" id="{C07BB51B-9702-49ED-86F5-108ABD465522}"/>
                </a:ext>
              </a:extLst>
            </p:cNvPr>
            <p:cNvSpPr/>
            <p:nvPr/>
          </p:nvSpPr>
          <p:spPr>
            <a:xfrm>
              <a:off x="4639738" y="6366426"/>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P</a:t>
              </a:r>
            </a:p>
          </p:txBody>
        </p:sp>
        <p:cxnSp>
          <p:nvCxnSpPr>
            <p:cNvPr id="122" name="직선 연결선 121">
              <a:extLst>
                <a:ext uri="{FF2B5EF4-FFF2-40B4-BE49-F238E27FC236}">
                  <a16:creationId xmlns:a16="http://schemas.microsoft.com/office/drawing/2014/main" id="{58FE6230-B123-418B-BA46-0C123EBBDA89}"/>
                </a:ext>
              </a:extLst>
            </p:cNvPr>
            <p:cNvCxnSpPr>
              <a:cxnSpLocks/>
              <a:stCxn id="37" idx="2"/>
              <a:endCxn id="31" idx="7"/>
            </p:cNvCxnSpPr>
            <p:nvPr/>
          </p:nvCxnSpPr>
          <p:spPr>
            <a:xfrm flipH="1">
              <a:off x="3726842" y="3985377"/>
              <a:ext cx="887727" cy="4201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직선 연결선 127">
              <a:extLst>
                <a:ext uri="{FF2B5EF4-FFF2-40B4-BE49-F238E27FC236}">
                  <a16:creationId xmlns:a16="http://schemas.microsoft.com/office/drawing/2014/main" id="{D545272B-F549-4A3B-B5FF-8D181937B9FD}"/>
                </a:ext>
              </a:extLst>
            </p:cNvPr>
            <p:cNvCxnSpPr>
              <a:cxnSpLocks/>
              <a:stCxn id="31" idx="4"/>
              <a:endCxn id="30" idx="7"/>
            </p:cNvCxnSpPr>
            <p:nvPr/>
          </p:nvCxnSpPr>
          <p:spPr>
            <a:xfrm flipH="1">
              <a:off x="3265678" y="4277943"/>
              <a:ext cx="357383" cy="8244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직선 연결선 131">
              <a:extLst>
                <a:ext uri="{FF2B5EF4-FFF2-40B4-BE49-F238E27FC236}">
                  <a16:creationId xmlns:a16="http://schemas.microsoft.com/office/drawing/2014/main" id="{7FEC6E33-9595-4865-AB2E-A4B1A1505110}"/>
                </a:ext>
              </a:extLst>
            </p:cNvPr>
            <p:cNvCxnSpPr>
              <a:cxnSpLocks/>
              <a:stCxn id="29" idx="5"/>
              <a:endCxn id="36" idx="1"/>
            </p:cNvCxnSpPr>
            <p:nvPr/>
          </p:nvCxnSpPr>
          <p:spPr>
            <a:xfrm>
              <a:off x="2551662" y="4000793"/>
              <a:ext cx="425169" cy="4697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직선 연결선 135">
              <a:extLst>
                <a:ext uri="{FF2B5EF4-FFF2-40B4-BE49-F238E27FC236}">
                  <a16:creationId xmlns:a16="http://schemas.microsoft.com/office/drawing/2014/main" id="{98FBE3B4-B011-4E8E-B1EF-3DF9DAB949C9}"/>
                </a:ext>
              </a:extLst>
            </p:cNvPr>
            <p:cNvCxnSpPr>
              <a:cxnSpLocks/>
              <a:stCxn id="29" idx="4"/>
              <a:endCxn id="30" idx="1"/>
            </p:cNvCxnSpPr>
            <p:nvPr/>
          </p:nvCxnSpPr>
          <p:spPr>
            <a:xfrm>
              <a:off x="2447881" y="4043780"/>
              <a:ext cx="610234" cy="10586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1474E569-3992-4417-BD9F-077F14F70DB9}"/>
                </a:ext>
              </a:extLst>
            </p:cNvPr>
            <p:cNvCxnSpPr>
              <a:cxnSpLocks/>
              <a:stCxn id="37" idx="2"/>
              <a:endCxn id="30" idx="6"/>
            </p:cNvCxnSpPr>
            <p:nvPr/>
          </p:nvCxnSpPr>
          <p:spPr>
            <a:xfrm flipH="1">
              <a:off x="3308665" y="3985377"/>
              <a:ext cx="1305904" cy="122084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7" name="직사각형 106">
            <a:extLst>
              <a:ext uri="{FF2B5EF4-FFF2-40B4-BE49-F238E27FC236}">
                <a16:creationId xmlns:a16="http://schemas.microsoft.com/office/drawing/2014/main" id="{89AEB865-CDB7-4193-8905-E3DA3C431A02}"/>
              </a:ext>
            </a:extLst>
          </p:cNvPr>
          <p:cNvSpPr/>
          <p:nvPr/>
        </p:nvSpPr>
        <p:spPr>
          <a:xfrm>
            <a:off x="2493341" y="1282738"/>
            <a:ext cx="9875093" cy="2585323"/>
          </a:xfrm>
          <a:prstGeom prst="rect">
            <a:avLst/>
          </a:prstGeom>
        </p:spPr>
        <p:txBody>
          <a:bodyPr wrap="square">
            <a:spAutoFit/>
          </a:bodyPr>
          <a:lstStyle/>
          <a:p>
            <a:pPr marL="285750" indent="-285750">
              <a:buFontTx/>
              <a:buChar char="-"/>
            </a:pPr>
            <a:r>
              <a:rPr lang="en-US" dirty="0"/>
              <a:t>Having multiple local bridges, B spans a </a:t>
            </a:r>
            <a:r>
              <a:rPr lang="en-US" i="1" dirty="0"/>
              <a:t>structural hole </a:t>
            </a:r>
            <a:br>
              <a:rPr lang="en-US" i="1" dirty="0"/>
            </a:br>
            <a:r>
              <a:rPr lang="en-US" dirty="0"/>
              <a:t>(“empty space” in the network between two sets of nodes that do not otherwise interact closely)</a:t>
            </a:r>
            <a:endParaRPr lang="en-US" i="1" dirty="0"/>
          </a:p>
          <a:p>
            <a:pPr marL="285750" indent="-285750">
              <a:buFontTx/>
              <a:buChar char="-"/>
            </a:pPr>
            <a:endParaRPr lang="en-US" dirty="0"/>
          </a:p>
          <a:p>
            <a:pPr marL="285750" indent="-285750">
              <a:buFontTx/>
              <a:buChar char="-"/>
            </a:pPr>
            <a:r>
              <a:rPr lang="en-US" dirty="0"/>
              <a:t>B can act as a gatekeeper (power to access flows from group C and D belongs</a:t>
            </a:r>
          </a:p>
          <a:p>
            <a:pPr marL="285750" indent="-285750">
              <a:buFontTx/>
              <a:buChar char="-"/>
            </a:pPr>
            <a:endParaRPr lang="en-US" dirty="0"/>
          </a:p>
          <a:p>
            <a:pPr marL="285750" indent="-285750">
              <a:buFontTx/>
              <a:buChar char="-"/>
            </a:pPr>
            <a:r>
              <a:rPr lang="en-US" dirty="0"/>
              <a:t>B is able to access information that originates in multiple, non-interacting parts of the network</a:t>
            </a:r>
          </a:p>
          <a:p>
            <a:pPr marL="285750" indent="-285750">
              <a:buFontTx/>
              <a:buChar char="-"/>
            </a:pPr>
            <a:endParaRPr lang="en-US" dirty="0"/>
          </a:p>
          <a:p>
            <a:pPr marL="285750" indent="-285750">
              <a:buFontTx/>
              <a:buChar char="-"/>
            </a:pPr>
            <a:r>
              <a:rPr lang="en-US" dirty="0"/>
              <a:t>B can generate opportunities and create competitive advantage using its position</a:t>
            </a:r>
            <a:endParaRPr lang="en-US" i="1" dirty="0"/>
          </a:p>
          <a:p>
            <a:endParaRPr lang="en-US" i="1" dirty="0"/>
          </a:p>
        </p:txBody>
      </p:sp>
    </p:spTree>
    <p:extLst>
      <p:ext uri="{BB962C8B-B14F-4D97-AF65-F5344CB8AC3E}">
        <p14:creationId xmlns:p14="http://schemas.microsoft.com/office/powerpoint/2010/main" val="3886564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Closure, Structural Holes and Social Capital</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233965" y="1272579"/>
            <a:ext cx="1806389" cy="382783"/>
          </a:xfrm>
        </p:spPr>
        <p:txBody>
          <a:bodyPr>
            <a:normAutofit fontScale="92500" lnSpcReduction="10000"/>
          </a:bodyPr>
          <a:lstStyle/>
          <a:p>
            <a:pPr marL="0" indent="0">
              <a:buNone/>
            </a:pPr>
            <a:r>
              <a:rPr lang="en-US" sz="2400" i="1" dirty="0"/>
              <a:t>Social Capital</a:t>
            </a:r>
            <a:endParaRPr lang="en-US" sz="2000" dirty="0"/>
          </a:p>
        </p:txBody>
      </p:sp>
      <p:sp>
        <p:nvSpPr>
          <p:cNvPr id="107" name="직사각형 106">
            <a:extLst>
              <a:ext uri="{FF2B5EF4-FFF2-40B4-BE49-F238E27FC236}">
                <a16:creationId xmlns:a16="http://schemas.microsoft.com/office/drawing/2014/main" id="{89AEB865-CDB7-4193-8905-E3DA3C431A02}"/>
              </a:ext>
            </a:extLst>
          </p:cNvPr>
          <p:cNvSpPr/>
          <p:nvPr/>
        </p:nvSpPr>
        <p:spPr>
          <a:xfrm>
            <a:off x="293865" y="1749026"/>
            <a:ext cx="11898135" cy="3693319"/>
          </a:xfrm>
          <a:prstGeom prst="rect">
            <a:avLst/>
          </a:prstGeom>
        </p:spPr>
        <p:txBody>
          <a:bodyPr wrap="square">
            <a:spAutoFit/>
          </a:bodyPr>
          <a:lstStyle/>
          <a:p>
            <a:pPr marL="285750" indent="-285750">
              <a:buFontTx/>
              <a:buChar char="-"/>
            </a:pPr>
            <a:r>
              <a:rPr lang="en-US" dirty="0"/>
              <a:t>Part of an array of different forms of capital, regardless of tangibility,</a:t>
            </a:r>
            <a:r>
              <a:rPr lang="en-US" i="1" dirty="0"/>
              <a:t> </a:t>
            </a:r>
            <a:r>
              <a:rPr lang="en-US" dirty="0"/>
              <a:t>that can be mobilized to accomplish tasks</a:t>
            </a:r>
          </a:p>
          <a:p>
            <a:pPr marL="285750" indent="-285750">
              <a:buFontTx/>
              <a:buChar char="-"/>
            </a:pPr>
            <a:r>
              <a:rPr lang="en-US" i="1" dirty="0"/>
              <a:t>“Physical capital</a:t>
            </a:r>
            <a:r>
              <a:rPr lang="en-US" dirty="0"/>
              <a:t> (implements and technologies that help perform work) and </a:t>
            </a:r>
            <a:r>
              <a:rPr lang="en-US" i="1" dirty="0"/>
              <a:t>human capital </a:t>
            </a:r>
            <a:r>
              <a:rPr lang="en-US" dirty="0"/>
              <a:t>(individual people’s skills and talents)”   - James Coleman</a:t>
            </a:r>
          </a:p>
          <a:p>
            <a:pPr marL="285750" indent="-285750">
              <a:buFontTx/>
              <a:buChar char="-"/>
            </a:pPr>
            <a:r>
              <a:rPr lang="en-US" i="1" dirty="0"/>
              <a:t>“Economic capital </a:t>
            </a:r>
            <a:r>
              <a:rPr lang="en-US" dirty="0"/>
              <a:t>(Consisting of monetary and physical resources) and </a:t>
            </a:r>
            <a:r>
              <a:rPr lang="en-US" i="1" dirty="0"/>
              <a:t>cultural capital </a:t>
            </a:r>
            <a:r>
              <a:rPr lang="en-US" dirty="0"/>
              <a:t>(the accumulated resources of a culture that exist at a level beyond any one individual’s social circle, conveyed through education and other broad social institutions)” – Pierre Bourdieu</a:t>
            </a:r>
          </a:p>
          <a:p>
            <a:pPr marL="285750" indent="-285750">
              <a:buFontTx/>
              <a:buChar char="-"/>
            </a:pPr>
            <a:r>
              <a:rPr lang="en-US" dirty="0"/>
              <a:t>“Dichotomy between </a:t>
            </a:r>
            <a:r>
              <a:rPr lang="en-US" i="1" dirty="0"/>
              <a:t>bonding capital</a:t>
            </a:r>
            <a:r>
              <a:rPr lang="en-US" dirty="0"/>
              <a:t> and </a:t>
            </a:r>
            <a:r>
              <a:rPr lang="en-US" i="1" dirty="0"/>
              <a:t>bridging capital” – </a:t>
            </a:r>
            <a:r>
              <a:rPr lang="en-US" dirty="0"/>
              <a:t>Robert Putnam</a:t>
            </a:r>
            <a:endParaRPr lang="en-US" i="1" dirty="0"/>
          </a:p>
          <a:p>
            <a:pPr marL="285750" indent="-285750">
              <a:buFontTx/>
              <a:buChar char="-"/>
            </a:pPr>
            <a:r>
              <a:rPr lang="en-US" dirty="0"/>
              <a:t>“Tension between </a:t>
            </a:r>
            <a:r>
              <a:rPr lang="en-US" b="1" dirty="0"/>
              <a:t>closure</a:t>
            </a:r>
            <a:r>
              <a:rPr lang="en-US" dirty="0"/>
              <a:t> and </a:t>
            </a:r>
            <a:r>
              <a:rPr lang="en-US" b="1" dirty="0"/>
              <a:t>brokerage” – </a:t>
            </a:r>
            <a:r>
              <a:rPr lang="en-US" dirty="0"/>
              <a:t>Ronald Burt</a:t>
            </a:r>
          </a:p>
          <a:p>
            <a:pPr marL="285750" indent="-285750">
              <a:buFontTx/>
              <a:buChar char="-"/>
            </a:pPr>
            <a:endParaRPr lang="en-US" dirty="0"/>
          </a:p>
          <a:p>
            <a:r>
              <a:rPr lang="en-US" dirty="0"/>
              <a:t>Social Capital is a balance between benefits of triadic closure and embedded edges, and broker interactions at the interface between different groups across structural holes. </a:t>
            </a:r>
            <a:endParaRPr lang="en-US" b="1" dirty="0"/>
          </a:p>
          <a:p>
            <a:pPr marL="285750" indent="-285750">
              <a:buFontTx/>
              <a:buChar char="-"/>
            </a:pPr>
            <a:endParaRPr lang="en-US" i="1" dirty="0"/>
          </a:p>
          <a:p>
            <a:endParaRPr lang="en-US" i="1" dirty="0"/>
          </a:p>
        </p:txBody>
      </p:sp>
    </p:spTree>
    <p:extLst>
      <p:ext uri="{BB962C8B-B14F-4D97-AF65-F5344CB8AC3E}">
        <p14:creationId xmlns:p14="http://schemas.microsoft.com/office/powerpoint/2010/main" val="739565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Betweenness Measures and Graph Partitioning</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233964" y="1272579"/>
            <a:ext cx="11958035" cy="2156421"/>
          </a:xfrm>
        </p:spPr>
        <p:txBody>
          <a:bodyPr>
            <a:normAutofit/>
          </a:bodyPr>
          <a:lstStyle/>
          <a:p>
            <a:pPr marL="0" indent="0">
              <a:buNone/>
            </a:pPr>
            <a:r>
              <a:rPr lang="en-US" sz="2400" i="1" dirty="0"/>
              <a:t>Graph Partitioning</a:t>
            </a:r>
            <a:r>
              <a:rPr lang="en-US" sz="2000" dirty="0"/>
              <a:t>: a method that breaks network down into a set of tightly knitted regions, with 		          sparser interconnections between the regions</a:t>
            </a:r>
          </a:p>
          <a:p>
            <a:pPr marL="0" indent="0">
              <a:buNone/>
            </a:pPr>
            <a:endParaRPr lang="en-US" sz="2000" dirty="0"/>
          </a:p>
          <a:p>
            <a:pPr marL="0" indent="0">
              <a:buNone/>
            </a:pPr>
            <a:r>
              <a:rPr lang="en-US" sz="2000" dirty="0"/>
              <a:t>Divisive method: identifying and removing “spanning links” between densely connected regions </a:t>
            </a:r>
          </a:p>
          <a:p>
            <a:pPr marL="0" indent="0">
              <a:buNone/>
            </a:pPr>
            <a:r>
              <a:rPr lang="en-US" sz="2000" dirty="0"/>
              <a:t>Agglomerative method: assembling regions by focusing on the most tightly-knit parts of the network. </a:t>
            </a:r>
          </a:p>
        </p:txBody>
      </p:sp>
      <p:grpSp>
        <p:nvGrpSpPr>
          <p:cNvPr id="132" name="그룹 131">
            <a:extLst>
              <a:ext uri="{FF2B5EF4-FFF2-40B4-BE49-F238E27FC236}">
                <a16:creationId xmlns:a16="http://schemas.microsoft.com/office/drawing/2014/main" id="{946CD63D-6606-42B7-9030-CCBE6FEF4F6C}"/>
              </a:ext>
            </a:extLst>
          </p:cNvPr>
          <p:cNvGrpSpPr/>
          <p:nvPr/>
        </p:nvGrpSpPr>
        <p:grpSpPr>
          <a:xfrm>
            <a:off x="656476" y="3776912"/>
            <a:ext cx="3308278" cy="2130664"/>
            <a:chOff x="1113676" y="3776912"/>
            <a:chExt cx="3308278" cy="2130664"/>
          </a:xfrm>
        </p:grpSpPr>
        <p:grpSp>
          <p:nvGrpSpPr>
            <p:cNvPr id="67" name="그룹 66">
              <a:extLst>
                <a:ext uri="{FF2B5EF4-FFF2-40B4-BE49-F238E27FC236}">
                  <a16:creationId xmlns:a16="http://schemas.microsoft.com/office/drawing/2014/main" id="{5979E94A-DD06-4516-B9A5-4C1FDB1D222E}"/>
                </a:ext>
              </a:extLst>
            </p:cNvPr>
            <p:cNvGrpSpPr/>
            <p:nvPr/>
          </p:nvGrpSpPr>
          <p:grpSpPr>
            <a:xfrm>
              <a:off x="1113676" y="3900539"/>
              <a:ext cx="3200447" cy="1974482"/>
              <a:chOff x="3392056" y="3389998"/>
              <a:chExt cx="4141636" cy="2555139"/>
            </a:xfrm>
          </p:grpSpPr>
          <p:grpSp>
            <p:nvGrpSpPr>
              <p:cNvPr id="115" name="그룹 114">
                <a:extLst>
                  <a:ext uri="{FF2B5EF4-FFF2-40B4-BE49-F238E27FC236}">
                    <a16:creationId xmlns:a16="http://schemas.microsoft.com/office/drawing/2014/main" id="{74317EA7-E645-4D7A-B55B-E01E62EA9BC4}"/>
                  </a:ext>
                </a:extLst>
              </p:cNvPr>
              <p:cNvGrpSpPr/>
              <p:nvPr/>
            </p:nvGrpSpPr>
            <p:grpSpPr>
              <a:xfrm>
                <a:off x="3392056" y="3389998"/>
                <a:ext cx="1718476" cy="2516137"/>
                <a:chOff x="3392056" y="3389998"/>
                <a:chExt cx="1718476" cy="2516137"/>
              </a:xfrm>
            </p:grpSpPr>
            <p:cxnSp>
              <p:nvCxnSpPr>
                <p:cNvPr id="62" name="직선 연결선 61">
                  <a:extLst>
                    <a:ext uri="{FF2B5EF4-FFF2-40B4-BE49-F238E27FC236}">
                      <a16:creationId xmlns:a16="http://schemas.microsoft.com/office/drawing/2014/main" id="{88C6355C-9F62-41A5-9CE1-F1766D965DE2}"/>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0F0E4AAF-B88A-4858-9832-E0AFFCC97A2D}"/>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직선 연결선 73">
                  <a:extLst>
                    <a:ext uri="{FF2B5EF4-FFF2-40B4-BE49-F238E27FC236}">
                      <a16:creationId xmlns:a16="http://schemas.microsoft.com/office/drawing/2014/main" id="{286FBE72-110B-4ADB-BF9F-536EF4FDB1DD}"/>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타원 50">
                  <a:extLst>
                    <a:ext uri="{FF2B5EF4-FFF2-40B4-BE49-F238E27FC236}">
                      <a16:creationId xmlns:a16="http://schemas.microsoft.com/office/drawing/2014/main" id="{D64F46C1-5CF6-4F17-A503-6885AB9DB7F6}"/>
                    </a:ext>
                  </a:extLst>
                </p:cNvPr>
                <p:cNvSpPr/>
                <p:nvPr/>
              </p:nvSpPr>
              <p:spPr>
                <a:xfrm>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7</a:t>
                  </a:r>
                </a:p>
              </p:txBody>
            </p:sp>
            <p:cxnSp>
              <p:nvCxnSpPr>
                <p:cNvPr id="52" name="직선 연결선 51">
                  <a:extLst>
                    <a:ext uri="{FF2B5EF4-FFF2-40B4-BE49-F238E27FC236}">
                      <a16:creationId xmlns:a16="http://schemas.microsoft.com/office/drawing/2014/main" id="{E7A2956C-C135-40B2-835A-8C76AEA1943F}"/>
                    </a:ext>
                  </a:extLst>
                </p:cNvPr>
                <p:cNvCxnSpPr>
                  <a:cxnSpLocks/>
                  <a:endCxn id="51" idx="3"/>
                </p:cNvCxnSpPr>
                <p:nvPr/>
              </p:nvCxnSpPr>
              <p:spPr>
                <a:xfrm flipV="1">
                  <a:off x="4181911" y="4771486"/>
                  <a:ext cx="678072" cy="4398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타원 52">
                  <a:extLst>
                    <a:ext uri="{FF2B5EF4-FFF2-40B4-BE49-F238E27FC236}">
                      <a16:creationId xmlns:a16="http://schemas.microsoft.com/office/drawing/2014/main" id="{26EE3F94-1F3A-4320-AD05-A779849322E5}"/>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3</a:t>
                  </a:r>
                </a:p>
              </p:txBody>
            </p:sp>
            <p:sp>
              <p:nvSpPr>
                <p:cNvPr id="54" name="타원 53">
                  <a:extLst>
                    <a:ext uri="{FF2B5EF4-FFF2-40B4-BE49-F238E27FC236}">
                      <a16:creationId xmlns:a16="http://schemas.microsoft.com/office/drawing/2014/main" id="{318E2948-9326-4961-8285-50A4E5ECC91B}"/>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p:txBody>
            </p:sp>
            <p:sp>
              <p:nvSpPr>
                <p:cNvPr id="55" name="타원 54">
                  <a:extLst>
                    <a:ext uri="{FF2B5EF4-FFF2-40B4-BE49-F238E27FC236}">
                      <a16:creationId xmlns:a16="http://schemas.microsoft.com/office/drawing/2014/main" id="{511ADA90-757A-4F6A-989F-E57D53D94D47}"/>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1</a:t>
                  </a:r>
                </a:p>
              </p:txBody>
            </p:sp>
            <p:grpSp>
              <p:nvGrpSpPr>
                <p:cNvPr id="4" name="그룹 3">
                  <a:extLst>
                    <a:ext uri="{FF2B5EF4-FFF2-40B4-BE49-F238E27FC236}">
                      <a16:creationId xmlns:a16="http://schemas.microsoft.com/office/drawing/2014/main" id="{468ADC8D-F134-4BC6-8EF0-282B467C987D}"/>
                    </a:ext>
                  </a:extLst>
                </p:cNvPr>
                <p:cNvGrpSpPr/>
                <p:nvPr/>
              </p:nvGrpSpPr>
              <p:grpSpPr>
                <a:xfrm rot="3600000">
                  <a:off x="3392056" y="4930893"/>
                  <a:ext cx="1108876" cy="841607"/>
                  <a:chOff x="3392056" y="4930893"/>
                  <a:chExt cx="1108876" cy="841607"/>
                </a:xfrm>
              </p:grpSpPr>
              <p:sp>
                <p:nvSpPr>
                  <p:cNvPr id="56" name="타원 55">
                    <a:extLst>
                      <a:ext uri="{FF2B5EF4-FFF2-40B4-BE49-F238E27FC236}">
                        <a16:creationId xmlns:a16="http://schemas.microsoft.com/office/drawing/2014/main" id="{3A7EEF19-A356-448F-B906-2FA3C1D53D39}"/>
                      </a:ext>
                    </a:extLst>
                  </p:cNvPr>
                  <p:cNvSpPr/>
                  <p:nvPr/>
                </p:nvSpPr>
                <p:spPr>
                  <a:xfrm rot="18172992">
                    <a:off x="420739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6</a:t>
                    </a:r>
                  </a:p>
                </p:txBody>
              </p:sp>
              <p:sp>
                <p:nvSpPr>
                  <p:cNvPr id="58" name="타원 57">
                    <a:extLst>
                      <a:ext uri="{FF2B5EF4-FFF2-40B4-BE49-F238E27FC236}">
                        <a16:creationId xmlns:a16="http://schemas.microsoft.com/office/drawing/2014/main" id="{90C36738-B901-4979-B725-16EE89331D51}"/>
                      </a:ext>
                    </a:extLst>
                  </p:cNvPr>
                  <p:cNvSpPr/>
                  <p:nvPr/>
                </p:nvSpPr>
                <p:spPr>
                  <a:xfrm rot="18883256">
                    <a:off x="3795917"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5</a:t>
                    </a:r>
                  </a:p>
                </p:txBody>
              </p:sp>
              <p:sp>
                <p:nvSpPr>
                  <p:cNvPr id="57" name="타원 56">
                    <a:extLst>
                      <a:ext uri="{FF2B5EF4-FFF2-40B4-BE49-F238E27FC236}">
                        <a16:creationId xmlns:a16="http://schemas.microsoft.com/office/drawing/2014/main" id="{A5D8D4A4-2F87-4C94-BAFB-0165A6BC6D0E}"/>
                      </a:ext>
                    </a:extLst>
                  </p:cNvPr>
                  <p:cNvSpPr/>
                  <p:nvPr/>
                </p:nvSpPr>
                <p:spPr>
                  <a:xfrm rot="180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4</a:t>
                    </a:r>
                  </a:p>
                </p:txBody>
              </p:sp>
            </p:grpSp>
            <p:cxnSp>
              <p:nvCxnSpPr>
                <p:cNvPr id="77" name="직선 연결선 76">
                  <a:extLst>
                    <a:ext uri="{FF2B5EF4-FFF2-40B4-BE49-F238E27FC236}">
                      <a16:creationId xmlns:a16="http://schemas.microsoft.com/office/drawing/2014/main" id="{0BE24208-B1CA-477C-B641-B9C3E278C550}"/>
                    </a:ext>
                  </a:extLst>
                </p:cNvPr>
                <p:cNvCxnSpPr>
                  <a:cxnSpLocks/>
                  <a:stCxn id="54" idx="6"/>
                  <a:endCxn id="53"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4F677663-275D-4DAE-AF79-0B712FEFF9BA}"/>
                    </a:ext>
                  </a:extLst>
                </p:cNvPr>
                <p:cNvCxnSpPr>
                  <a:cxnSpLocks/>
                  <a:stCxn id="53" idx="1"/>
                  <a:endCxn id="55"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직선 연결선 82">
                  <a:extLst>
                    <a:ext uri="{FF2B5EF4-FFF2-40B4-BE49-F238E27FC236}">
                      <a16:creationId xmlns:a16="http://schemas.microsoft.com/office/drawing/2014/main" id="{08C1AAF7-9615-49A6-A66D-1ABD50EA91BD}"/>
                    </a:ext>
                  </a:extLst>
                </p:cNvPr>
                <p:cNvCxnSpPr>
                  <a:cxnSpLocks/>
                  <a:stCxn id="54" idx="7"/>
                  <a:endCxn id="55"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직선 연결선 85">
                  <a:extLst>
                    <a:ext uri="{FF2B5EF4-FFF2-40B4-BE49-F238E27FC236}">
                      <a16:creationId xmlns:a16="http://schemas.microsoft.com/office/drawing/2014/main" id="{938D5106-C57D-4F6F-B78E-C806F1DD7B35}"/>
                    </a:ext>
                  </a:extLst>
                </p:cNvPr>
                <p:cNvCxnSpPr>
                  <a:cxnSpLocks/>
                  <a:stCxn id="53" idx="5"/>
                  <a:endCxn id="51" idx="1"/>
                </p:cNvCxnSpPr>
                <p:nvPr/>
              </p:nvCxnSpPr>
              <p:spPr>
                <a:xfrm>
                  <a:off x="4457945" y="4188618"/>
                  <a:ext cx="402038" cy="3753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0" name="그룹 89">
                <a:extLst>
                  <a:ext uri="{FF2B5EF4-FFF2-40B4-BE49-F238E27FC236}">
                    <a16:creationId xmlns:a16="http://schemas.microsoft.com/office/drawing/2014/main" id="{4E041B9F-EDB7-4D71-9491-908063263B01}"/>
                  </a:ext>
                </a:extLst>
              </p:cNvPr>
              <p:cNvGrpSpPr/>
              <p:nvPr/>
            </p:nvGrpSpPr>
            <p:grpSpPr>
              <a:xfrm rot="10800000">
                <a:off x="5815216" y="3418628"/>
                <a:ext cx="1718476" cy="2526509"/>
                <a:chOff x="3392056" y="3389998"/>
                <a:chExt cx="1718476" cy="2526509"/>
              </a:xfrm>
            </p:grpSpPr>
            <p:cxnSp>
              <p:nvCxnSpPr>
                <p:cNvPr id="91" name="직선 연결선 90">
                  <a:extLst>
                    <a:ext uri="{FF2B5EF4-FFF2-40B4-BE49-F238E27FC236}">
                      <a16:creationId xmlns:a16="http://schemas.microsoft.com/office/drawing/2014/main" id="{299A45ED-91FD-44F2-8CE4-70378EE971D1}"/>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직선 연결선 91">
                  <a:extLst>
                    <a:ext uri="{FF2B5EF4-FFF2-40B4-BE49-F238E27FC236}">
                      <a16:creationId xmlns:a16="http://schemas.microsoft.com/office/drawing/2014/main" id="{BF916C78-AABB-439D-9915-883640F312B3}"/>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직선 연결선 92">
                  <a:extLst>
                    <a:ext uri="{FF2B5EF4-FFF2-40B4-BE49-F238E27FC236}">
                      <a16:creationId xmlns:a16="http://schemas.microsoft.com/office/drawing/2014/main" id="{83EDEB7B-3845-40BB-9BBB-287241B6438C}"/>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타원 93">
                  <a:extLst>
                    <a:ext uri="{FF2B5EF4-FFF2-40B4-BE49-F238E27FC236}">
                      <a16:creationId xmlns:a16="http://schemas.microsoft.com/office/drawing/2014/main" id="{4201A2AF-BDF2-4DF6-BC64-B1E65EDB79CA}"/>
                    </a:ext>
                  </a:extLst>
                </p:cNvPr>
                <p:cNvSpPr/>
                <p:nvPr/>
              </p:nvSpPr>
              <p:spPr>
                <a:xfrm rot="10607499">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8</a:t>
                  </a:r>
                </a:p>
              </p:txBody>
            </p:sp>
            <p:cxnSp>
              <p:nvCxnSpPr>
                <p:cNvPr id="95" name="직선 연결선 94">
                  <a:extLst>
                    <a:ext uri="{FF2B5EF4-FFF2-40B4-BE49-F238E27FC236}">
                      <a16:creationId xmlns:a16="http://schemas.microsoft.com/office/drawing/2014/main" id="{A7CA0A9A-0447-4493-9D1B-9AA14367CE0F}"/>
                    </a:ext>
                  </a:extLst>
                </p:cNvPr>
                <p:cNvCxnSpPr>
                  <a:cxnSpLocks/>
                  <a:stCxn id="125" idx="2"/>
                  <a:endCxn id="94" idx="7"/>
                </p:cNvCxnSpPr>
                <p:nvPr/>
              </p:nvCxnSpPr>
              <p:spPr>
                <a:xfrm rot="10800000" flipH="1">
                  <a:off x="4324582" y="4777132"/>
                  <a:ext cx="541371" cy="3998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타원 115">
                  <a:extLst>
                    <a:ext uri="{FF2B5EF4-FFF2-40B4-BE49-F238E27FC236}">
                      <a16:creationId xmlns:a16="http://schemas.microsoft.com/office/drawing/2014/main" id="{106001D4-E156-4580-B9C5-6F63ACAFA808}"/>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sp>
              <p:nvSpPr>
                <p:cNvPr id="117" name="타원 116">
                  <a:extLst>
                    <a:ext uri="{FF2B5EF4-FFF2-40B4-BE49-F238E27FC236}">
                      <a16:creationId xmlns:a16="http://schemas.microsoft.com/office/drawing/2014/main" id="{B46EFE7F-FCC9-4245-9591-38DF5DDBC0EF}"/>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sp>
              <p:nvSpPr>
                <p:cNvPr id="118" name="타원 117">
                  <a:extLst>
                    <a:ext uri="{FF2B5EF4-FFF2-40B4-BE49-F238E27FC236}">
                      <a16:creationId xmlns:a16="http://schemas.microsoft.com/office/drawing/2014/main" id="{1D7B3CE4-1486-4D0B-B513-100F85585667}"/>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grpSp>
              <p:nvGrpSpPr>
                <p:cNvPr id="119" name="그룹 118">
                  <a:extLst>
                    <a:ext uri="{FF2B5EF4-FFF2-40B4-BE49-F238E27FC236}">
                      <a16:creationId xmlns:a16="http://schemas.microsoft.com/office/drawing/2014/main" id="{41C114EE-F30E-48CB-B136-2BDBE233B726}"/>
                    </a:ext>
                  </a:extLst>
                </p:cNvPr>
                <p:cNvGrpSpPr/>
                <p:nvPr/>
              </p:nvGrpSpPr>
              <p:grpSpPr>
                <a:xfrm rot="3600000">
                  <a:off x="3374766" y="4921196"/>
                  <a:ext cx="1109370" cy="881252"/>
                  <a:chOff x="3392056" y="4930893"/>
                  <a:chExt cx="1109370" cy="881252"/>
                </a:xfrm>
              </p:grpSpPr>
              <p:sp>
                <p:nvSpPr>
                  <p:cNvPr id="124" name="타원 123">
                    <a:extLst>
                      <a:ext uri="{FF2B5EF4-FFF2-40B4-BE49-F238E27FC236}">
                        <a16:creationId xmlns:a16="http://schemas.microsoft.com/office/drawing/2014/main" id="{5F296FAD-F44B-4DF1-86CF-3D1631F1F0E1}"/>
                      </a:ext>
                    </a:extLst>
                  </p:cNvPr>
                  <p:cNvSpPr/>
                  <p:nvPr/>
                </p:nvSpPr>
                <p:spPr>
                  <a:xfrm rot="7200000">
                    <a:off x="4167389" y="5478108"/>
                    <a:ext cx="374538"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 dirty="0">
                      <a:solidFill>
                        <a:schemeClr val="bg1"/>
                      </a:solidFill>
                    </a:endParaRPr>
                  </a:p>
                </p:txBody>
              </p:sp>
              <p:sp>
                <p:nvSpPr>
                  <p:cNvPr id="125" name="타원 124">
                    <a:extLst>
                      <a:ext uri="{FF2B5EF4-FFF2-40B4-BE49-F238E27FC236}">
                        <a16:creationId xmlns:a16="http://schemas.microsoft.com/office/drawing/2014/main" id="{1C1B9CD0-E5F9-494A-AF30-57FB8022D6EF}"/>
                      </a:ext>
                    </a:extLst>
                  </p:cNvPr>
                  <p:cNvSpPr/>
                  <p:nvPr/>
                </p:nvSpPr>
                <p:spPr>
                  <a:xfrm rot="6385941">
                    <a:off x="3795915"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9</a:t>
                    </a:r>
                  </a:p>
                </p:txBody>
              </p:sp>
              <p:sp>
                <p:nvSpPr>
                  <p:cNvPr id="126" name="타원 125">
                    <a:extLst>
                      <a:ext uri="{FF2B5EF4-FFF2-40B4-BE49-F238E27FC236}">
                        <a16:creationId xmlns:a16="http://schemas.microsoft.com/office/drawing/2014/main" id="{83666E27-5EB2-4958-9CF2-EFE612F0C4C5}"/>
                      </a:ext>
                    </a:extLst>
                  </p:cNvPr>
                  <p:cNvSpPr/>
                  <p:nvPr/>
                </p:nvSpPr>
                <p:spPr>
                  <a:xfrm rot="18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grpSp>
            <p:cxnSp>
              <p:nvCxnSpPr>
                <p:cNvPr id="120" name="직선 연결선 119">
                  <a:extLst>
                    <a:ext uri="{FF2B5EF4-FFF2-40B4-BE49-F238E27FC236}">
                      <a16:creationId xmlns:a16="http://schemas.microsoft.com/office/drawing/2014/main" id="{3DE008E8-21CB-4615-950F-9E615773FFF2}"/>
                    </a:ext>
                  </a:extLst>
                </p:cNvPr>
                <p:cNvCxnSpPr>
                  <a:cxnSpLocks/>
                  <a:stCxn id="117" idx="6"/>
                  <a:endCxn id="116"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B6411531-B405-49EB-890C-90E35BFD1BBE}"/>
                    </a:ext>
                  </a:extLst>
                </p:cNvPr>
                <p:cNvCxnSpPr>
                  <a:cxnSpLocks/>
                  <a:stCxn id="116" idx="1"/>
                  <a:endCxn id="118"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직선 연결선 121">
                  <a:extLst>
                    <a:ext uri="{FF2B5EF4-FFF2-40B4-BE49-F238E27FC236}">
                      <a16:creationId xmlns:a16="http://schemas.microsoft.com/office/drawing/2014/main" id="{9583EABD-270C-4399-8A7B-D50BB5927807}"/>
                    </a:ext>
                  </a:extLst>
                </p:cNvPr>
                <p:cNvCxnSpPr>
                  <a:cxnSpLocks/>
                  <a:stCxn id="117" idx="7"/>
                  <a:endCxn id="118"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D3BFA0F1-2466-4AA6-9C19-EEBB3CCDB116}"/>
                    </a:ext>
                  </a:extLst>
                </p:cNvPr>
                <p:cNvCxnSpPr>
                  <a:cxnSpLocks/>
                  <a:stCxn id="116" idx="5"/>
                  <a:endCxn id="94" idx="5"/>
                </p:cNvCxnSpPr>
                <p:nvPr/>
              </p:nvCxnSpPr>
              <p:spPr>
                <a:xfrm rot="10800000" flipH="1" flipV="1">
                  <a:off x="4457945" y="4188618"/>
                  <a:ext cx="396391" cy="3812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직선 연결선 126">
                <a:extLst>
                  <a:ext uri="{FF2B5EF4-FFF2-40B4-BE49-F238E27FC236}">
                    <a16:creationId xmlns:a16="http://schemas.microsoft.com/office/drawing/2014/main" id="{D7157555-98B2-4F98-8C75-8BD783D6ACF0}"/>
                  </a:ext>
                </a:extLst>
              </p:cNvPr>
              <p:cNvCxnSpPr>
                <a:cxnSpLocks/>
                <a:stCxn id="51" idx="6"/>
                <a:endCxn id="94" idx="2"/>
              </p:cNvCxnSpPr>
              <p:nvPr/>
            </p:nvCxnSpPr>
            <p:spPr>
              <a:xfrm>
                <a:off x="5110531" y="4667705"/>
                <a:ext cx="704915" cy="79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9" name="직사각형 88">
              <a:extLst>
                <a:ext uri="{FF2B5EF4-FFF2-40B4-BE49-F238E27FC236}">
                  <a16:creationId xmlns:a16="http://schemas.microsoft.com/office/drawing/2014/main" id="{996E980F-14D5-4689-813D-7F44D5459E31}"/>
                </a:ext>
              </a:extLst>
            </p:cNvPr>
            <p:cNvSpPr/>
            <p:nvPr/>
          </p:nvSpPr>
          <p:spPr>
            <a:xfrm>
              <a:off x="3710119" y="3776912"/>
              <a:ext cx="367408" cy="307777"/>
            </a:xfrm>
            <a:prstGeom prst="rect">
              <a:avLst/>
            </a:prstGeom>
          </p:spPr>
          <p:txBody>
            <a:bodyPr wrap="none">
              <a:spAutoFit/>
            </a:bodyPr>
            <a:lstStyle/>
            <a:p>
              <a:pPr algn="ctr"/>
              <a:r>
                <a:rPr lang="en-US" sz="1400" dirty="0">
                  <a:solidFill>
                    <a:schemeClr val="bg1"/>
                  </a:solidFill>
                </a:rPr>
                <a:t>10</a:t>
              </a:r>
            </a:p>
          </p:txBody>
        </p:sp>
        <p:sp>
          <p:nvSpPr>
            <p:cNvPr id="128" name="직사각형 127">
              <a:extLst>
                <a:ext uri="{FF2B5EF4-FFF2-40B4-BE49-F238E27FC236}">
                  <a16:creationId xmlns:a16="http://schemas.microsoft.com/office/drawing/2014/main" id="{4E78DB8E-E574-46E2-8C05-BE688854A068}"/>
                </a:ext>
              </a:extLst>
            </p:cNvPr>
            <p:cNvSpPr/>
            <p:nvPr/>
          </p:nvSpPr>
          <p:spPr>
            <a:xfrm>
              <a:off x="4054546" y="4377358"/>
              <a:ext cx="367408" cy="307777"/>
            </a:xfrm>
            <a:prstGeom prst="rect">
              <a:avLst/>
            </a:prstGeom>
          </p:spPr>
          <p:txBody>
            <a:bodyPr wrap="none">
              <a:spAutoFit/>
            </a:bodyPr>
            <a:lstStyle/>
            <a:p>
              <a:pPr algn="ctr"/>
              <a:r>
                <a:rPr lang="en-US" sz="1400" dirty="0">
                  <a:solidFill>
                    <a:schemeClr val="bg1"/>
                  </a:solidFill>
                </a:rPr>
                <a:t>11</a:t>
              </a:r>
            </a:p>
          </p:txBody>
        </p:sp>
        <p:sp>
          <p:nvSpPr>
            <p:cNvPr id="129" name="직사각형 128">
              <a:extLst>
                <a:ext uri="{FF2B5EF4-FFF2-40B4-BE49-F238E27FC236}">
                  <a16:creationId xmlns:a16="http://schemas.microsoft.com/office/drawing/2014/main" id="{0F6ADE28-535B-4EAC-BD14-4949137090C6}"/>
                </a:ext>
              </a:extLst>
            </p:cNvPr>
            <p:cNvSpPr/>
            <p:nvPr/>
          </p:nvSpPr>
          <p:spPr>
            <a:xfrm>
              <a:off x="4018794" y="5174184"/>
              <a:ext cx="367408" cy="307777"/>
            </a:xfrm>
            <a:prstGeom prst="rect">
              <a:avLst/>
            </a:prstGeom>
          </p:spPr>
          <p:txBody>
            <a:bodyPr wrap="none">
              <a:spAutoFit/>
            </a:bodyPr>
            <a:lstStyle/>
            <a:p>
              <a:pPr algn="ctr"/>
              <a:r>
                <a:rPr lang="en-US" sz="1400" dirty="0">
                  <a:solidFill>
                    <a:schemeClr val="bg1"/>
                  </a:solidFill>
                </a:rPr>
                <a:t>12</a:t>
              </a:r>
            </a:p>
          </p:txBody>
        </p:sp>
        <p:sp>
          <p:nvSpPr>
            <p:cNvPr id="130" name="직사각형 129">
              <a:extLst>
                <a:ext uri="{FF2B5EF4-FFF2-40B4-BE49-F238E27FC236}">
                  <a16:creationId xmlns:a16="http://schemas.microsoft.com/office/drawing/2014/main" id="{4180AB22-104C-46A2-B32E-F32C23CD9579}"/>
                </a:ext>
              </a:extLst>
            </p:cNvPr>
            <p:cNvSpPr/>
            <p:nvPr/>
          </p:nvSpPr>
          <p:spPr>
            <a:xfrm>
              <a:off x="3710119" y="5599799"/>
              <a:ext cx="367408" cy="307777"/>
            </a:xfrm>
            <a:prstGeom prst="rect">
              <a:avLst/>
            </a:prstGeom>
          </p:spPr>
          <p:txBody>
            <a:bodyPr wrap="none">
              <a:spAutoFit/>
            </a:bodyPr>
            <a:lstStyle/>
            <a:p>
              <a:pPr algn="ctr"/>
              <a:r>
                <a:rPr lang="en-US" sz="1400" dirty="0">
                  <a:solidFill>
                    <a:schemeClr val="bg1"/>
                  </a:solidFill>
                </a:rPr>
                <a:t>13</a:t>
              </a:r>
            </a:p>
          </p:txBody>
        </p:sp>
        <p:sp>
          <p:nvSpPr>
            <p:cNvPr id="131" name="직사각형 130">
              <a:extLst>
                <a:ext uri="{FF2B5EF4-FFF2-40B4-BE49-F238E27FC236}">
                  <a16:creationId xmlns:a16="http://schemas.microsoft.com/office/drawing/2014/main" id="{BBBC2AB9-EEA5-48D3-9E2D-1B48046B2817}"/>
                </a:ext>
              </a:extLst>
            </p:cNvPr>
            <p:cNvSpPr/>
            <p:nvPr/>
          </p:nvSpPr>
          <p:spPr>
            <a:xfrm>
              <a:off x="3390276" y="5183216"/>
              <a:ext cx="367408" cy="307777"/>
            </a:xfrm>
            <a:prstGeom prst="rect">
              <a:avLst/>
            </a:prstGeom>
          </p:spPr>
          <p:txBody>
            <a:bodyPr wrap="none">
              <a:spAutoFit/>
            </a:bodyPr>
            <a:lstStyle/>
            <a:p>
              <a:pPr algn="ctr"/>
              <a:r>
                <a:rPr lang="en-US" sz="1400" dirty="0">
                  <a:solidFill>
                    <a:schemeClr val="bg1"/>
                  </a:solidFill>
                </a:rPr>
                <a:t>14</a:t>
              </a:r>
            </a:p>
          </p:txBody>
        </p:sp>
      </p:grpSp>
      <p:grpSp>
        <p:nvGrpSpPr>
          <p:cNvPr id="133" name="그룹 132">
            <a:extLst>
              <a:ext uri="{FF2B5EF4-FFF2-40B4-BE49-F238E27FC236}">
                <a16:creationId xmlns:a16="http://schemas.microsoft.com/office/drawing/2014/main" id="{228BC485-C2C4-4154-854C-8F12C23FEB98}"/>
              </a:ext>
            </a:extLst>
          </p:cNvPr>
          <p:cNvGrpSpPr/>
          <p:nvPr/>
        </p:nvGrpSpPr>
        <p:grpSpPr>
          <a:xfrm>
            <a:off x="6638176" y="3776912"/>
            <a:ext cx="3308278" cy="2130664"/>
            <a:chOff x="1113676" y="3776912"/>
            <a:chExt cx="3308278" cy="2130664"/>
          </a:xfrm>
        </p:grpSpPr>
        <p:grpSp>
          <p:nvGrpSpPr>
            <p:cNvPr id="134" name="그룹 133">
              <a:extLst>
                <a:ext uri="{FF2B5EF4-FFF2-40B4-BE49-F238E27FC236}">
                  <a16:creationId xmlns:a16="http://schemas.microsoft.com/office/drawing/2014/main" id="{127BFF4E-9563-44DF-B46C-93B9AA1DBC74}"/>
                </a:ext>
              </a:extLst>
            </p:cNvPr>
            <p:cNvGrpSpPr/>
            <p:nvPr/>
          </p:nvGrpSpPr>
          <p:grpSpPr>
            <a:xfrm>
              <a:off x="1113676" y="3900539"/>
              <a:ext cx="3200447" cy="1974482"/>
              <a:chOff x="3392056" y="3389998"/>
              <a:chExt cx="4141636" cy="2555139"/>
            </a:xfrm>
          </p:grpSpPr>
          <p:grpSp>
            <p:nvGrpSpPr>
              <p:cNvPr id="140" name="그룹 139">
                <a:extLst>
                  <a:ext uri="{FF2B5EF4-FFF2-40B4-BE49-F238E27FC236}">
                    <a16:creationId xmlns:a16="http://schemas.microsoft.com/office/drawing/2014/main" id="{99A9F81B-9456-4DD8-9D16-323D441D7CB8}"/>
                  </a:ext>
                </a:extLst>
              </p:cNvPr>
              <p:cNvGrpSpPr/>
              <p:nvPr/>
            </p:nvGrpSpPr>
            <p:grpSpPr>
              <a:xfrm>
                <a:off x="3392056" y="3389998"/>
                <a:ext cx="1718476" cy="2516137"/>
                <a:chOff x="3392056" y="3389998"/>
                <a:chExt cx="1718476" cy="2516137"/>
              </a:xfrm>
            </p:grpSpPr>
            <p:cxnSp>
              <p:nvCxnSpPr>
                <p:cNvPr id="159" name="직선 연결선 158">
                  <a:extLst>
                    <a:ext uri="{FF2B5EF4-FFF2-40B4-BE49-F238E27FC236}">
                      <a16:creationId xmlns:a16="http://schemas.microsoft.com/office/drawing/2014/main" id="{AF424339-6AFD-4300-8F35-14164E284FBB}"/>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직선 연결선 159">
                  <a:extLst>
                    <a:ext uri="{FF2B5EF4-FFF2-40B4-BE49-F238E27FC236}">
                      <a16:creationId xmlns:a16="http://schemas.microsoft.com/office/drawing/2014/main" id="{A0AED2DC-E2E5-4E72-9C06-1CECCA129966}"/>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직선 연결선 160">
                  <a:extLst>
                    <a:ext uri="{FF2B5EF4-FFF2-40B4-BE49-F238E27FC236}">
                      <a16:creationId xmlns:a16="http://schemas.microsoft.com/office/drawing/2014/main" id="{16FF12DC-3D50-4AFF-A9FB-5E58D8DFC772}"/>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2" name="타원 161">
                  <a:extLst>
                    <a:ext uri="{FF2B5EF4-FFF2-40B4-BE49-F238E27FC236}">
                      <a16:creationId xmlns:a16="http://schemas.microsoft.com/office/drawing/2014/main" id="{65894C0A-8A05-4B8D-8D3D-51DF8F086ADB}"/>
                    </a:ext>
                  </a:extLst>
                </p:cNvPr>
                <p:cNvSpPr/>
                <p:nvPr/>
              </p:nvSpPr>
              <p:spPr>
                <a:xfrm>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7</a:t>
                  </a:r>
                </a:p>
              </p:txBody>
            </p:sp>
            <p:cxnSp>
              <p:nvCxnSpPr>
                <p:cNvPr id="163" name="직선 연결선 162">
                  <a:extLst>
                    <a:ext uri="{FF2B5EF4-FFF2-40B4-BE49-F238E27FC236}">
                      <a16:creationId xmlns:a16="http://schemas.microsoft.com/office/drawing/2014/main" id="{5C2103D5-84B2-4B19-A54E-AE7AAC6CD963}"/>
                    </a:ext>
                  </a:extLst>
                </p:cNvPr>
                <p:cNvCxnSpPr>
                  <a:cxnSpLocks/>
                  <a:endCxn id="162" idx="3"/>
                </p:cNvCxnSpPr>
                <p:nvPr/>
              </p:nvCxnSpPr>
              <p:spPr>
                <a:xfrm flipV="1">
                  <a:off x="4181911" y="4771486"/>
                  <a:ext cx="678072" cy="4398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4" name="타원 163">
                  <a:extLst>
                    <a:ext uri="{FF2B5EF4-FFF2-40B4-BE49-F238E27FC236}">
                      <a16:creationId xmlns:a16="http://schemas.microsoft.com/office/drawing/2014/main" id="{6E662A9A-495A-47D5-B5E0-1F51C38FD4FB}"/>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3</a:t>
                  </a:r>
                </a:p>
              </p:txBody>
            </p:sp>
            <p:sp>
              <p:nvSpPr>
                <p:cNvPr id="165" name="타원 164">
                  <a:extLst>
                    <a:ext uri="{FF2B5EF4-FFF2-40B4-BE49-F238E27FC236}">
                      <a16:creationId xmlns:a16="http://schemas.microsoft.com/office/drawing/2014/main" id="{ECEAC937-C2C4-46E7-9D86-07318EFED709}"/>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p:txBody>
            </p:sp>
            <p:sp>
              <p:nvSpPr>
                <p:cNvPr id="166" name="타원 165">
                  <a:extLst>
                    <a:ext uri="{FF2B5EF4-FFF2-40B4-BE49-F238E27FC236}">
                      <a16:creationId xmlns:a16="http://schemas.microsoft.com/office/drawing/2014/main" id="{2E771871-E11B-4BB9-913A-5E095C2620DB}"/>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1</a:t>
                  </a:r>
                </a:p>
              </p:txBody>
            </p:sp>
            <p:grpSp>
              <p:nvGrpSpPr>
                <p:cNvPr id="167" name="그룹 166">
                  <a:extLst>
                    <a:ext uri="{FF2B5EF4-FFF2-40B4-BE49-F238E27FC236}">
                      <a16:creationId xmlns:a16="http://schemas.microsoft.com/office/drawing/2014/main" id="{C24ED7D2-BA95-4269-88A5-B1EA852BDDC4}"/>
                    </a:ext>
                  </a:extLst>
                </p:cNvPr>
                <p:cNvGrpSpPr/>
                <p:nvPr/>
              </p:nvGrpSpPr>
              <p:grpSpPr>
                <a:xfrm rot="3600000">
                  <a:off x="3392056" y="4930893"/>
                  <a:ext cx="1108876" cy="841607"/>
                  <a:chOff x="3392056" y="4930893"/>
                  <a:chExt cx="1108876" cy="841607"/>
                </a:xfrm>
              </p:grpSpPr>
              <p:sp>
                <p:nvSpPr>
                  <p:cNvPr id="172" name="타원 171">
                    <a:extLst>
                      <a:ext uri="{FF2B5EF4-FFF2-40B4-BE49-F238E27FC236}">
                        <a16:creationId xmlns:a16="http://schemas.microsoft.com/office/drawing/2014/main" id="{4FAE533F-7133-4174-AC08-681ECB142529}"/>
                      </a:ext>
                    </a:extLst>
                  </p:cNvPr>
                  <p:cNvSpPr/>
                  <p:nvPr/>
                </p:nvSpPr>
                <p:spPr>
                  <a:xfrm rot="18172992">
                    <a:off x="420739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6</a:t>
                    </a:r>
                  </a:p>
                </p:txBody>
              </p:sp>
              <p:sp>
                <p:nvSpPr>
                  <p:cNvPr id="173" name="타원 172">
                    <a:extLst>
                      <a:ext uri="{FF2B5EF4-FFF2-40B4-BE49-F238E27FC236}">
                        <a16:creationId xmlns:a16="http://schemas.microsoft.com/office/drawing/2014/main" id="{27AD6D6D-C731-496A-866C-252F9A526D5C}"/>
                      </a:ext>
                    </a:extLst>
                  </p:cNvPr>
                  <p:cNvSpPr/>
                  <p:nvPr/>
                </p:nvSpPr>
                <p:spPr>
                  <a:xfrm rot="18883256">
                    <a:off x="3795917"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5</a:t>
                    </a:r>
                  </a:p>
                </p:txBody>
              </p:sp>
              <p:sp>
                <p:nvSpPr>
                  <p:cNvPr id="174" name="타원 173">
                    <a:extLst>
                      <a:ext uri="{FF2B5EF4-FFF2-40B4-BE49-F238E27FC236}">
                        <a16:creationId xmlns:a16="http://schemas.microsoft.com/office/drawing/2014/main" id="{3F10BF1C-3AB9-4B1A-800B-341CF9032668}"/>
                      </a:ext>
                    </a:extLst>
                  </p:cNvPr>
                  <p:cNvSpPr/>
                  <p:nvPr/>
                </p:nvSpPr>
                <p:spPr>
                  <a:xfrm rot="180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4</a:t>
                    </a:r>
                  </a:p>
                </p:txBody>
              </p:sp>
            </p:grpSp>
            <p:cxnSp>
              <p:nvCxnSpPr>
                <p:cNvPr id="168" name="직선 연결선 167">
                  <a:extLst>
                    <a:ext uri="{FF2B5EF4-FFF2-40B4-BE49-F238E27FC236}">
                      <a16:creationId xmlns:a16="http://schemas.microsoft.com/office/drawing/2014/main" id="{CBB147C2-2669-4405-9433-F3DE15BB36F9}"/>
                    </a:ext>
                  </a:extLst>
                </p:cNvPr>
                <p:cNvCxnSpPr>
                  <a:cxnSpLocks/>
                  <a:stCxn id="165" idx="6"/>
                  <a:endCxn id="164"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직선 연결선 168">
                  <a:extLst>
                    <a:ext uri="{FF2B5EF4-FFF2-40B4-BE49-F238E27FC236}">
                      <a16:creationId xmlns:a16="http://schemas.microsoft.com/office/drawing/2014/main" id="{AF12410D-4157-4D1B-A3D0-C77D973E2E2D}"/>
                    </a:ext>
                  </a:extLst>
                </p:cNvPr>
                <p:cNvCxnSpPr>
                  <a:cxnSpLocks/>
                  <a:stCxn id="164" idx="1"/>
                  <a:endCxn id="166"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직선 연결선 169">
                  <a:extLst>
                    <a:ext uri="{FF2B5EF4-FFF2-40B4-BE49-F238E27FC236}">
                      <a16:creationId xmlns:a16="http://schemas.microsoft.com/office/drawing/2014/main" id="{C56AF5DA-B64C-40C3-9F7D-F68F95F8BDC9}"/>
                    </a:ext>
                  </a:extLst>
                </p:cNvPr>
                <p:cNvCxnSpPr>
                  <a:cxnSpLocks/>
                  <a:stCxn id="165" idx="7"/>
                  <a:endCxn id="166"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직선 연결선 170">
                  <a:extLst>
                    <a:ext uri="{FF2B5EF4-FFF2-40B4-BE49-F238E27FC236}">
                      <a16:creationId xmlns:a16="http://schemas.microsoft.com/office/drawing/2014/main" id="{D4A3DE05-D702-47F0-B626-A3D4F32139EF}"/>
                    </a:ext>
                  </a:extLst>
                </p:cNvPr>
                <p:cNvCxnSpPr>
                  <a:cxnSpLocks/>
                  <a:stCxn id="164" idx="5"/>
                  <a:endCxn id="162" idx="1"/>
                </p:cNvCxnSpPr>
                <p:nvPr/>
              </p:nvCxnSpPr>
              <p:spPr>
                <a:xfrm>
                  <a:off x="4457945" y="4188618"/>
                  <a:ext cx="402038" cy="3753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그룹 140">
                <a:extLst>
                  <a:ext uri="{FF2B5EF4-FFF2-40B4-BE49-F238E27FC236}">
                    <a16:creationId xmlns:a16="http://schemas.microsoft.com/office/drawing/2014/main" id="{1A6D3DE4-DA37-4E03-B5DE-78B90F04854D}"/>
                  </a:ext>
                </a:extLst>
              </p:cNvPr>
              <p:cNvGrpSpPr/>
              <p:nvPr/>
            </p:nvGrpSpPr>
            <p:grpSpPr>
              <a:xfrm rot="10800000">
                <a:off x="5815216" y="3418628"/>
                <a:ext cx="1718476" cy="2526509"/>
                <a:chOff x="3392056" y="3389998"/>
                <a:chExt cx="1718476" cy="2526509"/>
              </a:xfrm>
            </p:grpSpPr>
            <p:cxnSp>
              <p:nvCxnSpPr>
                <p:cNvPr id="143" name="직선 연결선 142">
                  <a:extLst>
                    <a:ext uri="{FF2B5EF4-FFF2-40B4-BE49-F238E27FC236}">
                      <a16:creationId xmlns:a16="http://schemas.microsoft.com/office/drawing/2014/main" id="{54B971FC-7253-47C4-9381-7E41C9B737A2}"/>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직선 연결선 143">
                  <a:extLst>
                    <a:ext uri="{FF2B5EF4-FFF2-40B4-BE49-F238E27FC236}">
                      <a16:creationId xmlns:a16="http://schemas.microsoft.com/office/drawing/2014/main" id="{3EE714B2-97BD-47B5-891D-1A48DD8B3DEA}"/>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직선 연결선 144">
                  <a:extLst>
                    <a:ext uri="{FF2B5EF4-FFF2-40B4-BE49-F238E27FC236}">
                      <a16:creationId xmlns:a16="http://schemas.microsoft.com/office/drawing/2014/main" id="{6504F52D-DE62-43B1-BBC6-A9F2D1C4C51F}"/>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타원 145">
                  <a:extLst>
                    <a:ext uri="{FF2B5EF4-FFF2-40B4-BE49-F238E27FC236}">
                      <a16:creationId xmlns:a16="http://schemas.microsoft.com/office/drawing/2014/main" id="{DA067F05-AF61-4B65-A4BB-D9774FD3AF75}"/>
                    </a:ext>
                  </a:extLst>
                </p:cNvPr>
                <p:cNvSpPr/>
                <p:nvPr/>
              </p:nvSpPr>
              <p:spPr>
                <a:xfrm rot="10607499">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8</a:t>
                  </a:r>
                </a:p>
              </p:txBody>
            </p:sp>
            <p:cxnSp>
              <p:nvCxnSpPr>
                <p:cNvPr id="147" name="직선 연결선 146">
                  <a:extLst>
                    <a:ext uri="{FF2B5EF4-FFF2-40B4-BE49-F238E27FC236}">
                      <a16:creationId xmlns:a16="http://schemas.microsoft.com/office/drawing/2014/main" id="{70C50710-7841-48F8-B8B0-C22B5AE615B0}"/>
                    </a:ext>
                  </a:extLst>
                </p:cNvPr>
                <p:cNvCxnSpPr>
                  <a:cxnSpLocks/>
                  <a:stCxn id="157" idx="2"/>
                  <a:endCxn id="146" idx="7"/>
                </p:cNvCxnSpPr>
                <p:nvPr/>
              </p:nvCxnSpPr>
              <p:spPr>
                <a:xfrm rot="10800000" flipH="1">
                  <a:off x="4324582" y="4777132"/>
                  <a:ext cx="541371" cy="3998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8" name="타원 147">
                  <a:extLst>
                    <a:ext uri="{FF2B5EF4-FFF2-40B4-BE49-F238E27FC236}">
                      <a16:creationId xmlns:a16="http://schemas.microsoft.com/office/drawing/2014/main" id="{EEA482EE-4058-4B0D-B9EC-C378CC864478}"/>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sp>
              <p:nvSpPr>
                <p:cNvPr id="149" name="타원 148">
                  <a:extLst>
                    <a:ext uri="{FF2B5EF4-FFF2-40B4-BE49-F238E27FC236}">
                      <a16:creationId xmlns:a16="http://schemas.microsoft.com/office/drawing/2014/main" id="{2BA80BEE-6AB6-422E-B424-1E2160BD6F20}"/>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sp>
              <p:nvSpPr>
                <p:cNvPr id="150" name="타원 149">
                  <a:extLst>
                    <a:ext uri="{FF2B5EF4-FFF2-40B4-BE49-F238E27FC236}">
                      <a16:creationId xmlns:a16="http://schemas.microsoft.com/office/drawing/2014/main" id="{D6C69846-0DFD-4C15-973C-DB7E12F56015}"/>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grpSp>
              <p:nvGrpSpPr>
                <p:cNvPr id="151" name="그룹 150">
                  <a:extLst>
                    <a:ext uri="{FF2B5EF4-FFF2-40B4-BE49-F238E27FC236}">
                      <a16:creationId xmlns:a16="http://schemas.microsoft.com/office/drawing/2014/main" id="{A59EFF4E-F98A-4DEA-8629-7A6917825275}"/>
                    </a:ext>
                  </a:extLst>
                </p:cNvPr>
                <p:cNvGrpSpPr/>
                <p:nvPr/>
              </p:nvGrpSpPr>
              <p:grpSpPr>
                <a:xfrm rot="3600000">
                  <a:off x="3374766" y="4921196"/>
                  <a:ext cx="1109370" cy="881252"/>
                  <a:chOff x="3392056" y="4930893"/>
                  <a:chExt cx="1109370" cy="881252"/>
                </a:xfrm>
              </p:grpSpPr>
              <p:sp>
                <p:nvSpPr>
                  <p:cNvPr id="156" name="타원 155">
                    <a:extLst>
                      <a:ext uri="{FF2B5EF4-FFF2-40B4-BE49-F238E27FC236}">
                        <a16:creationId xmlns:a16="http://schemas.microsoft.com/office/drawing/2014/main" id="{61298C81-1A0A-4AC9-B1CF-897ED725AD1F}"/>
                      </a:ext>
                    </a:extLst>
                  </p:cNvPr>
                  <p:cNvSpPr/>
                  <p:nvPr/>
                </p:nvSpPr>
                <p:spPr>
                  <a:xfrm rot="7200000">
                    <a:off x="4167389" y="5478108"/>
                    <a:ext cx="374538"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 dirty="0">
                      <a:solidFill>
                        <a:schemeClr val="bg1"/>
                      </a:solidFill>
                    </a:endParaRPr>
                  </a:p>
                </p:txBody>
              </p:sp>
              <p:sp>
                <p:nvSpPr>
                  <p:cNvPr id="157" name="타원 156">
                    <a:extLst>
                      <a:ext uri="{FF2B5EF4-FFF2-40B4-BE49-F238E27FC236}">
                        <a16:creationId xmlns:a16="http://schemas.microsoft.com/office/drawing/2014/main" id="{71A71ABB-9C9B-4FCF-8EFB-0C856271D7C0}"/>
                      </a:ext>
                    </a:extLst>
                  </p:cNvPr>
                  <p:cNvSpPr/>
                  <p:nvPr/>
                </p:nvSpPr>
                <p:spPr>
                  <a:xfrm rot="6385941">
                    <a:off x="3795915"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9</a:t>
                    </a:r>
                  </a:p>
                </p:txBody>
              </p:sp>
              <p:sp>
                <p:nvSpPr>
                  <p:cNvPr id="158" name="타원 157">
                    <a:extLst>
                      <a:ext uri="{FF2B5EF4-FFF2-40B4-BE49-F238E27FC236}">
                        <a16:creationId xmlns:a16="http://schemas.microsoft.com/office/drawing/2014/main" id="{5C5C7E6B-9EB4-4D92-903C-99FB931874BD}"/>
                      </a:ext>
                    </a:extLst>
                  </p:cNvPr>
                  <p:cNvSpPr/>
                  <p:nvPr/>
                </p:nvSpPr>
                <p:spPr>
                  <a:xfrm rot="18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grpSp>
            <p:cxnSp>
              <p:nvCxnSpPr>
                <p:cNvPr id="152" name="직선 연결선 151">
                  <a:extLst>
                    <a:ext uri="{FF2B5EF4-FFF2-40B4-BE49-F238E27FC236}">
                      <a16:creationId xmlns:a16="http://schemas.microsoft.com/office/drawing/2014/main" id="{8AB6220B-A027-4E97-8040-46B8E6BC226D}"/>
                    </a:ext>
                  </a:extLst>
                </p:cNvPr>
                <p:cNvCxnSpPr>
                  <a:cxnSpLocks/>
                  <a:stCxn id="149" idx="6"/>
                  <a:endCxn id="148"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직선 연결선 152">
                  <a:extLst>
                    <a:ext uri="{FF2B5EF4-FFF2-40B4-BE49-F238E27FC236}">
                      <a16:creationId xmlns:a16="http://schemas.microsoft.com/office/drawing/2014/main" id="{EB958B19-325C-460C-9702-855DF8CDF9C9}"/>
                    </a:ext>
                  </a:extLst>
                </p:cNvPr>
                <p:cNvCxnSpPr>
                  <a:cxnSpLocks/>
                  <a:stCxn id="148" idx="1"/>
                  <a:endCxn id="150"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직선 연결선 153">
                  <a:extLst>
                    <a:ext uri="{FF2B5EF4-FFF2-40B4-BE49-F238E27FC236}">
                      <a16:creationId xmlns:a16="http://schemas.microsoft.com/office/drawing/2014/main" id="{4755A00D-2D69-484F-B202-80E32975B718}"/>
                    </a:ext>
                  </a:extLst>
                </p:cNvPr>
                <p:cNvCxnSpPr>
                  <a:cxnSpLocks/>
                  <a:stCxn id="149" idx="7"/>
                  <a:endCxn id="150"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직선 연결선 154">
                  <a:extLst>
                    <a:ext uri="{FF2B5EF4-FFF2-40B4-BE49-F238E27FC236}">
                      <a16:creationId xmlns:a16="http://schemas.microsoft.com/office/drawing/2014/main" id="{0F59772B-CC80-4FB0-9A89-C37B8FC8BBF5}"/>
                    </a:ext>
                  </a:extLst>
                </p:cNvPr>
                <p:cNvCxnSpPr>
                  <a:cxnSpLocks/>
                  <a:stCxn id="148" idx="5"/>
                  <a:endCxn id="146" idx="5"/>
                </p:cNvCxnSpPr>
                <p:nvPr/>
              </p:nvCxnSpPr>
              <p:spPr>
                <a:xfrm rot="10800000" flipH="1" flipV="1">
                  <a:off x="4457945" y="4188618"/>
                  <a:ext cx="396391" cy="3812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2" name="직선 연결선 141">
                <a:extLst>
                  <a:ext uri="{FF2B5EF4-FFF2-40B4-BE49-F238E27FC236}">
                    <a16:creationId xmlns:a16="http://schemas.microsoft.com/office/drawing/2014/main" id="{144DF745-F76A-4E13-B920-6999256104EA}"/>
                  </a:ext>
                </a:extLst>
              </p:cNvPr>
              <p:cNvCxnSpPr>
                <a:cxnSpLocks/>
                <a:stCxn id="162" idx="6"/>
                <a:endCxn id="146" idx="2"/>
              </p:cNvCxnSpPr>
              <p:nvPr/>
            </p:nvCxnSpPr>
            <p:spPr>
              <a:xfrm>
                <a:off x="5110531" y="4667705"/>
                <a:ext cx="704915" cy="79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5" name="직사각형 134">
              <a:extLst>
                <a:ext uri="{FF2B5EF4-FFF2-40B4-BE49-F238E27FC236}">
                  <a16:creationId xmlns:a16="http://schemas.microsoft.com/office/drawing/2014/main" id="{84596D8D-642F-4A13-9954-81359086060E}"/>
                </a:ext>
              </a:extLst>
            </p:cNvPr>
            <p:cNvSpPr/>
            <p:nvPr/>
          </p:nvSpPr>
          <p:spPr>
            <a:xfrm>
              <a:off x="3710119" y="3776912"/>
              <a:ext cx="367408" cy="307777"/>
            </a:xfrm>
            <a:prstGeom prst="rect">
              <a:avLst/>
            </a:prstGeom>
          </p:spPr>
          <p:txBody>
            <a:bodyPr wrap="none">
              <a:spAutoFit/>
            </a:bodyPr>
            <a:lstStyle/>
            <a:p>
              <a:pPr algn="ctr"/>
              <a:r>
                <a:rPr lang="en-US" sz="1400" dirty="0">
                  <a:solidFill>
                    <a:schemeClr val="bg1"/>
                  </a:solidFill>
                </a:rPr>
                <a:t>10</a:t>
              </a:r>
            </a:p>
          </p:txBody>
        </p:sp>
        <p:sp>
          <p:nvSpPr>
            <p:cNvPr id="136" name="직사각형 135">
              <a:extLst>
                <a:ext uri="{FF2B5EF4-FFF2-40B4-BE49-F238E27FC236}">
                  <a16:creationId xmlns:a16="http://schemas.microsoft.com/office/drawing/2014/main" id="{F079459B-4637-44ED-A9AF-7C76DC55A495}"/>
                </a:ext>
              </a:extLst>
            </p:cNvPr>
            <p:cNvSpPr/>
            <p:nvPr/>
          </p:nvSpPr>
          <p:spPr>
            <a:xfrm>
              <a:off x="4054546" y="4377358"/>
              <a:ext cx="367408" cy="307777"/>
            </a:xfrm>
            <a:prstGeom prst="rect">
              <a:avLst/>
            </a:prstGeom>
          </p:spPr>
          <p:txBody>
            <a:bodyPr wrap="none">
              <a:spAutoFit/>
            </a:bodyPr>
            <a:lstStyle/>
            <a:p>
              <a:pPr algn="ctr"/>
              <a:r>
                <a:rPr lang="en-US" sz="1400" dirty="0">
                  <a:solidFill>
                    <a:schemeClr val="bg1"/>
                  </a:solidFill>
                </a:rPr>
                <a:t>11</a:t>
              </a:r>
            </a:p>
          </p:txBody>
        </p:sp>
        <p:sp>
          <p:nvSpPr>
            <p:cNvPr id="137" name="직사각형 136">
              <a:extLst>
                <a:ext uri="{FF2B5EF4-FFF2-40B4-BE49-F238E27FC236}">
                  <a16:creationId xmlns:a16="http://schemas.microsoft.com/office/drawing/2014/main" id="{2BCAE9B7-DCF4-4216-8650-9A828B1AE66C}"/>
                </a:ext>
              </a:extLst>
            </p:cNvPr>
            <p:cNvSpPr/>
            <p:nvPr/>
          </p:nvSpPr>
          <p:spPr>
            <a:xfrm>
              <a:off x="4018794" y="5174184"/>
              <a:ext cx="367408" cy="307777"/>
            </a:xfrm>
            <a:prstGeom prst="rect">
              <a:avLst/>
            </a:prstGeom>
          </p:spPr>
          <p:txBody>
            <a:bodyPr wrap="none">
              <a:spAutoFit/>
            </a:bodyPr>
            <a:lstStyle/>
            <a:p>
              <a:pPr algn="ctr"/>
              <a:r>
                <a:rPr lang="en-US" sz="1400" dirty="0">
                  <a:solidFill>
                    <a:schemeClr val="bg1"/>
                  </a:solidFill>
                </a:rPr>
                <a:t>12</a:t>
              </a:r>
            </a:p>
          </p:txBody>
        </p:sp>
        <p:sp>
          <p:nvSpPr>
            <p:cNvPr id="138" name="직사각형 137">
              <a:extLst>
                <a:ext uri="{FF2B5EF4-FFF2-40B4-BE49-F238E27FC236}">
                  <a16:creationId xmlns:a16="http://schemas.microsoft.com/office/drawing/2014/main" id="{891FE6D4-3292-41A2-9A0A-205C929D3485}"/>
                </a:ext>
              </a:extLst>
            </p:cNvPr>
            <p:cNvSpPr/>
            <p:nvPr/>
          </p:nvSpPr>
          <p:spPr>
            <a:xfrm>
              <a:off x="3710119" y="5599799"/>
              <a:ext cx="367408" cy="307777"/>
            </a:xfrm>
            <a:prstGeom prst="rect">
              <a:avLst/>
            </a:prstGeom>
          </p:spPr>
          <p:txBody>
            <a:bodyPr wrap="none">
              <a:spAutoFit/>
            </a:bodyPr>
            <a:lstStyle/>
            <a:p>
              <a:pPr algn="ctr"/>
              <a:r>
                <a:rPr lang="en-US" sz="1400" dirty="0">
                  <a:solidFill>
                    <a:schemeClr val="bg1"/>
                  </a:solidFill>
                </a:rPr>
                <a:t>13</a:t>
              </a:r>
            </a:p>
          </p:txBody>
        </p:sp>
        <p:sp>
          <p:nvSpPr>
            <p:cNvPr id="139" name="직사각형 138">
              <a:extLst>
                <a:ext uri="{FF2B5EF4-FFF2-40B4-BE49-F238E27FC236}">
                  <a16:creationId xmlns:a16="http://schemas.microsoft.com/office/drawing/2014/main" id="{819F08D3-4257-44B9-BBCF-8DC5F664A5EB}"/>
                </a:ext>
              </a:extLst>
            </p:cNvPr>
            <p:cNvSpPr/>
            <p:nvPr/>
          </p:nvSpPr>
          <p:spPr>
            <a:xfrm>
              <a:off x="3390276" y="5183216"/>
              <a:ext cx="367408" cy="307777"/>
            </a:xfrm>
            <a:prstGeom prst="rect">
              <a:avLst/>
            </a:prstGeom>
          </p:spPr>
          <p:txBody>
            <a:bodyPr wrap="none">
              <a:spAutoFit/>
            </a:bodyPr>
            <a:lstStyle/>
            <a:p>
              <a:pPr algn="ctr"/>
              <a:r>
                <a:rPr lang="en-US" sz="1400" dirty="0">
                  <a:solidFill>
                    <a:schemeClr val="bg1"/>
                  </a:solidFill>
                </a:rPr>
                <a:t>14</a:t>
              </a:r>
            </a:p>
          </p:txBody>
        </p:sp>
      </p:grpSp>
      <p:cxnSp>
        <p:nvCxnSpPr>
          <p:cNvPr id="176" name="직선 화살표 연결선 175">
            <a:extLst>
              <a:ext uri="{FF2B5EF4-FFF2-40B4-BE49-F238E27FC236}">
                <a16:creationId xmlns:a16="http://schemas.microsoft.com/office/drawing/2014/main" id="{3B760E21-D634-4CF1-8C62-BE1F83C53D0B}"/>
              </a:ext>
            </a:extLst>
          </p:cNvPr>
          <p:cNvCxnSpPr/>
          <p:nvPr/>
        </p:nvCxnSpPr>
        <p:spPr>
          <a:xfrm>
            <a:off x="4381500" y="4963257"/>
            <a:ext cx="17145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7" name="직사각형 176">
            <a:extLst>
              <a:ext uri="{FF2B5EF4-FFF2-40B4-BE49-F238E27FC236}">
                <a16:creationId xmlns:a16="http://schemas.microsoft.com/office/drawing/2014/main" id="{FCF982C3-4F8F-4981-B022-A56A73124BCA}"/>
              </a:ext>
            </a:extLst>
          </p:cNvPr>
          <p:cNvSpPr/>
          <p:nvPr/>
        </p:nvSpPr>
        <p:spPr>
          <a:xfrm>
            <a:off x="4400642" y="4655480"/>
            <a:ext cx="1526893" cy="307777"/>
          </a:xfrm>
          <a:prstGeom prst="rect">
            <a:avLst/>
          </a:prstGeom>
        </p:spPr>
        <p:txBody>
          <a:bodyPr wrap="none">
            <a:spAutoFit/>
          </a:bodyPr>
          <a:lstStyle/>
          <a:p>
            <a:r>
              <a:rPr lang="en-US" sz="1400" dirty="0"/>
              <a:t>Graph Partitioning</a:t>
            </a:r>
          </a:p>
        </p:txBody>
      </p:sp>
      <p:sp>
        <p:nvSpPr>
          <p:cNvPr id="178" name="타원 177">
            <a:extLst>
              <a:ext uri="{FF2B5EF4-FFF2-40B4-BE49-F238E27FC236}">
                <a16:creationId xmlns:a16="http://schemas.microsoft.com/office/drawing/2014/main" id="{67922204-122D-4D16-B11D-93EB0697B3E0}"/>
              </a:ext>
            </a:extLst>
          </p:cNvPr>
          <p:cNvSpPr/>
          <p:nvPr/>
        </p:nvSpPr>
        <p:spPr>
          <a:xfrm>
            <a:off x="6225953" y="3429000"/>
            <a:ext cx="1904207" cy="290321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타원 178">
            <a:extLst>
              <a:ext uri="{FF2B5EF4-FFF2-40B4-BE49-F238E27FC236}">
                <a16:creationId xmlns:a16="http://schemas.microsoft.com/office/drawing/2014/main" id="{4D3F8537-9FFF-464E-9773-0F654EBA53B5}"/>
              </a:ext>
            </a:extLst>
          </p:cNvPr>
          <p:cNvSpPr/>
          <p:nvPr/>
        </p:nvSpPr>
        <p:spPr>
          <a:xfrm>
            <a:off x="8341212" y="3429000"/>
            <a:ext cx="1904207" cy="290321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타원 179">
            <a:extLst>
              <a:ext uri="{FF2B5EF4-FFF2-40B4-BE49-F238E27FC236}">
                <a16:creationId xmlns:a16="http://schemas.microsoft.com/office/drawing/2014/main" id="{3296CED4-5098-4ED8-AE8F-C1BD3ED7D501}"/>
              </a:ext>
            </a:extLst>
          </p:cNvPr>
          <p:cNvSpPr/>
          <p:nvPr/>
        </p:nvSpPr>
        <p:spPr>
          <a:xfrm>
            <a:off x="8954724" y="3614718"/>
            <a:ext cx="1084673" cy="123598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타원 180">
            <a:extLst>
              <a:ext uri="{FF2B5EF4-FFF2-40B4-BE49-F238E27FC236}">
                <a16:creationId xmlns:a16="http://schemas.microsoft.com/office/drawing/2014/main" id="{8FF841BA-93A3-4052-BAA8-5CCE80414C03}"/>
              </a:ext>
            </a:extLst>
          </p:cNvPr>
          <p:cNvSpPr/>
          <p:nvPr/>
        </p:nvSpPr>
        <p:spPr>
          <a:xfrm>
            <a:off x="8761879" y="4936794"/>
            <a:ext cx="1270820" cy="106809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타원 181">
            <a:extLst>
              <a:ext uri="{FF2B5EF4-FFF2-40B4-BE49-F238E27FC236}">
                <a16:creationId xmlns:a16="http://schemas.microsoft.com/office/drawing/2014/main" id="{C3E32F66-5D02-45A8-81EC-329E1DD0FEAE}"/>
              </a:ext>
            </a:extLst>
          </p:cNvPr>
          <p:cNvSpPr/>
          <p:nvPr/>
        </p:nvSpPr>
        <p:spPr>
          <a:xfrm>
            <a:off x="6464438" y="4868056"/>
            <a:ext cx="1030622" cy="113683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타원 182">
            <a:extLst>
              <a:ext uri="{FF2B5EF4-FFF2-40B4-BE49-F238E27FC236}">
                <a16:creationId xmlns:a16="http://schemas.microsoft.com/office/drawing/2014/main" id="{928562F6-3C06-4558-9BB7-B2EB71FF3754}"/>
              </a:ext>
            </a:extLst>
          </p:cNvPr>
          <p:cNvSpPr/>
          <p:nvPr/>
        </p:nvSpPr>
        <p:spPr>
          <a:xfrm>
            <a:off x="6534605" y="3677058"/>
            <a:ext cx="1080412" cy="113683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8739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Betweenness Measures and Graph Partitioning</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197487" y="1378505"/>
            <a:ext cx="11958035" cy="1393010"/>
          </a:xfrm>
        </p:spPr>
        <p:txBody>
          <a:bodyPr>
            <a:normAutofit/>
          </a:bodyPr>
          <a:lstStyle/>
          <a:p>
            <a:pPr marL="0" indent="0">
              <a:buNone/>
            </a:pPr>
            <a:r>
              <a:rPr lang="en-US" sz="1800" dirty="0"/>
              <a:t>Local bridges are important because they form part of the shortest path between pairs of nodes in different parts of the network. In short, they lie frequently in the shortest path between nodes. The abstract notion of “traffic” is defined by the concept betweenness. </a:t>
            </a:r>
            <a:endParaRPr lang="en-US" sz="1600" dirty="0"/>
          </a:p>
          <a:p>
            <a:pPr marL="0" indent="0">
              <a:buNone/>
            </a:pPr>
            <a:r>
              <a:rPr lang="en-US" sz="2400" i="1" dirty="0"/>
              <a:t>Betweenness</a:t>
            </a:r>
            <a:r>
              <a:rPr lang="en-US" sz="2000" dirty="0"/>
              <a:t>: total amount of flow that an edge carries, taking into account of all pairs of nodes using the edge</a:t>
            </a:r>
          </a:p>
          <a:p>
            <a:pPr marL="0" indent="0">
              <a:buNone/>
            </a:pPr>
            <a:endParaRPr lang="en-US" sz="2000" dirty="0"/>
          </a:p>
        </p:txBody>
      </p:sp>
      <p:grpSp>
        <p:nvGrpSpPr>
          <p:cNvPr id="61" name="그룹 60">
            <a:extLst>
              <a:ext uri="{FF2B5EF4-FFF2-40B4-BE49-F238E27FC236}">
                <a16:creationId xmlns:a16="http://schemas.microsoft.com/office/drawing/2014/main" id="{BC0821BC-13AD-4648-A38A-E62BC878822F}"/>
              </a:ext>
            </a:extLst>
          </p:cNvPr>
          <p:cNvGrpSpPr/>
          <p:nvPr/>
        </p:nvGrpSpPr>
        <p:grpSpPr>
          <a:xfrm>
            <a:off x="586705" y="3680592"/>
            <a:ext cx="3956298" cy="1714081"/>
            <a:chOff x="3032725" y="3566292"/>
            <a:chExt cx="3956298" cy="1714081"/>
          </a:xfrm>
        </p:grpSpPr>
        <p:grpSp>
          <p:nvGrpSpPr>
            <p:cNvPr id="96" name="그룹 95">
              <a:extLst>
                <a:ext uri="{FF2B5EF4-FFF2-40B4-BE49-F238E27FC236}">
                  <a16:creationId xmlns:a16="http://schemas.microsoft.com/office/drawing/2014/main" id="{3BF70142-AD29-44B8-A69B-963AD416C009}"/>
                </a:ext>
              </a:extLst>
            </p:cNvPr>
            <p:cNvGrpSpPr/>
            <p:nvPr/>
          </p:nvGrpSpPr>
          <p:grpSpPr>
            <a:xfrm>
              <a:off x="3032725" y="3566292"/>
              <a:ext cx="3889465" cy="1714081"/>
              <a:chOff x="800065" y="3776912"/>
              <a:chExt cx="3889465" cy="1714081"/>
            </a:xfrm>
          </p:grpSpPr>
          <p:grpSp>
            <p:nvGrpSpPr>
              <p:cNvPr id="97" name="그룹 96">
                <a:extLst>
                  <a:ext uri="{FF2B5EF4-FFF2-40B4-BE49-F238E27FC236}">
                    <a16:creationId xmlns:a16="http://schemas.microsoft.com/office/drawing/2014/main" id="{974C000C-9BDC-44B8-A9A0-1CC099519CFB}"/>
                  </a:ext>
                </a:extLst>
              </p:cNvPr>
              <p:cNvGrpSpPr/>
              <p:nvPr/>
            </p:nvGrpSpPr>
            <p:grpSpPr>
              <a:xfrm>
                <a:off x="800065" y="4310627"/>
                <a:ext cx="3889465" cy="1140873"/>
                <a:chOff x="2986218" y="3920684"/>
                <a:chExt cx="5033281" cy="1476382"/>
              </a:xfrm>
            </p:grpSpPr>
            <p:grpSp>
              <p:nvGrpSpPr>
                <p:cNvPr id="103" name="그룹 102">
                  <a:extLst>
                    <a:ext uri="{FF2B5EF4-FFF2-40B4-BE49-F238E27FC236}">
                      <a16:creationId xmlns:a16="http://schemas.microsoft.com/office/drawing/2014/main" id="{7C13FC1D-2475-4B2B-8EB7-E093199ACBEC}"/>
                    </a:ext>
                  </a:extLst>
                </p:cNvPr>
                <p:cNvGrpSpPr/>
                <p:nvPr/>
              </p:nvGrpSpPr>
              <p:grpSpPr>
                <a:xfrm>
                  <a:off x="2986218" y="3938068"/>
                  <a:ext cx="2124314" cy="1357205"/>
                  <a:chOff x="2986218" y="3938068"/>
                  <a:chExt cx="2124314" cy="1357205"/>
                </a:xfrm>
              </p:grpSpPr>
              <p:cxnSp>
                <p:nvCxnSpPr>
                  <p:cNvPr id="190" name="직선 연결선 189">
                    <a:extLst>
                      <a:ext uri="{FF2B5EF4-FFF2-40B4-BE49-F238E27FC236}">
                        <a16:creationId xmlns:a16="http://schemas.microsoft.com/office/drawing/2014/main" id="{9181FF07-ED1F-4B40-AB3E-9312D8C4183F}"/>
                      </a:ext>
                    </a:extLst>
                  </p:cNvPr>
                  <p:cNvCxnSpPr>
                    <a:cxnSpLocks/>
                    <a:endCxn id="204" idx="2"/>
                  </p:cNvCxnSpPr>
                  <p:nvPr/>
                </p:nvCxnSpPr>
                <p:spPr>
                  <a:xfrm flipV="1">
                    <a:off x="3281475" y="5150191"/>
                    <a:ext cx="714498" cy="2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타원 192">
                    <a:extLst>
                      <a:ext uri="{FF2B5EF4-FFF2-40B4-BE49-F238E27FC236}">
                        <a16:creationId xmlns:a16="http://schemas.microsoft.com/office/drawing/2014/main" id="{BAEEC2CB-A883-4B31-88C5-0695B4117907}"/>
                      </a:ext>
                    </a:extLst>
                  </p:cNvPr>
                  <p:cNvSpPr/>
                  <p:nvPr/>
                </p:nvSpPr>
                <p:spPr>
                  <a:xfrm>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5</a:t>
                    </a:r>
                  </a:p>
                </p:txBody>
              </p:sp>
              <p:cxnSp>
                <p:nvCxnSpPr>
                  <p:cNvPr id="194" name="직선 연결선 193">
                    <a:extLst>
                      <a:ext uri="{FF2B5EF4-FFF2-40B4-BE49-F238E27FC236}">
                        <a16:creationId xmlns:a16="http://schemas.microsoft.com/office/drawing/2014/main" id="{D39F3B89-7C20-43B4-BBA7-9E12A7B4DF2D}"/>
                      </a:ext>
                    </a:extLst>
                  </p:cNvPr>
                  <p:cNvCxnSpPr>
                    <a:cxnSpLocks/>
                    <a:stCxn id="204" idx="6"/>
                    <a:endCxn id="193" idx="3"/>
                  </p:cNvCxnSpPr>
                  <p:nvPr/>
                </p:nvCxnSpPr>
                <p:spPr>
                  <a:xfrm flipV="1">
                    <a:off x="4289259" y="4771486"/>
                    <a:ext cx="570723" cy="366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5" name="타원 194">
                    <a:extLst>
                      <a:ext uri="{FF2B5EF4-FFF2-40B4-BE49-F238E27FC236}">
                        <a16:creationId xmlns:a16="http://schemas.microsoft.com/office/drawing/2014/main" id="{63B520F3-F0AA-44A0-9978-2E2DBD28955C}"/>
                      </a:ext>
                    </a:extLst>
                  </p:cNvPr>
                  <p:cNvSpPr/>
                  <p:nvPr/>
                </p:nvSpPr>
                <p:spPr>
                  <a:xfrm>
                    <a:off x="3998143" y="393806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3</a:t>
                    </a:r>
                  </a:p>
                </p:txBody>
              </p:sp>
              <p:sp>
                <p:nvSpPr>
                  <p:cNvPr id="196" name="타원 195">
                    <a:extLst>
                      <a:ext uri="{FF2B5EF4-FFF2-40B4-BE49-F238E27FC236}">
                        <a16:creationId xmlns:a16="http://schemas.microsoft.com/office/drawing/2014/main" id="{4A6A3085-7C66-415C-BF77-0C4B76EA5858}"/>
                      </a:ext>
                    </a:extLst>
                  </p:cNvPr>
                  <p:cNvSpPr/>
                  <p:nvPr/>
                </p:nvSpPr>
                <p:spPr>
                  <a:xfrm>
                    <a:off x="2986218" y="393806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p:txBody>
              </p:sp>
              <p:sp>
                <p:nvSpPr>
                  <p:cNvPr id="197" name="타원 196">
                    <a:extLst>
                      <a:ext uri="{FF2B5EF4-FFF2-40B4-BE49-F238E27FC236}">
                        <a16:creationId xmlns:a16="http://schemas.microsoft.com/office/drawing/2014/main" id="{D63B09D4-81F6-4E8A-84DA-7EA8E804FA4F}"/>
                      </a:ext>
                    </a:extLst>
                  </p:cNvPr>
                  <p:cNvSpPr/>
                  <p:nvPr/>
                </p:nvSpPr>
                <p:spPr>
                  <a:xfrm>
                    <a:off x="2993214" y="50017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1</a:t>
                    </a:r>
                  </a:p>
                </p:txBody>
              </p:sp>
              <p:sp>
                <p:nvSpPr>
                  <p:cNvPr id="204" name="타원 203">
                    <a:extLst>
                      <a:ext uri="{FF2B5EF4-FFF2-40B4-BE49-F238E27FC236}">
                        <a16:creationId xmlns:a16="http://schemas.microsoft.com/office/drawing/2014/main" id="{EA198E62-32EB-4050-8F52-998FA667DA42}"/>
                      </a:ext>
                    </a:extLst>
                  </p:cNvPr>
                  <p:cNvSpPr/>
                  <p:nvPr/>
                </p:nvSpPr>
                <p:spPr>
                  <a:xfrm rot="21458028">
                    <a:off x="3995848" y="499736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4</a:t>
                    </a:r>
                  </a:p>
                </p:txBody>
              </p:sp>
              <p:cxnSp>
                <p:nvCxnSpPr>
                  <p:cNvPr id="199" name="직선 연결선 198">
                    <a:extLst>
                      <a:ext uri="{FF2B5EF4-FFF2-40B4-BE49-F238E27FC236}">
                        <a16:creationId xmlns:a16="http://schemas.microsoft.com/office/drawing/2014/main" id="{546E0D32-F678-4AC0-8BA2-35BC815AA6F6}"/>
                      </a:ext>
                    </a:extLst>
                  </p:cNvPr>
                  <p:cNvCxnSpPr>
                    <a:cxnSpLocks/>
                    <a:stCxn id="196" idx="5"/>
                    <a:endCxn id="204" idx="1"/>
                  </p:cNvCxnSpPr>
                  <p:nvPr/>
                </p:nvCxnSpPr>
                <p:spPr>
                  <a:xfrm>
                    <a:off x="3236768" y="4188618"/>
                    <a:ext cx="797871" cy="8561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직선 연결선 199">
                    <a:extLst>
                      <a:ext uri="{FF2B5EF4-FFF2-40B4-BE49-F238E27FC236}">
                        <a16:creationId xmlns:a16="http://schemas.microsoft.com/office/drawing/2014/main" id="{E861B89F-FF12-4DDA-A700-E60FC69C1243}"/>
                      </a:ext>
                    </a:extLst>
                  </p:cNvPr>
                  <p:cNvCxnSpPr>
                    <a:cxnSpLocks/>
                    <a:stCxn id="204" idx="0"/>
                    <a:endCxn id="195" idx="4"/>
                  </p:cNvCxnSpPr>
                  <p:nvPr/>
                </p:nvCxnSpPr>
                <p:spPr>
                  <a:xfrm flipV="1">
                    <a:off x="4136558" y="4231605"/>
                    <a:ext cx="8353" cy="7658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직선 연결선 200">
                    <a:extLst>
                      <a:ext uri="{FF2B5EF4-FFF2-40B4-BE49-F238E27FC236}">
                        <a16:creationId xmlns:a16="http://schemas.microsoft.com/office/drawing/2014/main" id="{DD7C292D-AD9F-46F9-9F1F-BA012679F95B}"/>
                      </a:ext>
                    </a:extLst>
                  </p:cNvPr>
                  <p:cNvCxnSpPr>
                    <a:cxnSpLocks/>
                    <a:stCxn id="196" idx="4"/>
                    <a:endCxn id="197" idx="0"/>
                  </p:cNvCxnSpPr>
                  <p:nvPr/>
                </p:nvCxnSpPr>
                <p:spPr>
                  <a:xfrm>
                    <a:off x="3132986" y="4231604"/>
                    <a:ext cx="6996" cy="7701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직선 연결선 201">
                    <a:extLst>
                      <a:ext uri="{FF2B5EF4-FFF2-40B4-BE49-F238E27FC236}">
                        <a16:creationId xmlns:a16="http://schemas.microsoft.com/office/drawing/2014/main" id="{2FC96699-C91F-4963-AA9D-91F97D93C7BD}"/>
                      </a:ext>
                    </a:extLst>
                  </p:cNvPr>
                  <p:cNvCxnSpPr>
                    <a:cxnSpLocks/>
                    <a:stCxn id="195" idx="5"/>
                    <a:endCxn id="193" idx="1"/>
                  </p:cNvCxnSpPr>
                  <p:nvPr/>
                </p:nvCxnSpPr>
                <p:spPr>
                  <a:xfrm>
                    <a:off x="4248692" y="4188618"/>
                    <a:ext cx="611290" cy="3753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직선 연결선 206">
                    <a:extLst>
                      <a:ext uri="{FF2B5EF4-FFF2-40B4-BE49-F238E27FC236}">
                        <a16:creationId xmlns:a16="http://schemas.microsoft.com/office/drawing/2014/main" id="{AB18067D-6FDD-4617-BDFE-81D42C67B907}"/>
                      </a:ext>
                    </a:extLst>
                  </p:cNvPr>
                  <p:cNvCxnSpPr>
                    <a:cxnSpLocks/>
                    <a:stCxn id="195" idx="3"/>
                  </p:cNvCxnSpPr>
                  <p:nvPr/>
                </p:nvCxnSpPr>
                <p:spPr>
                  <a:xfrm flipH="1">
                    <a:off x="3243763" y="4188618"/>
                    <a:ext cx="797366" cy="8583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직선 연결선 207">
                    <a:extLst>
                      <a:ext uri="{FF2B5EF4-FFF2-40B4-BE49-F238E27FC236}">
                        <a16:creationId xmlns:a16="http://schemas.microsoft.com/office/drawing/2014/main" id="{6C0E5F84-4696-4A4B-9FB0-BADB66A0A133}"/>
                      </a:ext>
                    </a:extLst>
                  </p:cNvPr>
                  <p:cNvCxnSpPr>
                    <a:cxnSpLocks/>
                    <a:stCxn id="195" idx="2"/>
                    <a:endCxn id="196" idx="6"/>
                  </p:cNvCxnSpPr>
                  <p:nvPr/>
                </p:nvCxnSpPr>
                <p:spPr>
                  <a:xfrm flipH="1">
                    <a:off x="3279754" y="4084836"/>
                    <a:ext cx="7183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4" name="그룹 103">
                  <a:extLst>
                    <a:ext uri="{FF2B5EF4-FFF2-40B4-BE49-F238E27FC236}">
                      <a16:creationId xmlns:a16="http://schemas.microsoft.com/office/drawing/2014/main" id="{8F862844-E529-4498-A094-8379A3ED4DBB}"/>
                    </a:ext>
                  </a:extLst>
                </p:cNvPr>
                <p:cNvGrpSpPr/>
                <p:nvPr/>
              </p:nvGrpSpPr>
              <p:grpSpPr>
                <a:xfrm rot="10800000">
                  <a:off x="5815216" y="3920684"/>
                  <a:ext cx="2204283" cy="1476382"/>
                  <a:chOff x="2906249" y="3938069"/>
                  <a:chExt cx="2204283" cy="1476382"/>
                </a:xfrm>
              </p:grpSpPr>
              <p:cxnSp>
                <p:nvCxnSpPr>
                  <p:cNvPr id="212" name="직선 연결선 211">
                    <a:extLst>
                      <a:ext uri="{FF2B5EF4-FFF2-40B4-BE49-F238E27FC236}">
                        <a16:creationId xmlns:a16="http://schemas.microsoft.com/office/drawing/2014/main" id="{20721B07-F518-4D35-A680-5E9E20157F82}"/>
                      </a:ext>
                    </a:extLst>
                  </p:cNvPr>
                  <p:cNvCxnSpPr>
                    <a:cxnSpLocks/>
                    <a:stCxn id="109" idx="6"/>
                    <a:endCxn id="209" idx="2"/>
                  </p:cNvCxnSpPr>
                  <p:nvPr/>
                </p:nvCxnSpPr>
                <p:spPr>
                  <a:xfrm rot="10800000">
                    <a:off x="3199785" y="4667430"/>
                    <a:ext cx="1617441" cy="84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타원 108">
                    <a:extLst>
                      <a:ext uri="{FF2B5EF4-FFF2-40B4-BE49-F238E27FC236}">
                        <a16:creationId xmlns:a16="http://schemas.microsoft.com/office/drawing/2014/main" id="{07515162-3F3B-4538-95A3-40FC90D8F9E1}"/>
                      </a:ext>
                    </a:extLst>
                  </p:cNvPr>
                  <p:cNvSpPr/>
                  <p:nvPr/>
                </p:nvSpPr>
                <p:spPr>
                  <a:xfrm rot="10607499">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6</a:t>
                    </a:r>
                  </a:p>
                </p:txBody>
              </p:sp>
              <p:cxnSp>
                <p:nvCxnSpPr>
                  <p:cNvPr id="110" name="직선 연결선 109">
                    <a:extLst>
                      <a:ext uri="{FF2B5EF4-FFF2-40B4-BE49-F238E27FC236}">
                        <a16:creationId xmlns:a16="http://schemas.microsoft.com/office/drawing/2014/main" id="{49908CAB-0B4D-477D-B687-F27C707A3ECF}"/>
                      </a:ext>
                    </a:extLst>
                  </p:cNvPr>
                  <p:cNvCxnSpPr>
                    <a:cxnSpLocks/>
                    <a:stCxn id="112" idx="7"/>
                    <a:endCxn id="109" idx="7"/>
                  </p:cNvCxnSpPr>
                  <p:nvPr/>
                </p:nvCxnSpPr>
                <p:spPr>
                  <a:xfrm rot="10800000" flipH="1">
                    <a:off x="4264446" y="4777132"/>
                    <a:ext cx="601507" cy="606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타원 110">
                    <a:extLst>
                      <a:ext uri="{FF2B5EF4-FFF2-40B4-BE49-F238E27FC236}">
                        <a16:creationId xmlns:a16="http://schemas.microsoft.com/office/drawing/2014/main" id="{45905F1B-1559-4461-BC8A-F8F45A625AEC}"/>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p:txBody>
              </p:sp>
              <p:sp>
                <p:nvSpPr>
                  <p:cNvPr id="112" name="타원 111">
                    <a:extLst>
                      <a:ext uri="{FF2B5EF4-FFF2-40B4-BE49-F238E27FC236}">
                        <a16:creationId xmlns:a16="http://schemas.microsoft.com/office/drawing/2014/main" id="{1C7151F0-F5A0-4089-A47A-84FC14F1DC48}"/>
                      </a:ext>
                    </a:extLst>
                  </p:cNvPr>
                  <p:cNvSpPr/>
                  <p:nvPr/>
                </p:nvSpPr>
                <p:spPr>
                  <a:xfrm rot="10360960">
                    <a:off x="4207397" y="5120915"/>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7</a:t>
                    </a:r>
                  </a:p>
                </p:txBody>
              </p:sp>
              <p:sp>
                <p:nvSpPr>
                  <p:cNvPr id="113" name="타원 112">
                    <a:extLst>
                      <a:ext uri="{FF2B5EF4-FFF2-40B4-BE49-F238E27FC236}">
                        <a16:creationId xmlns:a16="http://schemas.microsoft.com/office/drawing/2014/main" id="{3B4A1F89-9BB0-4F58-A437-837C64E6540F}"/>
                      </a:ext>
                    </a:extLst>
                  </p:cNvPr>
                  <p:cNvSpPr/>
                  <p:nvPr/>
                </p:nvSpPr>
                <p:spPr>
                  <a:xfrm rot="10800000">
                    <a:off x="3616952" y="4520662"/>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9</a:t>
                    </a:r>
                  </a:p>
                </p:txBody>
              </p:sp>
              <p:cxnSp>
                <p:nvCxnSpPr>
                  <p:cNvPr id="186" name="직선 연결선 185">
                    <a:extLst>
                      <a:ext uri="{FF2B5EF4-FFF2-40B4-BE49-F238E27FC236}">
                        <a16:creationId xmlns:a16="http://schemas.microsoft.com/office/drawing/2014/main" id="{6A08E617-35AF-40C0-B315-E6DCAC3C5DB1}"/>
                      </a:ext>
                    </a:extLst>
                  </p:cNvPr>
                  <p:cNvCxnSpPr>
                    <a:cxnSpLocks/>
                    <a:stCxn id="111" idx="5"/>
                    <a:endCxn id="109" idx="5"/>
                  </p:cNvCxnSpPr>
                  <p:nvPr/>
                </p:nvCxnSpPr>
                <p:spPr>
                  <a:xfrm rot="10800000" flipH="1" flipV="1">
                    <a:off x="4457945" y="4188618"/>
                    <a:ext cx="396391" cy="3812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타원 208">
                    <a:extLst>
                      <a:ext uri="{FF2B5EF4-FFF2-40B4-BE49-F238E27FC236}">
                        <a16:creationId xmlns:a16="http://schemas.microsoft.com/office/drawing/2014/main" id="{4F3DA069-CA8B-4FE4-A6B5-6B9B4C380374}"/>
                      </a:ext>
                    </a:extLst>
                  </p:cNvPr>
                  <p:cNvSpPr/>
                  <p:nvPr/>
                </p:nvSpPr>
                <p:spPr>
                  <a:xfrm rot="10800000">
                    <a:off x="2906249" y="4520662"/>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endParaRPr>
                  </a:p>
                  <a:p>
                    <a:pPr algn="ctr"/>
                    <a:endParaRPr lang="en-US" sz="1400" dirty="0">
                      <a:solidFill>
                        <a:schemeClr val="bg1"/>
                      </a:solidFill>
                    </a:endParaRPr>
                  </a:p>
                </p:txBody>
              </p:sp>
              <p:cxnSp>
                <p:nvCxnSpPr>
                  <p:cNvPr id="210" name="직선 연결선 209">
                    <a:extLst>
                      <a:ext uri="{FF2B5EF4-FFF2-40B4-BE49-F238E27FC236}">
                        <a16:creationId xmlns:a16="http://schemas.microsoft.com/office/drawing/2014/main" id="{996C6FE6-6CCD-48C9-A079-84C7E60B6172}"/>
                      </a:ext>
                    </a:extLst>
                  </p:cNvPr>
                  <p:cNvCxnSpPr>
                    <a:cxnSpLocks/>
                    <a:stCxn id="111" idx="3"/>
                    <a:endCxn id="113" idx="3"/>
                  </p:cNvCxnSpPr>
                  <p:nvPr/>
                </p:nvCxnSpPr>
                <p:spPr>
                  <a:xfrm rot="10800000" flipV="1">
                    <a:off x="3867501" y="4188619"/>
                    <a:ext cx="382881" cy="3750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직선 연결선 210">
                    <a:extLst>
                      <a:ext uri="{FF2B5EF4-FFF2-40B4-BE49-F238E27FC236}">
                        <a16:creationId xmlns:a16="http://schemas.microsoft.com/office/drawing/2014/main" id="{243916CC-9994-4E39-886C-389EB9661408}"/>
                      </a:ext>
                    </a:extLst>
                  </p:cNvPr>
                  <p:cNvCxnSpPr>
                    <a:cxnSpLocks/>
                    <a:stCxn id="112" idx="5"/>
                    <a:endCxn id="113" idx="1"/>
                  </p:cNvCxnSpPr>
                  <p:nvPr/>
                </p:nvCxnSpPr>
                <p:spPr>
                  <a:xfrm rot="10800000">
                    <a:off x="3867501" y="4771211"/>
                    <a:ext cx="370510" cy="4067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5" name="직선 연결선 104">
                  <a:extLst>
                    <a:ext uri="{FF2B5EF4-FFF2-40B4-BE49-F238E27FC236}">
                      <a16:creationId xmlns:a16="http://schemas.microsoft.com/office/drawing/2014/main" id="{462B4354-2564-4896-9073-7BB08F7833E7}"/>
                    </a:ext>
                  </a:extLst>
                </p:cNvPr>
                <p:cNvCxnSpPr>
                  <a:cxnSpLocks/>
                  <a:stCxn id="193" idx="6"/>
                  <a:endCxn id="109" idx="2"/>
                </p:cNvCxnSpPr>
                <p:nvPr/>
              </p:nvCxnSpPr>
              <p:spPr>
                <a:xfrm>
                  <a:off x="5110531" y="4667705"/>
                  <a:ext cx="704915" cy="79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8" name="직사각형 97">
                <a:extLst>
                  <a:ext uri="{FF2B5EF4-FFF2-40B4-BE49-F238E27FC236}">
                    <a16:creationId xmlns:a16="http://schemas.microsoft.com/office/drawing/2014/main" id="{D068751A-6DCE-4DBC-8FC4-CF2D7BAA9EDB}"/>
                  </a:ext>
                </a:extLst>
              </p:cNvPr>
              <p:cNvSpPr/>
              <p:nvPr/>
            </p:nvSpPr>
            <p:spPr>
              <a:xfrm>
                <a:off x="3710119" y="3776912"/>
                <a:ext cx="367408" cy="307777"/>
              </a:xfrm>
              <a:prstGeom prst="rect">
                <a:avLst/>
              </a:prstGeom>
            </p:spPr>
            <p:txBody>
              <a:bodyPr wrap="none">
                <a:spAutoFit/>
              </a:bodyPr>
              <a:lstStyle/>
              <a:p>
                <a:pPr algn="ctr"/>
                <a:r>
                  <a:rPr lang="en-US" sz="1400" dirty="0">
                    <a:solidFill>
                      <a:schemeClr val="bg1"/>
                    </a:solidFill>
                  </a:rPr>
                  <a:t>10</a:t>
                </a:r>
              </a:p>
            </p:txBody>
          </p:sp>
          <p:sp>
            <p:nvSpPr>
              <p:cNvPr id="102" name="직사각형 101">
                <a:extLst>
                  <a:ext uri="{FF2B5EF4-FFF2-40B4-BE49-F238E27FC236}">
                    <a16:creationId xmlns:a16="http://schemas.microsoft.com/office/drawing/2014/main" id="{DFE9673C-D754-4C2A-9621-4473138A747F}"/>
                  </a:ext>
                </a:extLst>
              </p:cNvPr>
              <p:cNvSpPr/>
              <p:nvPr/>
            </p:nvSpPr>
            <p:spPr>
              <a:xfrm>
                <a:off x="3435960" y="5183216"/>
                <a:ext cx="276038" cy="307777"/>
              </a:xfrm>
              <a:prstGeom prst="rect">
                <a:avLst/>
              </a:prstGeom>
            </p:spPr>
            <p:txBody>
              <a:bodyPr wrap="none">
                <a:spAutoFit/>
              </a:bodyPr>
              <a:lstStyle/>
              <a:p>
                <a:pPr algn="ctr"/>
                <a:r>
                  <a:rPr lang="en-US" sz="1400" dirty="0">
                    <a:solidFill>
                      <a:schemeClr val="bg1"/>
                    </a:solidFill>
                  </a:rPr>
                  <a:t>8</a:t>
                </a:r>
              </a:p>
            </p:txBody>
          </p:sp>
        </p:grpSp>
        <p:sp>
          <p:nvSpPr>
            <p:cNvPr id="44" name="직사각형 43">
              <a:extLst>
                <a:ext uri="{FF2B5EF4-FFF2-40B4-BE49-F238E27FC236}">
                  <a16:creationId xmlns:a16="http://schemas.microsoft.com/office/drawing/2014/main" id="{DE048137-102B-4146-B21F-1F0938937D01}"/>
                </a:ext>
              </a:extLst>
            </p:cNvPr>
            <p:cNvSpPr/>
            <p:nvPr/>
          </p:nvSpPr>
          <p:spPr>
            <a:xfrm>
              <a:off x="6647263" y="4538554"/>
              <a:ext cx="341760" cy="276999"/>
            </a:xfrm>
            <a:prstGeom prst="rect">
              <a:avLst/>
            </a:prstGeom>
            <a:noFill/>
          </p:spPr>
          <p:txBody>
            <a:bodyPr wrap="none">
              <a:spAutoFit/>
            </a:bodyPr>
            <a:lstStyle/>
            <a:p>
              <a:r>
                <a:rPr lang="en-US" sz="1200" dirty="0">
                  <a:solidFill>
                    <a:schemeClr val="bg1"/>
                  </a:solidFill>
                </a:rPr>
                <a:t>10</a:t>
              </a:r>
              <a:endParaRPr lang="en-US" dirty="0">
                <a:solidFill>
                  <a:schemeClr val="bg1"/>
                </a:solidFill>
              </a:endParaRPr>
            </a:p>
          </p:txBody>
        </p:sp>
      </p:grpSp>
      <p:sp>
        <p:nvSpPr>
          <p:cNvPr id="63" name="직사각형 62">
            <a:extLst>
              <a:ext uri="{FF2B5EF4-FFF2-40B4-BE49-F238E27FC236}">
                <a16:creationId xmlns:a16="http://schemas.microsoft.com/office/drawing/2014/main" id="{B75731B8-B081-4797-8B8B-31315E0F7801}"/>
              </a:ext>
            </a:extLst>
          </p:cNvPr>
          <p:cNvSpPr/>
          <p:nvPr/>
        </p:nvSpPr>
        <p:spPr>
          <a:xfrm>
            <a:off x="2961810" y="2700180"/>
            <a:ext cx="8983980" cy="1446550"/>
          </a:xfrm>
          <a:prstGeom prst="rect">
            <a:avLst/>
          </a:prstGeom>
        </p:spPr>
        <p:txBody>
          <a:bodyPr wrap="square">
            <a:spAutoFit/>
          </a:bodyPr>
          <a:lstStyle/>
          <a:p>
            <a:endParaRPr lang="en-US" sz="2000" dirty="0"/>
          </a:p>
          <a:p>
            <a:r>
              <a:rPr lang="en-US" sz="1400" dirty="0"/>
              <a:t>ex) Betweenness of 5 – 6 edge: Node group (1,2,3,4,5) and (6,7,8,9,10) has to go through 5 – 6 edge to reach each other</a:t>
            </a:r>
            <a:br>
              <a:rPr lang="en-US" sz="2000" dirty="0"/>
            </a:br>
            <a:r>
              <a:rPr lang="en-US" sz="2000" dirty="0"/>
              <a:t>                                        </a:t>
            </a:r>
            <a:r>
              <a:rPr lang="en-US" sz="1400" dirty="0"/>
              <a:t>Thus, 5 x 5 = </a:t>
            </a:r>
            <a:r>
              <a:rPr lang="en-US" sz="1400" b="1" dirty="0"/>
              <a:t>25</a:t>
            </a:r>
            <a:r>
              <a:rPr lang="en-US" sz="2000" dirty="0"/>
              <a:t> </a:t>
            </a:r>
            <a:br>
              <a:rPr lang="en-US" sz="2000" dirty="0"/>
            </a:br>
            <a:r>
              <a:rPr lang="en-US" sz="2000" dirty="0"/>
              <a:t>    </a:t>
            </a:r>
            <a:r>
              <a:rPr lang="en-US" sz="1400" dirty="0"/>
              <a:t>Betweenness of 6 – 9 edge: Node group (1,2,3,4,5,6) has to go through 6 – 9 edge to reach node 10</a:t>
            </a:r>
            <a:br>
              <a:rPr lang="en-US" sz="1400" dirty="0"/>
            </a:br>
            <a:r>
              <a:rPr lang="en-US" sz="1400" dirty="0"/>
              <a:t> 		            Thus, 6  x 1 = </a:t>
            </a:r>
            <a:r>
              <a:rPr lang="en-US" sz="1400" b="1" dirty="0"/>
              <a:t>6</a:t>
            </a:r>
          </a:p>
        </p:txBody>
      </p:sp>
    </p:spTree>
    <p:extLst>
      <p:ext uri="{BB962C8B-B14F-4D97-AF65-F5344CB8AC3E}">
        <p14:creationId xmlns:p14="http://schemas.microsoft.com/office/powerpoint/2010/main" val="227549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Betweenness Measures and Graph Partitioning</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197487" y="1378505"/>
            <a:ext cx="11559508" cy="506028"/>
          </a:xfrm>
        </p:spPr>
        <p:txBody>
          <a:bodyPr>
            <a:normAutofit/>
          </a:bodyPr>
          <a:lstStyle/>
          <a:p>
            <a:pPr marL="0" indent="0">
              <a:buNone/>
            </a:pPr>
            <a:r>
              <a:rPr lang="en-US" sz="2400" i="1" dirty="0"/>
              <a:t>Girvan – Newman Method</a:t>
            </a:r>
            <a:r>
              <a:rPr lang="en-US" sz="2000" dirty="0"/>
              <a:t>: Graph Partitioning by successive deletion of edges of high betweenness</a:t>
            </a:r>
          </a:p>
          <a:p>
            <a:pPr marL="0" indent="0">
              <a:buNone/>
            </a:pPr>
            <a:endParaRPr lang="en-US" sz="2000" dirty="0"/>
          </a:p>
          <a:p>
            <a:pPr marL="0" indent="0">
              <a:buNone/>
            </a:pPr>
            <a:endParaRPr lang="en-US" sz="2000" dirty="0"/>
          </a:p>
        </p:txBody>
      </p:sp>
      <p:sp>
        <p:nvSpPr>
          <p:cNvPr id="37" name="내용 개체 틀 2">
            <a:extLst>
              <a:ext uri="{FF2B5EF4-FFF2-40B4-BE49-F238E27FC236}">
                <a16:creationId xmlns:a16="http://schemas.microsoft.com/office/drawing/2014/main" id="{8AC75AC6-B24C-4C16-8872-2E2669C7C08A}"/>
              </a:ext>
            </a:extLst>
          </p:cNvPr>
          <p:cNvSpPr txBox="1">
            <a:spLocks/>
          </p:cNvSpPr>
          <p:nvPr/>
        </p:nvSpPr>
        <p:spPr>
          <a:xfrm>
            <a:off x="889944" y="1884533"/>
            <a:ext cx="9532439" cy="1009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1. Find the edge or multiple edges of highest betweenness and remove them</a:t>
            </a:r>
            <a:br>
              <a:rPr lang="en-US" sz="1800" dirty="0"/>
            </a:br>
            <a:r>
              <a:rPr lang="en-US" sz="1800" dirty="0"/>
              <a:t>2. Re-calculate the betweenness and again, remove the edge or edges of the highest betweenness</a:t>
            </a:r>
            <a:br>
              <a:rPr lang="en-US" sz="1800" dirty="0"/>
            </a:br>
            <a:r>
              <a:rPr lang="en-US" sz="1800" dirty="0"/>
              <a:t>3. Repeat step 1 and step 2, as long as edges remain in the graph.</a:t>
            </a:r>
            <a:endParaRPr lang="en-US" sz="16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p:txBody>
      </p:sp>
      <p:grpSp>
        <p:nvGrpSpPr>
          <p:cNvPr id="38" name="그룹 37">
            <a:extLst>
              <a:ext uri="{FF2B5EF4-FFF2-40B4-BE49-F238E27FC236}">
                <a16:creationId xmlns:a16="http://schemas.microsoft.com/office/drawing/2014/main" id="{F1E974BD-B91B-4368-BC55-2C9276DBD01A}"/>
              </a:ext>
            </a:extLst>
          </p:cNvPr>
          <p:cNvGrpSpPr/>
          <p:nvPr/>
        </p:nvGrpSpPr>
        <p:grpSpPr>
          <a:xfrm>
            <a:off x="435005" y="3104212"/>
            <a:ext cx="2644814" cy="1719819"/>
            <a:chOff x="1113676" y="3777520"/>
            <a:chExt cx="3340396" cy="2172128"/>
          </a:xfrm>
        </p:grpSpPr>
        <p:grpSp>
          <p:nvGrpSpPr>
            <p:cNvPr id="39" name="그룹 38">
              <a:extLst>
                <a:ext uri="{FF2B5EF4-FFF2-40B4-BE49-F238E27FC236}">
                  <a16:creationId xmlns:a16="http://schemas.microsoft.com/office/drawing/2014/main" id="{D695458E-4176-40E3-93A2-1D689581F8FB}"/>
                </a:ext>
              </a:extLst>
            </p:cNvPr>
            <p:cNvGrpSpPr/>
            <p:nvPr/>
          </p:nvGrpSpPr>
          <p:grpSpPr>
            <a:xfrm>
              <a:off x="1113676" y="3880425"/>
              <a:ext cx="3200447" cy="1994597"/>
              <a:chOff x="3392056" y="3363968"/>
              <a:chExt cx="4141636" cy="2581169"/>
            </a:xfrm>
          </p:grpSpPr>
          <p:grpSp>
            <p:nvGrpSpPr>
              <p:cNvPr id="46" name="그룹 45">
                <a:extLst>
                  <a:ext uri="{FF2B5EF4-FFF2-40B4-BE49-F238E27FC236}">
                    <a16:creationId xmlns:a16="http://schemas.microsoft.com/office/drawing/2014/main" id="{8C51E45F-2FDC-4586-A9CC-A89472B2D76A}"/>
                  </a:ext>
                </a:extLst>
              </p:cNvPr>
              <p:cNvGrpSpPr/>
              <p:nvPr/>
            </p:nvGrpSpPr>
            <p:grpSpPr>
              <a:xfrm>
                <a:off x="3392056" y="3389998"/>
                <a:ext cx="1718476" cy="2516137"/>
                <a:chOff x="3392056" y="3389998"/>
                <a:chExt cx="1718476" cy="2516137"/>
              </a:xfrm>
            </p:grpSpPr>
            <p:cxnSp>
              <p:nvCxnSpPr>
                <p:cNvPr id="67" name="직선 연결선 66">
                  <a:extLst>
                    <a:ext uri="{FF2B5EF4-FFF2-40B4-BE49-F238E27FC236}">
                      <a16:creationId xmlns:a16="http://schemas.microsoft.com/office/drawing/2014/main" id="{52FE7EBC-D73F-40F8-9ECA-D4D50DF69678}"/>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95074E1A-85D0-4BBA-BA2C-CC39A27FD346}"/>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직선 연결선 68">
                  <a:extLst>
                    <a:ext uri="{FF2B5EF4-FFF2-40B4-BE49-F238E27FC236}">
                      <a16:creationId xmlns:a16="http://schemas.microsoft.com/office/drawing/2014/main" id="{4C536D0C-E29C-446C-B267-A397860D7887}"/>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타원 69">
                  <a:extLst>
                    <a:ext uri="{FF2B5EF4-FFF2-40B4-BE49-F238E27FC236}">
                      <a16:creationId xmlns:a16="http://schemas.microsoft.com/office/drawing/2014/main" id="{0BF80779-EBE9-4182-AECD-E9482E7EA8B3}"/>
                    </a:ext>
                  </a:extLst>
                </p:cNvPr>
                <p:cNvSpPr/>
                <p:nvPr/>
              </p:nvSpPr>
              <p:spPr>
                <a:xfrm>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7</a:t>
                  </a:r>
                </a:p>
              </p:txBody>
            </p:sp>
            <p:cxnSp>
              <p:nvCxnSpPr>
                <p:cNvPr id="71" name="직선 연결선 70">
                  <a:extLst>
                    <a:ext uri="{FF2B5EF4-FFF2-40B4-BE49-F238E27FC236}">
                      <a16:creationId xmlns:a16="http://schemas.microsoft.com/office/drawing/2014/main" id="{B4128520-BC3B-48D5-90DA-4E41225B8D15}"/>
                    </a:ext>
                  </a:extLst>
                </p:cNvPr>
                <p:cNvCxnSpPr>
                  <a:cxnSpLocks/>
                  <a:endCxn id="70" idx="3"/>
                </p:cNvCxnSpPr>
                <p:nvPr/>
              </p:nvCxnSpPr>
              <p:spPr>
                <a:xfrm flipV="1">
                  <a:off x="4181911" y="4771486"/>
                  <a:ext cx="678072" cy="4398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타원 71">
                  <a:extLst>
                    <a:ext uri="{FF2B5EF4-FFF2-40B4-BE49-F238E27FC236}">
                      <a16:creationId xmlns:a16="http://schemas.microsoft.com/office/drawing/2014/main" id="{E1529476-B557-4538-8283-596F0A723142}"/>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3</a:t>
                  </a:r>
                </a:p>
              </p:txBody>
            </p:sp>
            <p:sp>
              <p:nvSpPr>
                <p:cNvPr id="73" name="타원 72">
                  <a:extLst>
                    <a:ext uri="{FF2B5EF4-FFF2-40B4-BE49-F238E27FC236}">
                      <a16:creationId xmlns:a16="http://schemas.microsoft.com/office/drawing/2014/main" id="{789E6CCE-F10E-44AE-9313-91E829CC2CBC}"/>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2</a:t>
                  </a:r>
                </a:p>
              </p:txBody>
            </p:sp>
            <p:sp>
              <p:nvSpPr>
                <p:cNvPr id="74" name="타원 73">
                  <a:extLst>
                    <a:ext uri="{FF2B5EF4-FFF2-40B4-BE49-F238E27FC236}">
                      <a16:creationId xmlns:a16="http://schemas.microsoft.com/office/drawing/2014/main" id="{BA9BB3FE-6FEF-4B0F-B07A-589A3BCC308A}"/>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1</a:t>
                  </a:r>
                </a:p>
              </p:txBody>
            </p:sp>
            <p:grpSp>
              <p:nvGrpSpPr>
                <p:cNvPr id="75" name="그룹 74">
                  <a:extLst>
                    <a:ext uri="{FF2B5EF4-FFF2-40B4-BE49-F238E27FC236}">
                      <a16:creationId xmlns:a16="http://schemas.microsoft.com/office/drawing/2014/main" id="{419AA09B-7C9D-4287-B857-F2F3B05207EF}"/>
                    </a:ext>
                  </a:extLst>
                </p:cNvPr>
                <p:cNvGrpSpPr/>
                <p:nvPr/>
              </p:nvGrpSpPr>
              <p:grpSpPr>
                <a:xfrm rot="3600000">
                  <a:off x="3392056" y="4930893"/>
                  <a:ext cx="1108876" cy="841607"/>
                  <a:chOff x="3392056" y="4930893"/>
                  <a:chExt cx="1108876" cy="841607"/>
                </a:xfrm>
              </p:grpSpPr>
              <p:sp>
                <p:nvSpPr>
                  <p:cNvPr id="80" name="타원 79">
                    <a:extLst>
                      <a:ext uri="{FF2B5EF4-FFF2-40B4-BE49-F238E27FC236}">
                        <a16:creationId xmlns:a16="http://schemas.microsoft.com/office/drawing/2014/main" id="{FF73AF35-8645-4A63-92E2-5FBC3B31DF4B}"/>
                      </a:ext>
                    </a:extLst>
                  </p:cNvPr>
                  <p:cNvSpPr/>
                  <p:nvPr/>
                </p:nvSpPr>
                <p:spPr>
                  <a:xfrm rot="18172992">
                    <a:off x="420739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6</a:t>
                    </a:r>
                  </a:p>
                </p:txBody>
              </p:sp>
              <p:sp>
                <p:nvSpPr>
                  <p:cNvPr id="81" name="타원 80">
                    <a:extLst>
                      <a:ext uri="{FF2B5EF4-FFF2-40B4-BE49-F238E27FC236}">
                        <a16:creationId xmlns:a16="http://schemas.microsoft.com/office/drawing/2014/main" id="{B9AE1D17-F2A0-409F-A1CC-DCFDC1706F4E}"/>
                      </a:ext>
                    </a:extLst>
                  </p:cNvPr>
                  <p:cNvSpPr/>
                  <p:nvPr/>
                </p:nvSpPr>
                <p:spPr>
                  <a:xfrm rot="18883256">
                    <a:off x="3795917"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5</a:t>
                    </a:r>
                  </a:p>
                </p:txBody>
              </p:sp>
              <p:sp>
                <p:nvSpPr>
                  <p:cNvPr id="82" name="타원 81">
                    <a:extLst>
                      <a:ext uri="{FF2B5EF4-FFF2-40B4-BE49-F238E27FC236}">
                        <a16:creationId xmlns:a16="http://schemas.microsoft.com/office/drawing/2014/main" id="{550CEC90-0E51-4F88-B7A6-35FCB68C522D}"/>
                      </a:ext>
                    </a:extLst>
                  </p:cNvPr>
                  <p:cNvSpPr/>
                  <p:nvPr/>
                </p:nvSpPr>
                <p:spPr>
                  <a:xfrm rot="180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4</a:t>
                    </a:r>
                  </a:p>
                </p:txBody>
              </p:sp>
            </p:grpSp>
            <p:cxnSp>
              <p:nvCxnSpPr>
                <p:cNvPr id="76" name="직선 연결선 75">
                  <a:extLst>
                    <a:ext uri="{FF2B5EF4-FFF2-40B4-BE49-F238E27FC236}">
                      <a16:creationId xmlns:a16="http://schemas.microsoft.com/office/drawing/2014/main" id="{61783A6A-3E45-4ACB-9B28-8CB2B27B29FA}"/>
                    </a:ext>
                  </a:extLst>
                </p:cNvPr>
                <p:cNvCxnSpPr>
                  <a:cxnSpLocks/>
                  <a:stCxn id="73" idx="6"/>
                  <a:endCxn id="72"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269F15F7-C513-411D-8A63-478D2E605AA8}"/>
                    </a:ext>
                  </a:extLst>
                </p:cNvPr>
                <p:cNvCxnSpPr>
                  <a:cxnSpLocks/>
                  <a:stCxn id="72" idx="1"/>
                  <a:endCxn id="74"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D6FB031C-5426-4499-B1E8-17443236FA40}"/>
                    </a:ext>
                  </a:extLst>
                </p:cNvPr>
                <p:cNvCxnSpPr>
                  <a:cxnSpLocks/>
                  <a:stCxn id="73" idx="7"/>
                  <a:endCxn id="74"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F65F0A97-E8C3-4CC7-81C7-45CCFC8969AB}"/>
                    </a:ext>
                  </a:extLst>
                </p:cNvPr>
                <p:cNvCxnSpPr>
                  <a:cxnSpLocks/>
                  <a:stCxn id="72" idx="5"/>
                  <a:endCxn id="70" idx="1"/>
                </p:cNvCxnSpPr>
                <p:nvPr/>
              </p:nvCxnSpPr>
              <p:spPr>
                <a:xfrm>
                  <a:off x="4457945" y="4188618"/>
                  <a:ext cx="402038" cy="3753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그룹 46">
                <a:extLst>
                  <a:ext uri="{FF2B5EF4-FFF2-40B4-BE49-F238E27FC236}">
                    <a16:creationId xmlns:a16="http://schemas.microsoft.com/office/drawing/2014/main" id="{59B1EBE9-23A2-495A-A714-B2A5E2FA5940}"/>
                  </a:ext>
                </a:extLst>
              </p:cNvPr>
              <p:cNvGrpSpPr/>
              <p:nvPr/>
            </p:nvGrpSpPr>
            <p:grpSpPr>
              <a:xfrm rot="10800000">
                <a:off x="5815216" y="3363968"/>
                <a:ext cx="1718476" cy="2581169"/>
                <a:chOff x="3392056" y="3389998"/>
                <a:chExt cx="1718476" cy="2581169"/>
              </a:xfrm>
            </p:grpSpPr>
            <p:cxnSp>
              <p:nvCxnSpPr>
                <p:cNvPr id="49" name="직선 연결선 48">
                  <a:extLst>
                    <a:ext uri="{FF2B5EF4-FFF2-40B4-BE49-F238E27FC236}">
                      <a16:creationId xmlns:a16="http://schemas.microsoft.com/office/drawing/2014/main" id="{D32E1BA1-2653-4697-A919-3F6812504ADE}"/>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20DCDF8B-FF0F-4C6D-8B59-3E55C54A8730}"/>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37BC4AEC-2D53-48BC-A109-E4E0CFDEBE9D}"/>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타원 51">
                  <a:extLst>
                    <a:ext uri="{FF2B5EF4-FFF2-40B4-BE49-F238E27FC236}">
                      <a16:creationId xmlns:a16="http://schemas.microsoft.com/office/drawing/2014/main" id="{FBE6E086-CED2-4B17-A672-0B16B574DAFA}"/>
                    </a:ext>
                  </a:extLst>
                </p:cNvPr>
                <p:cNvSpPr/>
                <p:nvPr/>
              </p:nvSpPr>
              <p:spPr>
                <a:xfrm rot="10607499">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8</a:t>
                  </a:r>
                </a:p>
              </p:txBody>
            </p:sp>
            <p:cxnSp>
              <p:nvCxnSpPr>
                <p:cNvPr id="53" name="직선 연결선 52">
                  <a:extLst>
                    <a:ext uri="{FF2B5EF4-FFF2-40B4-BE49-F238E27FC236}">
                      <a16:creationId xmlns:a16="http://schemas.microsoft.com/office/drawing/2014/main" id="{B3DC7007-A3EE-44A3-AD90-B51C6C1406C5}"/>
                    </a:ext>
                  </a:extLst>
                </p:cNvPr>
                <p:cNvCxnSpPr>
                  <a:cxnSpLocks/>
                  <a:stCxn id="65" idx="2"/>
                  <a:endCxn id="52" idx="7"/>
                </p:cNvCxnSpPr>
                <p:nvPr/>
              </p:nvCxnSpPr>
              <p:spPr>
                <a:xfrm rot="10800000" flipH="1">
                  <a:off x="4324582" y="4777132"/>
                  <a:ext cx="541371" cy="3998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타원 53">
                  <a:extLst>
                    <a:ext uri="{FF2B5EF4-FFF2-40B4-BE49-F238E27FC236}">
                      <a16:creationId xmlns:a16="http://schemas.microsoft.com/office/drawing/2014/main" id="{6D4727A2-27B5-4C09-8333-764DF3F6BF06}"/>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55" name="타원 54">
                  <a:extLst>
                    <a:ext uri="{FF2B5EF4-FFF2-40B4-BE49-F238E27FC236}">
                      <a16:creationId xmlns:a16="http://schemas.microsoft.com/office/drawing/2014/main" id="{200C103F-4458-4C47-B366-0CF5D95E0824}"/>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56" name="타원 55">
                  <a:extLst>
                    <a:ext uri="{FF2B5EF4-FFF2-40B4-BE49-F238E27FC236}">
                      <a16:creationId xmlns:a16="http://schemas.microsoft.com/office/drawing/2014/main" id="{45EB253D-8831-4BF9-B6A4-8ED554334F88}"/>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nvGrpSpPr>
                <p:cNvPr id="57" name="그룹 56">
                  <a:extLst>
                    <a:ext uri="{FF2B5EF4-FFF2-40B4-BE49-F238E27FC236}">
                      <a16:creationId xmlns:a16="http://schemas.microsoft.com/office/drawing/2014/main" id="{032743A4-73A1-4512-9E2A-55DEFF7DE824}"/>
                    </a:ext>
                  </a:extLst>
                </p:cNvPr>
                <p:cNvGrpSpPr/>
                <p:nvPr/>
              </p:nvGrpSpPr>
              <p:grpSpPr>
                <a:xfrm rot="3600000">
                  <a:off x="3353376" y="4939820"/>
                  <a:ext cx="1163018" cy="899676"/>
                  <a:chOff x="3392056" y="4930893"/>
                  <a:chExt cx="1163018" cy="899676"/>
                </a:xfrm>
              </p:grpSpPr>
              <p:sp>
                <p:nvSpPr>
                  <p:cNvPr id="64" name="타원 63">
                    <a:extLst>
                      <a:ext uri="{FF2B5EF4-FFF2-40B4-BE49-F238E27FC236}">
                        <a16:creationId xmlns:a16="http://schemas.microsoft.com/office/drawing/2014/main" id="{35EB50E9-B39C-482E-9654-4DDA811FC90F}"/>
                      </a:ext>
                    </a:extLst>
                  </p:cNvPr>
                  <p:cNvSpPr/>
                  <p:nvPr/>
                </p:nvSpPr>
                <p:spPr>
                  <a:xfrm rot="7200000">
                    <a:off x="4221037" y="5496532"/>
                    <a:ext cx="374538"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dirty="0">
                      <a:solidFill>
                        <a:schemeClr val="bg1"/>
                      </a:solidFill>
                    </a:endParaRPr>
                  </a:p>
                </p:txBody>
              </p:sp>
              <p:sp>
                <p:nvSpPr>
                  <p:cNvPr id="65" name="타원 64">
                    <a:extLst>
                      <a:ext uri="{FF2B5EF4-FFF2-40B4-BE49-F238E27FC236}">
                        <a16:creationId xmlns:a16="http://schemas.microsoft.com/office/drawing/2014/main" id="{5A6762A9-DF87-4934-91FD-530B2B3A146F}"/>
                      </a:ext>
                    </a:extLst>
                  </p:cNvPr>
                  <p:cNvSpPr/>
                  <p:nvPr/>
                </p:nvSpPr>
                <p:spPr>
                  <a:xfrm rot="6385941">
                    <a:off x="3795915"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9</a:t>
                    </a:r>
                  </a:p>
                </p:txBody>
              </p:sp>
              <p:sp>
                <p:nvSpPr>
                  <p:cNvPr id="66" name="타원 65">
                    <a:extLst>
                      <a:ext uri="{FF2B5EF4-FFF2-40B4-BE49-F238E27FC236}">
                        <a16:creationId xmlns:a16="http://schemas.microsoft.com/office/drawing/2014/main" id="{AC2D9313-0210-4E18-865A-A19994EEEE71}"/>
                      </a:ext>
                    </a:extLst>
                  </p:cNvPr>
                  <p:cNvSpPr/>
                  <p:nvPr/>
                </p:nvSpPr>
                <p:spPr>
                  <a:xfrm rot="18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cxnSp>
              <p:nvCxnSpPr>
                <p:cNvPr id="58" name="직선 연결선 57">
                  <a:extLst>
                    <a:ext uri="{FF2B5EF4-FFF2-40B4-BE49-F238E27FC236}">
                      <a16:creationId xmlns:a16="http://schemas.microsoft.com/office/drawing/2014/main" id="{4911EDE4-F7FD-4AC2-8121-6A1E84F35DAD}"/>
                    </a:ext>
                  </a:extLst>
                </p:cNvPr>
                <p:cNvCxnSpPr>
                  <a:cxnSpLocks/>
                  <a:stCxn id="55" idx="6"/>
                  <a:endCxn id="54"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9349891D-C9E1-4827-B6B3-209DE14BADCB}"/>
                    </a:ext>
                  </a:extLst>
                </p:cNvPr>
                <p:cNvCxnSpPr>
                  <a:cxnSpLocks/>
                  <a:stCxn id="54" idx="1"/>
                  <a:endCxn id="56"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D6589CE5-8BD7-4133-9DD6-D7B378C927AC}"/>
                    </a:ext>
                  </a:extLst>
                </p:cNvPr>
                <p:cNvCxnSpPr>
                  <a:cxnSpLocks/>
                  <a:stCxn id="55" idx="7"/>
                  <a:endCxn id="56"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ED258262-FEF6-4B11-9251-2C532A6F4D2F}"/>
                    </a:ext>
                  </a:extLst>
                </p:cNvPr>
                <p:cNvCxnSpPr>
                  <a:cxnSpLocks/>
                  <a:stCxn id="54" idx="5"/>
                  <a:endCxn id="52" idx="5"/>
                </p:cNvCxnSpPr>
                <p:nvPr/>
              </p:nvCxnSpPr>
              <p:spPr>
                <a:xfrm rot="10800000" flipH="1" flipV="1">
                  <a:off x="4457945" y="4188618"/>
                  <a:ext cx="396391" cy="3812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직선 연결선 47">
                <a:extLst>
                  <a:ext uri="{FF2B5EF4-FFF2-40B4-BE49-F238E27FC236}">
                    <a16:creationId xmlns:a16="http://schemas.microsoft.com/office/drawing/2014/main" id="{923B7089-C694-4A73-B13B-9B7AF2971189}"/>
                  </a:ext>
                </a:extLst>
              </p:cNvPr>
              <p:cNvCxnSpPr>
                <a:cxnSpLocks/>
                <a:stCxn id="70" idx="6"/>
                <a:endCxn id="52" idx="2"/>
              </p:cNvCxnSpPr>
              <p:nvPr/>
            </p:nvCxnSpPr>
            <p:spPr>
              <a:xfrm>
                <a:off x="5110531" y="4667705"/>
                <a:ext cx="704915" cy="79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직사각형 39">
              <a:extLst>
                <a:ext uri="{FF2B5EF4-FFF2-40B4-BE49-F238E27FC236}">
                  <a16:creationId xmlns:a16="http://schemas.microsoft.com/office/drawing/2014/main" id="{2AB976D5-4990-422C-AE9F-EACC4F6DA38B}"/>
                </a:ext>
              </a:extLst>
            </p:cNvPr>
            <p:cNvSpPr/>
            <p:nvPr/>
          </p:nvSpPr>
          <p:spPr>
            <a:xfrm>
              <a:off x="3664631" y="3777520"/>
              <a:ext cx="521423" cy="349849"/>
            </a:xfrm>
            <a:prstGeom prst="rect">
              <a:avLst/>
            </a:prstGeom>
          </p:spPr>
          <p:txBody>
            <a:bodyPr wrap="square">
              <a:spAutoFit/>
            </a:bodyPr>
            <a:lstStyle/>
            <a:p>
              <a:pPr algn="ctr"/>
              <a:r>
                <a:rPr lang="en-US" sz="1200" dirty="0">
                  <a:solidFill>
                    <a:schemeClr val="bg1"/>
                  </a:solidFill>
                </a:rPr>
                <a:t>10</a:t>
              </a:r>
            </a:p>
          </p:txBody>
        </p:sp>
        <p:sp>
          <p:nvSpPr>
            <p:cNvPr id="41" name="직사각형 40">
              <a:extLst>
                <a:ext uri="{FF2B5EF4-FFF2-40B4-BE49-F238E27FC236}">
                  <a16:creationId xmlns:a16="http://schemas.microsoft.com/office/drawing/2014/main" id="{AE2BFF87-AE8E-4849-A1B9-D36E5A918058}"/>
                </a:ext>
              </a:extLst>
            </p:cNvPr>
            <p:cNvSpPr/>
            <p:nvPr/>
          </p:nvSpPr>
          <p:spPr>
            <a:xfrm>
              <a:off x="4022428" y="4377358"/>
              <a:ext cx="431644" cy="349849"/>
            </a:xfrm>
            <a:prstGeom prst="rect">
              <a:avLst/>
            </a:prstGeom>
          </p:spPr>
          <p:txBody>
            <a:bodyPr wrap="none">
              <a:spAutoFit/>
            </a:bodyPr>
            <a:lstStyle/>
            <a:p>
              <a:pPr algn="ctr"/>
              <a:r>
                <a:rPr lang="en-US" sz="1200" dirty="0">
                  <a:solidFill>
                    <a:schemeClr val="bg1"/>
                  </a:solidFill>
                </a:rPr>
                <a:t>11</a:t>
              </a:r>
            </a:p>
          </p:txBody>
        </p:sp>
        <p:sp>
          <p:nvSpPr>
            <p:cNvPr id="42" name="직사각형 41">
              <a:extLst>
                <a:ext uri="{FF2B5EF4-FFF2-40B4-BE49-F238E27FC236}">
                  <a16:creationId xmlns:a16="http://schemas.microsoft.com/office/drawing/2014/main" id="{43DD1D80-3EF2-425E-BD19-E66823C2CAAB}"/>
                </a:ext>
              </a:extLst>
            </p:cNvPr>
            <p:cNvSpPr/>
            <p:nvPr/>
          </p:nvSpPr>
          <p:spPr>
            <a:xfrm>
              <a:off x="3986675" y="5174185"/>
              <a:ext cx="431644" cy="349849"/>
            </a:xfrm>
            <a:prstGeom prst="rect">
              <a:avLst/>
            </a:prstGeom>
          </p:spPr>
          <p:txBody>
            <a:bodyPr wrap="none">
              <a:spAutoFit/>
            </a:bodyPr>
            <a:lstStyle/>
            <a:p>
              <a:pPr algn="ctr"/>
              <a:r>
                <a:rPr lang="en-US" sz="1200" dirty="0">
                  <a:solidFill>
                    <a:schemeClr val="bg1"/>
                  </a:solidFill>
                </a:rPr>
                <a:t>12</a:t>
              </a:r>
            </a:p>
          </p:txBody>
        </p:sp>
        <p:sp>
          <p:nvSpPr>
            <p:cNvPr id="43" name="직사각형 42">
              <a:extLst>
                <a:ext uri="{FF2B5EF4-FFF2-40B4-BE49-F238E27FC236}">
                  <a16:creationId xmlns:a16="http://schemas.microsoft.com/office/drawing/2014/main" id="{D5945A14-DEBC-46AB-8516-46B8BFE8ED0A}"/>
                </a:ext>
              </a:extLst>
            </p:cNvPr>
            <p:cNvSpPr/>
            <p:nvPr/>
          </p:nvSpPr>
          <p:spPr>
            <a:xfrm>
              <a:off x="3678001" y="5599799"/>
              <a:ext cx="431644" cy="349849"/>
            </a:xfrm>
            <a:prstGeom prst="rect">
              <a:avLst/>
            </a:prstGeom>
          </p:spPr>
          <p:txBody>
            <a:bodyPr wrap="none">
              <a:spAutoFit/>
            </a:bodyPr>
            <a:lstStyle/>
            <a:p>
              <a:pPr algn="ctr"/>
              <a:r>
                <a:rPr lang="en-US" sz="1200" dirty="0">
                  <a:solidFill>
                    <a:schemeClr val="bg1"/>
                  </a:solidFill>
                </a:rPr>
                <a:t>13</a:t>
              </a:r>
            </a:p>
          </p:txBody>
        </p:sp>
        <p:sp>
          <p:nvSpPr>
            <p:cNvPr id="45" name="직사각형 44">
              <a:extLst>
                <a:ext uri="{FF2B5EF4-FFF2-40B4-BE49-F238E27FC236}">
                  <a16:creationId xmlns:a16="http://schemas.microsoft.com/office/drawing/2014/main" id="{F4B91E99-51D9-4110-B8DF-8EF092BE77C2}"/>
                </a:ext>
              </a:extLst>
            </p:cNvPr>
            <p:cNvSpPr/>
            <p:nvPr/>
          </p:nvSpPr>
          <p:spPr>
            <a:xfrm>
              <a:off x="3358158" y="5183216"/>
              <a:ext cx="431644" cy="349849"/>
            </a:xfrm>
            <a:prstGeom prst="rect">
              <a:avLst/>
            </a:prstGeom>
          </p:spPr>
          <p:txBody>
            <a:bodyPr wrap="none">
              <a:spAutoFit/>
            </a:bodyPr>
            <a:lstStyle/>
            <a:p>
              <a:pPr algn="ctr"/>
              <a:r>
                <a:rPr lang="en-US" sz="1200" dirty="0">
                  <a:solidFill>
                    <a:schemeClr val="bg1"/>
                  </a:solidFill>
                </a:rPr>
                <a:t>14</a:t>
              </a:r>
            </a:p>
          </p:txBody>
        </p:sp>
      </p:grpSp>
      <p:cxnSp>
        <p:nvCxnSpPr>
          <p:cNvPr id="83" name="직선 화살표 연결선 82">
            <a:extLst>
              <a:ext uri="{FF2B5EF4-FFF2-40B4-BE49-F238E27FC236}">
                <a16:creationId xmlns:a16="http://schemas.microsoft.com/office/drawing/2014/main" id="{27BE31B1-B55E-4A14-BEB3-ECD3C8E028D9}"/>
              </a:ext>
            </a:extLst>
          </p:cNvPr>
          <p:cNvCxnSpPr>
            <a:cxnSpLocks/>
          </p:cNvCxnSpPr>
          <p:nvPr/>
        </p:nvCxnSpPr>
        <p:spPr>
          <a:xfrm>
            <a:off x="3079819" y="3984003"/>
            <a:ext cx="82635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4" name="그룹 83">
            <a:extLst>
              <a:ext uri="{FF2B5EF4-FFF2-40B4-BE49-F238E27FC236}">
                <a16:creationId xmlns:a16="http://schemas.microsoft.com/office/drawing/2014/main" id="{B3313139-AE1E-47A1-B2D1-A5632AF56E01}"/>
              </a:ext>
            </a:extLst>
          </p:cNvPr>
          <p:cNvGrpSpPr/>
          <p:nvPr/>
        </p:nvGrpSpPr>
        <p:grpSpPr>
          <a:xfrm>
            <a:off x="3767169" y="3056402"/>
            <a:ext cx="2644814" cy="1739498"/>
            <a:chOff x="1113676" y="3752665"/>
            <a:chExt cx="3340396" cy="2196983"/>
          </a:xfrm>
        </p:grpSpPr>
        <p:grpSp>
          <p:nvGrpSpPr>
            <p:cNvPr id="85" name="그룹 84">
              <a:extLst>
                <a:ext uri="{FF2B5EF4-FFF2-40B4-BE49-F238E27FC236}">
                  <a16:creationId xmlns:a16="http://schemas.microsoft.com/office/drawing/2014/main" id="{028CAB77-298B-41D8-B8C1-FDDF592A395F}"/>
                </a:ext>
              </a:extLst>
            </p:cNvPr>
            <p:cNvGrpSpPr/>
            <p:nvPr/>
          </p:nvGrpSpPr>
          <p:grpSpPr>
            <a:xfrm>
              <a:off x="1113676" y="3880425"/>
              <a:ext cx="3200447" cy="1994597"/>
              <a:chOff x="3392056" y="3363968"/>
              <a:chExt cx="4141636" cy="2581169"/>
            </a:xfrm>
          </p:grpSpPr>
          <p:grpSp>
            <p:nvGrpSpPr>
              <p:cNvPr id="91" name="그룹 90">
                <a:extLst>
                  <a:ext uri="{FF2B5EF4-FFF2-40B4-BE49-F238E27FC236}">
                    <a16:creationId xmlns:a16="http://schemas.microsoft.com/office/drawing/2014/main" id="{5F51F459-03CE-4CA9-B7E5-75DCDD161DFB}"/>
                  </a:ext>
                </a:extLst>
              </p:cNvPr>
              <p:cNvGrpSpPr/>
              <p:nvPr/>
            </p:nvGrpSpPr>
            <p:grpSpPr>
              <a:xfrm>
                <a:off x="3392056" y="3389998"/>
                <a:ext cx="1718476" cy="2516137"/>
                <a:chOff x="3392056" y="3389998"/>
                <a:chExt cx="1718476" cy="2516137"/>
              </a:xfrm>
            </p:grpSpPr>
            <p:cxnSp>
              <p:nvCxnSpPr>
                <p:cNvPr id="122" name="직선 연결선 121">
                  <a:extLst>
                    <a:ext uri="{FF2B5EF4-FFF2-40B4-BE49-F238E27FC236}">
                      <a16:creationId xmlns:a16="http://schemas.microsoft.com/office/drawing/2014/main" id="{FC480AA0-B907-4026-AEB0-B7CCD01407C9}"/>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6EC6551C-C0C6-4850-A4B9-45EAF17B7CCB}"/>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1F108AB6-D9C0-4C29-8500-E951F222365C}"/>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타원 124">
                  <a:extLst>
                    <a:ext uri="{FF2B5EF4-FFF2-40B4-BE49-F238E27FC236}">
                      <a16:creationId xmlns:a16="http://schemas.microsoft.com/office/drawing/2014/main" id="{40066F03-FA5B-4F54-A24C-8606615D67B7}"/>
                    </a:ext>
                  </a:extLst>
                </p:cNvPr>
                <p:cNvSpPr/>
                <p:nvPr/>
              </p:nvSpPr>
              <p:spPr>
                <a:xfrm>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7</a:t>
                  </a:r>
                </a:p>
              </p:txBody>
            </p:sp>
            <p:cxnSp>
              <p:nvCxnSpPr>
                <p:cNvPr id="126" name="직선 연결선 125">
                  <a:extLst>
                    <a:ext uri="{FF2B5EF4-FFF2-40B4-BE49-F238E27FC236}">
                      <a16:creationId xmlns:a16="http://schemas.microsoft.com/office/drawing/2014/main" id="{8214510B-24AE-449F-BBA3-DDC7C2E72AFF}"/>
                    </a:ext>
                  </a:extLst>
                </p:cNvPr>
                <p:cNvCxnSpPr>
                  <a:cxnSpLocks/>
                  <a:endCxn id="125" idx="3"/>
                </p:cNvCxnSpPr>
                <p:nvPr/>
              </p:nvCxnSpPr>
              <p:spPr>
                <a:xfrm flipV="1">
                  <a:off x="4181911" y="4771486"/>
                  <a:ext cx="678072" cy="4398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타원 126">
                  <a:extLst>
                    <a:ext uri="{FF2B5EF4-FFF2-40B4-BE49-F238E27FC236}">
                      <a16:creationId xmlns:a16="http://schemas.microsoft.com/office/drawing/2014/main" id="{1A206C5D-E391-4867-9DB3-0F86ADDB02E6}"/>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3</a:t>
                  </a:r>
                </a:p>
              </p:txBody>
            </p:sp>
            <p:sp>
              <p:nvSpPr>
                <p:cNvPr id="128" name="타원 127">
                  <a:extLst>
                    <a:ext uri="{FF2B5EF4-FFF2-40B4-BE49-F238E27FC236}">
                      <a16:creationId xmlns:a16="http://schemas.microsoft.com/office/drawing/2014/main" id="{8DA564C9-E3A6-4AB3-A434-D69723DCB171}"/>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2</a:t>
                  </a:r>
                </a:p>
              </p:txBody>
            </p:sp>
            <p:sp>
              <p:nvSpPr>
                <p:cNvPr id="129" name="타원 128">
                  <a:extLst>
                    <a:ext uri="{FF2B5EF4-FFF2-40B4-BE49-F238E27FC236}">
                      <a16:creationId xmlns:a16="http://schemas.microsoft.com/office/drawing/2014/main" id="{84053841-A0EF-4040-9B71-6C83EE5DFADD}"/>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1</a:t>
                  </a:r>
                </a:p>
              </p:txBody>
            </p:sp>
            <p:grpSp>
              <p:nvGrpSpPr>
                <p:cNvPr id="130" name="그룹 129">
                  <a:extLst>
                    <a:ext uri="{FF2B5EF4-FFF2-40B4-BE49-F238E27FC236}">
                      <a16:creationId xmlns:a16="http://schemas.microsoft.com/office/drawing/2014/main" id="{35A5CBD1-60FC-464D-A70D-0CF9A9B82C5F}"/>
                    </a:ext>
                  </a:extLst>
                </p:cNvPr>
                <p:cNvGrpSpPr/>
                <p:nvPr/>
              </p:nvGrpSpPr>
              <p:grpSpPr>
                <a:xfrm rot="3600000">
                  <a:off x="3392056" y="4930893"/>
                  <a:ext cx="1108876" cy="841607"/>
                  <a:chOff x="3392056" y="4930893"/>
                  <a:chExt cx="1108876" cy="841607"/>
                </a:xfrm>
              </p:grpSpPr>
              <p:sp>
                <p:nvSpPr>
                  <p:cNvPr id="135" name="타원 134">
                    <a:extLst>
                      <a:ext uri="{FF2B5EF4-FFF2-40B4-BE49-F238E27FC236}">
                        <a16:creationId xmlns:a16="http://schemas.microsoft.com/office/drawing/2014/main" id="{F1E7ED14-D3C8-4A06-8A56-C87C163AFBB0}"/>
                      </a:ext>
                    </a:extLst>
                  </p:cNvPr>
                  <p:cNvSpPr/>
                  <p:nvPr/>
                </p:nvSpPr>
                <p:spPr>
                  <a:xfrm rot="18172992">
                    <a:off x="420739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6</a:t>
                    </a:r>
                  </a:p>
                </p:txBody>
              </p:sp>
              <p:sp>
                <p:nvSpPr>
                  <p:cNvPr id="136" name="타원 135">
                    <a:extLst>
                      <a:ext uri="{FF2B5EF4-FFF2-40B4-BE49-F238E27FC236}">
                        <a16:creationId xmlns:a16="http://schemas.microsoft.com/office/drawing/2014/main" id="{1BB67B1E-EEA3-4E52-BDF2-A4C1E28738CE}"/>
                      </a:ext>
                    </a:extLst>
                  </p:cNvPr>
                  <p:cNvSpPr/>
                  <p:nvPr/>
                </p:nvSpPr>
                <p:spPr>
                  <a:xfrm rot="18883256">
                    <a:off x="3795917"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5</a:t>
                    </a:r>
                  </a:p>
                </p:txBody>
              </p:sp>
              <p:sp>
                <p:nvSpPr>
                  <p:cNvPr id="137" name="타원 136">
                    <a:extLst>
                      <a:ext uri="{FF2B5EF4-FFF2-40B4-BE49-F238E27FC236}">
                        <a16:creationId xmlns:a16="http://schemas.microsoft.com/office/drawing/2014/main" id="{BD1E67B7-73E7-41AB-A786-E59D9FF36162}"/>
                      </a:ext>
                    </a:extLst>
                  </p:cNvPr>
                  <p:cNvSpPr/>
                  <p:nvPr/>
                </p:nvSpPr>
                <p:spPr>
                  <a:xfrm rot="180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4</a:t>
                    </a:r>
                  </a:p>
                </p:txBody>
              </p:sp>
            </p:grpSp>
            <p:cxnSp>
              <p:nvCxnSpPr>
                <p:cNvPr id="131" name="직선 연결선 130">
                  <a:extLst>
                    <a:ext uri="{FF2B5EF4-FFF2-40B4-BE49-F238E27FC236}">
                      <a16:creationId xmlns:a16="http://schemas.microsoft.com/office/drawing/2014/main" id="{1C997BDD-5510-4D16-B1F6-360163E3965D}"/>
                    </a:ext>
                  </a:extLst>
                </p:cNvPr>
                <p:cNvCxnSpPr>
                  <a:cxnSpLocks/>
                  <a:stCxn id="128" idx="6"/>
                  <a:endCxn id="127"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직선 연결선 131">
                  <a:extLst>
                    <a:ext uri="{FF2B5EF4-FFF2-40B4-BE49-F238E27FC236}">
                      <a16:creationId xmlns:a16="http://schemas.microsoft.com/office/drawing/2014/main" id="{E4B90A1D-E846-4434-97F9-AB872687514F}"/>
                    </a:ext>
                  </a:extLst>
                </p:cNvPr>
                <p:cNvCxnSpPr>
                  <a:cxnSpLocks/>
                  <a:stCxn id="127" idx="1"/>
                  <a:endCxn id="129"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직선 연결선 132">
                  <a:extLst>
                    <a:ext uri="{FF2B5EF4-FFF2-40B4-BE49-F238E27FC236}">
                      <a16:creationId xmlns:a16="http://schemas.microsoft.com/office/drawing/2014/main" id="{0B7E4BC4-6A8F-41FE-971E-C0C6B9BB1072}"/>
                    </a:ext>
                  </a:extLst>
                </p:cNvPr>
                <p:cNvCxnSpPr>
                  <a:cxnSpLocks/>
                  <a:stCxn id="128" idx="7"/>
                  <a:endCxn id="129"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직선 연결선 133">
                  <a:extLst>
                    <a:ext uri="{FF2B5EF4-FFF2-40B4-BE49-F238E27FC236}">
                      <a16:creationId xmlns:a16="http://schemas.microsoft.com/office/drawing/2014/main" id="{FCE1A28D-64D7-4586-80E0-0A355A8EC928}"/>
                    </a:ext>
                  </a:extLst>
                </p:cNvPr>
                <p:cNvCxnSpPr>
                  <a:cxnSpLocks/>
                  <a:stCxn id="127" idx="5"/>
                  <a:endCxn id="125" idx="1"/>
                </p:cNvCxnSpPr>
                <p:nvPr/>
              </p:nvCxnSpPr>
              <p:spPr>
                <a:xfrm>
                  <a:off x="4457945" y="4188618"/>
                  <a:ext cx="402038" cy="3753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 name="그룹 91">
                <a:extLst>
                  <a:ext uri="{FF2B5EF4-FFF2-40B4-BE49-F238E27FC236}">
                    <a16:creationId xmlns:a16="http://schemas.microsoft.com/office/drawing/2014/main" id="{7CA99A6E-5465-4DD8-91FF-D2CFBF2BB517}"/>
                  </a:ext>
                </a:extLst>
              </p:cNvPr>
              <p:cNvGrpSpPr/>
              <p:nvPr/>
            </p:nvGrpSpPr>
            <p:grpSpPr>
              <a:xfrm rot="10800000">
                <a:off x="5815216" y="3363968"/>
                <a:ext cx="1718476" cy="2581169"/>
                <a:chOff x="3392056" y="3389998"/>
                <a:chExt cx="1718476" cy="2581169"/>
              </a:xfrm>
            </p:grpSpPr>
            <p:cxnSp>
              <p:nvCxnSpPr>
                <p:cNvPr id="94" name="직선 연결선 93">
                  <a:extLst>
                    <a:ext uri="{FF2B5EF4-FFF2-40B4-BE49-F238E27FC236}">
                      <a16:creationId xmlns:a16="http://schemas.microsoft.com/office/drawing/2014/main" id="{6BC3BCE7-78FC-4E12-A96C-DD92938D9DDB}"/>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E0F24774-F8BC-48BA-B7AB-798A9D70B493}"/>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직선 연결선 98">
                  <a:extLst>
                    <a:ext uri="{FF2B5EF4-FFF2-40B4-BE49-F238E27FC236}">
                      <a16:creationId xmlns:a16="http://schemas.microsoft.com/office/drawing/2014/main" id="{AA1B330E-1FFF-4193-B8D8-457AE37AEA94}"/>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타원 99">
                  <a:extLst>
                    <a:ext uri="{FF2B5EF4-FFF2-40B4-BE49-F238E27FC236}">
                      <a16:creationId xmlns:a16="http://schemas.microsoft.com/office/drawing/2014/main" id="{E9D8D25A-8DCB-4726-A34F-575ABA731121}"/>
                    </a:ext>
                  </a:extLst>
                </p:cNvPr>
                <p:cNvSpPr/>
                <p:nvPr/>
              </p:nvSpPr>
              <p:spPr>
                <a:xfrm rot="10607499">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8</a:t>
                  </a:r>
                </a:p>
              </p:txBody>
            </p:sp>
            <p:cxnSp>
              <p:nvCxnSpPr>
                <p:cNvPr id="101" name="직선 연결선 100">
                  <a:extLst>
                    <a:ext uri="{FF2B5EF4-FFF2-40B4-BE49-F238E27FC236}">
                      <a16:creationId xmlns:a16="http://schemas.microsoft.com/office/drawing/2014/main" id="{1760D9A6-8B77-4D8F-A8B5-0EF68057CE7D}"/>
                    </a:ext>
                  </a:extLst>
                </p:cNvPr>
                <p:cNvCxnSpPr>
                  <a:cxnSpLocks/>
                  <a:stCxn id="120" idx="2"/>
                  <a:endCxn id="100" idx="7"/>
                </p:cNvCxnSpPr>
                <p:nvPr/>
              </p:nvCxnSpPr>
              <p:spPr>
                <a:xfrm rot="10800000" flipH="1">
                  <a:off x="4324582" y="4777132"/>
                  <a:ext cx="541371" cy="3998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타원 105">
                  <a:extLst>
                    <a:ext uri="{FF2B5EF4-FFF2-40B4-BE49-F238E27FC236}">
                      <a16:creationId xmlns:a16="http://schemas.microsoft.com/office/drawing/2014/main" id="{2D9E2BBB-BACC-4586-B207-49F52A3F78AE}"/>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107" name="타원 106">
                  <a:extLst>
                    <a:ext uri="{FF2B5EF4-FFF2-40B4-BE49-F238E27FC236}">
                      <a16:creationId xmlns:a16="http://schemas.microsoft.com/office/drawing/2014/main" id="{0624E7BF-14E1-423C-9804-52F6DEFC38C4}"/>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108" name="타원 107">
                  <a:extLst>
                    <a:ext uri="{FF2B5EF4-FFF2-40B4-BE49-F238E27FC236}">
                      <a16:creationId xmlns:a16="http://schemas.microsoft.com/office/drawing/2014/main" id="{2F4734AB-6296-4090-80F7-4B02AFA2A800}"/>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nvGrpSpPr>
                <p:cNvPr id="114" name="그룹 113">
                  <a:extLst>
                    <a:ext uri="{FF2B5EF4-FFF2-40B4-BE49-F238E27FC236}">
                      <a16:creationId xmlns:a16="http://schemas.microsoft.com/office/drawing/2014/main" id="{6B74D226-A249-478A-9039-10CC48564AF5}"/>
                    </a:ext>
                  </a:extLst>
                </p:cNvPr>
                <p:cNvGrpSpPr/>
                <p:nvPr/>
              </p:nvGrpSpPr>
              <p:grpSpPr>
                <a:xfrm rot="3600000">
                  <a:off x="3353376" y="4939820"/>
                  <a:ext cx="1163018" cy="899676"/>
                  <a:chOff x="3392056" y="4930893"/>
                  <a:chExt cx="1163018" cy="899676"/>
                </a:xfrm>
              </p:grpSpPr>
              <p:sp>
                <p:nvSpPr>
                  <p:cNvPr id="119" name="타원 118">
                    <a:extLst>
                      <a:ext uri="{FF2B5EF4-FFF2-40B4-BE49-F238E27FC236}">
                        <a16:creationId xmlns:a16="http://schemas.microsoft.com/office/drawing/2014/main" id="{9C2D09B6-8CA2-40A5-9321-81C5FAF6FA4A}"/>
                      </a:ext>
                    </a:extLst>
                  </p:cNvPr>
                  <p:cNvSpPr/>
                  <p:nvPr/>
                </p:nvSpPr>
                <p:spPr>
                  <a:xfrm rot="7200000">
                    <a:off x="4221037" y="5496532"/>
                    <a:ext cx="374538"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dirty="0">
                      <a:solidFill>
                        <a:schemeClr val="bg1"/>
                      </a:solidFill>
                    </a:endParaRPr>
                  </a:p>
                </p:txBody>
              </p:sp>
              <p:sp>
                <p:nvSpPr>
                  <p:cNvPr id="120" name="타원 119">
                    <a:extLst>
                      <a:ext uri="{FF2B5EF4-FFF2-40B4-BE49-F238E27FC236}">
                        <a16:creationId xmlns:a16="http://schemas.microsoft.com/office/drawing/2014/main" id="{A98E0495-3CC3-4F77-B136-D349C9039342}"/>
                      </a:ext>
                    </a:extLst>
                  </p:cNvPr>
                  <p:cNvSpPr/>
                  <p:nvPr/>
                </p:nvSpPr>
                <p:spPr>
                  <a:xfrm rot="6385941">
                    <a:off x="3795915"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9</a:t>
                    </a:r>
                  </a:p>
                </p:txBody>
              </p:sp>
              <p:sp>
                <p:nvSpPr>
                  <p:cNvPr id="121" name="타원 120">
                    <a:extLst>
                      <a:ext uri="{FF2B5EF4-FFF2-40B4-BE49-F238E27FC236}">
                        <a16:creationId xmlns:a16="http://schemas.microsoft.com/office/drawing/2014/main" id="{63684293-FD9C-4EFD-8781-345833D225C9}"/>
                      </a:ext>
                    </a:extLst>
                  </p:cNvPr>
                  <p:cNvSpPr/>
                  <p:nvPr/>
                </p:nvSpPr>
                <p:spPr>
                  <a:xfrm rot="18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cxnSp>
              <p:nvCxnSpPr>
                <p:cNvPr id="115" name="직선 연결선 114">
                  <a:extLst>
                    <a:ext uri="{FF2B5EF4-FFF2-40B4-BE49-F238E27FC236}">
                      <a16:creationId xmlns:a16="http://schemas.microsoft.com/office/drawing/2014/main" id="{A31942C8-CE2A-49A8-A09D-72875546C08F}"/>
                    </a:ext>
                  </a:extLst>
                </p:cNvPr>
                <p:cNvCxnSpPr>
                  <a:cxnSpLocks/>
                  <a:stCxn id="107" idx="6"/>
                  <a:endCxn id="106"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직선 연결선 115">
                  <a:extLst>
                    <a:ext uri="{FF2B5EF4-FFF2-40B4-BE49-F238E27FC236}">
                      <a16:creationId xmlns:a16="http://schemas.microsoft.com/office/drawing/2014/main" id="{93CB4D2C-C37E-41B5-A9D0-D9C7BFA1443B}"/>
                    </a:ext>
                  </a:extLst>
                </p:cNvPr>
                <p:cNvCxnSpPr>
                  <a:cxnSpLocks/>
                  <a:stCxn id="106" idx="1"/>
                  <a:endCxn id="108"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E956DA16-1821-47BC-B990-49545C8394AD}"/>
                    </a:ext>
                  </a:extLst>
                </p:cNvPr>
                <p:cNvCxnSpPr>
                  <a:cxnSpLocks/>
                  <a:stCxn id="107" idx="7"/>
                  <a:endCxn id="108"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직선 연결선 117">
                  <a:extLst>
                    <a:ext uri="{FF2B5EF4-FFF2-40B4-BE49-F238E27FC236}">
                      <a16:creationId xmlns:a16="http://schemas.microsoft.com/office/drawing/2014/main" id="{5BCF2595-1B00-4FDD-85AF-D1A1B83ED668}"/>
                    </a:ext>
                  </a:extLst>
                </p:cNvPr>
                <p:cNvCxnSpPr>
                  <a:cxnSpLocks/>
                  <a:stCxn id="106" idx="5"/>
                  <a:endCxn id="100" idx="5"/>
                </p:cNvCxnSpPr>
                <p:nvPr/>
              </p:nvCxnSpPr>
              <p:spPr>
                <a:xfrm rot="10800000" flipH="1" flipV="1">
                  <a:off x="4457945" y="4188618"/>
                  <a:ext cx="396391" cy="3812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6" name="직사각형 85">
              <a:extLst>
                <a:ext uri="{FF2B5EF4-FFF2-40B4-BE49-F238E27FC236}">
                  <a16:creationId xmlns:a16="http://schemas.microsoft.com/office/drawing/2014/main" id="{8BFF3D85-5065-4D1F-AA8A-E04E9DED0B3D}"/>
                </a:ext>
              </a:extLst>
            </p:cNvPr>
            <p:cNvSpPr/>
            <p:nvPr/>
          </p:nvSpPr>
          <p:spPr>
            <a:xfrm>
              <a:off x="3662563" y="3752665"/>
              <a:ext cx="448894" cy="349849"/>
            </a:xfrm>
            <a:prstGeom prst="rect">
              <a:avLst/>
            </a:prstGeom>
          </p:spPr>
          <p:txBody>
            <a:bodyPr wrap="square">
              <a:spAutoFit/>
            </a:bodyPr>
            <a:lstStyle/>
            <a:p>
              <a:pPr algn="ctr"/>
              <a:r>
                <a:rPr lang="en-US" sz="1200" dirty="0">
                  <a:solidFill>
                    <a:schemeClr val="bg1"/>
                  </a:solidFill>
                </a:rPr>
                <a:t>10</a:t>
              </a:r>
            </a:p>
          </p:txBody>
        </p:sp>
        <p:sp>
          <p:nvSpPr>
            <p:cNvPr id="87" name="직사각형 86">
              <a:extLst>
                <a:ext uri="{FF2B5EF4-FFF2-40B4-BE49-F238E27FC236}">
                  <a16:creationId xmlns:a16="http://schemas.microsoft.com/office/drawing/2014/main" id="{E2FF1CCB-F93B-48D3-8112-08952A99783C}"/>
                </a:ext>
              </a:extLst>
            </p:cNvPr>
            <p:cNvSpPr/>
            <p:nvPr/>
          </p:nvSpPr>
          <p:spPr>
            <a:xfrm>
              <a:off x="4022428" y="4377358"/>
              <a:ext cx="431644" cy="349849"/>
            </a:xfrm>
            <a:prstGeom prst="rect">
              <a:avLst/>
            </a:prstGeom>
          </p:spPr>
          <p:txBody>
            <a:bodyPr wrap="none">
              <a:spAutoFit/>
            </a:bodyPr>
            <a:lstStyle/>
            <a:p>
              <a:pPr algn="ctr"/>
              <a:r>
                <a:rPr lang="en-US" sz="1200" dirty="0">
                  <a:solidFill>
                    <a:schemeClr val="bg1"/>
                  </a:solidFill>
                </a:rPr>
                <a:t>11</a:t>
              </a:r>
            </a:p>
          </p:txBody>
        </p:sp>
        <p:sp>
          <p:nvSpPr>
            <p:cNvPr id="88" name="직사각형 87">
              <a:extLst>
                <a:ext uri="{FF2B5EF4-FFF2-40B4-BE49-F238E27FC236}">
                  <a16:creationId xmlns:a16="http://schemas.microsoft.com/office/drawing/2014/main" id="{9E96BF8A-EE5A-45E8-9700-27A0FFB4B002}"/>
                </a:ext>
              </a:extLst>
            </p:cNvPr>
            <p:cNvSpPr/>
            <p:nvPr/>
          </p:nvSpPr>
          <p:spPr>
            <a:xfrm>
              <a:off x="3986675" y="5174185"/>
              <a:ext cx="431644" cy="349849"/>
            </a:xfrm>
            <a:prstGeom prst="rect">
              <a:avLst/>
            </a:prstGeom>
          </p:spPr>
          <p:txBody>
            <a:bodyPr wrap="none">
              <a:spAutoFit/>
            </a:bodyPr>
            <a:lstStyle/>
            <a:p>
              <a:pPr algn="ctr"/>
              <a:r>
                <a:rPr lang="en-US" sz="1200" dirty="0">
                  <a:solidFill>
                    <a:schemeClr val="bg1"/>
                  </a:solidFill>
                </a:rPr>
                <a:t>12</a:t>
              </a:r>
            </a:p>
          </p:txBody>
        </p:sp>
        <p:sp>
          <p:nvSpPr>
            <p:cNvPr id="89" name="직사각형 88">
              <a:extLst>
                <a:ext uri="{FF2B5EF4-FFF2-40B4-BE49-F238E27FC236}">
                  <a16:creationId xmlns:a16="http://schemas.microsoft.com/office/drawing/2014/main" id="{607962F9-6710-442A-A7C8-6779347933C7}"/>
                </a:ext>
              </a:extLst>
            </p:cNvPr>
            <p:cNvSpPr/>
            <p:nvPr/>
          </p:nvSpPr>
          <p:spPr>
            <a:xfrm>
              <a:off x="3678001" y="5599799"/>
              <a:ext cx="431644" cy="349849"/>
            </a:xfrm>
            <a:prstGeom prst="rect">
              <a:avLst/>
            </a:prstGeom>
          </p:spPr>
          <p:txBody>
            <a:bodyPr wrap="none">
              <a:spAutoFit/>
            </a:bodyPr>
            <a:lstStyle/>
            <a:p>
              <a:pPr algn="ctr"/>
              <a:r>
                <a:rPr lang="en-US" sz="1200" dirty="0">
                  <a:solidFill>
                    <a:schemeClr val="bg1"/>
                  </a:solidFill>
                </a:rPr>
                <a:t>13</a:t>
              </a:r>
            </a:p>
          </p:txBody>
        </p:sp>
        <p:sp>
          <p:nvSpPr>
            <p:cNvPr id="90" name="직사각형 89">
              <a:extLst>
                <a:ext uri="{FF2B5EF4-FFF2-40B4-BE49-F238E27FC236}">
                  <a16:creationId xmlns:a16="http://schemas.microsoft.com/office/drawing/2014/main" id="{BB568CD6-E613-4231-9E77-96CFE0523AE6}"/>
                </a:ext>
              </a:extLst>
            </p:cNvPr>
            <p:cNvSpPr/>
            <p:nvPr/>
          </p:nvSpPr>
          <p:spPr>
            <a:xfrm>
              <a:off x="3358158" y="5183216"/>
              <a:ext cx="431644" cy="349849"/>
            </a:xfrm>
            <a:prstGeom prst="rect">
              <a:avLst/>
            </a:prstGeom>
          </p:spPr>
          <p:txBody>
            <a:bodyPr wrap="none">
              <a:spAutoFit/>
            </a:bodyPr>
            <a:lstStyle/>
            <a:p>
              <a:pPr algn="ctr"/>
              <a:r>
                <a:rPr lang="en-US" sz="1200" dirty="0">
                  <a:solidFill>
                    <a:schemeClr val="bg1"/>
                  </a:solidFill>
                </a:rPr>
                <a:t>14</a:t>
              </a:r>
            </a:p>
          </p:txBody>
        </p:sp>
      </p:grpSp>
      <p:cxnSp>
        <p:nvCxnSpPr>
          <p:cNvPr id="138" name="직선 화살표 연결선 137">
            <a:extLst>
              <a:ext uri="{FF2B5EF4-FFF2-40B4-BE49-F238E27FC236}">
                <a16:creationId xmlns:a16="http://schemas.microsoft.com/office/drawing/2014/main" id="{D84C3906-686C-46E2-8C92-38CA97B876B8}"/>
              </a:ext>
            </a:extLst>
          </p:cNvPr>
          <p:cNvCxnSpPr>
            <a:cxnSpLocks/>
          </p:cNvCxnSpPr>
          <p:nvPr/>
        </p:nvCxnSpPr>
        <p:spPr>
          <a:xfrm>
            <a:off x="6411983" y="3984003"/>
            <a:ext cx="82635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39" name="그룹 138">
            <a:extLst>
              <a:ext uri="{FF2B5EF4-FFF2-40B4-BE49-F238E27FC236}">
                <a16:creationId xmlns:a16="http://schemas.microsoft.com/office/drawing/2014/main" id="{41B9665F-CC87-4DA5-9DE1-72882E0500DC}"/>
              </a:ext>
            </a:extLst>
          </p:cNvPr>
          <p:cNvGrpSpPr/>
          <p:nvPr/>
        </p:nvGrpSpPr>
        <p:grpSpPr>
          <a:xfrm>
            <a:off x="7479959" y="3065223"/>
            <a:ext cx="2644814" cy="1730677"/>
            <a:chOff x="1113676" y="3763806"/>
            <a:chExt cx="3340396" cy="2185842"/>
          </a:xfrm>
        </p:grpSpPr>
        <p:grpSp>
          <p:nvGrpSpPr>
            <p:cNvPr id="140" name="그룹 139">
              <a:extLst>
                <a:ext uri="{FF2B5EF4-FFF2-40B4-BE49-F238E27FC236}">
                  <a16:creationId xmlns:a16="http://schemas.microsoft.com/office/drawing/2014/main" id="{6D9AE553-2D24-48B0-AE36-5A2AB8D7A2F8}"/>
                </a:ext>
              </a:extLst>
            </p:cNvPr>
            <p:cNvGrpSpPr/>
            <p:nvPr/>
          </p:nvGrpSpPr>
          <p:grpSpPr>
            <a:xfrm>
              <a:off x="1113676" y="3880425"/>
              <a:ext cx="3200447" cy="1994597"/>
              <a:chOff x="3392056" y="3363968"/>
              <a:chExt cx="4141636" cy="2581169"/>
            </a:xfrm>
          </p:grpSpPr>
          <p:grpSp>
            <p:nvGrpSpPr>
              <p:cNvPr id="146" name="그룹 145">
                <a:extLst>
                  <a:ext uri="{FF2B5EF4-FFF2-40B4-BE49-F238E27FC236}">
                    <a16:creationId xmlns:a16="http://schemas.microsoft.com/office/drawing/2014/main" id="{CDCBC468-D0CC-40F5-AB1D-67FAAB4F2706}"/>
                  </a:ext>
                </a:extLst>
              </p:cNvPr>
              <p:cNvGrpSpPr/>
              <p:nvPr/>
            </p:nvGrpSpPr>
            <p:grpSpPr>
              <a:xfrm>
                <a:off x="3392056" y="3389998"/>
                <a:ext cx="1718476" cy="2516137"/>
                <a:chOff x="3392056" y="3389998"/>
                <a:chExt cx="1718476" cy="2516137"/>
              </a:xfrm>
            </p:grpSpPr>
            <p:cxnSp>
              <p:nvCxnSpPr>
                <p:cNvPr id="164" name="직선 연결선 163">
                  <a:extLst>
                    <a:ext uri="{FF2B5EF4-FFF2-40B4-BE49-F238E27FC236}">
                      <a16:creationId xmlns:a16="http://schemas.microsoft.com/office/drawing/2014/main" id="{1472BFDD-FE0C-4821-9E4F-3A07ECBEABD4}"/>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직선 연결선 164">
                  <a:extLst>
                    <a:ext uri="{FF2B5EF4-FFF2-40B4-BE49-F238E27FC236}">
                      <a16:creationId xmlns:a16="http://schemas.microsoft.com/office/drawing/2014/main" id="{C32E3E20-BE7C-4604-AA54-26A5375F933E}"/>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C10E57B0-C01E-4F9F-ACDF-B538A72EDDFD}"/>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타원 166">
                  <a:extLst>
                    <a:ext uri="{FF2B5EF4-FFF2-40B4-BE49-F238E27FC236}">
                      <a16:creationId xmlns:a16="http://schemas.microsoft.com/office/drawing/2014/main" id="{5D803686-C5F1-45D3-8825-81D8B00B55EF}"/>
                    </a:ext>
                  </a:extLst>
                </p:cNvPr>
                <p:cNvSpPr/>
                <p:nvPr/>
              </p:nvSpPr>
              <p:spPr>
                <a:xfrm>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7</a:t>
                  </a:r>
                </a:p>
              </p:txBody>
            </p:sp>
            <p:sp>
              <p:nvSpPr>
                <p:cNvPr id="169" name="타원 168">
                  <a:extLst>
                    <a:ext uri="{FF2B5EF4-FFF2-40B4-BE49-F238E27FC236}">
                      <a16:creationId xmlns:a16="http://schemas.microsoft.com/office/drawing/2014/main" id="{8A94907F-8E8F-45ED-9BBB-1D7EF2672D52}"/>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3</a:t>
                  </a:r>
                </a:p>
              </p:txBody>
            </p:sp>
            <p:sp>
              <p:nvSpPr>
                <p:cNvPr id="170" name="타원 169">
                  <a:extLst>
                    <a:ext uri="{FF2B5EF4-FFF2-40B4-BE49-F238E27FC236}">
                      <a16:creationId xmlns:a16="http://schemas.microsoft.com/office/drawing/2014/main" id="{A85FC1D5-87CC-4422-80F3-2ED0A1A7A034}"/>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2</a:t>
                  </a:r>
                </a:p>
              </p:txBody>
            </p:sp>
            <p:sp>
              <p:nvSpPr>
                <p:cNvPr id="171" name="타원 170">
                  <a:extLst>
                    <a:ext uri="{FF2B5EF4-FFF2-40B4-BE49-F238E27FC236}">
                      <a16:creationId xmlns:a16="http://schemas.microsoft.com/office/drawing/2014/main" id="{54B50D8F-AC10-49E5-8774-2F9426585C87}"/>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1</a:t>
                  </a:r>
                </a:p>
              </p:txBody>
            </p:sp>
            <p:grpSp>
              <p:nvGrpSpPr>
                <p:cNvPr id="172" name="그룹 171">
                  <a:extLst>
                    <a:ext uri="{FF2B5EF4-FFF2-40B4-BE49-F238E27FC236}">
                      <a16:creationId xmlns:a16="http://schemas.microsoft.com/office/drawing/2014/main" id="{A9F03424-31AA-4B96-9131-2C96E70BCBCD}"/>
                    </a:ext>
                  </a:extLst>
                </p:cNvPr>
                <p:cNvGrpSpPr/>
                <p:nvPr/>
              </p:nvGrpSpPr>
              <p:grpSpPr>
                <a:xfrm rot="3600000">
                  <a:off x="3392056" y="4930893"/>
                  <a:ext cx="1108876" cy="841607"/>
                  <a:chOff x="3392056" y="4930893"/>
                  <a:chExt cx="1108876" cy="841607"/>
                </a:xfrm>
              </p:grpSpPr>
              <p:sp>
                <p:nvSpPr>
                  <p:cNvPr id="177" name="타원 176">
                    <a:extLst>
                      <a:ext uri="{FF2B5EF4-FFF2-40B4-BE49-F238E27FC236}">
                        <a16:creationId xmlns:a16="http://schemas.microsoft.com/office/drawing/2014/main" id="{BF0AF406-9B04-4484-970C-04E7251C6E4A}"/>
                      </a:ext>
                    </a:extLst>
                  </p:cNvPr>
                  <p:cNvSpPr/>
                  <p:nvPr/>
                </p:nvSpPr>
                <p:spPr>
                  <a:xfrm rot="18172992">
                    <a:off x="420739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6</a:t>
                    </a:r>
                  </a:p>
                </p:txBody>
              </p:sp>
              <p:sp>
                <p:nvSpPr>
                  <p:cNvPr id="178" name="타원 177">
                    <a:extLst>
                      <a:ext uri="{FF2B5EF4-FFF2-40B4-BE49-F238E27FC236}">
                        <a16:creationId xmlns:a16="http://schemas.microsoft.com/office/drawing/2014/main" id="{1D21DD12-415B-4056-AF3D-0D36DD2895E0}"/>
                      </a:ext>
                    </a:extLst>
                  </p:cNvPr>
                  <p:cNvSpPr/>
                  <p:nvPr/>
                </p:nvSpPr>
                <p:spPr>
                  <a:xfrm rot="18883256">
                    <a:off x="3795917"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5</a:t>
                    </a:r>
                  </a:p>
                </p:txBody>
              </p:sp>
              <p:sp>
                <p:nvSpPr>
                  <p:cNvPr id="179" name="타원 178">
                    <a:extLst>
                      <a:ext uri="{FF2B5EF4-FFF2-40B4-BE49-F238E27FC236}">
                        <a16:creationId xmlns:a16="http://schemas.microsoft.com/office/drawing/2014/main" id="{D98DD354-94B5-404F-A2D2-0FEE304F930D}"/>
                      </a:ext>
                    </a:extLst>
                  </p:cNvPr>
                  <p:cNvSpPr/>
                  <p:nvPr/>
                </p:nvSpPr>
                <p:spPr>
                  <a:xfrm rot="180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4</a:t>
                    </a:r>
                  </a:p>
                </p:txBody>
              </p:sp>
            </p:grpSp>
            <p:cxnSp>
              <p:nvCxnSpPr>
                <p:cNvPr id="173" name="직선 연결선 172">
                  <a:extLst>
                    <a:ext uri="{FF2B5EF4-FFF2-40B4-BE49-F238E27FC236}">
                      <a16:creationId xmlns:a16="http://schemas.microsoft.com/office/drawing/2014/main" id="{CFEC23A6-71A3-4C88-949B-ABA0DE89DD8B}"/>
                    </a:ext>
                  </a:extLst>
                </p:cNvPr>
                <p:cNvCxnSpPr>
                  <a:cxnSpLocks/>
                  <a:stCxn id="170" idx="6"/>
                  <a:endCxn id="169"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직선 연결선 173">
                  <a:extLst>
                    <a:ext uri="{FF2B5EF4-FFF2-40B4-BE49-F238E27FC236}">
                      <a16:creationId xmlns:a16="http://schemas.microsoft.com/office/drawing/2014/main" id="{7134FCBA-EB0D-4335-A143-E8D402C2C56B}"/>
                    </a:ext>
                  </a:extLst>
                </p:cNvPr>
                <p:cNvCxnSpPr>
                  <a:cxnSpLocks/>
                  <a:stCxn id="169" idx="1"/>
                  <a:endCxn id="171"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직선 연결선 174">
                  <a:extLst>
                    <a:ext uri="{FF2B5EF4-FFF2-40B4-BE49-F238E27FC236}">
                      <a16:creationId xmlns:a16="http://schemas.microsoft.com/office/drawing/2014/main" id="{5501F3C3-CBB0-4CD1-84FC-61F643EE915E}"/>
                    </a:ext>
                  </a:extLst>
                </p:cNvPr>
                <p:cNvCxnSpPr>
                  <a:cxnSpLocks/>
                  <a:stCxn id="170" idx="7"/>
                  <a:endCxn id="171"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그룹 146">
                <a:extLst>
                  <a:ext uri="{FF2B5EF4-FFF2-40B4-BE49-F238E27FC236}">
                    <a16:creationId xmlns:a16="http://schemas.microsoft.com/office/drawing/2014/main" id="{DE9B9D56-77CF-464C-8C55-F496E85F5B19}"/>
                  </a:ext>
                </a:extLst>
              </p:cNvPr>
              <p:cNvGrpSpPr/>
              <p:nvPr/>
            </p:nvGrpSpPr>
            <p:grpSpPr>
              <a:xfrm rot="10800000">
                <a:off x="5815216" y="3363968"/>
                <a:ext cx="1718476" cy="2581169"/>
                <a:chOff x="3392056" y="3389998"/>
                <a:chExt cx="1718476" cy="2581169"/>
              </a:xfrm>
            </p:grpSpPr>
            <p:cxnSp>
              <p:nvCxnSpPr>
                <p:cNvPr id="148" name="직선 연결선 147">
                  <a:extLst>
                    <a:ext uri="{FF2B5EF4-FFF2-40B4-BE49-F238E27FC236}">
                      <a16:creationId xmlns:a16="http://schemas.microsoft.com/office/drawing/2014/main" id="{0C3307B8-C1CB-43ED-98C6-E02752B2CCDE}"/>
                    </a:ext>
                  </a:extLst>
                </p:cNvPr>
                <p:cNvCxnSpPr>
                  <a:cxnSpLocks/>
                </p:cNvCxnSpPr>
                <p:nvPr/>
              </p:nvCxnSpPr>
              <p:spPr>
                <a:xfrm flipV="1">
                  <a:off x="3903830" y="5178975"/>
                  <a:ext cx="278081" cy="6627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87427D5F-6888-4FD0-9C69-950E98CF9A20}"/>
                    </a:ext>
                  </a:extLst>
                </p:cNvPr>
                <p:cNvCxnSpPr>
                  <a:cxnSpLocks/>
                </p:cNvCxnSpPr>
                <p:nvPr/>
              </p:nvCxnSpPr>
              <p:spPr>
                <a:xfrm>
                  <a:off x="3592782" y="5271788"/>
                  <a:ext cx="320225" cy="569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08B0F4A5-6804-4661-9054-4F1688C88BE2}"/>
                    </a:ext>
                  </a:extLst>
                </p:cNvPr>
                <p:cNvCxnSpPr>
                  <a:cxnSpLocks/>
                </p:cNvCxnSpPr>
                <p:nvPr/>
              </p:nvCxnSpPr>
              <p:spPr>
                <a:xfrm>
                  <a:off x="3519398" y="5135662"/>
                  <a:ext cx="662513" cy="73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타원 150">
                  <a:extLst>
                    <a:ext uri="{FF2B5EF4-FFF2-40B4-BE49-F238E27FC236}">
                      <a16:creationId xmlns:a16="http://schemas.microsoft.com/office/drawing/2014/main" id="{2B7DE41D-FE7D-48AF-99BA-55C36FDF2A11}"/>
                    </a:ext>
                  </a:extLst>
                </p:cNvPr>
                <p:cNvSpPr/>
                <p:nvPr/>
              </p:nvSpPr>
              <p:spPr>
                <a:xfrm rot="10607499">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8</a:t>
                  </a:r>
                </a:p>
              </p:txBody>
            </p:sp>
            <p:sp>
              <p:nvSpPr>
                <p:cNvPr id="153" name="타원 152">
                  <a:extLst>
                    <a:ext uri="{FF2B5EF4-FFF2-40B4-BE49-F238E27FC236}">
                      <a16:creationId xmlns:a16="http://schemas.microsoft.com/office/drawing/2014/main" id="{9F09E97F-F325-48CD-A9E2-E225BC42CF49}"/>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154" name="타원 153">
                  <a:extLst>
                    <a:ext uri="{FF2B5EF4-FFF2-40B4-BE49-F238E27FC236}">
                      <a16:creationId xmlns:a16="http://schemas.microsoft.com/office/drawing/2014/main" id="{026C3A8D-E5DD-41C4-88CA-62B7EADB69DB}"/>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155" name="타원 154">
                  <a:extLst>
                    <a:ext uri="{FF2B5EF4-FFF2-40B4-BE49-F238E27FC236}">
                      <a16:creationId xmlns:a16="http://schemas.microsoft.com/office/drawing/2014/main" id="{F2FBC321-D393-4F0A-8E94-4635723BF027}"/>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nvGrpSpPr>
                <p:cNvPr id="156" name="그룹 155">
                  <a:extLst>
                    <a:ext uri="{FF2B5EF4-FFF2-40B4-BE49-F238E27FC236}">
                      <a16:creationId xmlns:a16="http://schemas.microsoft.com/office/drawing/2014/main" id="{833917F9-F7A8-4775-B8D2-60EF2A2B4363}"/>
                    </a:ext>
                  </a:extLst>
                </p:cNvPr>
                <p:cNvGrpSpPr/>
                <p:nvPr/>
              </p:nvGrpSpPr>
              <p:grpSpPr>
                <a:xfrm rot="3600000">
                  <a:off x="3353376" y="4939820"/>
                  <a:ext cx="1163018" cy="899676"/>
                  <a:chOff x="3392056" y="4930893"/>
                  <a:chExt cx="1163018" cy="899676"/>
                </a:xfrm>
              </p:grpSpPr>
              <p:sp>
                <p:nvSpPr>
                  <p:cNvPr id="161" name="타원 160">
                    <a:extLst>
                      <a:ext uri="{FF2B5EF4-FFF2-40B4-BE49-F238E27FC236}">
                        <a16:creationId xmlns:a16="http://schemas.microsoft.com/office/drawing/2014/main" id="{9BA4DED0-BB09-4863-B8D5-69B2EA506C7B}"/>
                      </a:ext>
                    </a:extLst>
                  </p:cNvPr>
                  <p:cNvSpPr/>
                  <p:nvPr/>
                </p:nvSpPr>
                <p:spPr>
                  <a:xfrm rot="7200000">
                    <a:off x="4221037" y="5496532"/>
                    <a:ext cx="374538"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dirty="0">
                      <a:solidFill>
                        <a:schemeClr val="bg1"/>
                      </a:solidFill>
                    </a:endParaRPr>
                  </a:p>
                </p:txBody>
              </p:sp>
              <p:sp>
                <p:nvSpPr>
                  <p:cNvPr id="162" name="타원 161">
                    <a:extLst>
                      <a:ext uri="{FF2B5EF4-FFF2-40B4-BE49-F238E27FC236}">
                        <a16:creationId xmlns:a16="http://schemas.microsoft.com/office/drawing/2014/main" id="{03A395BB-FA89-4796-98A1-A42BE5F41FD8}"/>
                      </a:ext>
                    </a:extLst>
                  </p:cNvPr>
                  <p:cNvSpPr/>
                  <p:nvPr/>
                </p:nvSpPr>
                <p:spPr>
                  <a:xfrm rot="6385941">
                    <a:off x="3795915"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9</a:t>
                    </a:r>
                  </a:p>
                </p:txBody>
              </p:sp>
              <p:sp>
                <p:nvSpPr>
                  <p:cNvPr id="163" name="타원 162">
                    <a:extLst>
                      <a:ext uri="{FF2B5EF4-FFF2-40B4-BE49-F238E27FC236}">
                        <a16:creationId xmlns:a16="http://schemas.microsoft.com/office/drawing/2014/main" id="{46BD7C17-EA9F-4BF3-83DC-247448F0AB2E}"/>
                      </a:ext>
                    </a:extLst>
                  </p:cNvPr>
                  <p:cNvSpPr/>
                  <p:nvPr/>
                </p:nvSpPr>
                <p:spPr>
                  <a:xfrm rot="18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cxnSp>
              <p:nvCxnSpPr>
                <p:cNvPr id="157" name="직선 연결선 156">
                  <a:extLst>
                    <a:ext uri="{FF2B5EF4-FFF2-40B4-BE49-F238E27FC236}">
                      <a16:creationId xmlns:a16="http://schemas.microsoft.com/office/drawing/2014/main" id="{675B3697-D044-4DC5-A4A3-09495E16E17D}"/>
                    </a:ext>
                  </a:extLst>
                </p:cNvPr>
                <p:cNvCxnSpPr>
                  <a:cxnSpLocks/>
                  <a:stCxn id="154" idx="6"/>
                  <a:endCxn id="153" idx="2"/>
                </p:cNvCxnSpPr>
                <p:nvPr/>
              </p:nvCxnSpPr>
              <p:spPr>
                <a:xfrm>
                  <a:off x="3685592" y="4084837"/>
                  <a:ext cx="5218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직선 연결선 157">
                  <a:extLst>
                    <a:ext uri="{FF2B5EF4-FFF2-40B4-BE49-F238E27FC236}">
                      <a16:creationId xmlns:a16="http://schemas.microsoft.com/office/drawing/2014/main" id="{5A6DB293-000C-4BEA-9AC8-D63F20174A5C}"/>
                    </a:ext>
                  </a:extLst>
                </p:cNvPr>
                <p:cNvCxnSpPr>
                  <a:cxnSpLocks/>
                  <a:stCxn id="153" idx="1"/>
                  <a:endCxn id="155" idx="5"/>
                </p:cNvCxnSpPr>
                <p:nvPr/>
              </p:nvCxnSpPr>
              <p:spPr>
                <a:xfrm flipH="1" flipV="1">
                  <a:off x="4046465" y="3640547"/>
                  <a:ext cx="20391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직선 연결선 158">
                  <a:extLst>
                    <a:ext uri="{FF2B5EF4-FFF2-40B4-BE49-F238E27FC236}">
                      <a16:creationId xmlns:a16="http://schemas.microsoft.com/office/drawing/2014/main" id="{0FAA40D0-15DB-472E-BF47-EF14F0E25212}"/>
                    </a:ext>
                  </a:extLst>
                </p:cNvPr>
                <p:cNvCxnSpPr>
                  <a:cxnSpLocks/>
                  <a:stCxn id="154" idx="7"/>
                  <a:endCxn id="155" idx="3"/>
                </p:cNvCxnSpPr>
                <p:nvPr/>
              </p:nvCxnSpPr>
              <p:spPr>
                <a:xfrm flipV="1">
                  <a:off x="3642605" y="3640547"/>
                  <a:ext cx="196298" cy="3405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41" name="직사각형 140">
              <a:extLst>
                <a:ext uri="{FF2B5EF4-FFF2-40B4-BE49-F238E27FC236}">
                  <a16:creationId xmlns:a16="http://schemas.microsoft.com/office/drawing/2014/main" id="{72FC29FF-2F2A-4E55-875D-3C0CA66AA31F}"/>
                </a:ext>
              </a:extLst>
            </p:cNvPr>
            <p:cNvSpPr/>
            <p:nvPr/>
          </p:nvSpPr>
          <p:spPr>
            <a:xfrm>
              <a:off x="3653783" y="3763806"/>
              <a:ext cx="486842" cy="349849"/>
            </a:xfrm>
            <a:prstGeom prst="rect">
              <a:avLst/>
            </a:prstGeom>
          </p:spPr>
          <p:txBody>
            <a:bodyPr wrap="square">
              <a:spAutoFit/>
            </a:bodyPr>
            <a:lstStyle/>
            <a:p>
              <a:pPr algn="ctr"/>
              <a:r>
                <a:rPr lang="en-US" sz="1200" dirty="0">
                  <a:solidFill>
                    <a:schemeClr val="bg1"/>
                  </a:solidFill>
                </a:rPr>
                <a:t>10</a:t>
              </a:r>
            </a:p>
          </p:txBody>
        </p:sp>
        <p:sp>
          <p:nvSpPr>
            <p:cNvPr id="142" name="직사각형 141">
              <a:extLst>
                <a:ext uri="{FF2B5EF4-FFF2-40B4-BE49-F238E27FC236}">
                  <a16:creationId xmlns:a16="http://schemas.microsoft.com/office/drawing/2014/main" id="{1BC9828C-81FF-4830-B536-E24AA4A30C68}"/>
                </a:ext>
              </a:extLst>
            </p:cNvPr>
            <p:cNvSpPr/>
            <p:nvPr/>
          </p:nvSpPr>
          <p:spPr>
            <a:xfrm>
              <a:off x="4022428" y="4377358"/>
              <a:ext cx="431644" cy="349849"/>
            </a:xfrm>
            <a:prstGeom prst="rect">
              <a:avLst/>
            </a:prstGeom>
          </p:spPr>
          <p:txBody>
            <a:bodyPr wrap="none">
              <a:spAutoFit/>
            </a:bodyPr>
            <a:lstStyle/>
            <a:p>
              <a:pPr algn="ctr"/>
              <a:r>
                <a:rPr lang="en-US" sz="1200" dirty="0">
                  <a:solidFill>
                    <a:schemeClr val="bg1"/>
                  </a:solidFill>
                </a:rPr>
                <a:t>11</a:t>
              </a:r>
            </a:p>
          </p:txBody>
        </p:sp>
        <p:sp>
          <p:nvSpPr>
            <p:cNvPr id="143" name="직사각형 142">
              <a:extLst>
                <a:ext uri="{FF2B5EF4-FFF2-40B4-BE49-F238E27FC236}">
                  <a16:creationId xmlns:a16="http://schemas.microsoft.com/office/drawing/2014/main" id="{2549ADAF-BBB1-4697-9F25-DEAFE92CC55F}"/>
                </a:ext>
              </a:extLst>
            </p:cNvPr>
            <p:cNvSpPr/>
            <p:nvPr/>
          </p:nvSpPr>
          <p:spPr>
            <a:xfrm>
              <a:off x="3986675" y="5174185"/>
              <a:ext cx="431644" cy="349849"/>
            </a:xfrm>
            <a:prstGeom prst="rect">
              <a:avLst/>
            </a:prstGeom>
          </p:spPr>
          <p:txBody>
            <a:bodyPr wrap="none">
              <a:spAutoFit/>
            </a:bodyPr>
            <a:lstStyle/>
            <a:p>
              <a:pPr algn="ctr"/>
              <a:r>
                <a:rPr lang="en-US" sz="1200" dirty="0">
                  <a:solidFill>
                    <a:schemeClr val="bg1"/>
                  </a:solidFill>
                </a:rPr>
                <a:t>12</a:t>
              </a:r>
            </a:p>
          </p:txBody>
        </p:sp>
        <p:sp>
          <p:nvSpPr>
            <p:cNvPr id="144" name="직사각형 143">
              <a:extLst>
                <a:ext uri="{FF2B5EF4-FFF2-40B4-BE49-F238E27FC236}">
                  <a16:creationId xmlns:a16="http://schemas.microsoft.com/office/drawing/2014/main" id="{72256EE1-0E0E-4894-9192-F0D1CB7BEAE3}"/>
                </a:ext>
              </a:extLst>
            </p:cNvPr>
            <p:cNvSpPr/>
            <p:nvPr/>
          </p:nvSpPr>
          <p:spPr>
            <a:xfrm>
              <a:off x="3678001" y="5599799"/>
              <a:ext cx="431644" cy="349849"/>
            </a:xfrm>
            <a:prstGeom prst="rect">
              <a:avLst/>
            </a:prstGeom>
          </p:spPr>
          <p:txBody>
            <a:bodyPr wrap="none">
              <a:spAutoFit/>
            </a:bodyPr>
            <a:lstStyle/>
            <a:p>
              <a:pPr algn="ctr"/>
              <a:r>
                <a:rPr lang="en-US" sz="1200" dirty="0">
                  <a:solidFill>
                    <a:schemeClr val="bg1"/>
                  </a:solidFill>
                </a:rPr>
                <a:t>13</a:t>
              </a:r>
            </a:p>
          </p:txBody>
        </p:sp>
        <p:sp>
          <p:nvSpPr>
            <p:cNvPr id="145" name="직사각형 144">
              <a:extLst>
                <a:ext uri="{FF2B5EF4-FFF2-40B4-BE49-F238E27FC236}">
                  <a16:creationId xmlns:a16="http://schemas.microsoft.com/office/drawing/2014/main" id="{9DBF03D2-22B8-46C4-890D-75FB7D6165EC}"/>
                </a:ext>
              </a:extLst>
            </p:cNvPr>
            <p:cNvSpPr/>
            <p:nvPr/>
          </p:nvSpPr>
          <p:spPr>
            <a:xfrm>
              <a:off x="3358158" y="5183216"/>
              <a:ext cx="431644" cy="349849"/>
            </a:xfrm>
            <a:prstGeom prst="rect">
              <a:avLst/>
            </a:prstGeom>
          </p:spPr>
          <p:txBody>
            <a:bodyPr wrap="none">
              <a:spAutoFit/>
            </a:bodyPr>
            <a:lstStyle/>
            <a:p>
              <a:pPr algn="ctr"/>
              <a:r>
                <a:rPr lang="en-US" sz="1200" dirty="0">
                  <a:solidFill>
                    <a:schemeClr val="bg1"/>
                  </a:solidFill>
                </a:rPr>
                <a:t>14</a:t>
              </a:r>
            </a:p>
          </p:txBody>
        </p:sp>
      </p:grpSp>
      <p:cxnSp>
        <p:nvCxnSpPr>
          <p:cNvPr id="180" name="직선 화살표 연결선 179">
            <a:extLst>
              <a:ext uri="{FF2B5EF4-FFF2-40B4-BE49-F238E27FC236}">
                <a16:creationId xmlns:a16="http://schemas.microsoft.com/office/drawing/2014/main" id="{845DA982-0B6E-42BB-AF90-B5229CB8527C}"/>
              </a:ext>
            </a:extLst>
          </p:cNvPr>
          <p:cNvCxnSpPr>
            <a:cxnSpLocks/>
          </p:cNvCxnSpPr>
          <p:nvPr/>
        </p:nvCxnSpPr>
        <p:spPr>
          <a:xfrm flipH="1">
            <a:off x="8113003" y="5770485"/>
            <a:ext cx="64038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직선 연결선 8">
            <a:extLst>
              <a:ext uri="{FF2B5EF4-FFF2-40B4-BE49-F238E27FC236}">
                <a16:creationId xmlns:a16="http://schemas.microsoft.com/office/drawing/2014/main" id="{6DDE264A-4EA7-415E-8AB1-32CACA20C39D}"/>
              </a:ext>
            </a:extLst>
          </p:cNvPr>
          <p:cNvCxnSpPr>
            <a:cxnSpLocks/>
          </p:cNvCxnSpPr>
          <p:nvPr/>
        </p:nvCxnSpPr>
        <p:spPr>
          <a:xfrm flipH="1" flipV="1">
            <a:off x="8708994" y="4736815"/>
            <a:ext cx="17756" cy="1042548"/>
          </a:xfrm>
          <a:prstGeom prst="line">
            <a:avLst/>
          </a:prstGeom>
          <a:ln w="57150">
            <a:solidFill>
              <a:srgbClr val="FF0000"/>
            </a:solidFill>
          </a:ln>
        </p:spPr>
        <p:style>
          <a:lnRef idx="1">
            <a:schemeClr val="accent2"/>
          </a:lnRef>
          <a:fillRef idx="0">
            <a:schemeClr val="accent2"/>
          </a:fillRef>
          <a:effectRef idx="0">
            <a:schemeClr val="accent2"/>
          </a:effectRef>
          <a:fontRef idx="minor">
            <a:schemeClr val="tx1"/>
          </a:fontRef>
        </p:style>
      </p:cxnSp>
      <p:grpSp>
        <p:nvGrpSpPr>
          <p:cNvPr id="182" name="그룹 181">
            <a:extLst>
              <a:ext uri="{FF2B5EF4-FFF2-40B4-BE49-F238E27FC236}">
                <a16:creationId xmlns:a16="http://schemas.microsoft.com/office/drawing/2014/main" id="{72CE15C6-4790-44A1-9ABE-13B8740A4802}"/>
              </a:ext>
            </a:extLst>
          </p:cNvPr>
          <p:cNvGrpSpPr/>
          <p:nvPr/>
        </p:nvGrpSpPr>
        <p:grpSpPr>
          <a:xfrm>
            <a:off x="4660032" y="5095450"/>
            <a:ext cx="2534007" cy="1579256"/>
            <a:chOff x="3392056" y="3363968"/>
            <a:chExt cx="4141636" cy="2581169"/>
          </a:xfrm>
        </p:grpSpPr>
        <p:grpSp>
          <p:nvGrpSpPr>
            <p:cNvPr id="189" name="그룹 188">
              <a:extLst>
                <a:ext uri="{FF2B5EF4-FFF2-40B4-BE49-F238E27FC236}">
                  <a16:creationId xmlns:a16="http://schemas.microsoft.com/office/drawing/2014/main" id="{56740C63-000D-45C8-8403-08F2F8452E53}"/>
                </a:ext>
              </a:extLst>
            </p:cNvPr>
            <p:cNvGrpSpPr/>
            <p:nvPr/>
          </p:nvGrpSpPr>
          <p:grpSpPr>
            <a:xfrm>
              <a:off x="3392056" y="3389998"/>
              <a:ext cx="1718476" cy="2516137"/>
              <a:chOff x="3392056" y="3389998"/>
              <a:chExt cx="1718476" cy="2516137"/>
            </a:xfrm>
          </p:grpSpPr>
          <p:sp>
            <p:nvSpPr>
              <p:cNvPr id="225" name="타원 224">
                <a:extLst>
                  <a:ext uri="{FF2B5EF4-FFF2-40B4-BE49-F238E27FC236}">
                    <a16:creationId xmlns:a16="http://schemas.microsoft.com/office/drawing/2014/main" id="{4A5B2DD9-6EE7-473B-8A81-B0AB5D5E802B}"/>
                  </a:ext>
                </a:extLst>
              </p:cNvPr>
              <p:cNvSpPr/>
              <p:nvPr/>
            </p:nvSpPr>
            <p:spPr>
              <a:xfrm>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7</a:t>
                </a:r>
              </a:p>
            </p:txBody>
          </p:sp>
          <p:sp>
            <p:nvSpPr>
              <p:cNvPr id="226" name="타원 225">
                <a:extLst>
                  <a:ext uri="{FF2B5EF4-FFF2-40B4-BE49-F238E27FC236}">
                    <a16:creationId xmlns:a16="http://schemas.microsoft.com/office/drawing/2014/main" id="{5F1E6A47-A557-4A75-947F-41A8A721541B}"/>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3</a:t>
                </a:r>
              </a:p>
            </p:txBody>
          </p:sp>
          <p:sp>
            <p:nvSpPr>
              <p:cNvPr id="227" name="타원 226">
                <a:extLst>
                  <a:ext uri="{FF2B5EF4-FFF2-40B4-BE49-F238E27FC236}">
                    <a16:creationId xmlns:a16="http://schemas.microsoft.com/office/drawing/2014/main" id="{4A52D6EF-9A31-4371-A78A-08D59B22D8B8}"/>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2</a:t>
                </a:r>
              </a:p>
            </p:txBody>
          </p:sp>
          <p:sp>
            <p:nvSpPr>
              <p:cNvPr id="228" name="타원 227">
                <a:extLst>
                  <a:ext uri="{FF2B5EF4-FFF2-40B4-BE49-F238E27FC236}">
                    <a16:creationId xmlns:a16="http://schemas.microsoft.com/office/drawing/2014/main" id="{E1A28C5B-D5DE-403B-8497-B835C988FB50}"/>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1</a:t>
                </a:r>
              </a:p>
            </p:txBody>
          </p:sp>
          <p:grpSp>
            <p:nvGrpSpPr>
              <p:cNvPr id="229" name="그룹 228">
                <a:extLst>
                  <a:ext uri="{FF2B5EF4-FFF2-40B4-BE49-F238E27FC236}">
                    <a16:creationId xmlns:a16="http://schemas.microsoft.com/office/drawing/2014/main" id="{3719DE47-BEC7-4B6B-9AAD-542775DACC85}"/>
                  </a:ext>
                </a:extLst>
              </p:cNvPr>
              <p:cNvGrpSpPr/>
              <p:nvPr/>
            </p:nvGrpSpPr>
            <p:grpSpPr>
              <a:xfrm rot="3600000">
                <a:off x="3392056" y="4930893"/>
                <a:ext cx="1108876" cy="841607"/>
                <a:chOff x="3392056" y="4930893"/>
                <a:chExt cx="1108876" cy="841607"/>
              </a:xfrm>
            </p:grpSpPr>
            <p:sp>
              <p:nvSpPr>
                <p:cNvPr id="233" name="타원 232">
                  <a:extLst>
                    <a:ext uri="{FF2B5EF4-FFF2-40B4-BE49-F238E27FC236}">
                      <a16:creationId xmlns:a16="http://schemas.microsoft.com/office/drawing/2014/main" id="{A32FA488-5363-4BDC-996A-9FCD494810B4}"/>
                    </a:ext>
                  </a:extLst>
                </p:cNvPr>
                <p:cNvSpPr/>
                <p:nvPr/>
              </p:nvSpPr>
              <p:spPr>
                <a:xfrm rot="18172992">
                  <a:off x="420739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6</a:t>
                  </a:r>
                </a:p>
              </p:txBody>
            </p:sp>
            <p:sp>
              <p:nvSpPr>
                <p:cNvPr id="234" name="타원 233">
                  <a:extLst>
                    <a:ext uri="{FF2B5EF4-FFF2-40B4-BE49-F238E27FC236}">
                      <a16:creationId xmlns:a16="http://schemas.microsoft.com/office/drawing/2014/main" id="{DC37A220-9C5B-4BBA-8286-54B9C83DEF15}"/>
                    </a:ext>
                  </a:extLst>
                </p:cNvPr>
                <p:cNvSpPr/>
                <p:nvPr/>
              </p:nvSpPr>
              <p:spPr>
                <a:xfrm rot="18883256">
                  <a:off x="3795917"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5</a:t>
                  </a:r>
                </a:p>
              </p:txBody>
            </p:sp>
            <p:sp>
              <p:nvSpPr>
                <p:cNvPr id="235" name="타원 234">
                  <a:extLst>
                    <a:ext uri="{FF2B5EF4-FFF2-40B4-BE49-F238E27FC236}">
                      <a16:creationId xmlns:a16="http://schemas.microsoft.com/office/drawing/2014/main" id="{D99EDF1F-6F1C-44D1-BFD1-1ED8CE7E990A}"/>
                    </a:ext>
                  </a:extLst>
                </p:cNvPr>
                <p:cNvSpPr/>
                <p:nvPr/>
              </p:nvSpPr>
              <p:spPr>
                <a:xfrm rot="180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4</a:t>
                  </a:r>
                </a:p>
              </p:txBody>
            </p:sp>
          </p:grpSp>
        </p:grpSp>
        <p:grpSp>
          <p:nvGrpSpPr>
            <p:cNvPr id="191" name="그룹 190">
              <a:extLst>
                <a:ext uri="{FF2B5EF4-FFF2-40B4-BE49-F238E27FC236}">
                  <a16:creationId xmlns:a16="http://schemas.microsoft.com/office/drawing/2014/main" id="{F6839C7A-0FF4-4F27-851B-A159B56F4050}"/>
                </a:ext>
              </a:extLst>
            </p:cNvPr>
            <p:cNvGrpSpPr/>
            <p:nvPr/>
          </p:nvGrpSpPr>
          <p:grpSpPr>
            <a:xfrm rot="10800000">
              <a:off x="5815216" y="3363968"/>
              <a:ext cx="1718476" cy="2581169"/>
              <a:chOff x="3392056" y="3389998"/>
              <a:chExt cx="1718476" cy="2581169"/>
            </a:xfrm>
          </p:grpSpPr>
          <p:sp>
            <p:nvSpPr>
              <p:cNvPr id="205" name="타원 204">
                <a:extLst>
                  <a:ext uri="{FF2B5EF4-FFF2-40B4-BE49-F238E27FC236}">
                    <a16:creationId xmlns:a16="http://schemas.microsoft.com/office/drawing/2014/main" id="{35D98764-836C-4266-B8DB-DCEAA7E7BB81}"/>
                  </a:ext>
                </a:extLst>
              </p:cNvPr>
              <p:cNvSpPr/>
              <p:nvPr/>
            </p:nvSpPr>
            <p:spPr>
              <a:xfrm rot="10607499">
                <a:off x="4816996" y="4520937"/>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8</a:t>
                </a:r>
              </a:p>
            </p:txBody>
          </p:sp>
          <p:sp>
            <p:nvSpPr>
              <p:cNvPr id="206" name="타원 205">
                <a:extLst>
                  <a:ext uri="{FF2B5EF4-FFF2-40B4-BE49-F238E27FC236}">
                    <a16:creationId xmlns:a16="http://schemas.microsoft.com/office/drawing/2014/main" id="{E7BE0ADC-E1A7-4743-8C60-FDE1B56BB3A9}"/>
                  </a:ext>
                </a:extLst>
              </p:cNvPr>
              <p:cNvSpPr/>
              <p:nvPr/>
            </p:nvSpPr>
            <p:spPr>
              <a:xfrm>
                <a:off x="420739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213" name="타원 212">
                <a:extLst>
                  <a:ext uri="{FF2B5EF4-FFF2-40B4-BE49-F238E27FC236}">
                    <a16:creationId xmlns:a16="http://schemas.microsoft.com/office/drawing/2014/main" id="{6A721946-07F4-4FC9-BAF7-968BB5220AF9}"/>
                  </a:ext>
                </a:extLst>
              </p:cNvPr>
              <p:cNvSpPr/>
              <p:nvPr/>
            </p:nvSpPr>
            <p:spPr>
              <a:xfrm>
                <a:off x="3392056" y="3938069"/>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214" name="타원 213">
                <a:extLst>
                  <a:ext uri="{FF2B5EF4-FFF2-40B4-BE49-F238E27FC236}">
                    <a16:creationId xmlns:a16="http://schemas.microsoft.com/office/drawing/2014/main" id="{C62E33B6-46E7-4ABD-9E4F-1B47829E85E8}"/>
                  </a:ext>
                </a:extLst>
              </p:cNvPr>
              <p:cNvSpPr/>
              <p:nvPr/>
            </p:nvSpPr>
            <p:spPr>
              <a:xfrm>
                <a:off x="3795916" y="3389998"/>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nvGrpSpPr>
              <p:cNvPr id="215" name="그룹 214">
                <a:extLst>
                  <a:ext uri="{FF2B5EF4-FFF2-40B4-BE49-F238E27FC236}">
                    <a16:creationId xmlns:a16="http://schemas.microsoft.com/office/drawing/2014/main" id="{CFF5B6E3-CDC6-4718-8666-65BC7409C21A}"/>
                  </a:ext>
                </a:extLst>
              </p:cNvPr>
              <p:cNvGrpSpPr/>
              <p:nvPr/>
            </p:nvGrpSpPr>
            <p:grpSpPr>
              <a:xfrm rot="3600000">
                <a:off x="3353376" y="4939820"/>
                <a:ext cx="1163018" cy="899676"/>
                <a:chOff x="3392056" y="4930893"/>
                <a:chExt cx="1163018" cy="899676"/>
              </a:xfrm>
            </p:grpSpPr>
            <p:sp>
              <p:nvSpPr>
                <p:cNvPr id="219" name="타원 218">
                  <a:extLst>
                    <a:ext uri="{FF2B5EF4-FFF2-40B4-BE49-F238E27FC236}">
                      <a16:creationId xmlns:a16="http://schemas.microsoft.com/office/drawing/2014/main" id="{03A25684-6A58-4939-B693-E96A07DF555A}"/>
                    </a:ext>
                  </a:extLst>
                </p:cNvPr>
                <p:cNvSpPr/>
                <p:nvPr/>
              </p:nvSpPr>
              <p:spPr>
                <a:xfrm rot="7200000">
                  <a:off x="4221037" y="5496532"/>
                  <a:ext cx="374538"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dirty="0">
                    <a:solidFill>
                      <a:schemeClr val="bg1"/>
                    </a:solidFill>
                  </a:endParaRPr>
                </a:p>
              </p:txBody>
            </p:sp>
            <p:sp>
              <p:nvSpPr>
                <p:cNvPr id="220" name="타원 219">
                  <a:extLst>
                    <a:ext uri="{FF2B5EF4-FFF2-40B4-BE49-F238E27FC236}">
                      <a16:creationId xmlns:a16="http://schemas.microsoft.com/office/drawing/2014/main" id="{31152DA7-10D5-4CF2-9417-91984B417A64}"/>
                    </a:ext>
                  </a:extLst>
                </p:cNvPr>
                <p:cNvSpPr/>
                <p:nvPr/>
              </p:nvSpPr>
              <p:spPr>
                <a:xfrm rot="6385941">
                  <a:off x="3795915" y="4930893"/>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9</a:t>
                  </a:r>
                </a:p>
              </p:txBody>
            </p:sp>
            <p:sp>
              <p:nvSpPr>
                <p:cNvPr id="221" name="타원 220">
                  <a:extLst>
                    <a:ext uri="{FF2B5EF4-FFF2-40B4-BE49-F238E27FC236}">
                      <a16:creationId xmlns:a16="http://schemas.microsoft.com/office/drawing/2014/main" id="{949D0555-47E8-4CA3-BE51-5BFDB4FE89AF}"/>
                    </a:ext>
                  </a:extLst>
                </p:cNvPr>
                <p:cNvSpPr/>
                <p:nvPr/>
              </p:nvSpPr>
              <p:spPr>
                <a:xfrm rot="1800000">
                  <a:off x="3392056" y="5478964"/>
                  <a:ext cx="293536" cy="293536"/>
                </a:xfrm>
                <a:prstGeom prst="ellips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grpSp>
      </p:grpSp>
      <p:sp>
        <p:nvSpPr>
          <p:cNvPr id="183" name="직사각형 182">
            <a:extLst>
              <a:ext uri="{FF2B5EF4-FFF2-40B4-BE49-F238E27FC236}">
                <a16:creationId xmlns:a16="http://schemas.microsoft.com/office/drawing/2014/main" id="{C9736AA1-7A1C-4E97-BB15-C90690A7631B}"/>
              </a:ext>
            </a:extLst>
          </p:cNvPr>
          <p:cNvSpPr/>
          <p:nvPr/>
        </p:nvSpPr>
        <p:spPr>
          <a:xfrm>
            <a:off x="6671204" y="5003115"/>
            <a:ext cx="385465" cy="276999"/>
          </a:xfrm>
          <a:prstGeom prst="rect">
            <a:avLst/>
          </a:prstGeom>
        </p:spPr>
        <p:txBody>
          <a:bodyPr wrap="square">
            <a:spAutoFit/>
          </a:bodyPr>
          <a:lstStyle/>
          <a:p>
            <a:pPr algn="ctr"/>
            <a:r>
              <a:rPr lang="en-US" sz="1200" dirty="0">
                <a:solidFill>
                  <a:schemeClr val="bg1"/>
                </a:solidFill>
              </a:rPr>
              <a:t>10</a:t>
            </a:r>
          </a:p>
        </p:txBody>
      </p:sp>
      <p:sp>
        <p:nvSpPr>
          <p:cNvPr id="184" name="직사각형 183">
            <a:extLst>
              <a:ext uri="{FF2B5EF4-FFF2-40B4-BE49-F238E27FC236}">
                <a16:creationId xmlns:a16="http://schemas.microsoft.com/office/drawing/2014/main" id="{34ABF4C9-01CC-4579-8007-F343F3B68068}"/>
              </a:ext>
            </a:extLst>
          </p:cNvPr>
          <p:cNvSpPr/>
          <p:nvPr/>
        </p:nvSpPr>
        <p:spPr>
          <a:xfrm>
            <a:off x="6963085" y="5488905"/>
            <a:ext cx="341761" cy="276999"/>
          </a:xfrm>
          <a:prstGeom prst="rect">
            <a:avLst/>
          </a:prstGeom>
        </p:spPr>
        <p:txBody>
          <a:bodyPr wrap="none">
            <a:spAutoFit/>
          </a:bodyPr>
          <a:lstStyle/>
          <a:p>
            <a:pPr algn="ctr"/>
            <a:r>
              <a:rPr lang="en-US" sz="1200" dirty="0">
                <a:solidFill>
                  <a:schemeClr val="bg1"/>
                </a:solidFill>
              </a:rPr>
              <a:t>11</a:t>
            </a:r>
          </a:p>
        </p:txBody>
      </p:sp>
      <p:sp>
        <p:nvSpPr>
          <p:cNvPr id="185" name="직사각형 184">
            <a:extLst>
              <a:ext uri="{FF2B5EF4-FFF2-40B4-BE49-F238E27FC236}">
                <a16:creationId xmlns:a16="http://schemas.microsoft.com/office/drawing/2014/main" id="{62CF4757-468C-4540-8EB2-2D51CC65CD3A}"/>
              </a:ext>
            </a:extLst>
          </p:cNvPr>
          <p:cNvSpPr/>
          <p:nvPr/>
        </p:nvSpPr>
        <p:spPr>
          <a:xfrm>
            <a:off x="6934777" y="6119806"/>
            <a:ext cx="341761" cy="276999"/>
          </a:xfrm>
          <a:prstGeom prst="rect">
            <a:avLst/>
          </a:prstGeom>
        </p:spPr>
        <p:txBody>
          <a:bodyPr wrap="none">
            <a:spAutoFit/>
          </a:bodyPr>
          <a:lstStyle/>
          <a:p>
            <a:pPr algn="ctr"/>
            <a:r>
              <a:rPr lang="en-US" sz="1200" dirty="0">
                <a:solidFill>
                  <a:schemeClr val="bg1"/>
                </a:solidFill>
              </a:rPr>
              <a:t>12</a:t>
            </a:r>
          </a:p>
        </p:txBody>
      </p:sp>
      <p:sp>
        <p:nvSpPr>
          <p:cNvPr id="187" name="직사각형 186">
            <a:extLst>
              <a:ext uri="{FF2B5EF4-FFF2-40B4-BE49-F238E27FC236}">
                <a16:creationId xmlns:a16="http://schemas.microsoft.com/office/drawing/2014/main" id="{D1C0B029-41AC-4E31-9AFE-79C5BB53E5E6}"/>
              </a:ext>
            </a:extLst>
          </p:cNvPr>
          <p:cNvSpPr/>
          <p:nvPr/>
        </p:nvSpPr>
        <p:spPr>
          <a:xfrm>
            <a:off x="6690379" y="6456793"/>
            <a:ext cx="341761" cy="276999"/>
          </a:xfrm>
          <a:prstGeom prst="rect">
            <a:avLst/>
          </a:prstGeom>
        </p:spPr>
        <p:txBody>
          <a:bodyPr wrap="none">
            <a:spAutoFit/>
          </a:bodyPr>
          <a:lstStyle/>
          <a:p>
            <a:pPr algn="ctr"/>
            <a:r>
              <a:rPr lang="en-US" sz="1200" dirty="0">
                <a:solidFill>
                  <a:schemeClr val="bg1"/>
                </a:solidFill>
              </a:rPr>
              <a:t>13</a:t>
            </a:r>
          </a:p>
        </p:txBody>
      </p:sp>
      <p:sp>
        <p:nvSpPr>
          <p:cNvPr id="188" name="직사각형 187">
            <a:extLst>
              <a:ext uri="{FF2B5EF4-FFF2-40B4-BE49-F238E27FC236}">
                <a16:creationId xmlns:a16="http://schemas.microsoft.com/office/drawing/2014/main" id="{BB359478-DDE5-4677-9A87-4D1850C3EB8E}"/>
              </a:ext>
            </a:extLst>
          </p:cNvPr>
          <p:cNvSpPr/>
          <p:nvPr/>
        </p:nvSpPr>
        <p:spPr>
          <a:xfrm>
            <a:off x="6437138" y="6126957"/>
            <a:ext cx="341761" cy="461665"/>
          </a:xfrm>
          <a:prstGeom prst="rect">
            <a:avLst/>
          </a:prstGeom>
        </p:spPr>
        <p:txBody>
          <a:bodyPr wrap="square">
            <a:spAutoFit/>
          </a:bodyPr>
          <a:lstStyle/>
          <a:p>
            <a:pPr algn="ctr"/>
            <a:r>
              <a:rPr lang="en-US" sz="1200" dirty="0">
                <a:solidFill>
                  <a:schemeClr val="bg1"/>
                </a:solidFill>
              </a:rPr>
              <a:t>14</a:t>
            </a:r>
          </a:p>
        </p:txBody>
      </p:sp>
    </p:spTree>
    <p:extLst>
      <p:ext uri="{BB962C8B-B14F-4D97-AF65-F5344CB8AC3E}">
        <p14:creationId xmlns:p14="http://schemas.microsoft.com/office/powerpoint/2010/main" val="3943202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Betweenness Measures and Graph Partitioning</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197487" y="1378505"/>
            <a:ext cx="11559508" cy="506028"/>
          </a:xfrm>
        </p:spPr>
        <p:txBody>
          <a:bodyPr>
            <a:normAutofit/>
          </a:bodyPr>
          <a:lstStyle/>
          <a:p>
            <a:pPr marL="0" indent="0">
              <a:buNone/>
            </a:pPr>
            <a:r>
              <a:rPr lang="en-US" sz="2400" i="1" dirty="0"/>
              <a:t>Efficient way of Computing Betweenness Values</a:t>
            </a:r>
            <a:endParaRPr lang="en-US" sz="2000" dirty="0"/>
          </a:p>
          <a:p>
            <a:pPr marL="0" indent="0">
              <a:buNone/>
            </a:pPr>
            <a:endParaRPr lang="en-US" sz="2000" dirty="0"/>
          </a:p>
        </p:txBody>
      </p:sp>
      <p:sp>
        <p:nvSpPr>
          <p:cNvPr id="37" name="내용 개체 틀 2">
            <a:extLst>
              <a:ext uri="{FF2B5EF4-FFF2-40B4-BE49-F238E27FC236}">
                <a16:creationId xmlns:a16="http://schemas.microsoft.com/office/drawing/2014/main" id="{8AC75AC6-B24C-4C16-8872-2E2669C7C08A}"/>
              </a:ext>
            </a:extLst>
          </p:cNvPr>
          <p:cNvSpPr txBox="1">
            <a:spLocks/>
          </p:cNvSpPr>
          <p:nvPr/>
        </p:nvSpPr>
        <p:spPr>
          <a:xfrm>
            <a:off x="623245" y="1884533"/>
            <a:ext cx="9419915" cy="1201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US" sz="1500" dirty="0"/>
              <a:t>Perform a breadth-first search of the graph, starting at appropriate point (Let’s say A)</a:t>
            </a:r>
          </a:p>
          <a:p>
            <a:pPr marL="342900" indent="-342900">
              <a:buFont typeface="Arial" panose="020B0604020202020204" pitchFamily="34" charset="0"/>
              <a:buAutoNum type="arabicPeriod"/>
            </a:pPr>
            <a:r>
              <a:rPr lang="en-US" sz="1500" dirty="0"/>
              <a:t>Determine the number of shortest paths from A to each other node </a:t>
            </a:r>
          </a:p>
          <a:p>
            <a:pPr marL="342900" indent="-342900">
              <a:buFont typeface="Arial" panose="020B0604020202020204" pitchFamily="34" charset="0"/>
              <a:buAutoNum type="arabicPeriod"/>
            </a:pPr>
            <a:r>
              <a:rPr lang="en-US" sz="1500" dirty="0"/>
              <a:t>Based on these numbers, determine the amount of flow from A to all other nodes that use each edge</a:t>
            </a:r>
          </a:p>
          <a:p>
            <a:pPr marL="0" indent="0">
              <a:buFont typeface="Arial" panose="020B0604020202020204" pitchFamily="34" charset="0"/>
              <a:buNone/>
            </a:pPr>
            <a:endParaRPr lang="en-US" sz="1500" dirty="0"/>
          </a:p>
        </p:txBody>
      </p:sp>
      <p:pic>
        <p:nvPicPr>
          <p:cNvPr id="3" name="그림 2">
            <a:extLst>
              <a:ext uri="{FF2B5EF4-FFF2-40B4-BE49-F238E27FC236}">
                <a16:creationId xmlns:a16="http://schemas.microsoft.com/office/drawing/2014/main" id="{6253BB02-E50C-4E7D-9E0C-1BEFC835BF2E}"/>
              </a:ext>
            </a:extLst>
          </p:cNvPr>
          <p:cNvPicPr>
            <a:picLocks noChangeAspect="1"/>
          </p:cNvPicPr>
          <p:nvPr/>
        </p:nvPicPr>
        <p:blipFill rotWithShape="1">
          <a:blip r:embed="rId2"/>
          <a:srcRect l="31187" t="32222" r="32063" b="20101"/>
          <a:stretch/>
        </p:blipFill>
        <p:spPr>
          <a:xfrm>
            <a:off x="287965" y="3005049"/>
            <a:ext cx="4969835" cy="3626744"/>
          </a:xfrm>
          <a:prstGeom prst="rect">
            <a:avLst/>
          </a:prstGeom>
        </p:spPr>
      </p:pic>
      <p:pic>
        <p:nvPicPr>
          <p:cNvPr id="4" name="그림 3">
            <a:extLst>
              <a:ext uri="{FF2B5EF4-FFF2-40B4-BE49-F238E27FC236}">
                <a16:creationId xmlns:a16="http://schemas.microsoft.com/office/drawing/2014/main" id="{1E8C71D1-884E-4A5C-A892-EF8A4DD95245}"/>
              </a:ext>
            </a:extLst>
          </p:cNvPr>
          <p:cNvPicPr>
            <a:picLocks noChangeAspect="1"/>
          </p:cNvPicPr>
          <p:nvPr/>
        </p:nvPicPr>
        <p:blipFill rotWithShape="1">
          <a:blip r:embed="rId3"/>
          <a:srcRect l="34375" t="17556" r="35625" b="38444"/>
          <a:stretch/>
        </p:blipFill>
        <p:spPr>
          <a:xfrm>
            <a:off x="7355796" y="3086100"/>
            <a:ext cx="4401199" cy="3630989"/>
          </a:xfrm>
          <a:prstGeom prst="rect">
            <a:avLst/>
          </a:prstGeom>
        </p:spPr>
      </p:pic>
      <p:cxnSp>
        <p:nvCxnSpPr>
          <p:cNvPr id="6" name="직선 화살표 연결선 5">
            <a:extLst>
              <a:ext uri="{FF2B5EF4-FFF2-40B4-BE49-F238E27FC236}">
                <a16:creationId xmlns:a16="http://schemas.microsoft.com/office/drawing/2014/main" id="{C100A288-5468-4D55-B254-6157C34B9CC5}"/>
              </a:ext>
            </a:extLst>
          </p:cNvPr>
          <p:cNvCxnSpPr>
            <a:cxnSpLocks/>
          </p:cNvCxnSpPr>
          <p:nvPr/>
        </p:nvCxnSpPr>
        <p:spPr>
          <a:xfrm flipH="1">
            <a:off x="3389535" y="4533499"/>
            <a:ext cx="327297" cy="389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직선 화살표 연결선 159">
            <a:extLst>
              <a:ext uri="{FF2B5EF4-FFF2-40B4-BE49-F238E27FC236}">
                <a16:creationId xmlns:a16="http://schemas.microsoft.com/office/drawing/2014/main" id="{3B3AF9EE-A718-43BC-B0BF-552BA1EA2F83}"/>
              </a:ext>
            </a:extLst>
          </p:cNvPr>
          <p:cNvCxnSpPr>
            <a:cxnSpLocks/>
          </p:cNvCxnSpPr>
          <p:nvPr/>
        </p:nvCxnSpPr>
        <p:spPr>
          <a:xfrm>
            <a:off x="2803878" y="4533499"/>
            <a:ext cx="366042" cy="389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직선 화살표 연결선 167">
            <a:extLst>
              <a:ext uri="{FF2B5EF4-FFF2-40B4-BE49-F238E27FC236}">
                <a16:creationId xmlns:a16="http://schemas.microsoft.com/office/drawing/2014/main" id="{841FC8E2-6749-400F-BA16-E90CAC8C5946}"/>
              </a:ext>
            </a:extLst>
          </p:cNvPr>
          <p:cNvCxnSpPr>
            <a:cxnSpLocks/>
          </p:cNvCxnSpPr>
          <p:nvPr/>
        </p:nvCxnSpPr>
        <p:spPr>
          <a:xfrm>
            <a:off x="2087598" y="5089934"/>
            <a:ext cx="366042" cy="389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직선 화살표 연결선 180">
            <a:extLst>
              <a:ext uri="{FF2B5EF4-FFF2-40B4-BE49-F238E27FC236}">
                <a16:creationId xmlns:a16="http://schemas.microsoft.com/office/drawing/2014/main" id="{3DF4AD3A-122F-4050-9ABE-1FFE6FCB49FE}"/>
              </a:ext>
            </a:extLst>
          </p:cNvPr>
          <p:cNvCxnSpPr>
            <a:cxnSpLocks/>
          </p:cNvCxnSpPr>
          <p:nvPr/>
        </p:nvCxnSpPr>
        <p:spPr>
          <a:xfrm flipH="1">
            <a:off x="2842623" y="5193625"/>
            <a:ext cx="327297" cy="389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직선 화살표 연결선 185">
            <a:extLst>
              <a:ext uri="{FF2B5EF4-FFF2-40B4-BE49-F238E27FC236}">
                <a16:creationId xmlns:a16="http://schemas.microsoft.com/office/drawing/2014/main" id="{C4A93088-B4FC-47F2-A328-B361C003AA97}"/>
              </a:ext>
            </a:extLst>
          </p:cNvPr>
          <p:cNvCxnSpPr>
            <a:cxnSpLocks/>
          </p:cNvCxnSpPr>
          <p:nvPr/>
        </p:nvCxnSpPr>
        <p:spPr>
          <a:xfrm flipH="1">
            <a:off x="3808636" y="3945352"/>
            <a:ext cx="222344" cy="33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직선 화살표 연결선 189">
            <a:extLst>
              <a:ext uri="{FF2B5EF4-FFF2-40B4-BE49-F238E27FC236}">
                <a16:creationId xmlns:a16="http://schemas.microsoft.com/office/drawing/2014/main" id="{97000FB0-9370-479A-BF9C-8B18BAFFC5F3}"/>
              </a:ext>
            </a:extLst>
          </p:cNvPr>
          <p:cNvCxnSpPr>
            <a:cxnSpLocks/>
          </p:cNvCxnSpPr>
          <p:nvPr/>
        </p:nvCxnSpPr>
        <p:spPr>
          <a:xfrm flipH="1">
            <a:off x="2729583" y="3986720"/>
            <a:ext cx="222344" cy="33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직선 화살표 연결선 191">
            <a:extLst>
              <a:ext uri="{FF2B5EF4-FFF2-40B4-BE49-F238E27FC236}">
                <a16:creationId xmlns:a16="http://schemas.microsoft.com/office/drawing/2014/main" id="{717E772C-0046-4C23-90EE-2BDC6634D8C0}"/>
              </a:ext>
            </a:extLst>
          </p:cNvPr>
          <p:cNvCxnSpPr>
            <a:cxnSpLocks/>
          </p:cNvCxnSpPr>
          <p:nvPr/>
        </p:nvCxnSpPr>
        <p:spPr>
          <a:xfrm flipH="1">
            <a:off x="1888114" y="3945351"/>
            <a:ext cx="222344" cy="33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3" name="직선 화살표 연결선 192">
            <a:extLst>
              <a:ext uri="{FF2B5EF4-FFF2-40B4-BE49-F238E27FC236}">
                <a16:creationId xmlns:a16="http://schemas.microsoft.com/office/drawing/2014/main" id="{F9DBF296-E3B5-4A04-8478-F10A9C21B6F0}"/>
              </a:ext>
            </a:extLst>
          </p:cNvPr>
          <p:cNvCxnSpPr>
            <a:cxnSpLocks/>
          </p:cNvCxnSpPr>
          <p:nvPr/>
        </p:nvCxnSpPr>
        <p:spPr>
          <a:xfrm>
            <a:off x="3139233" y="3845166"/>
            <a:ext cx="366042" cy="389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직선 화살표 연결선 193">
            <a:extLst>
              <a:ext uri="{FF2B5EF4-FFF2-40B4-BE49-F238E27FC236}">
                <a16:creationId xmlns:a16="http://schemas.microsoft.com/office/drawing/2014/main" id="{85076353-6AC5-470E-8EFB-410B965463C6}"/>
              </a:ext>
            </a:extLst>
          </p:cNvPr>
          <p:cNvCxnSpPr>
            <a:cxnSpLocks/>
          </p:cNvCxnSpPr>
          <p:nvPr/>
        </p:nvCxnSpPr>
        <p:spPr>
          <a:xfrm>
            <a:off x="1293241" y="3823552"/>
            <a:ext cx="186934" cy="389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5" name="직선 화살표 연결선 194">
            <a:extLst>
              <a:ext uri="{FF2B5EF4-FFF2-40B4-BE49-F238E27FC236}">
                <a16:creationId xmlns:a16="http://schemas.microsoft.com/office/drawing/2014/main" id="{D4F6F543-9154-4009-B587-7F2FEF5B854E}"/>
              </a:ext>
            </a:extLst>
          </p:cNvPr>
          <p:cNvCxnSpPr>
            <a:cxnSpLocks/>
          </p:cNvCxnSpPr>
          <p:nvPr/>
        </p:nvCxnSpPr>
        <p:spPr>
          <a:xfrm>
            <a:off x="1344604" y="4602480"/>
            <a:ext cx="201318" cy="32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6" name="직선 화살표 연결선 195">
            <a:extLst>
              <a:ext uri="{FF2B5EF4-FFF2-40B4-BE49-F238E27FC236}">
                <a16:creationId xmlns:a16="http://schemas.microsoft.com/office/drawing/2014/main" id="{05BD8D46-8181-4C6F-A0DC-1F0604CAE6C0}"/>
              </a:ext>
            </a:extLst>
          </p:cNvPr>
          <p:cNvCxnSpPr>
            <a:cxnSpLocks/>
          </p:cNvCxnSpPr>
          <p:nvPr/>
        </p:nvCxnSpPr>
        <p:spPr>
          <a:xfrm flipH="1">
            <a:off x="2110458" y="4649833"/>
            <a:ext cx="302243" cy="33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 name="그룹 23">
            <a:extLst>
              <a:ext uri="{FF2B5EF4-FFF2-40B4-BE49-F238E27FC236}">
                <a16:creationId xmlns:a16="http://schemas.microsoft.com/office/drawing/2014/main" id="{3AF4A004-DEE9-428D-9122-8BD59D48285D}"/>
              </a:ext>
            </a:extLst>
          </p:cNvPr>
          <p:cNvGrpSpPr/>
          <p:nvPr/>
        </p:nvGrpSpPr>
        <p:grpSpPr>
          <a:xfrm>
            <a:off x="7138102" y="5840488"/>
            <a:ext cx="1672116" cy="932170"/>
            <a:chOff x="5481961" y="5803910"/>
            <a:chExt cx="1725455" cy="932170"/>
          </a:xfrm>
        </p:grpSpPr>
        <mc:AlternateContent xmlns:mc="http://schemas.openxmlformats.org/markup-compatibility/2006" xmlns:a14="http://schemas.microsoft.com/office/drawing/2010/main">
          <mc:Choice Requires="a14">
            <p:sp>
              <p:nvSpPr>
                <p:cNvPr id="22" name="직사각형 21">
                  <a:extLst>
                    <a:ext uri="{FF2B5EF4-FFF2-40B4-BE49-F238E27FC236}">
                      <a16:creationId xmlns:a16="http://schemas.microsoft.com/office/drawing/2014/main" id="{74C21BBD-1C18-4F84-BEBF-A5C6547B4498}"/>
                    </a:ext>
                  </a:extLst>
                </p:cNvPr>
                <p:cNvSpPr/>
                <p:nvPr/>
              </p:nvSpPr>
              <p:spPr>
                <a:xfrm>
                  <a:off x="5482264" y="5803910"/>
                  <a:ext cx="1725152" cy="924164"/>
                </a:xfrm>
                <a:prstGeom prst="rect">
                  <a:avLst/>
                </a:prstGeom>
              </p:spPr>
              <p:txBody>
                <a:bodyPr wrap="square">
                  <a:spAutoFit/>
                </a:bodyPr>
                <a:lstStyle/>
                <a:p>
                  <a:r>
                    <a:rPr lang="en-US" sz="1100" dirty="0"/>
                    <a:t>Flow passing through I</a:t>
                  </a:r>
                </a:p>
                <a:p>
                  <a:r>
                    <a:rPr lang="en-US" sz="1100" dirty="0"/>
                    <a:t>=  Flow destined to K (</a:t>
                  </a:r>
                  <a14:m>
                    <m:oMath xmlns:m="http://schemas.openxmlformats.org/officeDocument/2006/math">
                      <m:f>
                        <m:fPr>
                          <m:ctrlPr>
                            <a:rPr lang="en-US" sz="110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2</m:t>
                          </m:r>
                        </m:den>
                      </m:f>
                    </m:oMath>
                  </a14:m>
                  <a:r>
                    <a:rPr lang="en-US" sz="1100" dirty="0"/>
                    <a:t>) </a:t>
                  </a:r>
                </a:p>
                <a:p>
                  <a:r>
                    <a:rPr lang="en-US" sz="1100" dirty="0"/>
                    <a:t> + Flow destined to I (1)</a:t>
                  </a:r>
                </a:p>
                <a:p>
                  <a:r>
                    <a:rPr lang="en-US" sz="1100" dirty="0"/>
                    <a:t>= </a:t>
                  </a:r>
                  <a14:m>
                    <m:oMath xmlns:m="http://schemas.openxmlformats.org/officeDocument/2006/math">
                      <m:f>
                        <m:fPr>
                          <m:ctrlPr>
                            <a:rPr lang="en-US" sz="1100" b="1" i="1">
                              <a:latin typeface="Cambria Math" panose="02040503050406030204" pitchFamily="18" charset="0"/>
                            </a:rPr>
                          </m:ctrlPr>
                        </m:fPr>
                        <m:num>
                          <m:r>
                            <a:rPr lang="en-US" sz="1100" b="1" i="1" smtClean="0">
                              <a:latin typeface="Cambria Math" panose="02040503050406030204" pitchFamily="18" charset="0"/>
                            </a:rPr>
                            <m:t>𝟑</m:t>
                          </m:r>
                        </m:num>
                        <m:den>
                          <m:r>
                            <a:rPr lang="en-US" sz="1100" b="1" i="1">
                              <a:latin typeface="Cambria Math" panose="02040503050406030204" pitchFamily="18" charset="0"/>
                            </a:rPr>
                            <m:t>𝟐</m:t>
                          </m:r>
                        </m:den>
                      </m:f>
                    </m:oMath>
                  </a14:m>
                  <a:endParaRPr lang="en-US" sz="1100" b="1" dirty="0"/>
                </a:p>
              </p:txBody>
            </p:sp>
          </mc:Choice>
          <mc:Fallback xmlns="">
            <p:sp>
              <p:nvSpPr>
                <p:cNvPr id="22" name="직사각형 21">
                  <a:extLst>
                    <a:ext uri="{FF2B5EF4-FFF2-40B4-BE49-F238E27FC236}">
                      <a16:creationId xmlns:a16="http://schemas.microsoft.com/office/drawing/2014/main" id="{74C21BBD-1C18-4F84-BEBF-A5C6547B4498}"/>
                    </a:ext>
                  </a:extLst>
                </p:cNvPr>
                <p:cNvSpPr>
                  <a:spLocks noRot="1" noChangeAspect="1" noMove="1" noResize="1" noEditPoints="1" noAdjustHandles="1" noChangeArrowheads="1" noChangeShapeType="1" noTextEdit="1"/>
                </p:cNvSpPr>
                <p:nvPr/>
              </p:nvSpPr>
              <p:spPr>
                <a:xfrm>
                  <a:off x="5482264" y="5803910"/>
                  <a:ext cx="1725152" cy="924164"/>
                </a:xfrm>
                <a:prstGeom prst="rect">
                  <a:avLst/>
                </a:prstGeom>
                <a:blipFill>
                  <a:blip r:embed="rId4"/>
                  <a:stretch>
                    <a:fillRect t="-658"/>
                  </a:stretch>
                </a:blipFill>
              </p:spPr>
              <p:txBody>
                <a:bodyPr/>
                <a:lstStyle/>
                <a:p>
                  <a:r>
                    <a:rPr lang="en-US">
                      <a:noFill/>
                    </a:rPr>
                    <a:t> </a:t>
                  </a:r>
                </a:p>
              </p:txBody>
            </p:sp>
          </mc:Fallback>
        </mc:AlternateContent>
        <p:sp>
          <p:nvSpPr>
            <p:cNvPr id="23" name="직사각형 22">
              <a:extLst>
                <a:ext uri="{FF2B5EF4-FFF2-40B4-BE49-F238E27FC236}">
                  <a16:creationId xmlns:a16="http://schemas.microsoft.com/office/drawing/2014/main" id="{2676EA88-2FDC-4111-8B63-A5EC41187EDA}"/>
                </a:ext>
              </a:extLst>
            </p:cNvPr>
            <p:cNvSpPr/>
            <p:nvPr/>
          </p:nvSpPr>
          <p:spPr>
            <a:xfrm>
              <a:off x="5481961" y="5816620"/>
              <a:ext cx="1657979" cy="9194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 name="그룹 216">
            <a:extLst>
              <a:ext uri="{FF2B5EF4-FFF2-40B4-BE49-F238E27FC236}">
                <a16:creationId xmlns:a16="http://schemas.microsoft.com/office/drawing/2014/main" id="{AD670EFA-81A8-4111-A53A-E9678D49AB38}"/>
              </a:ext>
            </a:extLst>
          </p:cNvPr>
          <p:cNvGrpSpPr/>
          <p:nvPr/>
        </p:nvGrpSpPr>
        <p:grpSpPr>
          <a:xfrm>
            <a:off x="6411038" y="4814567"/>
            <a:ext cx="1672116" cy="758116"/>
            <a:chOff x="5481961" y="5803910"/>
            <a:chExt cx="1725455" cy="932170"/>
          </a:xfrm>
        </p:grpSpPr>
        <p:sp>
          <p:nvSpPr>
            <p:cNvPr id="218" name="직사각형 217">
              <a:extLst>
                <a:ext uri="{FF2B5EF4-FFF2-40B4-BE49-F238E27FC236}">
                  <a16:creationId xmlns:a16="http://schemas.microsoft.com/office/drawing/2014/main" id="{E1050A98-C6E0-4CB0-AC2E-F377B7709833}"/>
                </a:ext>
              </a:extLst>
            </p:cNvPr>
            <p:cNvSpPr/>
            <p:nvPr/>
          </p:nvSpPr>
          <p:spPr>
            <a:xfrm>
              <a:off x="5482264" y="5803910"/>
              <a:ext cx="1725152" cy="769441"/>
            </a:xfrm>
            <a:prstGeom prst="rect">
              <a:avLst/>
            </a:prstGeom>
          </p:spPr>
          <p:txBody>
            <a:bodyPr wrap="square">
              <a:spAutoFit/>
            </a:bodyPr>
            <a:lstStyle/>
            <a:p>
              <a:r>
                <a:rPr lang="en-US" sz="1100" dirty="0"/>
                <a:t>Flow passing through F</a:t>
              </a:r>
            </a:p>
            <a:p>
              <a:r>
                <a:rPr lang="en-US" sz="1100" dirty="0"/>
                <a:t>=  Flow destined to I (1) </a:t>
              </a:r>
            </a:p>
            <a:p>
              <a:r>
                <a:rPr lang="en-US" sz="1100" dirty="0"/>
                <a:t> + Flow destined to F (1)</a:t>
              </a:r>
            </a:p>
            <a:p>
              <a:r>
                <a:rPr lang="en-US" sz="1100" dirty="0"/>
                <a:t>= 2</a:t>
              </a:r>
              <a:endParaRPr lang="en-US" sz="1100" b="1" dirty="0"/>
            </a:p>
          </p:txBody>
        </p:sp>
        <p:sp>
          <p:nvSpPr>
            <p:cNvPr id="222" name="직사각형 221">
              <a:extLst>
                <a:ext uri="{FF2B5EF4-FFF2-40B4-BE49-F238E27FC236}">
                  <a16:creationId xmlns:a16="http://schemas.microsoft.com/office/drawing/2014/main" id="{912BEF70-D4FB-48D7-B12B-794EB92EFB8E}"/>
                </a:ext>
              </a:extLst>
            </p:cNvPr>
            <p:cNvSpPr/>
            <p:nvPr/>
          </p:nvSpPr>
          <p:spPr>
            <a:xfrm>
              <a:off x="5481961" y="5816620"/>
              <a:ext cx="1657979" cy="9194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4" name="직사각형 223">
            <a:extLst>
              <a:ext uri="{FF2B5EF4-FFF2-40B4-BE49-F238E27FC236}">
                <a16:creationId xmlns:a16="http://schemas.microsoft.com/office/drawing/2014/main" id="{4AB4D986-7427-4011-9C0E-30B042059107}"/>
              </a:ext>
            </a:extLst>
          </p:cNvPr>
          <p:cNvSpPr/>
          <p:nvPr/>
        </p:nvSpPr>
        <p:spPr>
          <a:xfrm>
            <a:off x="5977241" y="4018062"/>
            <a:ext cx="1454128" cy="600164"/>
          </a:xfrm>
          <a:prstGeom prst="rect">
            <a:avLst/>
          </a:prstGeom>
        </p:spPr>
        <p:txBody>
          <a:bodyPr wrap="square">
            <a:spAutoFit/>
          </a:bodyPr>
          <a:lstStyle/>
          <a:p>
            <a:r>
              <a:rPr lang="en-US" sz="1100" i="1" dirty="0"/>
              <a:t>Divide the total flow by the proportion of</a:t>
            </a:r>
          </a:p>
          <a:p>
            <a:r>
              <a:rPr lang="en-US" sz="1100" i="1" dirty="0"/>
              <a:t># of shortest paths</a:t>
            </a:r>
            <a:endParaRPr lang="en-US" sz="1100" b="1" i="1" dirty="0"/>
          </a:p>
        </p:txBody>
      </p:sp>
      <p:sp>
        <p:nvSpPr>
          <p:cNvPr id="25" name="TextBox 24">
            <a:extLst>
              <a:ext uri="{FF2B5EF4-FFF2-40B4-BE49-F238E27FC236}">
                <a16:creationId xmlns:a16="http://schemas.microsoft.com/office/drawing/2014/main" id="{8449F069-3219-43B9-A493-AB003C724897}"/>
              </a:ext>
            </a:extLst>
          </p:cNvPr>
          <p:cNvSpPr txBox="1"/>
          <p:nvPr/>
        </p:nvSpPr>
        <p:spPr>
          <a:xfrm>
            <a:off x="287965" y="3090910"/>
            <a:ext cx="738475" cy="369332"/>
          </a:xfrm>
          <a:prstGeom prst="rect">
            <a:avLst/>
          </a:prstGeom>
          <a:noFill/>
        </p:spPr>
        <p:txBody>
          <a:bodyPr wrap="square" rtlCol="0">
            <a:spAutoFit/>
          </a:bodyPr>
          <a:lstStyle/>
          <a:p>
            <a:r>
              <a:rPr lang="en-US" dirty="0"/>
              <a:t>step2</a:t>
            </a:r>
          </a:p>
        </p:txBody>
      </p:sp>
      <p:sp>
        <p:nvSpPr>
          <p:cNvPr id="231" name="TextBox 230">
            <a:extLst>
              <a:ext uri="{FF2B5EF4-FFF2-40B4-BE49-F238E27FC236}">
                <a16:creationId xmlns:a16="http://schemas.microsoft.com/office/drawing/2014/main" id="{18D25E20-8019-4CE4-9BFC-FABFA58AEDDC}"/>
              </a:ext>
            </a:extLst>
          </p:cNvPr>
          <p:cNvSpPr txBox="1"/>
          <p:nvPr/>
        </p:nvSpPr>
        <p:spPr>
          <a:xfrm>
            <a:off x="6877859" y="3090910"/>
            <a:ext cx="738475" cy="369332"/>
          </a:xfrm>
          <a:prstGeom prst="rect">
            <a:avLst/>
          </a:prstGeom>
          <a:noFill/>
        </p:spPr>
        <p:txBody>
          <a:bodyPr wrap="square" rtlCol="0">
            <a:spAutoFit/>
          </a:bodyPr>
          <a:lstStyle/>
          <a:p>
            <a:r>
              <a:rPr lang="en-US" dirty="0"/>
              <a:t>step3</a:t>
            </a:r>
          </a:p>
        </p:txBody>
      </p:sp>
    </p:spTree>
    <p:extLst>
      <p:ext uri="{BB962C8B-B14F-4D97-AF65-F5344CB8AC3E}">
        <p14:creationId xmlns:p14="http://schemas.microsoft.com/office/powerpoint/2010/main" val="1407795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9F83E7-61A7-4620-9BC9-45C68CCD6C15}"/>
              </a:ext>
            </a:extLst>
          </p:cNvPr>
          <p:cNvSpPr>
            <a:spLocks noGrp="1"/>
          </p:cNvSpPr>
          <p:nvPr>
            <p:ph type="title"/>
          </p:nvPr>
        </p:nvSpPr>
        <p:spPr>
          <a:xfrm>
            <a:off x="1676400" y="2841995"/>
            <a:ext cx="10515600" cy="1325563"/>
          </a:xfrm>
        </p:spPr>
        <p:txBody>
          <a:bodyPr/>
          <a:lstStyle/>
          <a:p>
            <a:r>
              <a:rPr lang="en-US" b="1" dirty="0"/>
              <a:t>Networks in their Surrounding Contexts</a:t>
            </a:r>
          </a:p>
        </p:txBody>
      </p:sp>
    </p:spTree>
    <p:extLst>
      <p:ext uri="{BB962C8B-B14F-4D97-AF65-F5344CB8AC3E}">
        <p14:creationId xmlns:p14="http://schemas.microsoft.com/office/powerpoint/2010/main" val="2490041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Networks in Their Surrounding Contexts</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316246" y="2554611"/>
            <a:ext cx="1614154" cy="506028"/>
          </a:xfrm>
        </p:spPr>
        <p:txBody>
          <a:bodyPr>
            <a:normAutofit/>
          </a:bodyPr>
          <a:lstStyle/>
          <a:p>
            <a:pPr marL="0" indent="0">
              <a:buNone/>
            </a:pPr>
            <a:r>
              <a:rPr lang="en-US" sz="2400" i="1" dirty="0"/>
              <a:t>Homophily</a:t>
            </a:r>
            <a:endParaRPr lang="en-US" sz="2000" dirty="0"/>
          </a:p>
        </p:txBody>
      </p:sp>
      <p:sp>
        <p:nvSpPr>
          <p:cNvPr id="37" name="내용 개체 틀 2">
            <a:extLst>
              <a:ext uri="{FF2B5EF4-FFF2-40B4-BE49-F238E27FC236}">
                <a16:creationId xmlns:a16="http://schemas.microsoft.com/office/drawing/2014/main" id="{8AC75AC6-B24C-4C16-8872-2E2669C7C08A}"/>
              </a:ext>
            </a:extLst>
          </p:cNvPr>
          <p:cNvSpPr txBox="1">
            <a:spLocks/>
          </p:cNvSpPr>
          <p:nvPr/>
        </p:nvSpPr>
        <p:spPr>
          <a:xfrm>
            <a:off x="623245" y="2965884"/>
            <a:ext cx="8139015" cy="762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Links in social network tend to connect people who are similar to one another</a:t>
            </a:r>
          </a:p>
          <a:p>
            <a:pPr>
              <a:buFontTx/>
              <a:buChar char="-"/>
            </a:pPr>
            <a:r>
              <a:rPr lang="en-US" sz="1800" dirty="0"/>
              <a:t>Relevant to </a:t>
            </a:r>
            <a:r>
              <a:rPr lang="en-US" sz="1800" i="1" dirty="0"/>
              <a:t>Triadic Closure</a:t>
            </a:r>
            <a:endParaRPr lang="en-US" sz="1800" dirty="0"/>
          </a:p>
          <a:p>
            <a:pPr>
              <a:buFontTx/>
              <a:buChar char="-"/>
            </a:pPr>
            <a:endParaRPr lang="en-US" sz="1800" dirty="0"/>
          </a:p>
          <a:p>
            <a:pPr>
              <a:buFontTx/>
              <a:buChar char="-"/>
            </a:pPr>
            <a:endParaRPr lang="en-US" sz="1800" dirty="0"/>
          </a:p>
        </p:txBody>
      </p:sp>
      <p:sp>
        <p:nvSpPr>
          <p:cNvPr id="27" name="내용 개체 틀 2">
            <a:extLst>
              <a:ext uri="{FF2B5EF4-FFF2-40B4-BE49-F238E27FC236}">
                <a16:creationId xmlns:a16="http://schemas.microsoft.com/office/drawing/2014/main" id="{7066646F-E88A-4F47-95B4-03807601487B}"/>
              </a:ext>
            </a:extLst>
          </p:cNvPr>
          <p:cNvSpPr txBox="1">
            <a:spLocks/>
          </p:cNvSpPr>
          <p:nvPr/>
        </p:nvSpPr>
        <p:spPr>
          <a:xfrm>
            <a:off x="623245" y="1353044"/>
            <a:ext cx="9419915" cy="1201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The contexts where a social network is embedded will generally have significant effects on its structure and the way it evolves over time. Each individual’s characteristics will influence forming of links. Thus, surrounding contexts affecting a network’s formation should be considered</a:t>
            </a:r>
            <a:endParaRPr lang="en-US" sz="1600" dirty="0"/>
          </a:p>
        </p:txBody>
      </p:sp>
      <p:sp>
        <p:nvSpPr>
          <p:cNvPr id="28" name="내용 개체 틀 2">
            <a:extLst>
              <a:ext uri="{FF2B5EF4-FFF2-40B4-BE49-F238E27FC236}">
                <a16:creationId xmlns:a16="http://schemas.microsoft.com/office/drawing/2014/main" id="{6EBBC006-D1DC-48B4-805A-F63E9450C55B}"/>
              </a:ext>
            </a:extLst>
          </p:cNvPr>
          <p:cNvSpPr txBox="1">
            <a:spLocks/>
          </p:cNvSpPr>
          <p:nvPr/>
        </p:nvSpPr>
        <p:spPr>
          <a:xfrm>
            <a:off x="316246" y="4134715"/>
            <a:ext cx="6501804" cy="5060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i="1" dirty="0"/>
              <a:t>Measuring Homophily – Homophily Test for 2 characteristics</a:t>
            </a:r>
            <a:endParaRPr lang="en-US" sz="1800" dirty="0"/>
          </a:p>
        </p:txBody>
      </p:sp>
      <p:sp>
        <p:nvSpPr>
          <p:cNvPr id="30" name="내용 개체 틀 2">
            <a:extLst>
              <a:ext uri="{FF2B5EF4-FFF2-40B4-BE49-F238E27FC236}">
                <a16:creationId xmlns:a16="http://schemas.microsoft.com/office/drawing/2014/main" id="{E8D5FFB6-711D-4CDC-B5D1-B4AC4A3F7E80}"/>
              </a:ext>
            </a:extLst>
          </p:cNvPr>
          <p:cNvSpPr txBox="1">
            <a:spLocks/>
          </p:cNvSpPr>
          <p:nvPr/>
        </p:nvSpPr>
        <p:spPr>
          <a:xfrm>
            <a:off x="316246" y="5723780"/>
            <a:ext cx="2924104" cy="5060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i="1" dirty="0"/>
              <a:t>Inverse Homophily</a:t>
            </a:r>
            <a:endParaRPr lang="en-US" sz="1800" dirty="0"/>
          </a:p>
        </p:txBody>
      </p:sp>
      <p:sp>
        <p:nvSpPr>
          <p:cNvPr id="31" name="내용 개체 틀 2">
            <a:extLst>
              <a:ext uri="{FF2B5EF4-FFF2-40B4-BE49-F238E27FC236}">
                <a16:creationId xmlns:a16="http://schemas.microsoft.com/office/drawing/2014/main" id="{7225383D-02A3-411C-B781-036739A488C6}"/>
              </a:ext>
            </a:extLst>
          </p:cNvPr>
          <p:cNvSpPr txBox="1">
            <a:spLocks/>
          </p:cNvSpPr>
          <p:nvPr/>
        </p:nvSpPr>
        <p:spPr>
          <a:xfrm>
            <a:off x="623245" y="6129874"/>
            <a:ext cx="8139015" cy="63179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There are more heterogeneous edges</a:t>
            </a:r>
          </a:p>
          <a:p>
            <a:pPr>
              <a:buFontTx/>
              <a:buChar char="-"/>
            </a:pPr>
            <a:r>
              <a:rPr lang="en-US" sz="1800" dirty="0"/>
              <a:t>Marital, romantic relationships (significantly more than </a:t>
            </a:r>
            <a:r>
              <a:rPr lang="en-US" sz="1800" i="1" dirty="0"/>
              <a:t>2pq</a:t>
            </a:r>
            <a:r>
              <a:rPr lang="en-US" sz="1800" dirty="0"/>
              <a:t>)</a:t>
            </a:r>
            <a:endParaRPr lang="en-US" sz="1800" i="1" dirty="0"/>
          </a:p>
        </p:txBody>
      </p:sp>
      <mc:AlternateContent xmlns:mc="http://schemas.openxmlformats.org/markup-compatibility/2006" xmlns:a14="http://schemas.microsoft.com/office/drawing/2010/main">
        <mc:Choice Requires="a14">
          <p:sp>
            <p:nvSpPr>
              <p:cNvPr id="32" name="내용 개체 틀 2">
                <a:extLst>
                  <a:ext uri="{FF2B5EF4-FFF2-40B4-BE49-F238E27FC236}">
                    <a16:creationId xmlns:a16="http://schemas.microsoft.com/office/drawing/2014/main" id="{B7C348EF-BF23-4CC5-9FC7-6CBA1FF9D93D}"/>
                  </a:ext>
                </a:extLst>
              </p:cNvPr>
              <p:cNvSpPr txBox="1">
                <a:spLocks/>
              </p:cNvSpPr>
              <p:nvPr/>
            </p:nvSpPr>
            <p:spPr>
              <a:xfrm>
                <a:off x="551320" y="4522348"/>
                <a:ext cx="10899971" cy="13155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600" dirty="0"/>
                  <a:t> Assign each node with characteristic 1 and 2 with fraction p and q respectively</a:t>
                </a:r>
              </a:p>
              <a:p>
                <a:pPr>
                  <a:buFontTx/>
                  <a:buChar char="-"/>
                </a:pPr>
                <a:r>
                  <a:rPr lang="en-US" sz="1600" dirty="0"/>
                  <a:t>Edges that connected same characteristics will have probability of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𝑝</m:t>
                        </m:r>
                      </m:e>
                      <m:sup>
                        <m:r>
                          <a:rPr lang="en-US" sz="1600" i="1" smtClean="0">
                            <a:latin typeface="Cambria Math" panose="02040503050406030204" pitchFamily="18" charset="0"/>
                          </a:rPr>
                          <m:t>2</m:t>
                        </m:r>
                      </m:sup>
                    </m:sSup>
                    <m:r>
                      <a:rPr lang="en-US" sz="1600" b="0" i="0" smtClean="0">
                        <a:latin typeface="Cambria Math" panose="02040503050406030204" pitchFamily="18" charset="0"/>
                      </a:rPr>
                      <m:t> </m:t>
                    </m:r>
                    <m:r>
                      <m:rPr>
                        <m:sty m:val="p"/>
                      </m:rPr>
                      <a:rPr lang="en-US" sz="1600" b="0" i="0" smtClean="0">
                        <a:latin typeface="Cambria Math" panose="02040503050406030204" pitchFamily="18" charset="0"/>
                      </a:rPr>
                      <m:t>or</m:t>
                    </m:r>
                    <m:sSup>
                      <m:sSupPr>
                        <m:ctrlPr>
                          <a:rPr lang="en-US" sz="1600" i="1">
                            <a:latin typeface="Cambria Math" panose="02040503050406030204" pitchFamily="18" charset="0"/>
                          </a:rPr>
                        </m:ctrlPr>
                      </m:sSupPr>
                      <m:e>
                        <m:r>
                          <a:rPr lang="en-US" sz="1600" b="0" i="1" smtClean="0">
                            <a:latin typeface="Cambria Math" panose="02040503050406030204" pitchFamily="18" charset="0"/>
                          </a:rPr>
                          <m:t> </m:t>
                        </m:r>
                        <m:r>
                          <a:rPr lang="en-US" sz="1600" b="0" i="1" smtClean="0">
                            <a:latin typeface="Cambria Math" panose="02040503050406030204" pitchFamily="18" charset="0"/>
                          </a:rPr>
                          <m:t>𝑞</m:t>
                        </m:r>
                      </m:e>
                      <m:sup>
                        <m:r>
                          <a:rPr lang="en-US" sz="1600" i="1">
                            <a:latin typeface="Cambria Math" panose="02040503050406030204" pitchFamily="18" charset="0"/>
                          </a:rPr>
                          <m:t>2</m:t>
                        </m:r>
                      </m:sup>
                    </m:sSup>
                    <m:r>
                      <a:rPr lang="en-US" sz="1600" b="0" i="1" smtClean="0">
                        <a:latin typeface="Cambria Math" panose="02040503050406030204" pitchFamily="18" charset="0"/>
                      </a:rPr>
                      <m:t>. </m:t>
                    </m:r>
                  </m:oMath>
                </a14:m>
                <a:r>
                  <a:rPr lang="en-US" sz="1600" dirty="0"/>
                  <a:t> Else (cross-characteristic edges), it will have </a:t>
                </a:r>
                <a14:m>
                  <m:oMath xmlns:m="http://schemas.openxmlformats.org/officeDocument/2006/math">
                    <m:r>
                      <a:rPr lang="en-US" sz="1600" b="0" i="0" smtClean="0">
                        <a:latin typeface="Cambria Math" panose="02040503050406030204" pitchFamily="18" charset="0"/>
                      </a:rPr>
                      <m:t>2</m:t>
                    </m:r>
                    <m:r>
                      <a:rPr lang="en-US" sz="1600" b="0" i="1" smtClean="0">
                        <a:latin typeface="Cambria Math" panose="02040503050406030204" pitchFamily="18" charset="0"/>
                      </a:rPr>
                      <m:t>𝑝</m:t>
                    </m:r>
                    <m:r>
                      <a:rPr lang="en-US" sz="1600" i="1">
                        <a:latin typeface="Cambria Math" panose="02040503050406030204" pitchFamily="18" charset="0"/>
                      </a:rPr>
                      <m:t>𝑞</m:t>
                    </m:r>
                  </m:oMath>
                </a14:m>
                <a:endParaRPr lang="en-US" sz="1600" i="1" dirty="0"/>
              </a:p>
              <a:p>
                <a:pPr>
                  <a:buFontTx/>
                  <a:buChar char="-"/>
                </a:pPr>
                <a:r>
                  <a:rPr lang="en-US" sz="1600" dirty="0"/>
                  <a:t>If the fraction of cross-characteristic edges is significantly less than </a:t>
                </a:r>
                <a14:m>
                  <m:oMath xmlns:m="http://schemas.openxmlformats.org/officeDocument/2006/math">
                    <m:r>
                      <a:rPr lang="en-US" sz="1600">
                        <a:latin typeface="Cambria Math" panose="02040503050406030204" pitchFamily="18" charset="0"/>
                      </a:rPr>
                      <m:t>2</m:t>
                    </m:r>
                    <m:r>
                      <a:rPr lang="en-US" sz="1600" i="1">
                        <a:latin typeface="Cambria Math" panose="02040503050406030204" pitchFamily="18" charset="0"/>
                      </a:rPr>
                      <m:t>𝑝𝑞</m:t>
                    </m:r>
                  </m:oMath>
                </a14:m>
                <a:r>
                  <a:rPr lang="en-US" sz="1600" i="1" dirty="0"/>
                  <a:t>, </a:t>
                </a:r>
                <a:r>
                  <a:rPr lang="en-US" sz="1600" dirty="0"/>
                  <a:t>there is evidence for homophily</a:t>
                </a:r>
                <a:endParaRPr lang="en-US" sz="1600" i="1" dirty="0"/>
              </a:p>
            </p:txBody>
          </p:sp>
        </mc:Choice>
        <mc:Fallback xmlns="">
          <p:sp>
            <p:nvSpPr>
              <p:cNvPr id="32" name="내용 개체 틀 2">
                <a:extLst>
                  <a:ext uri="{FF2B5EF4-FFF2-40B4-BE49-F238E27FC236}">
                    <a16:creationId xmlns:a16="http://schemas.microsoft.com/office/drawing/2014/main" id="{B7C348EF-BF23-4CC5-9FC7-6CBA1FF9D93D}"/>
                  </a:ext>
                </a:extLst>
              </p:cNvPr>
              <p:cNvSpPr txBox="1">
                <a:spLocks noRot="1" noChangeAspect="1" noMove="1" noResize="1" noEditPoints="1" noAdjustHandles="1" noChangeArrowheads="1" noChangeShapeType="1" noTextEdit="1"/>
              </p:cNvSpPr>
              <p:nvPr/>
            </p:nvSpPr>
            <p:spPr>
              <a:xfrm>
                <a:off x="551320" y="4522348"/>
                <a:ext cx="10899971" cy="1315593"/>
              </a:xfrm>
              <a:prstGeom prst="rect">
                <a:avLst/>
              </a:prstGeom>
              <a:blipFill>
                <a:blip r:embed="rId2"/>
                <a:stretch>
                  <a:fillRect l="-280" t="-3241"/>
                </a:stretch>
              </a:blipFill>
            </p:spPr>
            <p:txBody>
              <a:bodyPr/>
              <a:lstStyle/>
              <a:p>
                <a:r>
                  <a:rPr lang="en-US">
                    <a:noFill/>
                  </a:rPr>
                  <a:t> </a:t>
                </a:r>
              </a:p>
            </p:txBody>
          </p:sp>
        </mc:Fallback>
      </mc:AlternateContent>
    </p:spTree>
    <p:extLst>
      <p:ext uri="{BB962C8B-B14F-4D97-AF65-F5344CB8AC3E}">
        <p14:creationId xmlns:p14="http://schemas.microsoft.com/office/powerpoint/2010/main" val="3572150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Selection and Social Influence</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316246" y="1329405"/>
            <a:ext cx="1614154" cy="506028"/>
          </a:xfrm>
        </p:spPr>
        <p:txBody>
          <a:bodyPr>
            <a:normAutofit/>
          </a:bodyPr>
          <a:lstStyle/>
          <a:p>
            <a:pPr marL="0" indent="0">
              <a:buNone/>
            </a:pPr>
            <a:r>
              <a:rPr lang="en-US" sz="2400" i="1" dirty="0"/>
              <a:t>Selection</a:t>
            </a:r>
            <a:endParaRPr lang="en-US" sz="2000" dirty="0"/>
          </a:p>
        </p:txBody>
      </p:sp>
      <p:sp>
        <p:nvSpPr>
          <p:cNvPr id="37" name="내용 개체 틀 2">
            <a:extLst>
              <a:ext uri="{FF2B5EF4-FFF2-40B4-BE49-F238E27FC236}">
                <a16:creationId xmlns:a16="http://schemas.microsoft.com/office/drawing/2014/main" id="{8AC75AC6-B24C-4C16-8872-2E2669C7C08A}"/>
              </a:ext>
            </a:extLst>
          </p:cNvPr>
          <p:cNvSpPr txBox="1">
            <a:spLocks/>
          </p:cNvSpPr>
          <p:nvPr/>
        </p:nvSpPr>
        <p:spPr>
          <a:xfrm>
            <a:off x="623245" y="1767108"/>
            <a:ext cx="9905672" cy="10826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Immutable characteristics that promotes preferential ties among similar people (race, ethnicity)</a:t>
            </a:r>
          </a:p>
          <a:p>
            <a:pPr>
              <a:buFontTx/>
              <a:buChar char="-"/>
            </a:pPr>
            <a:r>
              <a:rPr lang="en-US" sz="1800" dirty="0"/>
              <a:t>Selection may operate at several different scales and different levels of intentionality and can be implicit </a:t>
            </a:r>
          </a:p>
        </p:txBody>
      </p:sp>
      <p:sp>
        <p:nvSpPr>
          <p:cNvPr id="28" name="내용 개체 틀 2">
            <a:extLst>
              <a:ext uri="{FF2B5EF4-FFF2-40B4-BE49-F238E27FC236}">
                <a16:creationId xmlns:a16="http://schemas.microsoft.com/office/drawing/2014/main" id="{6EBBC006-D1DC-48B4-805A-F63E9450C55B}"/>
              </a:ext>
            </a:extLst>
          </p:cNvPr>
          <p:cNvSpPr txBox="1">
            <a:spLocks/>
          </p:cNvSpPr>
          <p:nvPr/>
        </p:nvSpPr>
        <p:spPr>
          <a:xfrm>
            <a:off x="316246" y="2916026"/>
            <a:ext cx="6501804" cy="5060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Social Influence, Socialization </a:t>
            </a:r>
            <a:endParaRPr lang="en-US" sz="2000" dirty="0"/>
          </a:p>
        </p:txBody>
      </p:sp>
      <p:sp>
        <p:nvSpPr>
          <p:cNvPr id="10" name="내용 개체 틀 2">
            <a:extLst>
              <a:ext uri="{FF2B5EF4-FFF2-40B4-BE49-F238E27FC236}">
                <a16:creationId xmlns:a16="http://schemas.microsoft.com/office/drawing/2014/main" id="{34CAB1E8-05B2-4525-BC75-E307B63ECCC4}"/>
              </a:ext>
            </a:extLst>
          </p:cNvPr>
          <p:cNvSpPr txBox="1">
            <a:spLocks/>
          </p:cNvSpPr>
          <p:nvPr/>
        </p:nvSpPr>
        <p:spPr>
          <a:xfrm>
            <a:off x="623245" y="3450261"/>
            <a:ext cx="9905672" cy="10826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Reverse of Selection; existing links in the network serve to shape people’s (mutable) characteristics</a:t>
            </a:r>
          </a:p>
          <a:p>
            <a:pPr>
              <a:buFontTx/>
              <a:buChar char="-"/>
            </a:pPr>
            <a:r>
              <a:rPr lang="en-US" sz="1800" dirty="0"/>
              <a:t>People may modify their behaviors to bring them more closely into alignment with behaviors of their friends</a:t>
            </a:r>
          </a:p>
        </p:txBody>
      </p:sp>
      <p:sp>
        <p:nvSpPr>
          <p:cNvPr id="11" name="내용 개체 틀 2">
            <a:extLst>
              <a:ext uri="{FF2B5EF4-FFF2-40B4-BE49-F238E27FC236}">
                <a16:creationId xmlns:a16="http://schemas.microsoft.com/office/drawing/2014/main" id="{79E52163-CACC-4960-83A4-EA66D97014D5}"/>
              </a:ext>
            </a:extLst>
          </p:cNvPr>
          <p:cNvSpPr txBox="1">
            <a:spLocks/>
          </p:cNvSpPr>
          <p:nvPr/>
        </p:nvSpPr>
        <p:spPr>
          <a:xfrm>
            <a:off x="316246" y="4599179"/>
            <a:ext cx="6501804" cy="5060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Interplay of Selection and Social Influence</a:t>
            </a:r>
            <a:endParaRPr lang="en-US" sz="2000" dirty="0"/>
          </a:p>
        </p:txBody>
      </p:sp>
      <p:sp>
        <p:nvSpPr>
          <p:cNvPr id="12" name="내용 개체 틀 2">
            <a:extLst>
              <a:ext uri="{FF2B5EF4-FFF2-40B4-BE49-F238E27FC236}">
                <a16:creationId xmlns:a16="http://schemas.microsoft.com/office/drawing/2014/main" id="{BDADDB5B-3204-41D8-A42C-B24835D04312}"/>
              </a:ext>
            </a:extLst>
          </p:cNvPr>
          <p:cNvSpPr txBox="1">
            <a:spLocks/>
          </p:cNvSpPr>
          <p:nvPr/>
        </p:nvSpPr>
        <p:spPr>
          <a:xfrm>
            <a:off x="623245" y="5133414"/>
            <a:ext cx="10376188" cy="10826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Seeing the relative contributions of selection and social influence - </a:t>
            </a:r>
            <a:r>
              <a:rPr lang="en-US" sz="1800" i="1" dirty="0"/>
              <a:t>longitudinal studies </a:t>
            </a:r>
            <a:r>
              <a:rPr lang="en-US" sz="1800" dirty="0"/>
              <a:t>of a social network</a:t>
            </a:r>
          </a:p>
        </p:txBody>
      </p:sp>
    </p:spTree>
    <p:extLst>
      <p:ext uri="{BB962C8B-B14F-4D97-AF65-F5344CB8AC3E}">
        <p14:creationId xmlns:p14="http://schemas.microsoft.com/office/powerpoint/2010/main" val="509435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Affiliation</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316245" y="2811645"/>
            <a:ext cx="2897471" cy="506028"/>
          </a:xfrm>
        </p:spPr>
        <p:txBody>
          <a:bodyPr>
            <a:normAutofit/>
          </a:bodyPr>
          <a:lstStyle/>
          <a:p>
            <a:pPr marL="0" indent="0">
              <a:buNone/>
            </a:pPr>
            <a:r>
              <a:rPr lang="en-US" sz="2400" i="1" dirty="0"/>
              <a:t>Affiliation Network</a:t>
            </a:r>
            <a:endParaRPr lang="en-US" sz="2000" dirty="0"/>
          </a:p>
        </p:txBody>
      </p:sp>
      <p:sp>
        <p:nvSpPr>
          <p:cNvPr id="37" name="내용 개체 틀 2">
            <a:extLst>
              <a:ext uri="{FF2B5EF4-FFF2-40B4-BE49-F238E27FC236}">
                <a16:creationId xmlns:a16="http://schemas.microsoft.com/office/drawing/2014/main" id="{8AC75AC6-B24C-4C16-8872-2E2669C7C08A}"/>
              </a:ext>
            </a:extLst>
          </p:cNvPr>
          <p:cNvSpPr txBox="1">
            <a:spLocks/>
          </p:cNvSpPr>
          <p:nvPr/>
        </p:nvSpPr>
        <p:spPr>
          <a:xfrm>
            <a:off x="623245" y="3175464"/>
            <a:ext cx="11414875" cy="14940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Network that represents each person and each focus as nodes and participation as edges</a:t>
            </a:r>
          </a:p>
          <a:p>
            <a:pPr>
              <a:buFontTx/>
              <a:buChar char="-"/>
            </a:pPr>
            <a:r>
              <a:rPr lang="en-US" sz="1800" dirty="0"/>
              <a:t>Network that represents the affiliation of people with foci.</a:t>
            </a:r>
          </a:p>
          <a:p>
            <a:pPr>
              <a:buFontTx/>
              <a:buChar char="-"/>
            </a:pPr>
            <a:r>
              <a:rPr lang="en-US" sz="1800" dirty="0"/>
              <a:t>Example of a class of graphs called bipartite graphs </a:t>
            </a:r>
            <a:br>
              <a:rPr lang="en-US" sz="1800" dirty="0"/>
            </a:br>
            <a:r>
              <a:rPr lang="en-US" sz="1800" dirty="0"/>
              <a:t>(graph that has two sets of nodes and the edges do not connect to the nodes that belong to same sets) </a:t>
            </a:r>
          </a:p>
        </p:txBody>
      </p:sp>
      <p:sp>
        <p:nvSpPr>
          <p:cNvPr id="28" name="내용 개체 틀 2">
            <a:extLst>
              <a:ext uri="{FF2B5EF4-FFF2-40B4-BE49-F238E27FC236}">
                <a16:creationId xmlns:a16="http://schemas.microsoft.com/office/drawing/2014/main" id="{6EBBC006-D1DC-48B4-805A-F63E9450C55B}"/>
              </a:ext>
            </a:extLst>
          </p:cNvPr>
          <p:cNvSpPr txBox="1">
            <a:spLocks/>
          </p:cNvSpPr>
          <p:nvPr/>
        </p:nvSpPr>
        <p:spPr>
          <a:xfrm>
            <a:off x="316246" y="1194786"/>
            <a:ext cx="6501804" cy="5060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Foci</a:t>
            </a:r>
            <a:endParaRPr lang="en-US" sz="2000" dirty="0"/>
          </a:p>
        </p:txBody>
      </p:sp>
      <p:sp>
        <p:nvSpPr>
          <p:cNvPr id="10" name="내용 개체 틀 2">
            <a:extLst>
              <a:ext uri="{FF2B5EF4-FFF2-40B4-BE49-F238E27FC236}">
                <a16:creationId xmlns:a16="http://schemas.microsoft.com/office/drawing/2014/main" id="{34CAB1E8-05B2-4525-BC75-E307B63ECCC4}"/>
              </a:ext>
            </a:extLst>
          </p:cNvPr>
          <p:cNvSpPr txBox="1">
            <a:spLocks/>
          </p:cNvSpPr>
          <p:nvPr/>
        </p:nvSpPr>
        <p:spPr>
          <a:xfrm>
            <a:off x="623245" y="1729021"/>
            <a:ext cx="9905672" cy="10826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Focal points of social interaction that constitutes social, psychological, legal, or physical entities around which joint activities are organized. </a:t>
            </a:r>
          </a:p>
          <a:p>
            <a:pPr>
              <a:buFontTx/>
              <a:buChar char="-"/>
            </a:pPr>
            <a:r>
              <a:rPr lang="en-US" sz="1800" dirty="0"/>
              <a:t>Refers to set of activities that people shares and takes apart </a:t>
            </a:r>
          </a:p>
        </p:txBody>
      </p:sp>
      <p:grpSp>
        <p:nvGrpSpPr>
          <p:cNvPr id="39" name="그룹 38">
            <a:extLst>
              <a:ext uri="{FF2B5EF4-FFF2-40B4-BE49-F238E27FC236}">
                <a16:creationId xmlns:a16="http://schemas.microsoft.com/office/drawing/2014/main" id="{4CA6E126-ACAD-4B05-A3CD-44BFC67F68CA}"/>
              </a:ext>
            </a:extLst>
          </p:cNvPr>
          <p:cNvGrpSpPr/>
          <p:nvPr/>
        </p:nvGrpSpPr>
        <p:grpSpPr>
          <a:xfrm>
            <a:off x="8152490" y="4669488"/>
            <a:ext cx="3073321" cy="2049059"/>
            <a:chOff x="7563775" y="4724216"/>
            <a:chExt cx="3187083" cy="2124907"/>
          </a:xfrm>
        </p:grpSpPr>
        <p:sp>
          <p:nvSpPr>
            <p:cNvPr id="3" name="타원 2">
              <a:extLst>
                <a:ext uri="{FF2B5EF4-FFF2-40B4-BE49-F238E27FC236}">
                  <a16:creationId xmlns:a16="http://schemas.microsoft.com/office/drawing/2014/main" id="{FAAC1141-F2A9-4BCB-892C-0FAC93E4FD8F}"/>
                </a:ext>
              </a:extLst>
            </p:cNvPr>
            <p:cNvSpPr/>
            <p:nvPr/>
          </p:nvSpPr>
          <p:spPr>
            <a:xfrm>
              <a:off x="7599286" y="4724216"/>
              <a:ext cx="967666" cy="4608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Anna</a:t>
              </a:r>
            </a:p>
          </p:txBody>
        </p:sp>
        <p:sp>
          <p:nvSpPr>
            <p:cNvPr id="13" name="타원 12">
              <a:extLst>
                <a:ext uri="{FF2B5EF4-FFF2-40B4-BE49-F238E27FC236}">
                  <a16:creationId xmlns:a16="http://schemas.microsoft.com/office/drawing/2014/main" id="{CFC76225-CBE7-49A4-B79A-38968D06A86D}"/>
                </a:ext>
              </a:extLst>
            </p:cNvPr>
            <p:cNvSpPr/>
            <p:nvPr/>
          </p:nvSpPr>
          <p:spPr>
            <a:xfrm>
              <a:off x="7563775" y="5269914"/>
              <a:ext cx="1038688" cy="4608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Mike</a:t>
              </a:r>
            </a:p>
          </p:txBody>
        </p:sp>
        <p:sp>
          <p:nvSpPr>
            <p:cNvPr id="15" name="타원 14">
              <a:extLst>
                <a:ext uri="{FF2B5EF4-FFF2-40B4-BE49-F238E27FC236}">
                  <a16:creationId xmlns:a16="http://schemas.microsoft.com/office/drawing/2014/main" id="{18B84F91-CFB7-49FB-AB75-5B2ACE66E45C}"/>
                </a:ext>
              </a:extLst>
            </p:cNvPr>
            <p:cNvSpPr/>
            <p:nvPr/>
          </p:nvSpPr>
          <p:spPr>
            <a:xfrm>
              <a:off x="7599286" y="6387484"/>
              <a:ext cx="1003177" cy="4616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Daniel</a:t>
              </a:r>
            </a:p>
          </p:txBody>
        </p:sp>
        <p:sp>
          <p:nvSpPr>
            <p:cNvPr id="16" name="타원 15">
              <a:extLst>
                <a:ext uri="{FF2B5EF4-FFF2-40B4-BE49-F238E27FC236}">
                  <a16:creationId xmlns:a16="http://schemas.microsoft.com/office/drawing/2014/main" id="{FD155BF5-14BA-451E-9A89-E6AACF4AD047}"/>
                </a:ext>
              </a:extLst>
            </p:cNvPr>
            <p:cNvSpPr/>
            <p:nvPr/>
          </p:nvSpPr>
          <p:spPr>
            <a:xfrm>
              <a:off x="7599286" y="5814874"/>
              <a:ext cx="1003177" cy="4608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John</a:t>
              </a:r>
            </a:p>
          </p:txBody>
        </p:sp>
        <p:sp>
          <p:nvSpPr>
            <p:cNvPr id="4" name="직사각형 3">
              <a:extLst>
                <a:ext uri="{FF2B5EF4-FFF2-40B4-BE49-F238E27FC236}">
                  <a16:creationId xmlns:a16="http://schemas.microsoft.com/office/drawing/2014/main" id="{AE3B8BD9-1DCA-4009-BE58-3092F5FFEDFA}"/>
                </a:ext>
              </a:extLst>
            </p:cNvPr>
            <p:cNvSpPr/>
            <p:nvPr/>
          </p:nvSpPr>
          <p:spPr>
            <a:xfrm>
              <a:off x="9623394" y="4953740"/>
              <a:ext cx="1127464" cy="46089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solidFill>
                    <a:schemeClr val="tx1"/>
                  </a:solidFill>
                </a:rPr>
                <a:t>Amazon</a:t>
              </a:r>
            </a:p>
          </p:txBody>
        </p:sp>
        <p:sp>
          <p:nvSpPr>
            <p:cNvPr id="17" name="직사각형 16">
              <a:extLst>
                <a:ext uri="{FF2B5EF4-FFF2-40B4-BE49-F238E27FC236}">
                  <a16:creationId xmlns:a16="http://schemas.microsoft.com/office/drawing/2014/main" id="{40E963AB-AE7C-4C84-B241-04D1B1A45227}"/>
                </a:ext>
              </a:extLst>
            </p:cNvPr>
            <p:cNvSpPr/>
            <p:nvPr/>
          </p:nvSpPr>
          <p:spPr>
            <a:xfrm>
              <a:off x="9623394" y="5556682"/>
              <a:ext cx="1127464" cy="46089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solidFill>
                    <a:schemeClr val="tx1"/>
                  </a:solidFill>
                </a:rPr>
                <a:t>Google</a:t>
              </a:r>
            </a:p>
          </p:txBody>
        </p:sp>
        <p:sp>
          <p:nvSpPr>
            <p:cNvPr id="18" name="직사각형 17">
              <a:extLst>
                <a:ext uri="{FF2B5EF4-FFF2-40B4-BE49-F238E27FC236}">
                  <a16:creationId xmlns:a16="http://schemas.microsoft.com/office/drawing/2014/main" id="{C55D6C42-1D76-47AB-B2F9-E1C131B331E0}"/>
                </a:ext>
              </a:extLst>
            </p:cNvPr>
            <p:cNvSpPr/>
            <p:nvPr/>
          </p:nvSpPr>
          <p:spPr>
            <a:xfrm>
              <a:off x="9623394" y="6157034"/>
              <a:ext cx="1127464" cy="46089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err="1">
                  <a:solidFill>
                    <a:schemeClr val="tx1"/>
                  </a:solidFill>
                </a:rPr>
                <a:t>Ebay</a:t>
              </a:r>
              <a:endParaRPr lang="en-US" sz="1600" dirty="0">
                <a:solidFill>
                  <a:schemeClr val="tx1"/>
                </a:solidFill>
              </a:endParaRPr>
            </a:p>
          </p:txBody>
        </p:sp>
        <p:cxnSp>
          <p:nvCxnSpPr>
            <p:cNvPr id="6" name="직선 연결선 5">
              <a:extLst>
                <a:ext uri="{FF2B5EF4-FFF2-40B4-BE49-F238E27FC236}">
                  <a16:creationId xmlns:a16="http://schemas.microsoft.com/office/drawing/2014/main" id="{65366498-9E63-4A5A-A303-2CED0FA4D73E}"/>
                </a:ext>
              </a:extLst>
            </p:cNvPr>
            <p:cNvCxnSpPr>
              <a:stCxn id="3" idx="6"/>
              <a:endCxn id="18" idx="1"/>
            </p:cNvCxnSpPr>
            <p:nvPr/>
          </p:nvCxnSpPr>
          <p:spPr>
            <a:xfrm>
              <a:off x="8566952" y="4954666"/>
              <a:ext cx="1056442" cy="1432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65475C72-C73C-47BC-A849-41291B15DE06}"/>
                </a:ext>
              </a:extLst>
            </p:cNvPr>
            <p:cNvCxnSpPr>
              <a:cxnSpLocks/>
              <a:stCxn id="13" idx="6"/>
              <a:endCxn id="4" idx="1"/>
            </p:cNvCxnSpPr>
            <p:nvPr/>
          </p:nvCxnSpPr>
          <p:spPr>
            <a:xfrm flipV="1">
              <a:off x="8602463" y="5184190"/>
              <a:ext cx="1020931" cy="316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6B9CB8A6-9130-44A7-8C4B-C960A73A5E79}"/>
                </a:ext>
              </a:extLst>
            </p:cNvPr>
            <p:cNvCxnSpPr>
              <a:cxnSpLocks/>
              <a:stCxn id="17" idx="1"/>
              <a:endCxn id="16" idx="6"/>
            </p:cNvCxnSpPr>
            <p:nvPr/>
          </p:nvCxnSpPr>
          <p:spPr>
            <a:xfrm flipH="1">
              <a:off x="8602463" y="5787132"/>
              <a:ext cx="1020931" cy="258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직선 연결선 28">
              <a:extLst>
                <a:ext uri="{FF2B5EF4-FFF2-40B4-BE49-F238E27FC236}">
                  <a16:creationId xmlns:a16="http://schemas.microsoft.com/office/drawing/2014/main" id="{179C63D7-1375-4057-BE7E-D90EE56C5CD7}"/>
                </a:ext>
              </a:extLst>
            </p:cNvPr>
            <p:cNvCxnSpPr>
              <a:cxnSpLocks/>
              <a:stCxn id="17" idx="1"/>
              <a:endCxn id="15" idx="6"/>
            </p:cNvCxnSpPr>
            <p:nvPr/>
          </p:nvCxnSpPr>
          <p:spPr>
            <a:xfrm flipH="1">
              <a:off x="8602463" y="5787132"/>
              <a:ext cx="1020931" cy="83117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D36D1CCB-03E6-4540-823F-580CB9147E3C}"/>
                </a:ext>
              </a:extLst>
            </p:cNvPr>
            <p:cNvCxnSpPr>
              <a:cxnSpLocks/>
              <a:stCxn id="18" idx="1"/>
              <a:endCxn id="13" idx="6"/>
            </p:cNvCxnSpPr>
            <p:nvPr/>
          </p:nvCxnSpPr>
          <p:spPr>
            <a:xfrm flipH="1" flipV="1">
              <a:off x="8602463" y="5500364"/>
              <a:ext cx="1020931" cy="887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9468C870-44EB-41AF-9C96-8E062B41019D}"/>
                </a:ext>
              </a:extLst>
            </p:cNvPr>
            <p:cNvCxnSpPr>
              <a:cxnSpLocks/>
              <a:stCxn id="4" idx="1"/>
              <a:endCxn id="16" idx="6"/>
            </p:cNvCxnSpPr>
            <p:nvPr/>
          </p:nvCxnSpPr>
          <p:spPr>
            <a:xfrm flipH="1">
              <a:off x="8602463" y="5184190"/>
              <a:ext cx="1020931" cy="86113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8662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Affiliation</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316245" y="1305452"/>
            <a:ext cx="3572264" cy="506028"/>
          </a:xfrm>
        </p:spPr>
        <p:txBody>
          <a:bodyPr>
            <a:normAutofit/>
          </a:bodyPr>
          <a:lstStyle/>
          <a:p>
            <a:pPr marL="0" indent="0">
              <a:buNone/>
            </a:pPr>
            <a:r>
              <a:rPr lang="en-US" sz="2400" i="1" dirty="0"/>
              <a:t>Social Affiliation Network</a:t>
            </a:r>
            <a:endParaRPr lang="en-US" sz="2000" dirty="0"/>
          </a:p>
        </p:txBody>
      </p:sp>
      <p:sp>
        <p:nvSpPr>
          <p:cNvPr id="37" name="내용 개체 틀 2">
            <a:extLst>
              <a:ext uri="{FF2B5EF4-FFF2-40B4-BE49-F238E27FC236}">
                <a16:creationId xmlns:a16="http://schemas.microsoft.com/office/drawing/2014/main" id="{8AC75AC6-B24C-4C16-8872-2E2669C7C08A}"/>
              </a:ext>
            </a:extLst>
          </p:cNvPr>
          <p:cNvSpPr txBox="1">
            <a:spLocks/>
          </p:cNvSpPr>
          <p:nvPr/>
        </p:nvSpPr>
        <p:spPr>
          <a:xfrm>
            <a:off x="316245" y="1892541"/>
            <a:ext cx="11414875" cy="14940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800" dirty="0"/>
              <a:t>Network that extends the notion of affiliation network to social network</a:t>
            </a:r>
          </a:p>
          <a:p>
            <a:pPr>
              <a:buFontTx/>
              <a:buChar char="-"/>
            </a:pPr>
            <a:r>
              <a:rPr lang="en-US" sz="1800" dirty="0"/>
              <a:t>There are two sets of nodes and edges</a:t>
            </a:r>
          </a:p>
          <a:p>
            <a:pPr>
              <a:buFontTx/>
              <a:buChar char="-"/>
            </a:pPr>
            <a:r>
              <a:rPr lang="en-US" sz="1800" dirty="0"/>
              <a:t>From the affiliation network, additional set of edges are introduced which represents social relationship</a:t>
            </a:r>
          </a:p>
        </p:txBody>
      </p:sp>
      <p:sp>
        <p:nvSpPr>
          <p:cNvPr id="13" name="타원 12">
            <a:extLst>
              <a:ext uri="{FF2B5EF4-FFF2-40B4-BE49-F238E27FC236}">
                <a16:creationId xmlns:a16="http://schemas.microsoft.com/office/drawing/2014/main" id="{CFC76225-CBE7-49A4-B79A-38968D06A86D}"/>
              </a:ext>
            </a:extLst>
          </p:cNvPr>
          <p:cNvSpPr/>
          <p:nvPr/>
        </p:nvSpPr>
        <p:spPr>
          <a:xfrm>
            <a:off x="4017218" y="3757186"/>
            <a:ext cx="1153949" cy="5120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Mike</a:t>
            </a:r>
          </a:p>
        </p:txBody>
      </p:sp>
      <p:sp>
        <p:nvSpPr>
          <p:cNvPr id="15" name="타원 14">
            <a:extLst>
              <a:ext uri="{FF2B5EF4-FFF2-40B4-BE49-F238E27FC236}">
                <a16:creationId xmlns:a16="http://schemas.microsoft.com/office/drawing/2014/main" id="{18B84F91-CFB7-49FB-AB75-5B2ACE66E45C}"/>
              </a:ext>
            </a:extLst>
          </p:cNvPr>
          <p:cNvSpPr/>
          <p:nvPr/>
        </p:nvSpPr>
        <p:spPr>
          <a:xfrm>
            <a:off x="5963624" y="5508344"/>
            <a:ext cx="1114497" cy="5128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Daniel</a:t>
            </a:r>
          </a:p>
        </p:txBody>
      </p:sp>
      <p:sp>
        <p:nvSpPr>
          <p:cNvPr id="16" name="타원 15">
            <a:extLst>
              <a:ext uri="{FF2B5EF4-FFF2-40B4-BE49-F238E27FC236}">
                <a16:creationId xmlns:a16="http://schemas.microsoft.com/office/drawing/2014/main" id="{FD155BF5-14BA-451E-9A89-E6AACF4AD047}"/>
              </a:ext>
            </a:extLst>
          </p:cNvPr>
          <p:cNvSpPr/>
          <p:nvPr/>
        </p:nvSpPr>
        <p:spPr>
          <a:xfrm>
            <a:off x="4036943" y="4715175"/>
            <a:ext cx="1114497" cy="5120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John</a:t>
            </a:r>
          </a:p>
        </p:txBody>
      </p:sp>
      <p:sp>
        <p:nvSpPr>
          <p:cNvPr id="4" name="직사각형 3">
            <a:extLst>
              <a:ext uri="{FF2B5EF4-FFF2-40B4-BE49-F238E27FC236}">
                <a16:creationId xmlns:a16="http://schemas.microsoft.com/office/drawing/2014/main" id="{AE3B8BD9-1DCA-4009-BE58-3092F5FFEDFA}"/>
              </a:ext>
            </a:extLst>
          </p:cNvPr>
          <p:cNvSpPr/>
          <p:nvPr/>
        </p:nvSpPr>
        <p:spPr>
          <a:xfrm>
            <a:off x="5894585" y="3758483"/>
            <a:ext cx="1252576" cy="5120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solidFill>
                  <a:schemeClr val="tx1"/>
                </a:solidFill>
              </a:rPr>
              <a:t>Amazon</a:t>
            </a:r>
          </a:p>
        </p:txBody>
      </p:sp>
      <p:sp>
        <p:nvSpPr>
          <p:cNvPr id="17" name="직사각형 16">
            <a:extLst>
              <a:ext uri="{FF2B5EF4-FFF2-40B4-BE49-F238E27FC236}">
                <a16:creationId xmlns:a16="http://schemas.microsoft.com/office/drawing/2014/main" id="{40E963AB-AE7C-4C84-B241-04D1B1A45227}"/>
              </a:ext>
            </a:extLst>
          </p:cNvPr>
          <p:cNvSpPr/>
          <p:nvPr/>
        </p:nvSpPr>
        <p:spPr>
          <a:xfrm>
            <a:off x="7826770" y="4715175"/>
            <a:ext cx="1252576" cy="5120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solidFill>
                  <a:schemeClr val="tx1"/>
                </a:solidFill>
              </a:rPr>
              <a:t>Google</a:t>
            </a:r>
          </a:p>
        </p:txBody>
      </p:sp>
      <p:cxnSp>
        <p:nvCxnSpPr>
          <p:cNvPr id="23" name="직선 연결선 22">
            <a:extLst>
              <a:ext uri="{FF2B5EF4-FFF2-40B4-BE49-F238E27FC236}">
                <a16:creationId xmlns:a16="http://schemas.microsoft.com/office/drawing/2014/main" id="{0E572085-ECE5-4811-88E8-7C89A3EE72CB}"/>
              </a:ext>
            </a:extLst>
          </p:cNvPr>
          <p:cNvCxnSpPr>
            <a:cxnSpLocks/>
            <a:stCxn id="16" idx="6"/>
            <a:endCxn id="17" idx="1"/>
          </p:cNvCxnSpPr>
          <p:nvPr/>
        </p:nvCxnSpPr>
        <p:spPr>
          <a:xfrm>
            <a:off x="5151440" y="4971197"/>
            <a:ext cx="26753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BD20AC71-B331-4BEE-94F3-B484CC8E5192}"/>
              </a:ext>
            </a:extLst>
          </p:cNvPr>
          <p:cNvCxnSpPr>
            <a:cxnSpLocks/>
            <a:stCxn id="13" idx="6"/>
            <a:endCxn id="4" idx="1"/>
          </p:cNvCxnSpPr>
          <p:nvPr/>
        </p:nvCxnSpPr>
        <p:spPr>
          <a:xfrm>
            <a:off x="5171167" y="4013208"/>
            <a:ext cx="723418" cy="12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8394CAA6-166A-44EE-B368-21660F5972FB}"/>
              </a:ext>
            </a:extLst>
          </p:cNvPr>
          <p:cNvCxnSpPr>
            <a:cxnSpLocks/>
            <a:stCxn id="4" idx="2"/>
            <a:endCxn id="15" idx="0"/>
          </p:cNvCxnSpPr>
          <p:nvPr/>
        </p:nvCxnSpPr>
        <p:spPr>
          <a:xfrm>
            <a:off x="6520873" y="4270527"/>
            <a:ext cx="0" cy="1237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9243F20E-4296-4BA8-A893-78D23B4C58EC}"/>
              </a:ext>
            </a:extLst>
          </p:cNvPr>
          <p:cNvCxnSpPr>
            <a:cxnSpLocks/>
            <a:stCxn id="16" idx="5"/>
            <a:endCxn id="15" idx="1"/>
          </p:cNvCxnSpPr>
          <p:nvPr/>
        </p:nvCxnSpPr>
        <p:spPr>
          <a:xfrm>
            <a:off x="4988226" y="5152232"/>
            <a:ext cx="1138612" cy="431219"/>
          </a:xfrm>
          <a:prstGeom prst="line">
            <a:avLst/>
          </a:prstGeom>
        </p:spPr>
        <p:style>
          <a:lnRef idx="1">
            <a:schemeClr val="accent2"/>
          </a:lnRef>
          <a:fillRef idx="0">
            <a:schemeClr val="accent2"/>
          </a:fillRef>
          <a:effectRef idx="0">
            <a:schemeClr val="accent2"/>
          </a:effectRef>
          <a:fontRef idx="minor">
            <a:schemeClr val="tx1"/>
          </a:fontRef>
        </p:style>
      </p:cxnSp>
      <p:cxnSp>
        <p:nvCxnSpPr>
          <p:cNvPr id="38" name="직선 연결선 37">
            <a:extLst>
              <a:ext uri="{FF2B5EF4-FFF2-40B4-BE49-F238E27FC236}">
                <a16:creationId xmlns:a16="http://schemas.microsoft.com/office/drawing/2014/main" id="{938E108F-1A96-4956-8784-4EA45DA617B4}"/>
              </a:ext>
            </a:extLst>
          </p:cNvPr>
          <p:cNvCxnSpPr>
            <a:cxnSpLocks/>
            <a:stCxn id="13" idx="4"/>
            <a:endCxn id="16" idx="0"/>
          </p:cNvCxnSpPr>
          <p:nvPr/>
        </p:nvCxnSpPr>
        <p:spPr>
          <a:xfrm flipH="1">
            <a:off x="4594192" y="4269230"/>
            <a:ext cx="1" cy="445945"/>
          </a:xfrm>
          <a:prstGeom prst="line">
            <a:avLst/>
          </a:prstGeom>
        </p:spPr>
        <p:style>
          <a:lnRef idx="1">
            <a:schemeClr val="accent2"/>
          </a:lnRef>
          <a:fillRef idx="0">
            <a:schemeClr val="accent2"/>
          </a:fillRef>
          <a:effectRef idx="0">
            <a:schemeClr val="accent2"/>
          </a:effectRef>
          <a:fontRef idx="minor">
            <a:schemeClr val="tx1"/>
          </a:fontRef>
        </p:style>
      </p:cxnSp>
      <p:cxnSp>
        <p:nvCxnSpPr>
          <p:cNvPr id="43" name="직선 연결선 42">
            <a:extLst>
              <a:ext uri="{FF2B5EF4-FFF2-40B4-BE49-F238E27FC236}">
                <a16:creationId xmlns:a16="http://schemas.microsoft.com/office/drawing/2014/main" id="{8742484D-CE73-401C-A3EA-59D7705428D4}"/>
              </a:ext>
            </a:extLst>
          </p:cNvPr>
          <p:cNvCxnSpPr>
            <a:cxnSpLocks/>
            <a:stCxn id="16" idx="2"/>
          </p:cNvCxnSpPr>
          <p:nvPr/>
        </p:nvCxnSpPr>
        <p:spPr>
          <a:xfrm flipH="1">
            <a:off x="3463637" y="4971197"/>
            <a:ext cx="573306" cy="0"/>
          </a:xfrm>
          <a:prstGeom prst="line">
            <a:avLst/>
          </a:prstGeom>
        </p:spPr>
        <p:style>
          <a:lnRef idx="1">
            <a:schemeClr val="accent2"/>
          </a:lnRef>
          <a:fillRef idx="0">
            <a:schemeClr val="accent2"/>
          </a:fillRef>
          <a:effectRef idx="0">
            <a:schemeClr val="accent2"/>
          </a:effectRef>
          <a:fontRef idx="minor">
            <a:schemeClr val="tx1"/>
          </a:fontRef>
        </p:style>
      </p:cxnSp>
      <p:sp>
        <p:nvSpPr>
          <p:cNvPr id="48" name="타원 47">
            <a:extLst>
              <a:ext uri="{FF2B5EF4-FFF2-40B4-BE49-F238E27FC236}">
                <a16:creationId xmlns:a16="http://schemas.microsoft.com/office/drawing/2014/main" id="{97AE35EC-075C-435B-9293-1E559F5E5E34}"/>
              </a:ext>
            </a:extLst>
          </p:cNvPr>
          <p:cNvSpPr/>
          <p:nvPr/>
        </p:nvSpPr>
        <p:spPr>
          <a:xfrm>
            <a:off x="2334852" y="4715175"/>
            <a:ext cx="1153949" cy="5120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Claire</a:t>
            </a:r>
          </a:p>
        </p:txBody>
      </p:sp>
    </p:spTree>
    <p:extLst>
      <p:ext uri="{BB962C8B-B14F-4D97-AF65-F5344CB8AC3E}">
        <p14:creationId xmlns:p14="http://schemas.microsoft.com/office/powerpoint/2010/main" val="2474126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Affiliation</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316244" y="1305452"/>
            <a:ext cx="6093433" cy="506028"/>
          </a:xfrm>
        </p:spPr>
        <p:txBody>
          <a:bodyPr>
            <a:normAutofit/>
          </a:bodyPr>
          <a:lstStyle/>
          <a:p>
            <a:pPr marL="0" indent="0">
              <a:buNone/>
            </a:pPr>
            <a:r>
              <a:rPr lang="en-US" sz="2400" i="1" dirty="0"/>
              <a:t>Social Affiliation Network – Closure Processes</a:t>
            </a:r>
            <a:endParaRPr lang="en-US" sz="2000" dirty="0"/>
          </a:p>
        </p:txBody>
      </p:sp>
      <p:grpSp>
        <p:nvGrpSpPr>
          <p:cNvPr id="59" name="그룹 58">
            <a:extLst>
              <a:ext uri="{FF2B5EF4-FFF2-40B4-BE49-F238E27FC236}">
                <a16:creationId xmlns:a16="http://schemas.microsoft.com/office/drawing/2014/main" id="{0B9F0453-044A-4D2C-84B0-0709206E9CAA}"/>
              </a:ext>
            </a:extLst>
          </p:cNvPr>
          <p:cNvGrpSpPr/>
          <p:nvPr/>
        </p:nvGrpSpPr>
        <p:grpSpPr>
          <a:xfrm>
            <a:off x="612559" y="2160739"/>
            <a:ext cx="2991775" cy="1413495"/>
            <a:chOff x="1633491" y="2450237"/>
            <a:chExt cx="2991775" cy="1413495"/>
          </a:xfrm>
        </p:grpSpPr>
        <p:sp>
          <p:nvSpPr>
            <p:cNvPr id="3" name="타원 2">
              <a:extLst>
                <a:ext uri="{FF2B5EF4-FFF2-40B4-BE49-F238E27FC236}">
                  <a16:creationId xmlns:a16="http://schemas.microsoft.com/office/drawing/2014/main" id="{902F3035-7E0B-482C-A930-BD2A3B221C6A}"/>
                </a:ext>
              </a:extLst>
            </p:cNvPr>
            <p:cNvSpPr/>
            <p:nvPr/>
          </p:nvSpPr>
          <p:spPr>
            <a:xfrm>
              <a:off x="1633491" y="2450237"/>
              <a:ext cx="958789"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8" name="타원 17">
              <a:extLst>
                <a:ext uri="{FF2B5EF4-FFF2-40B4-BE49-F238E27FC236}">
                  <a16:creationId xmlns:a16="http://schemas.microsoft.com/office/drawing/2014/main" id="{EAF6D016-8F5F-4884-819C-3A8A1A4EA9CE}"/>
                </a:ext>
              </a:extLst>
            </p:cNvPr>
            <p:cNvSpPr/>
            <p:nvPr/>
          </p:nvSpPr>
          <p:spPr>
            <a:xfrm>
              <a:off x="2404171" y="3446482"/>
              <a:ext cx="958789"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9" name="타원 18">
              <a:extLst>
                <a:ext uri="{FF2B5EF4-FFF2-40B4-BE49-F238E27FC236}">
                  <a16:creationId xmlns:a16="http://schemas.microsoft.com/office/drawing/2014/main" id="{3EDE288E-C135-4A7D-82D4-E3AC7E5A6977}"/>
                </a:ext>
              </a:extLst>
            </p:cNvPr>
            <p:cNvSpPr/>
            <p:nvPr/>
          </p:nvSpPr>
          <p:spPr>
            <a:xfrm>
              <a:off x="3666477" y="2807725"/>
              <a:ext cx="958789"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7" name="직선 연결선 6">
              <a:extLst>
                <a:ext uri="{FF2B5EF4-FFF2-40B4-BE49-F238E27FC236}">
                  <a16:creationId xmlns:a16="http://schemas.microsoft.com/office/drawing/2014/main" id="{DB1C54C7-8603-42C3-83E7-4329D558AC06}"/>
                </a:ext>
              </a:extLst>
            </p:cNvPr>
            <p:cNvCxnSpPr>
              <a:stCxn id="3" idx="4"/>
              <a:endCxn id="18" idx="1"/>
            </p:cNvCxnSpPr>
            <p:nvPr/>
          </p:nvCxnSpPr>
          <p:spPr>
            <a:xfrm>
              <a:off x="2112886" y="2867487"/>
              <a:ext cx="431696" cy="6401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D33E4B09-8681-4D0D-A027-F50E28091D70}"/>
                </a:ext>
              </a:extLst>
            </p:cNvPr>
            <p:cNvCxnSpPr>
              <a:cxnSpLocks/>
              <a:stCxn id="18" idx="6"/>
              <a:endCxn id="19" idx="4"/>
            </p:cNvCxnSpPr>
            <p:nvPr/>
          </p:nvCxnSpPr>
          <p:spPr>
            <a:xfrm flipV="1">
              <a:off x="3362960" y="3224975"/>
              <a:ext cx="782912" cy="4301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0E18A2D4-5A4E-4B33-A3ED-22EDA8F18500}"/>
                </a:ext>
              </a:extLst>
            </p:cNvPr>
            <p:cNvCxnSpPr>
              <a:cxnSpLocks/>
              <a:stCxn id="3" idx="6"/>
              <a:endCxn id="19" idx="2"/>
            </p:cNvCxnSpPr>
            <p:nvPr/>
          </p:nvCxnSpPr>
          <p:spPr>
            <a:xfrm>
              <a:off x="2592280" y="2658862"/>
              <a:ext cx="1074197" cy="35748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0" name="그룹 59">
            <a:extLst>
              <a:ext uri="{FF2B5EF4-FFF2-40B4-BE49-F238E27FC236}">
                <a16:creationId xmlns:a16="http://schemas.microsoft.com/office/drawing/2014/main" id="{0B2B3665-3FAC-418B-B719-C1EF7F9FD764}"/>
              </a:ext>
            </a:extLst>
          </p:cNvPr>
          <p:cNvGrpSpPr/>
          <p:nvPr/>
        </p:nvGrpSpPr>
        <p:grpSpPr>
          <a:xfrm>
            <a:off x="4825013" y="2160739"/>
            <a:ext cx="2991775" cy="1396013"/>
            <a:chOff x="6027937" y="2450237"/>
            <a:chExt cx="2991775" cy="1396013"/>
          </a:xfrm>
        </p:grpSpPr>
        <p:sp>
          <p:nvSpPr>
            <p:cNvPr id="20" name="타원 19">
              <a:extLst>
                <a:ext uri="{FF2B5EF4-FFF2-40B4-BE49-F238E27FC236}">
                  <a16:creationId xmlns:a16="http://schemas.microsoft.com/office/drawing/2014/main" id="{2BE7BC95-1F1B-4B83-BEB7-825201DBEB88}"/>
                </a:ext>
              </a:extLst>
            </p:cNvPr>
            <p:cNvSpPr/>
            <p:nvPr/>
          </p:nvSpPr>
          <p:spPr>
            <a:xfrm>
              <a:off x="6027937" y="2450237"/>
              <a:ext cx="958789"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2" name="타원 21">
              <a:extLst>
                <a:ext uri="{FF2B5EF4-FFF2-40B4-BE49-F238E27FC236}">
                  <a16:creationId xmlns:a16="http://schemas.microsoft.com/office/drawing/2014/main" id="{0BF342CB-5019-40AA-8191-CEB3B227AB30}"/>
                </a:ext>
              </a:extLst>
            </p:cNvPr>
            <p:cNvSpPr/>
            <p:nvPr/>
          </p:nvSpPr>
          <p:spPr>
            <a:xfrm>
              <a:off x="8060923" y="2807725"/>
              <a:ext cx="958789"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5" name="사각형: 둥근 모서리 4">
              <a:extLst>
                <a:ext uri="{FF2B5EF4-FFF2-40B4-BE49-F238E27FC236}">
                  <a16:creationId xmlns:a16="http://schemas.microsoft.com/office/drawing/2014/main" id="{1C9A710B-E097-4A56-9545-1407F39FEA3E}"/>
                </a:ext>
              </a:extLst>
            </p:cNvPr>
            <p:cNvSpPr/>
            <p:nvPr/>
          </p:nvSpPr>
          <p:spPr>
            <a:xfrm>
              <a:off x="6791417" y="3429000"/>
              <a:ext cx="958789" cy="41725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A</a:t>
              </a:r>
            </a:p>
          </p:txBody>
        </p:sp>
        <p:cxnSp>
          <p:nvCxnSpPr>
            <p:cNvPr id="33" name="직선 연결선 32">
              <a:extLst>
                <a:ext uri="{FF2B5EF4-FFF2-40B4-BE49-F238E27FC236}">
                  <a16:creationId xmlns:a16="http://schemas.microsoft.com/office/drawing/2014/main" id="{2B45B985-4C51-48DA-8727-7BDB64CDD07D}"/>
                </a:ext>
              </a:extLst>
            </p:cNvPr>
            <p:cNvCxnSpPr>
              <a:cxnSpLocks/>
              <a:stCxn id="20" idx="4"/>
              <a:endCxn id="5" idx="1"/>
            </p:cNvCxnSpPr>
            <p:nvPr/>
          </p:nvCxnSpPr>
          <p:spPr>
            <a:xfrm>
              <a:off x="6507332" y="2867487"/>
              <a:ext cx="284085" cy="7701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83ABC469-878F-443D-9705-139A1BE89F18}"/>
                </a:ext>
              </a:extLst>
            </p:cNvPr>
            <p:cNvCxnSpPr>
              <a:cxnSpLocks/>
              <a:stCxn id="5" idx="3"/>
              <a:endCxn id="22" idx="4"/>
            </p:cNvCxnSpPr>
            <p:nvPr/>
          </p:nvCxnSpPr>
          <p:spPr>
            <a:xfrm flipV="1">
              <a:off x="7750206" y="3224975"/>
              <a:ext cx="790112" cy="412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B545864B-E689-4AFA-8A6E-094304D3E592}"/>
                </a:ext>
              </a:extLst>
            </p:cNvPr>
            <p:cNvCxnSpPr>
              <a:cxnSpLocks/>
              <a:stCxn id="20" idx="6"/>
              <a:endCxn id="22" idx="2"/>
            </p:cNvCxnSpPr>
            <p:nvPr/>
          </p:nvCxnSpPr>
          <p:spPr>
            <a:xfrm>
              <a:off x="6986726" y="2658862"/>
              <a:ext cx="1074197" cy="35748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1" name="그룹 60">
            <a:extLst>
              <a:ext uri="{FF2B5EF4-FFF2-40B4-BE49-F238E27FC236}">
                <a16:creationId xmlns:a16="http://schemas.microsoft.com/office/drawing/2014/main" id="{FA77A5D4-16FE-4030-B1F4-5A5D3806FD6A}"/>
              </a:ext>
            </a:extLst>
          </p:cNvPr>
          <p:cNvGrpSpPr/>
          <p:nvPr/>
        </p:nvGrpSpPr>
        <p:grpSpPr>
          <a:xfrm>
            <a:off x="8859914" y="2160739"/>
            <a:ext cx="2911877" cy="1321734"/>
            <a:chOff x="8362764" y="4584900"/>
            <a:chExt cx="2911877" cy="1321734"/>
          </a:xfrm>
        </p:grpSpPr>
        <p:sp>
          <p:nvSpPr>
            <p:cNvPr id="24" name="타원 23">
              <a:extLst>
                <a:ext uri="{FF2B5EF4-FFF2-40B4-BE49-F238E27FC236}">
                  <a16:creationId xmlns:a16="http://schemas.microsoft.com/office/drawing/2014/main" id="{67D09601-F5B6-40C4-99E2-538314592F14}"/>
                </a:ext>
              </a:extLst>
            </p:cNvPr>
            <p:cNvSpPr/>
            <p:nvPr/>
          </p:nvSpPr>
          <p:spPr>
            <a:xfrm>
              <a:off x="8362764" y="4584900"/>
              <a:ext cx="958789"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5" name="타원 24">
              <a:extLst>
                <a:ext uri="{FF2B5EF4-FFF2-40B4-BE49-F238E27FC236}">
                  <a16:creationId xmlns:a16="http://schemas.microsoft.com/office/drawing/2014/main" id="{A77E8F2F-88D6-4B26-A4EC-3E70C6FF9976}"/>
                </a:ext>
              </a:extLst>
            </p:cNvPr>
            <p:cNvSpPr/>
            <p:nvPr/>
          </p:nvSpPr>
          <p:spPr>
            <a:xfrm>
              <a:off x="9019712" y="5489384"/>
              <a:ext cx="958789"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8" name="사각형: 둥근 모서리 27">
              <a:extLst>
                <a:ext uri="{FF2B5EF4-FFF2-40B4-BE49-F238E27FC236}">
                  <a16:creationId xmlns:a16="http://schemas.microsoft.com/office/drawing/2014/main" id="{79EABDE7-0BA8-4172-B77E-A13EF96F7004}"/>
                </a:ext>
              </a:extLst>
            </p:cNvPr>
            <p:cNvSpPr/>
            <p:nvPr/>
          </p:nvSpPr>
          <p:spPr>
            <a:xfrm>
              <a:off x="10315852" y="4920448"/>
              <a:ext cx="958789" cy="41725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C</a:t>
              </a:r>
            </a:p>
          </p:txBody>
        </p:sp>
        <p:cxnSp>
          <p:nvCxnSpPr>
            <p:cNvPr id="40" name="직선 연결선 39">
              <a:extLst>
                <a:ext uri="{FF2B5EF4-FFF2-40B4-BE49-F238E27FC236}">
                  <a16:creationId xmlns:a16="http://schemas.microsoft.com/office/drawing/2014/main" id="{4395E76B-4F8F-4C58-81AE-17EA52DB859B}"/>
                </a:ext>
              </a:extLst>
            </p:cNvPr>
            <p:cNvCxnSpPr>
              <a:cxnSpLocks/>
              <a:stCxn id="24" idx="4"/>
              <a:endCxn id="25" idx="1"/>
            </p:cNvCxnSpPr>
            <p:nvPr/>
          </p:nvCxnSpPr>
          <p:spPr>
            <a:xfrm>
              <a:off x="8842159" y="5002150"/>
              <a:ext cx="317964" cy="5483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C0397F5A-7B18-4BE2-9460-97997ECEF8F5}"/>
                </a:ext>
              </a:extLst>
            </p:cNvPr>
            <p:cNvCxnSpPr>
              <a:cxnSpLocks/>
              <a:stCxn id="28" idx="2"/>
              <a:endCxn id="25" idx="6"/>
            </p:cNvCxnSpPr>
            <p:nvPr/>
          </p:nvCxnSpPr>
          <p:spPr>
            <a:xfrm flipH="1">
              <a:off x="9978501" y="5337698"/>
              <a:ext cx="816746" cy="3603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5FF97D3A-FE2F-4F12-AD86-FF61066885CE}"/>
                </a:ext>
              </a:extLst>
            </p:cNvPr>
            <p:cNvCxnSpPr>
              <a:cxnSpLocks/>
              <a:stCxn id="24" idx="6"/>
              <a:endCxn id="28" idx="1"/>
            </p:cNvCxnSpPr>
            <p:nvPr/>
          </p:nvCxnSpPr>
          <p:spPr>
            <a:xfrm>
              <a:off x="9321553" y="4793525"/>
              <a:ext cx="994299" cy="33554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62" name="직사각형 61">
            <a:extLst>
              <a:ext uri="{FF2B5EF4-FFF2-40B4-BE49-F238E27FC236}">
                <a16:creationId xmlns:a16="http://schemas.microsoft.com/office/drawing/2014/main" id="{52D428D2-1C8D-4298-818A-996AC46F2DE7}"/>
              </a:ext>
            </a:extLst>
          </p:cNvPr>
          <p:cNvSpPr/>
          <p:nvPr/>
        </p:nvSpPr>
        <p:spPr>
          <a:xfrm>
            <a:off x="612559" y="3944604"/>
            <a:ext cx="1597981" cy="369332"/>
          </a:xfrm>
          <a:prstGeom prst="rect">
            <a:avLst/>
          </a:prstGeom>
        </p:spPr>
        <p:txBody>
          <a:bodyPr wrap="square">
            <a:spAutoFit/>
          </a:bodyPr>
          <a:lstStyle/>
          <a:p>
            <a:r>
              <a:rPr lang="en-US" dirty="0"/>
              <a:t>Triadic Closure</a:t>
            </a:r>
          </a:p>
        </p:txBody>
      </p:sp>
      <p:sp>
        <p:nvSpPr>
          <p:cNvPr id="63" name="직사각형 62">
            <a:extLst>
              <a:ext uri="{FF2B5EF4-FFF2-40B4-BE49-F238E27FC236}">
                <a16:creationId xmlns:a16="http://schemas.microsoft.com/office/drawing/2014/main" id="{1CCEF290-E5E1-484B-A61E-414A75BAD96E}"/>
              </a:ext>
            </a:extLst>
          </p:cNvPr>
          <p:cNvSpPr/>
          <p:nvPr/>
        </p:nvSpPr>
        <p:spPr>
          <a:xfrm>
            <a:off x="5344357" y="3944604"/>
            <a:ext cx="1597981" cy="369332"/>
          </a:xfrm>
          <a:prstGeom prst="rect">
            <a:avLst/>
          </a:prstGeom>
        </p:spPr>
        <p:txBody>
          <a:bodyPr wrap="square">
            <a:spAutoFit/>
          </a:bodyPr>
          <a:lstStyle/>
          <a:p>
            <a:r>
              <a:rPr lang="en-US" dirty="0"/>
              <a:t>Focal Closure</a:t>
            </a:r>
          </a:p>
        </p:txBody>
      </p:sp>
      <p:sp>
        <p:nvSpPr>
          <p:cNvPr id="64" name="직사각형 63">
            <a:extLst>
              <a:ext uri="{FF2B5EF4-FFF2-40B4-BE49-F238E27FC236}">
                <a16:creationId xmlns:a16="http://schemas.microsoft.com/office/drawing/2014/main" id="{932D0B7F-06B4-4BF5-A56E-705E3A49A0FC}"/>
              </a:ext>
            </a:extLst>
          </p:cNvPr>
          <p:cNvSpPr/>
          <p:nvPr/>
        </p:nvSpPr>
        <p:spPr>
          <a:xfrm>
            <a:off x="9462779" y="3944604"/>
            <a:ext cx="2229112" cy="369332"/>
          </a:xfrm>
          <a:prstGeom prst="rect">
            <a:avLst/>
          </a:prstGeom>
        </p:spPr>
        <p:txBody>
          <a:bodyPr wrap="square">
            <a:spAutoFit/>
          </a:bodyPr>
          <a:lstStyle/>
          <a:p>
            <a:r>
              <a:rPr lang="en-US" dirty="0"/>
              <a:t>Membership Closure</a:t>
            </a:r>
          </a:p>
        </p:txBody>
      </p:sp>
    </p:spTree>
    <p:extLst>
      <p:ext uri="{BB962C8B-B14F-4D97-AF65-F5344CB8AC3E}">
        <p14:creationId xmlns:p14="http://schemas.microsoft.com/office/powerpoint/2010/main" val="2350120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Spatial Model of Segregation</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435005" y="1409699"/>
            <a:ext cx="13085052" cy="1692729"/>
          </a:xfrm>
        </p:spPr>
        <p:txBody>
          <a:bodyPr>
            <a:normAutofit/>
          </a:bodyPr>
          <a:lstStyle/>
          <a:p>
            <a:pPr marL="0" indent="0">
              <a:buNone/>
            </a:pPr>
            <a:r>
              <a:rPr lang="en-US" sz="2400" i="1" dirty="0"/>
              <a:t>The Schelling Model - </a:t>
            </a:r>
            <a:r>
              <a:rPr lang="en-US" sz="2400" dirty="0"/>
              <a:t> a famous model introduced by Thomas Schelling that shows how global</a:t>
            </a:r>
          </a:p>
          <a:p>
            <a:pPr marL="0" indent="0">
              <a:buNone/>
            </a:pPr>
            <a:r>
              <a:rPr lang="en-US" sz="2400" dirty="0"/>
              <a:t>                                         patterns of spatial segregation can arise from the effect of homophily</a:t>
            </a:r>
          </a:p>
          <a:p>
            <a:pPr marL="0" indent="0">
              <a:buNone/>
            </a:pPr>
            <a:r>
              <a:rPr lang="en-US" sz="2400" dirty="0"/>
              <a:t>                                         operating at a local level.  </a:t>
            </a:r>
            <a:endParaRPr lang="en-US" sz="2000" dirty="0"/>
          </a:p>
        </p:txBody>
      </p:sp>
      <p:pic>
        <p:nvPicPr>
          <p:cNvPr id="6" name="그림 5">
            <a:extLst>
              <a:ext uri="{FF2B5EF4-FFF2-40B4-BE49-F238E27FC236}">
                <a16:creationId xmlns:a16="http://schemas.microsoft.com/office/drawing/2014/main" id="{F4219173-8812-4BA8-AEE9-FC4E588A5852}"/>
              </a:ext>
            </a:extLst>
          </p:cNvPr>
          <p:cNvPicPr>
            <a:picLocks noChangeAspect="1"/>
          </p:cNvPicPr>
          <p:nvPr/>
        </p:nvPicPr>
        <p:blipFill>
          <a:blip r:embed="rId2"/>
          <a:stretch>
            <a:fillRect/>
          </a:stretch>
        </p:blipFill>
        <p:spPr>
          <a:xfrm>
            <a:off x="267360" y="3553720"/>
            <a:ext cx="5638009" cy="2745305"/>
          </a:xfrm>
          <a:prstGeom prst="rect">
            <a:avLst/>
          </a:prstGeom>
        </p:spPr>
      </p:pic>
      <p:sp>
        <p:nvSpPr>
          <p:cNvPr id="8" name="직사각형 7">
            <a:extLst>
              <a:ext uri="{FF2B5EF4-FFF2-40B4-BE49-F238E27FC236}">
                <a16:creationId xmlns:a16="http://schemas.microsoft.com/office/drawing/2014/main" id="{0E687A4C-C168-4DE1-977B-8CC8031FDD2B}"/>
              </a:ext>
            </a:extLst>
          </p:cNvPr>
          <p:cNvSpPr/>
          <p:nvPr/>
        </p:nvSpPr>
        <p:spPr>
          <a:xfrm>
            <a:off x="0" y="6581001"/>
            <a:ext cx="9758039" cy="276999"/>
          </a:xfrm>
          <a:prstGeom prst="rect">
            <a:avLst/>
          </a:prstGeom>
        </p:spPr>
        <p:txBody>
          <a:bodyPr wrap="square">
            <a:spAutoFit/>
          </a:bodyPr>
          <a:lstStyle/>
          <a:p>
            <a:r>
              <a:rPr lang="en-US" sz="1200" dirty="0"/>
              <a:t>http://nifty.stanford.edu/2014/mccown-schelling-model-segregation/</a:t>
            </a:r>
          </a:p>
        </p:txBody>
      </p:sp>
      <p:sp>
        <p:nvSpPr>
          <p:cNvPr id="9" name="직사각형 8">
            <a:extLst>
              <a:ext uri="{FF2B5EF4-FFF2-40B4-BE49-F238E27FC236}">
                <a16:creationId xmlns:a16="http://schemas.microsoft.com/office/drawing/2014/main" id="{E826E8B1-1BDD-459D-A21E-C84115CF283C}"/>
              </a:ext>
            </a:extLst>
          </p:cNvPr>
          <p:cNvSpPr/>
          <p:nvPr/>
        </p:nvSpPr>
        <p:spPr>
          <a:xfrm>
            <a:off x="5841507" y="3755573"/>
            <a:ext cx="6257041" cy="1200329"/>
          </a:xfrm>
          <a:prstGeom prst="rect">
            <a:avLst/>
          </a:prstGeom>
        </p:spPr>
        <p:txBody>
          <a:bodyPr wrap="square">
            <a:spAutoFit/>
          </a:bodyPr>
          <a:lstStyle/>
          <a:p>
            <a:pPr marL="285750" indent="-285750">
              <a:buFontTx/>
              <a:buChar char="-"/>
            </a:pPr>
            <a:r>
              <a:rPr lang="en-US" dirty="0"/>
              <a:t>A population of individuals, or unit is called </a:t>
            </a:r>
            <a:r>
              <a:rPr lang="en-US" b="1" i="1" dirty="0"/>
              <a:t>agents</a:t>
            </a:r>
            <a:endParaRPr lang="en-US" sz="1600" b="1" i="1" dirty="0"/>
          </a:p>
          <a:p>
            <a:pPr marL="285750" indent="-285750">
              <a:buFontTx/>
              <a:buChar char="-"/>
            </a:pPr>
            <a:r>
              <a:rPr lang="en-US" dirty="0"/>
              <a:t>Agents are in two types of </a:t>
            </a:r>
            <a:r>
              <a:rPr lang="en-US" b="1" dirty="0"/>
              <a:t>immutable</a:t>
            </a:r>
            <a:r>
              <a:rPr lang="en-US" dirty="0"/>
              <a:t> characteristics: O or X</a:t>
            </a:r>
          </a:p>
          <a:p>
            <a:pPr marL="285750" indent="-285750">
              <a:buFontTx/>
              <a:buChar char="-"/>
            </a:pPr>
            <a:r>
              <a:rPr lang="en-US" b="1" dirty="0"/>
              <a:t>Agents </a:t>
            </a:r>
            <a:r>
              <a:rPr lang="en-US" dirty="0"/>
              <a:t>are contained in the cells of the grid</a:t>
            </a:r>
            <a:endParaRPr lang="en-US" b="1" dirty="0"/>
          </a:p>
          <a:p>
            <a:pPr marL="285750" indent="-285750">
              <a:buFontTx/>
              <a:buChar char="-"/>
            </a:pPr>
            <a:r>
              <a:rPr lang="en-US" dirty="0"/>
              <a:t>Cell’s </a:t>
            </a:r>
            <a:r>
              <a:rPr lang="en-US" b="1" dirty="0"/>
              <a:t>neighbors</a:t>
            </a:r>
            <a:r>
              <a:rPr lang="en-US" dirty="0"/>
              <a:t> are the cells that touch it (including diagonal)</a:t>
            </a:r>
          </a:p>
        </p:txBody>
      </p:sp>
      <p:sp>
        <p:nvSpPr>
          <p:cNvPr id="10" name="직사각형 9">
            <a:extLst>
              <a:ext uri="{FF2B5EF4-FFF2-40B4-BE49-F238E27FC236}">
                <a16:creationId xmlns:a16="http://schemas.microsoft.com/office/drawing/2014/main" id="{7D97D05A-71B3-4AF1-ABD6-59AFB3929D00}"/>
              </a:ext>
            </a:extLst>
          </p:cNvPr>
          <p:cNvSpPr/>
          <p:nvPr/>
        </p:nvSpPr>
        <p:spPr>
          <a:xfrm>
            <a:off x="6096000" y="3104226"/>
            <a:ext cx="1849515" cy="400110"/>
          </a:xfrm>
          <a:prstGeom prst="rect">
            <a:avLst/>
          </a:prstGeom>
        </p:spPr>
        <p:txBody>
          <a:bodyPr wrap="square">
            <a:spAutoFit/>
          </a:bodyPr>
          <a:lstStyle/>
          <a:p>
            <a:r>
              <a:rPr lang="en-US" sz="2000" b="1" dirty="0"/>
              <a:t>Representation</a:t>
            </a:r>
            <a:endParaRPr lang="en-US" b="1" dirty="0"/>
          </a:p>
        </p:txBody>
      </p:sp>
      <p:sp>
        <p:nvSpPr>
          <p:cNvPr id="35" name="직사각형 34">
            <a:extLst>
              <a:ext uri="{FF2B5EF4-FFF2-40B4-BE49-F238E27FC236}">
                <a16:creationId xmlns:a16="http://schemas.microsoft.com/office/drawing/2014/main" id="{49A8723E-05FD-42E5-97D1-B3E5979BC878}"/>
              </a:ext>
            </a:extLst>
          </p:cNvPr>
          <p:cNvSpPr/>
          <p:nvPr/>
        </p:nvSpPr>
        <p:spPr>
          <a:xfrm>
            <a:off x="6096000" y="5048191"/>
            <a:ext cx="1849515" cy="400110"/>
          </a:xfrm>
          <a:prstGeom prst="rect">
            <a:avLst/>
          </a:prstGeom>
        </p:spPr>
        <p:txBody>
          <a:bodyPr wrap="square">
            <a:spAutoFit/>
          </a:bodyPr>
          <a:lstStyle/>
          <a:p>
            <a:r>
              <a:rPr lang="en-US" sz="2000" b="1" dirty="0"/>
              <a:t>Rule</a:t>
            </a:r>
            <a:endParaRPr lang="en-US" b="1" dirty="0"/>
          </a:p>
        </p:txBody>
      </p:sp>
      <p:sp>
        <p:nvSpPr>
          <p:cNvPr id="37" name="직사각형 36">
            <a:extLst>
              <a:ext uri="{FF2B5EF4-FFF2-40B4-BE49-F238E27FC236}">
                <a16:creationId xmlns:a16="http://schemas.microsoft.com/office/drawing/2014/main" id="{06DCF6E8-CA20-4DE2-99D1-CCD5D739F89D}"/>
              </a:ext>
            </a:extLst>
          </p:cNvPr>
          <p:cNvSpPr/>
          <p:nvPr/>
        </p:nvSpPr>
        <p:spPr>
          <a:xfrm>
            <a:off x="5841507" y="5482927"/>
            <a:ext cx="6257041" cy="923330"/>
          </a:xfrm>
          <a:prstGeom prst="rect">
            <a:avLst/>
          </a:prstGeom>
        </p:spPr>
        <p:txBody>
          <a:bodyPr wrap="square">
            <a:spAutoFit/>
          </a:bodyPr>
          <a:lstStyle/>
          <a:p>
            <a:pPr marL="285750" indent="-285750">
              <a:buFontTx/>
              <a:buChar char="-"/>
            </a:pPr>
            <a:r>
              <a:rPr lang="en-US" dirty="0"/>
              <a:t>If an agent in a cell discovers that fewer that </a:t>
            </a:r>
            <a:r>
              <a:rPr lang="en-US" b="1" i="1" dirty="0"/>
              <a:t>t </a:t>
            </a:r>
            <a:r>
              <a:rPr lang="en-US" dirty="0"/>
              <a:t>of its neighbors are of the same type of itself, it has an interest in moving to a new cell. </a:t>
            </a:r>
            <a:endParaRPr lang="en-US" b="1" i="1" dirty="0"/>
          </a:p>
        </p:txBody>
      </p:sp>
    </p:spTree>
    <p:extLst>
      <p:ext uri="{BB962C8B-B14F-4D97-AF65-F5344CB8AC3E}">
        <p14:creationId xmlns:p14="http://schemas.microsoft.com/office/powerpoint/2010/main" val="1354534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Spatial Model of Segregation</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435005" y="1409699"/>
            <a:ext cx="13085052" cy="1692729"/>
          </a:xfrm>
        </p:spPr>
        <p:txBody>
          <a:bodyPr>
            <a:normAutofit/>
          </a:bodyPr>
          <a:lstStyle/>
          <a:p>
            <a:pPr marL="0" indent="0">
              <a:buNone/>
            </a:pPr>
            <a:r>
              <a:rPr lang="en-US" sz="2400" i="1" dirty="0"/>
              <a:t>The Schelling Model of </a:t>
            </a:r>
            <a:r>
              <a:rPr lang="en-US" sz="2400" b="1" i="1" dirty="0"/>
              <a:t>t = 50%</a:t>
            </a:r>
            <a:endParaRPr lang="en-US" sz="2000" b="1" dirty="0"/>
          </a:p>
        </p:txBody>
      </p:sp>
      <p:pic>
        <p:nvPicPr>
          <p:cNvPr id="4" name="그림 3">
            <a:extLst>
              <a:ext uri="{FF2B5EF4-FFF2-40B4-BE49-F238E27FC236}">
                <a16:creationId xmlns:a16="http://schemas.microsoft.com/office/drawing/2014/main" id="{B6CF633F-1349-42DF-BFBE-B3B139070578}"/>
              </a:ext>
            </a:extLst>
          </p:cNvPr>
          <p:cNvPicPr>
            <a:picLocks noChangeAspect="1"/>
          </p:cNvPicPr>
          <p:nvPr/>
        </p:nvPicPr>
        <p:blipFill>
          <a:blip r:embed="rId2"/>
          <a:stretch>
            <a:fillRect/>
          </a:stretch>
        </p:blipFill>
        <p:spPr>
          <a:xfrm>
            <a:off x="0" y="1928077"/>
            <a:ext cx="5501439" cy="2921454"/>
          </a:xfrm>
          <a:prstGeom prst="rect">
            <a:avLst/>
          </a:prstGeom>
        </p:spPr>
      </p:pic>
      <p:pic>
        <p:nvPicPr>
          <p:cNvPr id="1026" name="Picture 2" descr="schelling modelì ëí ì´ë¯¸ì§ ê²ìê²°ê³¼">
            <a:extLst>
              <a:ext uri="{FF2B5EF4-FFF2-40B4-BE49-F238E27FC236}">
                <a16:creationId xmlns:a16="http://schemas.microsoft.com/office/drawing/2014/main" id="{ABAE880D-6967-4F82-9CF8-F15772F8C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4369" y="1928077"/>
            <a:ext cx="6157631" cy="3001845"/>
          </a:xfrm>
          <a:prstGeom prst="rect">
            <a:avLst/>
          </a:prstGeom>
          <a:noFill/>
          <a:extLst>
            <a:ext uri="{909E8E84-426E-40DD-AFC4-6F175D3DCCD1}">
              <a14:hiddenFill xmlns:a14="http://schemas.microsoft.com/office/drawing/2010/main">
                <a:solidFill>
                  <a:srgbClr val="FFFFFF"/>
                </a:solidFill>
              </a14:hiddenFill>
            </a:ext>
          </a:extLst>
        </p:spPr>
      </p:pic>
      <p:sp>
        <p:nvSpPr>
          <p:cNvPr id="3" name="직사각형 2">
            <a:extLst>
              <a:ext uri="{FF2B5EF4-FFF2-40B4-BE49-F238E27FC236}">
                <a16:creationId xmlns:a16="http://schemas.microsoft.com/office/drawing/2014/main" id="{C5A3331A-3A3C-4020-A1AB-774544B15838}"/>
              </a:ext>
            </a:extLst>
          </p:cNvPr>
          <p:cNvSpPr/>
          <p:nvPr/>
        </p:nvSpPr>
        <p:spPr>
          <a:xfrm>
            <a:off x="3538995" y="5132990"/>
            <a:ext cx="8915764" cy="954107"/>
          </a:xfrm>
          <a:prstGeom prst="rect">
            <a:avLst/>
          </a:prstGeom>
        </p:spPr>
        <p:txBody>
          <a:bodyPr wrap="square">
            <a:spAutoFit/>
          </a:bodyPr>
          <a:lstStyle/>
          <a:p>
            <a:r>
              <a:rPr lang="en-US" sz="2800" dirty="0"/>
              <a:t>Each round, unsatisfied agents will move</a:t>
            </a:r>
            <a:r>
              <a:rPr lang="en-US" sz="2400" dirty="0"/>
              <a:t>*</a:t>
            </a:r>
            <a:r>
              <a:rPr lang="en-US" sz="2800" dirty="0"/>
              <a:t> into an unoccupied cells, until every cells are satisfied.</a:t>
            </a:r>
          </a:p>
        </p:txBody>
      </p:sp>
      <p:sp>
        <p:nvSpPr>
          <p:cNvPr id="5" name="직사각형 4">
            <a:extLst>
              <a:ext uri="{FF2B5EF4-FFF2-40B4-BE49-F238E27FC236}">
                <a16:creationId xmlns:a16="http://schemas.microsoft.com/office/drawing/2014/main" id="{4505E4CF-27FF-45C9-84CD-DFA995CBBA5B}"/>
              </a:ext>
            </a:extLst>
          </p:cNvPr>
          <p:cNvSpPr/>
          <p:nvPr/>
        </p:nvSpPr>
        <p:spPr>
          <a:xfrm>
            <a:off x="3347545" y="6121906"/>
            <a:ext cx="6096000" cy="646331"/>
          </a:xfrm>
          <a:prstGeom prst="rect">
            <a:avLst/>
          </a:prstGeom>
        </p:spPr>
        <p:txBody>
          <a:bodyPr>
            <a:spAutoFit/>
          </a:bodyPr>
          <a:lstStyle/>
          <a:p>
            <a:pPr algn="ctr"/>
            <a:endParaRPr lang="en-US" dirty="0"/>
          </a:p>
          <a:p>
            <a:pPr algn="ctr"/>
            <a:r>
              <a:rPr lang="en-US" dirty="0"/>
              <a:t>*The rule of movement has variations</a:t>
            </a:r>
          </a:p>
        </p:txBody>
      </p:sp>
    </p:spTree>
    <p:extLst>
      <p:ext uri="{BB962C8B-B14F-4D97-AF65-F5344CB8AC3E}">
        <p14:creationId xmlns:p14="http://schemas.microsoft.com/office/powerpoint/2010/main" val="12731071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Spatial Model of Segregation</a:t>
            </a:r>
          </a:p>
        </p:txBody>
      </p:sp>
      <p:sp>
        <p:nvSpPr>
          <p:cNvPr id="14" name="내용 개체 틀 2">
            <a:extLst>
              <a:ext uri="{FF2B5EF4-FFF2-40B4-BE49-F238E27FC236}">
                <a16:creationId xmlns:a16="http://schemas.microsoft.com/office/drawing/2014/main" id="{86085ADD-1C58-4DAD-8978-B145931B48CD}"/>
              </a:ext>
            </a:extLst>
          </p:cNvPr>
          <p:cNvSpPr>
            <a:spLocks noGrp="1"/>
          </p:cNvSpPr>
          <p:nvPr>
            <p:ph idx="1"/>
          </p:nvPr>
        </p:nvSpPr>
        <p:spPr>
          <a:xfrm>
            <a:off x="435005" y="1409699"/>
            <a:ext cx="13085052" cy="1692729"/>
          </a:xfrm>
        </p:spPr>
        <p:txBody>
          <a:bodyPr>
            <a:normAutofit/>
          </a:bodyPr>
          <a:lstStyle/>
          <a:p>
            <a:pPr marL="0" indent="0">
              <a:buNone/>
            </a:pPr>
            <a:r>
              <a:rPr lang="en-US" sz="2400" i="1" dirty="0"/>
              <a:t>The Schelling Model of </a:t>
            </a:r>
            <a:r>
              <a:rPr lang="en-US" sz="2400" b="1" i="1" dirty="0"/>
              <a:t>t = 50%</a:t>
            </a:r>
            <a:endParaRPr lang="en-US" sz="2000" b="1" dirty="0"/>
          </a:p>
        </p:txBody>
      </p:sp>
      <p:pic>
        <p:nvPicPr>
          <p:cNvPr id="2050" name="Picture 2" descr="Dissatisfied agents with asterisk">
            <a:extLst>
              <a:ext uri="{FF2B5EF4-FFF2-40B4-BE49-F238E27FC236}">
                <a16:creationId xmlns:a16="http://schemas.microsoft.com/office/drawing/2014/main" id="{3D80C928-9AD2-4254-89B7-2C837E776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005" y="2848140"/>
            <a:ext cx="4736599" cy="26001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ew configuration">
            <a:extLst>
              <a:ext uri="{FF2B5EF4-FFF2-40B4-BE49-F238E27FC236}">
                <a16:creationId xmlns:a16="http://schemas.microsoft.com/office/drawing/2014/main" id="{B427D594-77BB-4FD1-ADDE-4BB721042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3519" y="2871739"/>
            <a:ext cx="4703476" cy="2567038"/>
          </a:xfrm>
          <a:prstGeom prst="rect">
            <a:avLst/>
          </a:prstGeom>
          <a:noFill/>
          <a:extLst>
            <a:ext uri="{909E8E84-426E-40DD-AFC4-6F175D3DCCD1}">
              <a14:hiddenFill xmlns:a14="http://schemas.microsoft.com/office/drawing/2010/main">
                <a:solidFill>
                  <a:srgbClr val="FFFFFF"/>
                </a:solidFill>
              </a14:hiddenFill>
            </a:ext>
          </a:extLst>
        </p:spPr>
      </p:pic>
      <p:sp>
        <p:nvSpPr>
          <p:cNvPr id="3" name="화살표: 줄무늬가 있는 오른쪽 2">
            <a:extLst>
              <a:ext uri="{FF2B5EF4-FFF2-40B4-BE49-F238E27FC236}">
                <a16:creationId xmlns:a16="http://schemas.microsoft.com/office/drawing/2014/main" id="{EE510BF1-786A-4B72-9B50-86665CC25C38}"/>
              </a:ext>
            </a:extLst>
          </p:cNvPr>
          <p:cNvSpPr/>
          <p:nvPr/>
        </p:nvSpPr>
        <p:spPr>
          <a:xfrm>
            <a:off x="5481961" y="3595456"/>
            <a:ext cx="1489976" cy="816089"/>
          </a:xfrm>
          <a:prstGeom prst="stripedRightArrow">
            <a:avLst>
              <a:gd name="adj1" fmla="val 44870"/>
              <a:gd name="adj2" fmla="val 475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5776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37DCE1-86B7-4714-91A2-8AEE73D48EAF}"/>
              </a:ext>
            </a:extLst>
          </p:cNvPr>
          <p:cNvSpPr>
            <a:spLocks noGrp="1"/>
          </p:cNvSpPr>
          <p:nvPr>
            <p:ph type="title"/>
          </p:nvPr>
        </p:nvSpPr>
        <p:spPr>
          <a:xfrm>
            <a:off x="2231994" y="2766218"/>
            <a:ext cx="10515600" cy="1325563"/>
          </a:xfrm>
        </p:spPr>
        <p:txBody>
          <a:bodyPr/>
          <a:lstStyle/>
          <a:p>
            <a:r>
              <a:rPr lang="en-US" b="1" dirty="0"/>
              <a:t>Positive and Negative Relationships</a:t>
            </a:r>
          </a:p>
        </p:txBody>
      </p:sp>
    </p:spTree>
    <p:extLst>
      <p:ext uri="{BB962C8B-B14F-4D97-AF65-F5344CB8AC3E}">
        <p14:creationId xmlns:p14="http://schemas.microsoft.com/office/powerpoint/2010/main" val="4272825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Structural Balance</a:t>
            </a:r>
          </a:p>
        </p:txBody>
      </p:sp>
      <p:sp>
        <p:nvSpPr>
          <p:cNvPr id="54" name="TextBox 53">
            <a:extLst>
              <a:ext uri="{FF2B5EF4-FFF2-40B4-BE49-F238E27FC236}">
                <a16:creationId xmlns:a16="http://schemas.microsoft.com/office/drawing/2014/main" id="{3245E8E9-075C-4601-A2D9-F4F41F131C0A}"/>
              </a:ext>
            </a:extLst>
          </p:cNvPr>
          <p:cNvSpPr txBox="1"/>
          <p:nvPr/>
        </p:nvSpPr>
        <p:spPr>
          <a:xfrm>
            <a:off x="7546359" y="6396335"/>
            <a:ext cx="279244" cy="461665"/>
          </a:xfrm>
          <a:prstGeom prst="rect">
            <a:avLst/>
          </a:prstGeom>
          <a:noFill/>
        </p:spPr>
        <p:txBody>
          <a:bodyPr wrap="none" rtlCol="0">
            <a:spAutoFit/>
          </a:bodyPr>
          <a:lstStyle/>
          <a:p>
            <a:r>
              <a:rPr lang="en-US" sz="2400"/>
              <a:t>-</a:t>
            </a:r>
            <a:endParaRPr lang="en-US" sz="2400" dirty="0"/>
          </a:p>
        </p:txBody>
      </p:sp>
      <p:grpSp>
        <p:nvGrpSpPr>
          <p:cNvPr id="24" name="그룹 23">
            <a:extLst>
              <a:ext uri="{FF2B5EF4-FFF2-40B4-BE49-F238E27FC236}">
                <a16:creationId xmlns:a16="http://schemas.microsoft.com/office/drawing/2014/main" id="{8D2235C5-B44D-481A-BB69-674116727EA1}"/>
              </a:ext>
            </a:extLst>
          </p:cNvPr>
          <p:cNvGrpSpPr/>
          <p:nvPr/>
        </p:nvGrpSpPr>
        <p:grpSpPr>
          <a:xfrm>
            <a:off x="3241303" y="5927905"/>
            <a:ext cx="3055324" cy="721993"/>
            <a:chOff x="6736568" y="4096558"/>
            <a:chExt cx="3055324" cy="721993"/>
          </a:xfrm>
        </p:grpSpPr>
        <p:sp>
          <p:nvSpPr>
            <p:cNvPr id="64" name="TextBox 63">
              <a:extLst>
                <a:ext uri="{FF2B5EF4-FFF2-40B4-BE49-F238E27FC236}">
                  <a16:creationId xmlns:a16="http://schemas.microsoft.com/office/drawing/2014/main" id="{75237660-C221-4B1D-9D5F-657BD78C3A9A}"/>
                </a:ext>
              </a:extLst>
            </p:cNvPr>
            <p:cNvSpPr txBox="1"/>
            <p:nvPr/>
          </p:nvSpPr>
          <p:spPr>
            <a:xfrm>
              <a:off x="6736568" y="4096558"/>
              <a:ext cx="2917465" cy="369332"/>
            </a:xfrm>
            <a:prstGeom prst="rect">
              <a:avLst/>
            </a:prstGeom>
            <a:noFill/>
          </p:spPr>
          <p:txBody>
            <a:bodyPr wrap="none" rtlCol="0">
              <a:spAutoFit/>
            </a:bodyPr>
            <a:lstStyle/>
            <a:p>
              <a:r>
                <a:rPr lang="en-US" dirty="0"/>
                <a:t>+ : The two nodes are friends</a:t>
              </a:r>
            </a:p>
          </p:txBody>
        </p:sp>
        <p:sp>
          <p:nvSpPr>
            <p:cNvPr id="65" name="TextBox 64">
              <a:extLst>
                <a:ext uri="{FF2B5EF4-FFF2-40B4-BE49-F238E27FC236}">
                  <a16:creationId xmlns:a16="http://schemas.microsoft.com/office/drawing/2014/main" id="{3B1602FF-C8F6-4C5F-BDEA-451C8959D4C6}"/>
                </a:ext>
              </a:extLst>
            </p:cNvPr>
            <p:cNvSpPr txBox="1"/>
            <p:nvPr/>
          </p:nvSpPr>
          <p:spPr>
            <a:xfrm>
              <a:off x="6736568" y="4356886"/>
              <a:ext cx="3055324" cy="461665"/>
            </a:xfrm>
            <a:prstGeom prst="rect">
              <a:avLst/>
            </a:prstGeom>
            <a:noFill/>
          </p:spPr>
          <p:txBody>
            <a:bodyPr wrap="none" rtlCol="0">
              <a:spAutoFit/>
            </a:bodyPr>
            <a:lstStyle/>
            <a:p>
              <a:r>
                <a:rPr lang="en-US" sz="2400" dirty="0"/>
                <a:t>- </a:t>
              </a:r>
              <a:r>
                <a:rPr lang="en-US" dirty="0"/>
                <a:t>: The two nodes are enemies</a:t>
              </a:r>
              <a:endParaRPr lang="en-US" sz="2000" dirty="0"/>
            </a:p>
          </p:txBody>
        </p:sp>
        <p:sp>
          <p:nvSpPr>
            <p:cNvPr id="11" name="직사각형 10">
              <a:extLst>
                <a:ext uri="{FF2B5EF4-FFF2-40B4-BE49-F238E27FC236}">
                  <a16:creationId xmlns:a16="http://schemas.microsoft.com/office/drawing/2014/main" id="{193D722D-9623-4469-9277-4A3E204E5169}"/>
                </a:ext>
              </a:extLst>
            </p:cNvPr>
            <p:cNvSpPr/>
            <p:nvPr/>
          </p:nvSpPr>
          <p:spPr>
            <a:xfrm>
              <a:off x="6736568" y="4096558"/>
              <a:ext cx="3055324" cy="72199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 name="내용 개체 틀 2">
            <a:extLst>
              <a:ext uri="{FF2B5EF4-FFF2-40B4-BE49-F238E27FC236}">
                <a16:creationId xmlns:a16="http://schemas.microsoft.com/office/drawing/2014/main" id="{98B24F0F-4F4A-4262-84AD-568740EA09C5}"/>
              </a:ext>
            </a:extLst>
          </p:cNvPr>
          <p:cNvSpPr>
            <a:spLocks noGrp="1"/>
          </p:cNvSpPr>
          <p:nvPr>
            <p:ph idx="1"/>
          </p:nvPr>
        </p:nvSpPr>
        <p:spPr>
          <a:xfrm>
            <a:off x="199513" y="1232250"/>
            <a:ext cx="5788210" cy="799248"/>
          </a:xfrm>
        </p:spPr>
        <p:txBody>
          <a:bodyPr>
            <a:normAutofit/>
          </a:bodyPr>
          <a:lstStyle/>
          <a:p>
            <a:pPr marL="0" indent="0">
              <a:buNone/>
            </a:pPr>
            <a:r>
              <a:rPr lang="en-US" sz="2400" dirty="0"/>
              <a:t>Triangles with 1 or 3 “+”s are </a:t>
            </a:r>
            <a:r>
              <a:rPr lang="en-US" sz="2400" b="1" dirty="0"/>
              <a:t>balanced</a:t>
            </a:r>
            <a:r>
              <a:rPr lang="en-US" sz="2400" dirty="0"/>
              <a:t>, since they are free of instability*.</a:t>
            </a:r>
          </a:p>
        </p:txBody>
      </p:sp>
      <p:grpSp>
        <p:nvGrpSpPr>
          <p:cNvPr id="73" name="그룹 72">
            <a:extLst>
              <a:ext uri="{FF2B5EF4-FFF2-40B4-BE49-F238E27FC236}">
                <a16:creationId xmlns:a16="http://schemas.microsoft.com/office/drawing/2014/main" id="{B7C3AB78-F99C-4615-A983-0C2A012C1A22}"/>
              </a:ext>
            </a:extLst>
          </p:cNvPr>
          <p:cNvGrpSpPr/>
          <p:nvPr/>
        </p:nvGrpSpPr>
        <p:grpSpPr>
          <a:xfrm>
            <a:off x="349402" y="2031497"/>
            <a:ext cx="1926454" cy="4595491"/>
            <a:chOff x="6025539" y="2170176"/>
            <a:chExt cx="1926454" cy="4595491"/>
          </a:xfrm>
        </p:grpSpPr>
        <p:grpSp>
          <p:nvGrpSpPr>
            <p:cNvPr id="8" name="그룹 7">
              <a:extLst>
                <a:ext uri="{FF2B5EF4-FFF2-40B4-BE49-F238E27FC236}">
                  <a16:creationId xmlns:a16="http://schemas.microsoft.com/office/drawing/2014/main" id="{0BC4EFFE-5C65-4DE7-95DD-D1DA31C5F125}"/>
                </a:ext>
              </a:extLst>
            </p:cNvPr>
            <p:cNvGrpSpPr/>
            <p:nvPr/>
          </p:nvGrpSpPr>
          <p:grpSpPr>
            <a:xfrm>
              <a:off x="6025539" y="2170176"/>
              <a:ext cx="1926454" cy="1737267"/>
              <a:chOff x="1145218" y="2573076"/>
              <a:chExt cx="1926454" cy="1737267"/>
            </a:xfrm>
          </p:grpSpPr>
          <p:sp>
            <p:nvSpPr>
              <p:cNvPr id="7" name="이등변 삼각형 6">
                <a:extLst>
                  <a:ext uri="{FF2B5EF4-FFF2-40B4-BE49-F238E27FC236}">
                    <a16:creationId xmlns:a16="http://schemas.microsoft.com/office/drawing/2014/main" id="{E960422E-5FC6-43E4-9730-8C43396E50F8}"/>
                  </a:ext>
                </a:extLst>
              </p:cNvPr>
              <p:cNvSpPr/>
              <p:nvPr/>
            </p:nvSpPr>
            <p:spPr>
              <a:xfrm>
                <a:off x="1349405" y="2795018"/>
                <a:ext cx="1500326" cy="129338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타원 5">
                <a:extLst>
                  <a:ext uri="{FF2B5EF4-FFF2-40B4-BE49-F238E27FC236}">
                    <a16:creationId xmlns:a16="http://schemas.microsoft.com/office/drawing/2014/main" id="{0AE1198A-840B-4BA1-937B-F50B9DC72187}"/>
                  </a:ext>
                </a:extLst>
              </p:cNvPr>
              <p:cNvSpPr/>
              <p:nvPr/>
            </p:nvSpPr>
            <p:spPr>
              <a:xfrm>
                <a:off x="1877626" y="2573076"/>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0" name="타원 19">
                <a:extLst>
                  <a:ext uri="{FF2B5EF4-FFF2-40B4-BE49-F238E27FC236}">
                    <a16:creationId xmlns:a16="http://schemas.microsoft.com/office/drawing/2014/main" id="{DB0FF226-6D09-4C94-866F-13DA27F63A55}"/>
                  </a:ext>
                </a:extLst>
              </p:cNvPr>
              <p:cNvSpPr/>
              <p:nvPr/>
            </p:nvSpPr>
            <p:spPr>
              <a:xfrm>
                <a:off x="1145218" y="3866460"/>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1" name="타원 20">
                <a:extLst>
                  <a:ext uri="{FF2B5EF4-FFF2-40B4-BE49-F238E27FC236}">
                    <a16:creationId xmlns:a16="http://schemas.microsoft.com/office/drawing/2014/main" id="{BD479145-D906-42C1-B0B4-0B31C378086B}"/>
                  </a:ext>
                </a:extLst>
              </p:cNvPr>
              <p:cNvSpPr/>
              <p:nvPr/>
            </p:nvSpPr>
            <p:spPr>
              <a:xfrm>
                <a:off x="2627789" y="384725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grpSp>
        <p:grpSp>
          <p:nvGrpSpPr>
            <p:cNvPr id="40" name="그룹 39">
              <a:extLst>
                <a:ext uri="{FF2B5EF4-FFF2-40B4-BE49-F238E27FC236}">
                  <a16:creationId xmlns:a16="http://schemas.microsoft.com/office/drawing/2014/main" id="{A68CBEC9-18AD-431E-90BB-42AF7E9EF8BE}"/>
                </a:ext>
              </a:extLst>
            </p:cNvPr>
            <p:cNvGrpSpPr/>
            <p:nvPr/>
          </p:nvGrpSpPr>
          <p:grpSpPr>
            <a:xfrm>
              <a:off x="6025539" y="4771333"/>
              <a:ext cx="1926454" cy="1737267"/>
              <a:chOff x="1145218" y="2573076"/>
              <a:chExt cx="1926454" cy="1737267"/>
            </a:xfrm>
          </p:grpSpPr>
          <p:sp>
            <p:nvSpPr>
              <p:cNvPr id="41" name="이등변 삼각형 40">
                <a:extLst>
                  <a:ext uri="{FF2B5EF4-FFF2-40B4-BE49-F238E27FC236}">
                    <a16:creationId xmlns:a16="http://schemas.microsoft.com/office/drawing/2014/main" id="{C61F3059-AB65-4901-8645-899D334900B6}"/>
                  </a:ext>
                </a:extLst>
              </p:cNvPr>
              <p:cNvSpPr/>
              <p:nvPr/>
            </p:nvSpPr>
            <p:spPr>
              <a:xfrm>
                <a:off x="1349405" y="2795018"/>
                <a:ext cx="1500326" cy="129338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타원 41">
                <a:extLst>
                  <a:ext uri="{FF2B5EF4-FFF2-40B4-BE49-F238E27FC236}">
                    <a16:creationId xmlns:a16="http://schemas.microsoft.com/office/drawing/2014/main" id="{DC6779BD-0880-43EE-ACDC-25C838946BC2}"/>
                  </a:ext>
                </a:extLst>
              </p:cNvPr>
              <p:cNvSpPr/>
              <p:nvPr/>
            </p:nvSpPr>
            <p:spPr>
              <a:xfrm>
                <a:off x="1877626" y="2573076"/>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44" name="타원 43">
                <a:extLst>
                  <a:ext uri="{FF2B5EF4-FFF2-40B4-BE49-F238E27FC236}">
                    <a16:creationId xmlns:a16="http://schemas.microsoft.com/office/drawing/2014/main" id="{88F34216-59F2-4500-A27A-BBA17B89F9DE}"/>
                  </a:ext>
                </a:extLst>
              </p:cNvPr>
              <p:cNvSpPr/>
              <p:nvPr/>
            </p:nvSpPr>
            <p:spPr>
              <a:xfrm>
                <a:off x="1145218" y="3866460"/>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45" name="타원 44">
                <a:extLst>
                  <a:ext uri="{FF2B5EF4-FFF2-40B4-BE49-F238E27FC236}">
                    <a16:creationId xmlns:a16="http://schemas.microsoft.com/office/drawing/2014/main" id="{93DF0D47-9517-4B2B-A52B-AEA5147CA2C5}"/>
                  </a:ext>
                </a:extLst>
              </p:cNvPr>
              <p:cNvSpPr/>
              <p:nvPr/>
            </p:nvSpPr>
            <p:spPr>
              <a:xfrm>
                <a:off x="2627789" y="384725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grpSp>
        <p:sp>
          <p:nvSpPr>
            <p:cNvPr id="9" name="TextBox 8">
              <a:extLst>
                <a:ext uri="{FF2B5EF4-FFF2-40B4-BE49-F238E27FC236}">
                  <a16:creationId xmlns:a16="http://schemas.microsoft.com/office/drawing/2014/main" id="{060543F8-C7A3-4525-93DE-392F293A2C1B}"/>
                </a:ext>
              </a:extLst>
            </p:cNvPr>
            <p:cNvSpPr txBox="1"/>
            <p:nvPr/>
          </p:nvSpPr>
          <p:spPr>
            <a:xfrm>
              <a:off x="6079684" y="2614059"/>
              <a:ext cx="300082" cy="369332"/>
            </a:xfrm>
            <a:prstGeom prst="rect">
              <a:avLst/>
            </a:prstGeom>
            <a:noFill/>
          </p:spPr>
          <p:txBody>
            <a:bodyPr wrap="none" rtlCol="0">
              <a:spAutoFit/>
            </a:bodyPr>
            <a:lstStyle/>
            <a:p>
              <a:r>
                <a:rPr lang="en-US" dirty="0"/>
                <a:t>+</a:t>
              </a:r>
            </a:p>
          </p:txBody>
        </p:sp>
        <p:sp>
          <p:nvSpPr>
            <p:cNvPr id="55" name="TextBox 54">
              <a:extLst>
                <a:ext uri="{FF2B5EF4-FFF2-40B4-BE49-F238E27FC236}">
                  <a16:creationId xmlns:a16="http://schemas.microsoft.com/office/drawing/2014/main" id="{628D8E6E-0050-4F29-A088-15046FF8F998}"/>
                </a:ext>
              </a:extLst>
            </p:cNvPr>
            <p:cNvSpPr txBox="1"/>
            <p:nvPr/>
          </p:nvSpPr>
          <p:spPr>
            <a:xfrm>
              <a:off x="7508110" y="2614059"/>
              <a:ext cx="300082" cy="369332"/>
            </a:xfrm>
            <a:prstGeom prst="rect">
              <a:avLst/>
            </a:prstGeom>
            <a:noFill/>
          </p:spPr>
          <p:txBody>
            <a:bodyPr wrap="none" rtlCol="0">
              <a:spAutoFit/>
            </a:bodyPr>
            <a:lstStyle/>
            <a:p>
              <a:r>
                <a:rPr lang="en-US" dirty="0"/>
                <a:t>+</a:t>
              </a:r>
            </a:p>
          </p:txBody>
        </p:sp>
        <p:sp>
          <p:nvSpPr>
            <p:cNvPr id="56" name="TextBox 55">
              <a:extLst>
                <a:ext uri="{FF2B5EF4-FFF2-40B4-BE49-F238E27FC236}">
                  <a16:creationId xmlns:a16="http://schemas.microsoft.com/office/drawing/2014/main" id="{5DC6AEEF-29F9-4D88-8AE8-825DBEA4874C}"/>
                </a:ext>
              </a:extLst>
            </p:cNvPr>
            <p:cNvSpPr txBox="1"/>
            <p:nvPr/>
          </p:nvSpPr>
          <p:spPr>
            <a:xfrm>
              <a:off x="6829847" y="3709585"/>
              <a:ext cx="300082" cy="369332"/>
            </a:xfrm>
            <a:prstGeom prst="rect">
              <a:avLst/>
            </a:prstGeom>
            <a:noFill/>
          </p:spPr>
          <p:txBody>
            <a:bodyPr wrap="square" rtlCol="0">
              <a:spAutoFit/>
            </a:bodyPr>
            <a:lstStyle/>
            <a:p>
              <a:r>
                <a:rPr lang="en-US" dirty="0"/>
                <a:t>+</a:t>
              </a:r>
            </a:p>
          </p:txBody>
        </p:sp>
        <p:sp>
          <p:nvSpPr>
            <p:cNvPr id="60" name="TextBox 59">
              <a:extLst>
                <a:ext uri="{FF2B5EF4-FFF2-40B4-BE49-F238E27FC236}">
                  <a16:creationId xmlns:a16="http://schemas.microsoft.com/office/drawing/2014/main" id="{D9599A2F-CD3F-43BA-AC5F-943805B5597C}"/>
                </a:ext>
              </a:extLst>
            </p:cNvPr>
            <p:cNvSpPr txBox="1"/>
            <p:nvPr/>
          </p:nvSpPr>
          <p:spPr>
            <a:xfrm>
              <a:off x="7528948" y="5262166"/>
              <a:ext cx="279244" cy="461665"/>
            </a:xfrm>
            <a:prstGeom prst="rect">
              <a:avLst/>
            </a:prstGeom>
            <a:noFill/>
          </p:spPr>
          <p:txBody>
            <a:bodyPr wrap="none" rtlCol="0">
              <a:spAutoFit/>
            </a:bodyPr>
            <a:lstStyle/>
            <a:p>
              <a:r>
                <a:rPr lang="en-US" sz="2400" dirty="0"/>
                <a:t>-</a:t>
              </a:r>
            </a:p>
          </p:txBody>
        </p:sp>
        <p:sp>
          <p:nvSpPr>
            <p:cNvPr id="61" name="TextBox 60">
              <a:extLst>
                <a:ext uri="{FF2B5EF4-FFF2-40B4-BE49-F238E27FC236}">
                  <a16:creationId xmlns:a16="http://schemas.microsoft.com/office/drawing/2014/main" id="{26E783DF-54D3-44D3-9A84-25DD64B8B22B}"/>
                </a:ext>
              </a:extLst>
            </p:cNvPr>
            <p:cNvSpPr txBox="1"/>
            <p:nvPr/>
          </p:nvSpPr>
          <p:spPr>
            <a:xfrm>
              <a:off x="6057273" y="5262166"/>
              <a:ext cx="279244" cy="461665"/>
            </a:xfrm>
            <a:prstGeom prst="rect">
              <a:avLst/>
            </a:prstGeom>
            <a:noFill/>
          </p:spPr>
          <p:txBody>
            <a:bodyPr wrap="none" rtlCol="0">
              <a:spAutoFit/>
            </a:bodyPr>
            <a:lstStyle/>
            <a:p>
              <a:r>
                <a:rPr lang="en-US" sz="2400" dirty="0"/>
                <a:t>-</a:t>
              </a:r>
            </a:p>
          </p:txBody>
        </p:sp>
        <p:sp>
          <p:nvSpPr>
            <p:cNvPr id="63" name="TextBox 62">
              <a:extLst>
                <a:ext uri="{FF2B5EF4-FFF2-40B4-BE49-F238E27FC236}">
                  <a16:creationId xmlns:a16="http://schemas.microsoft.com/office/drawing/2014/main" id="{E509173B-2600-4C44-ADFC-7574EC084683}"/>
                </a:ext>
              </a:extLst>
            </p:cNvPr>
            <p:cNvSpPr txBox="1"/>
            <p:nvPr/>
          </p:nvSpPr>
          <p:spPr>
            <a:xfrm>
              <a:off x="6829847" y="6396335"/>
              <a:ext cx="300082" cy="369332"/>
            </a:xfrm>
            <a:prstGeom prst="rect">
              <a:avLst/>
            </a:prstGeom>
            <a:noFill/>
          </p:spPr>
          <p:txBody>
            <a:bodyPr wrap="square" rtlCol="0">
              <a:spAutoFit/>
            </a:bodyPr>
            <a:lstStyle/>
            <a:p>
              <a:r>
                <a:rPr lang="en-US" dirty="0"/>
                <a:t>+</a:t>
              </a:r>
            </a:p>
          </p:txBody>
        </p:sp>
        <p:sp>
          <p:nvSpPr>
            <p:cNvPr id="12" name="TextBox 11">
              <a:extLst>
                <a:ext uri="{FF2B5EF4-FFF2-40B4-BE49-F238E27FC236}">
                  <a16:creationId xmlns:a16="http://schemas.microsoft.com/office/drawing/2014/main" id="{94799C8D-B691-40F4-B135-D0F239762E6D}"/>
                </a:ext>
              </a:extLst>
            </p:cNvPr>
            <p:cNvSpPr txBox="1"/>
            <p:nvPr/>
          </p:nvSpPr>
          <p:spPr>
            <a:xfrm>
              <a:off x="6736568" y="2994745"/>
              <a:ext cx="861134" cy="369332"/>
            </a:xfrm>
            <a:prstGeom prst="rect">
              <a:avLst/>
            </a:prstGeom>
            <a:noFill/>
          </p:spPr>
          <p:txBody>
            <a:bodyPr wrap="square" rtlCol="0">
              <a:spAutoFit/>
            </a:bodyPr>
            <a:lstStyle/>
            <a:p>
              <a:r>
                <a:rPr lang="en-US" b="1" dirty="0"/>
                <a:t>(A)</a:t>
              </a:r>
            </a:p>
          </p:txBody>
        </p:sp>
        <p:sp>
          <p:nvSpPr>
            <p:cNvPr id="69" name="TextBox 68">
              <a:extLst>
                <a:ext uri="{FF2B5EF4-FFF2-40B4-BE49-F238E27FC236}">
                  <a16:creationId xmlns:a16="http://schemas.microsoft.com/office/drawing/2014/main" id="{BED6E1EF-135E-43F0-9C38-2A5C7EA1D59C}"/>
                </a:ext>
              </a:extLst>
            </p:cNvPr>
            <p:cNvSpPr txBox="1"/>
            <p:nvPr/>
          </p:nvSpPr>
          <p:spPr>
            <a:xfrm>
              <a:off x="6736568" y="5648841"/>
              <a:ext cx="861134" cy="369332"/>
            </a:xfrm>
            <a:prstGeom prst="rect">
              <a:avLst/>
            </a:prstGeom>
            <a:noFill/>
          </p:spPr>
          <p:txBody>
            <a:bodyPr wrap="square" rtlCol="0">
              <a:spAutoFit/>
            </a:bodyPr>
            <a:lstStyle/>
            <a:p>
              <a:r>
                <a:rPr lang="en-US" b="1" dirty="0"/>
                <a:t>(C)</a:t>
              </a:r>
            </a:p>
          </p:txBody>
        </p:sp>
      </p:grpSp>
      <p:grpSp>
        <p:nvGrpSpPr>
          <p:cNvPr id="74" name="그룹 73">
            <a:extLst>
              <a:ext uri="{FF2B5EF4-FFF2-40B4-BE49-F238E27FC236}">
                <a16:creationId xmlns:a16="http://schemas.microsoft.com/office/drawing/2014/main" id="{86FD1816-4714-45D2-973C-58439C17A5E4}"/>
              </a:ext>
            </a:extLst>
          </p:cNvPr>
          <p:cNvGrpSpPr/>
          <p:nvPr/>
        </p:nvGrpSpPr>
        <p:grpSpPr>
          <a:xfrm>
            <a:off x="6731632" y="2103898"/>
            <a:ext cx="1926454" cy="4338424"/>
            <a:chOff x="9980542" y="2170176"/>
            <a:chExt cx="1926454" cy="4338424"/>
          </a:xfrm>
        </p:grpSpPr>
        <p:grpSp>
          <p:nvGrpSpPr>
            <p:cNvPr id="25" name="그룹 24">
              <a:extLst>
                <a:ext uri="{FF2B5EF4-FFF2-40B4-BE49-F238E27FC236}">
                  <a16:creationId xmlns:a16="http://schemas.microsoft.com/office/drawing/2014/main" id="{293ACB86-1584-4565-9E4B-1339DEEB1087}"/>
                </a:ext>
              </a:extLst>
            </p:cNvPr>
            <p:cNvGrpSpPr/>
            <p:nvPr/>
          </p:nvGrpSpPr>
          <p:grpSpPr>
            <a:xfrm>
              <a:off x="9980542" y="2170176"/>
              <a:ext cx="1926454" cy="1737267"/>
              <a:chOff x="1145218" y="2573076"/>
              <a:chExt cx="1926454" cy="1737267"/>
            </a:xfrm>
          </p:grpSpPr>
          <p:sp>
            <p:nvSpPr>
              <p:cNvPr id="26" name="이등변 삼각형 25">
                <a:extLst>
                  <a:ext uri="{FF2B5EF4-FFF2-40B4-BE49-F238E27FC236}">
                    <a16:creationId xmlns:a16="http://schemas.microsoft.com/office/drawing/2014/main" id="{D3443F96-F249-42A7-8023-A6DC2FD29841}"/>
                  </a:ext>
                </a:extLst>
              </p:cNvPr>
              <p:cNvSpPr/>
              <p:nvPr/>
            </p:nvSpPr>
            <p:spPr>
              <a:xfrm>
                <a:off x="1349405" y="2795018"/>
                <a:ext cx="1500326" cy="129338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타원 27">
                <a:extLst>
                  <a:ext uri="{FF2B5EF4-FFF2-40B4-BE49-F238E27FC236}">
                    <a16:creationId xmlns:a16="http://schemas.microsoft.com/office/drawing/2014/main" id="{1FE85662-386A-4630-8AE1-2BA51BED111C}"/>
                  </a:ext>
                </a:extLst>
              </p:cNvPr>
              <p:cNvSpPr/>
              <p:nvPr/>
            </p:nvSpPr>
            <p:spPr>
              <a:xfrm>
                <a:off x="1877626" y="2573076"/>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9" name="타원 28">
                <a:extLst>
                  <a:ext uri="{FF2B5EF4-FFF2-40B4-BE49-F238E27FC236}">
                    <a16:creationId xmlns:a16="http://schemas.microsoft.com/office/drawing/2014/main" id="{B2BE3C71-A009-40B4-AD8E-69C149350A9F}"/>
                  </a:ext>
                </a:extLst>
              </p:cNvPr>
              <p:cNvSpPr/>
              <p:nvPr/>
            </p:nvSpPr>
            <p:spPr>
              <a:xfrm>
                <a:off x="1145218" y="3866460"/>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1" name="타원 30">
                <a:extLst>
                  <a:ext uri="{FF2B5EF4-FFF2-40B4-BE49-F238E27FC236}">
                    <a16:creationId xmlns:a16="http://schemas.microsoft.com/office/drawing/2014/main" id="{BC818B1B-AF8C-43DD-AD86-28D6819021AD}"/>
                  </a:ext>
                </a:extLst>
              </p:cNvPr>
              <p:cNvSpPr/>
              <p:nvPr/>
            </p:nvSpPr>
            <p:spPr>
              <a:xfrm>
                <a:off x="2627789" y="384725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grpSp>
        <p:grpSp>
          <p:nvGrpSpPr>
            <p:cNvPr id="46" name="그룹 45">
              <a:extLst>
                <a:ext uri="{FF2B5EF4-FFF2-40B4-BE49-F238E27FC236}">
                  <a16:creationId xmlns:a16="http://schemas.microsoft.com/office/drawing/2014/main" id="{B768C236-8887-4E55-A933-B9DFB95AB08E}"/>
                </a:ext>
              </a:extLst>
            </p:cNvPr>
            <p:cNvGrpSpPr/>
            <p:nvPr/>
          </p:nvGrpSpPr>
          <p:grpSpPr>
            <a:xfrm>
              <a:off x="9980542" y="4771333"/>
              <a:ext cx="1926454" cy="1737267"/>
              <a:chOff x="1145218" y="2573076"/>
              <a:chExt cx="1926454" cy="1737267"/>
            </a:xfrm>
          </p:grpSpPr>
          <p:sp>
            <p:nvSpPr>
              <p:cNvPr id="47" name="이등변 삼각형 46">
                <a:extLst>
                  <a:ext uri="{FF2B5EF4-FFF2-40B4-BE49-F238E27FC236}">
                    <a16:creationId xmlns:a16="http://schemas.microsoft.com/office/drawing/2014/main" id="{83300F8A-BF3B-4E16-9E42-FFE43DF4C8C8}"/>
                  </a:ext>
                </a:extLst>
              </p:cNvPr>
              <p:cNvSpPr/>
              <p:nvPr/>
            </p:nvSpPr>
            <p:spPr>
              <a:xfrm>
                <a:off x="1349405" y="2795018"/>
                <a:ext cx="1500326" cy="129338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타원 48">
                <a:extLst>
                  <a:ext uri="{FF2B5EF4-FFF2-40B4-BE49-F238E27FC236}">
                    <a16:creationId xmlns:a16="http://schemas.microsoft.com/office/drawing/2014/main" id="{914710A0-E87E-465D-A382-C692A2A5D204}"/>
                  </a:ext>
                </a:extLst>
              </p:cNvPr>
              <p:cNvSpPr/>
              <p:nvPr/>
            </p:nvSpPr>
            <p:spPr>
              <a:xfrm>
                <a:off x="1877626" y="2573076"/>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0" name="타원 49">
                <a:extLst>
                  <a:ext uri="{FF2B5EF4-FFF2-40B4-BE49-F238E27FC236}">
                    <a16:creationId xmlns:a16="http://schemas.microsoft.com/office/drawing/2014/main" id="{FB5ECF6A-D6E9-4780-8CDC-658D8BFAF777}"/>
                  </a:ext>
                </a:extLst>
              </p:cNvPr>
              <p:cNvSpPr/>
              <p:nvPr/>
            </p:nvSpPr>
            <p:spPr>
              <a:xfrm>
                <a:off x="1145218" y="3866460"/>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51" name="타원 50">
                <a:extLst>
                  <a:ext uri="{FF2B5EF4-FFF2-40B4-BE49-F238E27FC236}">
                    <a16:creationId xmlns:a16="http://schemas.microsoft.com/office/drawing/2014/main" id="{94801E0E-69D3-4E09-8B62-12831685202A}"/>
                  </a:ext>
                </a:extLst>
              </p:cNvPr>
              <p:cNvSpPr/>
              <p:nvPr/>
            </p:nvSpPr>
            <p:spPr>
              <a:xfrm>
                <a:off x="2627789" y="384725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grpSp>
        <p:sp>
          <p:nvSpPr>
            <p:cNvPr id="52" name="TextBox 51">
              <a:extLst>
                <a:ext uri="{FF2B5EF4-FFF2-40B4-BE49-F238E27FC236}">
                  <a16:creationId xmlns:a16="http://schemas.microsoft.com/office/drawing/2014/main" id="{D245B4C5-64C7-4E62-900E-8E88757839DA}"/>
                </a:ext>
              </a:extLst>
            </p:cNvPr>
            <p:cNvSpPr txBox="1"/>
            <p:nvPr/>
          </p:nvSpPr>
          <p:spPr>
            <a:xfrm>
              <a:off x="11516782" y="5262166"/>
              <a:ext cx="279244" cy="461665"/>
            </a:xfrm>
            <a:prstGeom prst="rect">
              <a:avLst/>
            </a:prstGeom>
            <a:noFill/>
          </p:spPr>
          <p:txBody>
            <a:bodyPr wrap="none" rtlCol="0">
              <a:spAutoFit/>
            </a:bodyPr>
            <a:lstStyle/>
            <a:p>
              <a:r>
                <a:rPr lang="en-US" sz="2400" dirty="0"/>
                <a:t>-</a:t>
              </a:r>
            </a:p>
          </p:txBody>
        </p:sp>
        <p:sp>
          <p:nvSpPr>
            <p:cNvPr id="53" name="TextBox 52">
              <a:extLst>
                <a:ext uri="{FF2B5EF4-FFF2-40B4-BE49-F238E27FC236}">
                  <a16:creationId xmlns:a16="http://schemas.microsoft.com/office/drawing/2014/main" id="{97158167-FA8D-497E-B934-5CC35C59B185}"/>
                </a:ext>
              </a:extLst>
            </p:cNvPr>
            <p:cNvSpPr txBox="1"/>
            <p:nvPr/>
          </p:nvSpPr>
          <p:spPr>
            <a:xfrm>
              <a:off x="10045107" y="5262166"/>
              <a:ext cx="279244" cy="461665"/>
            </a:xfrm>
            <a:prstGeom prst="rect">
              <a:avLst/>
            </a:prstGeom>
            <a:noFill/>
          </p:spPr>
          <p:txBody>
            <a:bodyPr wrap="none" rtlCol="0">
              <a:spAutoFit/>
            </a:bodyPr>
            <a:lstStyle/>
            <a:p>
              <a:r>
                <a:rPr lang="en-US" sz="2400" dirty="0"/>
                <a:t>-</a:t>
              </a:r>
            </a:p>
          </p:txBody>
        </p:sp>
        <p:sp>
          <p:nvSpPr>
            <p:cNvPr id="58" name="TextBox 57">
              <a:extLst>
                <a:ext uri="{FF2B5EF4-FFF2-40B4-BE49-F238E27FC236}">
                  <a16:creationId xmlns:a16="http://schemas.microsoft.com/office/drawing/2014/main" id="{C830EBF2-4F19-4C01-A23E-0550236E610C}"/>
                </a:ext>
              </a:extLst>
            </p:cNvPr>
            <p:cNvSpPr txBox="1"/>
            <p:nvPr/>
          </p:nvSpPr>
          <p:spPr>
            <a:xfrm>
              <a:off x="10034687" y="2614059"/>
              <a:ext cx="300082" cy="369332"/>
            </a:xfrm>
            <a:prstGeom prst="rect">
              <a:avLst/>
            </a:prstGeom>
            <a:noFill/>
          </p:spPr>
          <p:txBody>
            <a:bodyPr wrap="none" rtlCol="0">
              <a:spAutoFit/>
            </a:bodyPr>
            <a:lstStyle/>
            <a:p>
              <a:r>
                <a:rPr lang="en-US" dirty="0"/>
                <a:t>+</a:t>
              </a:r>
            </a:p>
          </p:txBody>
        </p:sp>
        <p:sp>
          <p:nvSpPr>
            <p:cNvPr id="59" name="TextBox 58">
              <a:extLst>
                <a:ext uri="{FF2B5EF4-FFF2-40B4-BE49-F238E27FC236}">
                  <a16:creationId xmlns:a16="http://schemas.microsoft.com/office/drawing/2014/main" id="{FDA508D9-F48F-4936-8D76-FF7865DD34CD}"/>
                </a:ext>
              </a:extLst>
            </p:cNvPr>
            <p:cNvSpPr txBox="1"/>
            <p:nvPr/>
          </p:nvSpPr>
          <p:spPr>
            <a:xfrm>
              <a:off x="11463113" y="2614059"/>
              <a:ext cx="300082" cy="369332"/>
            </a:xfrm>
            <a:prstGeom prst="rect">
              <a:avLst/>
            </a:prstGeom>
            <a:noFill/>
          </p:spPr>
          <p:txBody>
            <a:bodyPr wrap="none" rtlCol="0">
              <a:spAutoFit/>
            </a:bodyPr>
            <a:lstStyle/>
            <a:p>
              <a:r>
                <a:rPr lang="en-US" dirty="0"/>
                <a:t>+</a:t>
              </a:r>
            </a:p>
          </p:txBody>
        </p:sp>
        <p:sp>
          <p:nvSpPr>
            <p:cNvPr id="62" name="TextBox 61">
              <a:extLst>
                <a:ext uri="{FF2B5EF4-FFF2-40B4-BE49-F238E27FC236}">
                  <a16:creationId xmlns:a16="http://schemas.microsoft.com/office/drawing/2014/main" id="{775593CC-2631-41F7-B9C0-B28DB9521159}"/>
                </a:ext>
              </a:extLst>
            </p:cNvPr>
            <p:cNvSpPr txBox="1"/>
            <p:nvPr/>
          </p:nvSpPr>
          <p:spPr>
            <a:xfrm>
              <a:off x="10804147" y="3676610"/>
              <a:ext cx="279244" cy="461665"/>
            </a:xfrm>
            <a:prstGeom prst="rect">
              <a:avLst/>
            </a:prstGeom>
            <a:noFill/>
          </p:spPr>
          <p:txBody>
            <a:bodyPr wrap="none" rtlCol="0">
              <a:spAutoFit/>
            </a:bodyPr>
            <a:lstStyle/>
            <a:p>
              <a:r>
                <a:rPr lang="en-US" sz="2400" dirty="0"/>
                <a:t>-</a:t>
              </a:r>
            </a:p>
          </p:txBody>
        </p:sp>
        <p:sp>
          <p:nvSpPr>
            <p:cNvPr id="68" name="TextBox 67">
              <a:extLst>
                <a:ext uri="{FF2B5EF4-FFF2-40B4-BE49-F238E27FC236}">
                  <a16:creationId xmlns:a16="http://schemas.microsoft.com/office/drawing/2014/main" id="{2A1F12FD-545A-4DD2-BD34-1FAD662D3E1E}"/>
                </a:ext>
              </a:extLst>
            </p:cNvPr>
            <p:cNvSpPr txBox="1"/>
            <p:nvPr/>
          </p:nvSpPr>
          <p:spPr>
            <a:xfrm>
              <a:off x="10721850" y="2994745"/>
              <a:ext cx="589703" cy="369332"/>
            </a:xfrm>
            <a:prstGeom prst="rect">
              <a:avLst/>
            </a:prstGeom>
            <a:noFill/>
          </p:spPr>
          <p:txBody>
            <a:bodyPr wrap="square" rtlCol="0">
              <a:spAutoFit/>
            </a:bodyPr>
            <a:lstStyle/>
            <a:p>
              <a:r>
                <a:rPr lang="en-US" b="1" dirty="0"/>
                <a:t>(B)</a:t>
              </a:r>
            </a:p>
          </p:txBody>
        </p:sp>
        <p:sp>
          <p:nvSpPr>
            <p:cNvPr id="70" name="TextBox 69">
              <a:extLst>
                <a:ext uri="{FF2B5EF4-FFF2-40B4-BE49-F238E27FC236}">
                  <a16:creationId xmlns:a16="http://schemas.microsoft.com/office/drawing/2014/main" id="{30166348-BFC0-4434-B69E-C040B8C68255}"/>
                </a:ext>
              </a:extLst>
            </p:cNvPr>
            <p:cNvSpPr txBox="1"/>
            <p:nvPr/>
          </p:nvSpPr>
          <p:spPr>
            <a:xfrm>
              <a:off x="10721850" y="5648841"/>
              <a:ext cx="589703" cy="369332"/>
            </a:xfrm>
            <a:prstGeom prst="rect">
              <a:avLst/>
            </a:prstGeom>
            <a:noFill/>
          </p:spPr>
          <p:txBody>
            <a:bodyPr wrap="square" rtlCol="0">
              <a:spAutoFit/>
            </a:bodyPr>
            <a:lstStyle/>
            <a:p>
              <a:r>
                <a:rPr lang="en-US" b="1" dirty="0"/>
                <a:t>(D)</a:t>
              </a:r>
            </a:p>
          </p:txBody>
        </p:sp>
      </p:grpSp>
      <p:sp>
        <p:nvSpPr>
          <p:cNvPr id="18" name="직사각형 17">
            <a:extLst>
              <a:ext uri="{FF2B5EF4-FFF2-40B4-BE49-F238E27FC236}">
                <a16:creationId xmlns:a16="http://schemas.microsoft.com/office/drawing/2014/main" id="{AC8E160C-ABA3-4CAA-BB14-74297EFEE024}"/>
              </a:ext>
            </a:extLst>
          </p:cNvPr>
          <p:cNvSpPr/>
          <p:nvPr/>
        </p:nvSpPr>
        <p:spPr>
          <a:xfrm>
            <a:off x="2519276" y="2632563"/>
            <a:ext cx="2351601" cy="830997"/>
          </a:xfrm>
          <a:prstGeom prst="rect">
            <a:avLst/>
          </a:prstGeom>
        </p:spPr>
        <p:txBody>
          <a:bodyPr wrap="square">
            <a:spAutoFit/>
          </a:bodyPr>
          <a:lstStyle/>
          <a:p>
            <a:r>
              <a:rPr lang="en-US" sz="1600" dirty="0"/>
              <a:t>* The case of (A) and (C) are natural, where the                      three are close friends</a:t>
            </a:r>
          </a:p>
        </p:txBody>
      </p:sp>
      <p:sp>
        <p:nvSpPr>
          <p:cNvPr id="76" name="직사각형 75">
            <a:extLst>
              <a:ext uri="{FF2B5EF4-FFF2-40B4-BE49-F238E27FC236}">
                <a16:creationId xmlns:a16="http://schemas.microsoft.com/office/drawing/2014/main" id="{AAFDF532-8A0D-482A-ADE9-5AC100587F6F}"/>
              </a:ext>
            </a:extLst>
          </p:cNvPr>
          <p:cNvSpPr/>
          <p:nvPr/>
        </p:nvSpPr>
        <p:spPr>
          <a:xfrm>
            <a:off x="6613833" y="1237960"/>
            <a:ext cx="5769272" cy="461665"/>
          </a:xfrm>
          <a:prstGeom prst="rect">
            <a:avLst/>
          </a:prstGeom>
        </p:spPr>
        <p:txBody>
          <a:bodyPr wrap="none">
            <a:spAutoFit/>
          </a:bodyPr>
          <a:lstStyle/>
          <a:p>
            <a:r>
              <a:rPr lang="en-US" sz="2400" dirty="0"/>
              <a:t>Triangles with 0 or 2 “+”s are </a:t>
            </a:r>
            <a:r>
              <a:rPr lang="en-US" sz="2400" b="1" dirty="0"/>
              <a:t>unbalanced**</a:t>
            </a:r>
            <a:r>
              <a:rPr lang="en-US" sz="2400" dirty="0"/>
              <a:t>. </a:t>
            </a:r>
            <a:endParaRPr lang="en-US" sz="2000" dirty="0"/>
          </a:p>
        </p:txBody>
      </p:sp>
      <p:grpSp>
        <p:nvGrpSpPr>
          <p:cNvPr id="78" name="그룹 77">
            <a:extLst>
              <a:ext uri="{FF2B5EF4-FFF2-40B4-BE49-F238E27FC236}">
                <a16:creationId xmlns:a16="http://schemas.microsoft.com/office/drawing/2014/main" id="{0DCAEF4E-9973-42B5-AB7C-0DD7B0ECC791}"/>
              </a:ext>
            </a:extLst>
          </p:cNvPr>
          <p:cNvGrpSpPr/>
          <p:nvPr/>
        </p:nvGrpSpPr>
        <p:grpSpPr>
          <a:xfrm>
            <a:off x="9000988" y="2293586"/>
            <a:ext cx="2978291" cy="3854393"/>
            <a:chOff x="8701096" y="2487143"/>
            <a:chExt cx="2978291" cy="3854393"/>
          </a:xfrm>
        </p:grpSpPr>
        <p:grpSp>
          <p:nvGrpSpPr>
            <p:cNvPr id="75" name="그룹 74">
              <a:extLst>
                <a:ext uri="{FF2B5EF4-FFF2-40B4-BE49-F238E27FC236}">
                  <a16:creationId xmlns:a16="http://schemas.microsoft.com/office/drawing/2014/main" id="{366525E8-47C6-4127-B635-415CF75B36EE}"/>
                </a:ext>
              </a:extLst>
            </p:cNvPr>
            <p:cNvGrpSpPr/>
            <p:nvPr/>
          </p:nvGrpSpPr>
          <p:grpSpPr>
            <a:xfrm>
              <a:off x="8701096" y="2487143"/>
              <a:ext cx="2978291" cy="3854393"/>
              <a:chOff x="496939" y="3111983"/>
              <a:chExt cx="4278445" cy="3854393"/>
            </a:xfrm>
          </p:grpSpPr>
          <p:sp>
            <p:nvSpPr>
              <p:cNvPr id="72" name="직사각형 71">
                <a:extLst>
                  <a:ext uri="{FF2B5EF4-FFF2-40B4-BE49-F238E27FC236}">
                    <a16:creationId xmlns:a16="http://schemas.microsoft.com/office/drawing/2014/main" id="{C16484EB-B911-441E-8409-B6CD0D10A10B}"/>
                  </a:ext>
                </a:extLst>
              </p:cNvPr>
              <p:cNvSpPr/>
              <p:nvPr/>
            </p:nvSpPr>
            <p:spPr>
              <a:xfrm>
                <a:off x="496939" y="3111983"/>
                <a:ext cx="4209353" cy="1569660"/>
              </a:xfrm>
              <a:prstGeom prst="rect">
                <a:avLst/>
              </a:prstGeom>
            </p:spPr>
            <p:txBody>
              <a:bodyPr wrap="square">
                <a:spAutoFit/>
              </a:bodyPr>
              <a:lstStyle/>
              <a:p>
                <a:r>
                  <a:rPr lang="en-US" sz="1600" dirty="0"/>
                  <a:t>** The case of (C) and (D) have psychological “stress” or “instability” into relationships.</a:t>
                </a:r>
              </a:p>
              <a:p>
                <a:r>
                  <a:rPr lang="en-US" sz="1600" dirty="0"/>
                  <a:t>       </a:t>
                </a:r>
              </a:p>
              <a:p>
                <a:endParaRPr lang="en-US" sz="1600" dirty="0"/>
              </a:p>
              <a:p>
                <a:r>
                  <a:rPr lang="en-US" sz="1600" dirty="0"/>
                  <a:t>        </a:t>
                </a:r>
              </a:p>
            </p:txBody>
          </p:sp>
          <p:sp>
            <p:nvSpPr>
              <p:cNvPr id="19" name="직사각형 18">
                <a:extLst>
                  <a:ext uri="{FF2B5EF4-FFF2-40B4-BE49-F238E27FC236}">
                    <a16:creationId xmlns:a16="http://schemas.microsoft.com/office/drawing/2014/main" id="{C075AF8C-10EC-4CFA-ACD5-9ADAED5F75EB}"/>
                  </a:ext>
                </a:extLst>
              </p:cNvPr>
              <p:cNvSpPr/>
              <p:nvPr/>
            </p:nvSpPr>
            <p:spPr>
              <a:xfrm>
                <a:off x="674566" y="6135379"/>
                <a:ext cx="4100818" cy="830997"/>
              </a:xfrm>
              <a:prstGeom prst="rect">
                <a:avLst/>
              </a:prstGeom>
            </p:spPr>
            <p:txBody>
              <a:bodyPr wrap="square">
                <a:spAutoFit/>
              </a:bodyPr>
              <a:lstStyle/>
              <a:p>
                <a:r>
                  <a:rPr lang="en-US" sz="1600" dirty="0"/>
                  <a:t>For case (D), there will be forces that motivates two of the three people to “team up” against the third</a:t>
                </a:r>
              </a:p>
            </p:txBody>
          </p:sp>
        </p:grpSp>
        <p:sp>
          <p:nvSpPr>
            <p:cNvPr id="77" name="직사각형 76">
              <a:extLst>
                <a:ext uri="{FF2B5EF4-FFF2-40B4-BE49-F238E27FC236}">
                  <a16:creationId xmlns:a16="http://schemas.microsoft.com/office/drawing/2014/main" id="{318B675F-4514-40BC-B633-C2018C1AF24D}"/>
                </a:ext>
              </a:extLst>
            </p:cNvPr>
            <p:cNvSpPr/>
            <p:nvPr/>
          </p:nvSpPr>
          <p:spPr>
            <a:xfrm>
              <a:off x="8789844" y="3694280"/>
              <a:ext cx="2715616" cy="1569660"/>
            </a:xfrm>
            <a:prstGeom prst="rect">
              <a:avLst/>
            </a:prstGeom>
          </p:spPr>
          <p:txBody>
            <a:bodyPr wrap="square">
              <a:spAutoFit/>
            </a:bodyPr>
            <a:lstStyle/>
            <a:p>
              <a:r>
                <a:rPr lang="en-US" sz="1600" dirty="0"/>
                <a:t>For case (C), either A would force the two friends B and C to get along together, or A would side up with one of B and C and turn against the other.</a:t>
              </a:r>
            </a:p>
          </p:txBody>
        </p:sp>
      </p:grpSp>
    </p:spTree>
    <p:extLst>
      <p:ext uri="{BB962C8B-B14F-4D97-AF65-F5344CB8AC3E}">
        <p14:creationId xmlns:p14="http://schemas.microsoft.com/office/powerpoint/2010/main" val="1514930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Structural Balance</a:t>
            </a:r>
          </a:p>
        </p:txBody>
      </p:sp>
      <p:sp>
        <p:nvSpPr>
          <p:cNvPr id="95" name="내용 개체 틀 2">
            <a:extLst>
              <a:ext uri="{FF2B5EF4-FFF2-40B4-BE49-F238E27FC236}">
                <a16:creationId xmlns:a16="http://schemas.microsoft.com/office/drawing/2014/main" id="{A669E9AF-40AC-4972-96D4-980FE88D4FBB}"/>
              </a:ext>
            </a:extLst>
          </p:cNvPr>
          <p:cNvSpPr>
            <a:spLocks noGrp="1"/>
          </p:cNvSpPr>
          <p:nvPr>
            <p:ph idx="1"/>
          </p:nvPr>
        </p:nvSpPr>
        <p:spPr>
          <a:xfrm>
            <a:off x="576191" y="1232249"/>
            <a:ext cx="11039617" cy="1591877"/>
          </a:xfrm>
        </p:spPr>
        <p:txBody>
          <a:bodyPr>
            <a:normAutofit/>
          </a:bodyPr>
          <a:lstStyle/>
          <a:p>
            <a:pPr marL="0" indent="0">
              <a:buNone/>
            </a:pPr>
            <a:r>
              <a:rPr lang="en-US" sz="2400" i="1" dirty="0"/>
              <a:t>Structural Balance Property  </a:t>
            </a:r>
          </a:p>
          <a:p>
            <a:pPr marL="0" indent="0">
              <a:buNone/>
            </a:pPr>
            <a:r>
              <a:rPr lang="en-US" sz="2000" dirty="0"/>
              <a:t>For every set of three nodes, if we consider the three edges connecting them, either all three or these edges are labeled “+” or exactly one of them is labeled “+”</a:t>
            </a:r>
          </a:p>
        </p:txBody>
      </p:sp>
      <p:grpSp>
        <p:nvGrpSpPr>
          <p:cNvPr id="27" name="그룹 26">
            <a:extLst>
              <a:ext uri="{FF2B5EF4-FFF2-40B4-BE49-F238E27FC236}">
                <a16:creationId xmlns:a16="http://schemas.microsoft.com/office/drawing/2014/main" id="{E65D9616-824D-4076-8616-3006EEA446E4}"/>
              </a:ext>
            </a:extLst>
          </p:cNvPr>
          <p:cNvGrpSpPr/>
          <p:nvPr/>
        </p:nvGrpSpPr>
        <p:grpSpPr>
          <a:xfrm>
            <a:off x="3343774" y="2626267"/>
            <a:ext cx="1926454" cy="2817765"/>
            <a:chOff x="1639262" y="2626267"/>
            <a:chExt cx="1926454" cy="2817765"/>
          </a:xfrm>
        </p:grpSpPr>
        <p:grpSp>
          <p:nvGrpSpPr>
            <p:cNvPr id="5" name="그룹 4">
              <a:extLst>
                <a:ext uri="{FF2B5EF4-FFF2-40B4-BE49-F238E27FC236}">
                  <a16:creationId xmlns:a16="http://schemas.microsoft.com/office/drawing/2014/main" id="{B216A8A4-8910-4A22-ACD5-AF9A1B2786B8}"/>
                </a:ext>
              </a:extLst>
            </p:cNvPr>
            <p:cNvGrpSpPr/>
            <p:nvPr/>
          </p:nvGrpSpPr>
          <p:grpSpPr>
            <a:xfrm>
              <a:off x="1639262" y="2626267"/>
              <a:ext cx="1926454" cy="2817765"/>
              <a:chOff x="349402" y="950999"/>
              <a:chExt cx="1926454" cy="2817765"/>
            </a:xfrm>
          </p:grpSpPr>
          <p:grpSp>
            <p:nvGrpSpPr>
              <p:cNvPr id="66" name="그룹 65">
                <a:extLst>
                  <a:ext uri="{FF2B5EF4-FFF2-40B4-BE49-F238E27FC236}">
                    <a16:creationId xmlns:a16="http://schemas.microsoft.com/office/drawing/2014/main" id="{F4B8FCA6-F6B3-4EAF-BAA3-35BCDF02B468}"/>
                  </a:ext>
                </a:extLst>
              </p:cNvPr>
              <p:cNvGrpSpPr/>
              <p:nvPr/>
            </p:nvGrpSpPr>
            <p:grpSpPr>
              <a:xfrm>
                <a:off x="349402" y="950999"/>
                <a:ext cx="1926454" cy="2817765"/>
                <a:chOff x="1145218" y="1492578"/>
                <a:chExt cx="1926454" cy="2817765"/>
              </a:xfrm>
            </p:grpSpPr>
            <p:sp>
              <p:nvSpPr>
                <p:cNvPr id="91" name="이등변 삼각형 90">
                  <a:extLst>
                    <a:ext uri="{FF2B5EF4-FFF2-40B4-BE49-F238E27FC236}">
                      <a16:creationId xmlns:a16="http://schemas.microsoft.com/office/drawing/2014/main" id="{783248CA-CF3D-48BC-93CE-BD0B540CBDC9}"/>
                    </a:ext>
                  </a:extLst>
                </p:cNvPr>
                <p:cNvSpPr/>
                <p:nvPr/>
              </p:nvSpPr>
              <p:spPr>
                <a:xfrm>
                  <a:off x="1349405" y="2795018"/>
                  <a:ext cx="1500326" cy="129338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타원 91">
                  <a:extLst>
                    <a:ext uri="{FF2B5EF4-FFF2-40B4-BE49-F238E27FC236}">
                      <a16:creationId xmlns:a16="http://schemas.microsoft.com/office/drawing/2014/main" id="{1949AC7E-3690-4A00-97E4-51300D020345}"/>
                    </a:ext>
                  </a:extLst>
                </p:cNvPr>
                <p:cNvSpPr/>
                <p:nvPr/>
              </p:nvSpPr>
              <p:spPr>
                <a:xfrm>
                  <a:off x="1877626" y="2573076"/>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93" name="타원 92">
                  <a:extLst>
                    <a:ext uri="{FF2B5EF4-FFF2-40B4-BE49-F238E27FC236}">
                      <a16:creationId xmlns:a16="http://schemas.microsoft.com/office/drawing/2014/main" id="{3910E467-E9C9-4D00-87AE-64198AA7DA52}"/>
                    </a:ext>
                  </a:extLst>
                </p:cNvPr>
                <p:cNvSpPr/>
                <p:nvPr/>
              </p:nvSpPr>
              <p:spPr>
                <a:xfrm>
                  <a:off x="1145218" y="3866460"/>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94" name="타원 93">
                  <a:extLst>
                    <a:ext uri="{FF2B5EF4-FFF2-40B4-BE49-F238E27FC236}">
                      <a16:creationId xmlns:a16="http://schemas.microsoft.com/office/drawing/2014/main" id="{188EA5C8-AB65-427A-85FD-DA776B08CF72}"/>
                    </a:ext>
                  </a:extLst>
                </p:cNvPr>
                <p:cNvSpPr/>
                <p:nvPr/>
              </p:nvSpPr>
              <p:spPr>
                <a:xfrm>
                  <a:off x="2627789" y="384725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96" name="타원 95">
                  <a:extLst>
                    <a:ext uri="{FF2B5EF4-FFF2-40B4-BE49-F238E27FC236}">
                      <a16:creationId xmlns:a16="http://schemas.microsoft.com/office/drawing/2014/main" id="{6E3B827A-40AD-417D-A633-45D85DF3695C}"/>
                    </a:ext>
                  </a:extLst>
                </p:cNvPr>
                <p:cNvSpPr/>
                <p:nvPr/>
              </p:nvSpPr>
              <p:spPr>
                <a:xfrm>
                  <a:off x="1877626" y="149257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grpSp>
          <p:sp>
            <p:nvSpPr>
              <p:cNvPr id="79" name="TextBox 78">
                <a:extLst>
                  <a:ext uri="{FF2B5EF4-FFF2-40B4-BE49-F238E27FC236}">
                    <a16:creationId xmlns:a16="http://schemas.microsoft.com/office/drawing/2014/main" id="{EA9022E7-2674-4D98-81B8-2464FB4928AE}"/>
                  </a:ext>
                </a:extLst>
              </p:cNvPr>
              <p:cNvSpPr txBox="1"/>
              <p:nvPr/>
            </p:nvSpPr>
            <p:spPr>
              <a:xfrm>
                <a:off x="920015" y="2692166"/>
                <a:ext cx="255198" cy="369332"/>
              </a:xfrm>
              <a:prstGeom prst="rect">
                <a:avLst/>
              </a:prstGeom>
              <a:noFill/>
            </p:spPr>
            <p:txBody>
              <a:bodyPr wrap="none" rtlCol="0">
                <a:spAutoFit/>
              </a:bodyPr>
              <a:lstStyle/>
              <a:p>
                <a:r>
                  <a:rPr lang="en-US" dirty="0"/>
                  <a:t>-</a:t>
                </a:r>
              </a:p>
            </p:txBody>
          </p:sp>
          <p:sp>
            <p:nvSpPr>
              <p:cNvPr id="80" name="TextBox 79">
                <a:extLst>
                  <a:ext uri="{FF2B5EF4-FFF2-40B4-BE49-F238E27FC236}">
                    <a16:creationId xmlns:a16="http://schemas.microsoft.com/office/drawing/2014/main" id="{DAF71990-E7D1-436F-BA55-66F540F9D941}"/>
                  </a:ext>
                </a:extLst>
              </p:cNvPr>
              <p:cNvSpPr txBox="1"/>
              <p:nvPr/>
            </p:nvSpPr>
            <p:spPr>
              <a:xfrm>
                <a:off x="1417312" y="2692166"/>
                <a:ext cx="255198" cy="369332"/>
              </a:xfrm>
              <a:prstGeom prst="rect">
                <a:avLst/>
              </a:prstGeom>
              <a:noFill/>
            </p:spPr>
            <p:txBody>
              <a:bodyPr wrap="none" rtlCol="0">
                <a:spAutoFit/>
              </a:bodyPr>
              <a:lstStyle/>
              <a:p>
                <a:r>
                  <a:rPr lang="en-US" dirty="0"/>
                  <a:t>-</a:t>
                </a:r>
              </a:p>
            </p:txBody>
          </p:sp>
          <p:sp>
            <p:nvSpPr>
              <p:cNvPr id="81" name="TextBox 80">
                <a:extLst>
                  <a:ext uri="{FF2B5EF4-FFF2-40B4-BE49-F238E27FC236}">
                    <a16:creationId xmlns:a16="http://schemas.microsoft.com/office/drawing/2014/main" id="{1157BC8E-E6C8-454B-AE90-4C25CE45973D}"/>
                  </a:ext>
                </a:extLst>
              </p:cNvPr>
              <p:cNvSpPr txBox="1"/>
              <p:nvPr/>
            </p:nvSpPr>
            <p:spPr>
              <a:xfrm>
                <a:off x="1146815" y="3235487"/>
                <a:ext cx="300082" cy="369332"/>
              </a:xfrm>
              <a:prstGeom prst="rect">
                <a:avLst/>
              </a:prstGeom>
              <a:noFill/>
            </p:spPr>
            <p:txBody>
              <a:bodyPr wrap="square" rtlCol="0">
                <a:spAutoFit/>
              </a:bodyPr>
              <a:lstStyle/>
              <a:p>
                <a:r>
                  <a:rPr lang="en-US" dirty="0"/>
                  <a:t>+</a:t>
                </a:r>
              </a:p>
            </p:txBody>
          </p:sp>
          <p:sp>
            <p:nvSpPr>
              <p:cNvPr id="124" name="TextBox 123">
                <a:extLst>
                  <a:ext uri="{FF2B5EF4-FFF2-40B4-BE49-F238E27FC236}">
                    <a16:creationId xmlns:a16="http://schemas.microsoft.com/office/drawing/2014/main" id="{2363D767-0314-4F86-B1F4-FDD60477E4F4}"/>
                  </a:ext>
                </a:extLst>
              </p:cNvPr>
              <p:cNvSpPr txBox="1"/>
              <p:nvPr/>
            </p:nvSpPr>
            <p:spPr>
              <a:xfrm>
                <a:off x="1259355" y="1648943"/>
                <a:ext cx="300082" cy="369332"/>
              </a:xfrm>
              <a:prstGeom prst="rect">
                <a:avLst/>
              </a:prstGeom>
              <a:noFill/>
            </p:spPr>
            <p:txBody>
              <a:bodyPr wrap="square" rtlCol="0">
                <a:spAutoFit/>
              </a:bodyPr>
              <a:lstStyle/>
              <a:p>
                <a:r>
                  <a:rPr lang="en-US" dirty="0"/>
                  <a:t>+</a:t>
                </a:r>
              </a:p>
            </p:txBody>
          </p:sp>
          <p:sp>
            <p:nvSpPr>
              <p:cNvPr id="125" name="TextBox 124">
                <a:extLst>
                  <a:ext uri="{FF2B5EF4-FFF2-40B4-BE49-F238E27FC236}">
                    <a16:creationId xmlns:a16="http://schemas.microsoft.com/office/drawing/2014/main" id="{58D504FD-34D3-4763-B2FD-A4FCA343B6A4}"/>
                  </a:ext>
                </a:extLst>
              </p:cNvPr>
              <p:cNvSpPr txBox="1"/>
              <p:nvPr/>
            </p:nvSpPr>
            <p:spPr>
              <a:xfrm>
                <a:off x="1745711" y="1929353"/>
                <a:ext cx="255198" cy="369332"/>
              </a:xfrm>
              <a:prstGeom prst="rect">
                <a:avLst/>
              </a:prstGeom>
              <a:noFill/>
            </p:spPr>
            <p:txBody>
              <a:bodyPr wrap="none" rtlCol="0">
                <a:spAutoFit/>
              </a:bodyPr>
              <a:lstStyle/>
              <a:p>
                <a:r>
                  <a:rPr lang="en-US" dirty="0"/>
                  <a:t>-</a:t>
                </a:r>
              </a:p>
            </p:txBody>
          </p:sp>
          <p:sp>
            <p:nvSpPr>
              <p:cNvPr id="126" name="TextBox 125">
                <a:extLst>
                  <a:ext uri="{FF2B5EF4-FFF2-40B4-BE49-F238E27FC236}">
                    <a16:creationId xmlns:a16="http://schemas.microsoft.com/office/drawing/2014/main" id="{970B04C0-BBAB-4875-BF1A-E3C2AF90E370}"/>
                  </a:ext>
                </a:extLst>
              </p:cNvPr>
              <p:cNvSpPr txBox="1"/>
              <p:nvPr/>
            </p:nvSpPr>
            <p:spPr>
              <a:xfrm>
                <a:off x="603881" y="1929353"/>
                <a:ext cx="255198" cy="369332"/>
              </a:xfrm>
              <a:prstGeom prst="rect">
                <a:avLst/>
              </a:prstGeom>
              <a:noFill/>
            </p:spPr>
            <p:txBody>
              <a:bodyPr wrap="none" rtlCol="0">
                <a:spAutoFit/>
              </a:bodyPr>
              <a:lstStyle/>
              <a:p>
                <a:r>
                  <a:rPr lang="en-US" dirty="0"/>
                  <a:t>-</a:t>
                </a:r>
              </a:p>
            </p:txBody>
          </p:sp>
        </p:grpSp>
        <p:cxnSp>
          <p:nvCxnSpPr>
            <p:cNvPr id="15" name="직선 연결선 14">
              <a:extLst>
                <a:ext uri="{FF2B5EF4-FFF2-40B4-BE49-F238E27FC236}">
                  <a16:creationId xmlns:a16="http://schemas.microsoft.com/office/drawing/2014/main" id="{68156074-FE12-4A43-93C2-8B7394E56A27}"/>
                </a:ext>
              </a:extLst>
            </p:cNvPr>
            <p:cNvCxnSpPr>
              <a:stCxn id="96" idx="4"/>
              <a:endCxn id="92" idx="0"/>
            </p:cNvCxnSpPr>
            <p:nvPr/>
          </p:nvCxnSpPr>
          <p:spPr>
            <a:xfrm>
              <a:off x="2593612" y="3070150"/>
              <a:ext cx="0" cy="636615"/>
            </a:xfrm>
            <a:prstGeom prst="line">
              <a:avLst/>
            </a:prstGeom>
            <a:ln w="28575"/>
          </p:spPr>
          <p:style>
            <a:lnRef idx="1">
              <a:schemeClr val="dk1"/>
            </a:lnRef>
            <a:fillRef idx="0">
              <a:schemeClr val="dk1"/>
            </a:fillRef>
            <a:effectRef idx="0">
              <a:schemeClr val="dk1"/>
            </a:effectRef>
            <a:fontRef idx="minor">
              <a:schemeClr val="tx1"/>
            </a:fontRef>
          </p:style>
        </p:cxnSp>
        <p:cxnSp>
          <p:nvCxnSpPr>
            <p:cNvPr id="98" name="직선 연결선 97">
              <a:extLst>
                <a:ext uri="{FF2B5EF4-FFF2-40B4-BE49-F238E27FC236}">
                  <a16:creationId xmlns:a16="http://schemas.microsoft.com/office/drawing/2014/main" id="{DE0FA0B0-C02C-458F-98A4-1F3FDE7D6A28}"/>
                </a:ext>
              </a:extLst>
            </p:cNvPr>
            <p:cNvCxnSpPr>
              <a:cxnSpLocks/>
              <a:stCxn id="96" idx="3"/>
              <a:endCxn id="93" idx="0"/>
            </p:cNvCxnSpPr>
            <p:nvPr/>
          </p:nvCxnSpPr>
          <p:spPr>
            <a:xfrm flipH="1">
              <a:off x="1861204" y="3005145"/>
              <a:ext cx="575471" cy="1995004"/>
            </a:xfrm>
            <a:prstGeom prst="line">
              <a:avLst/>
            </a:prstGeom>
            <a:ln w="28575"/>
          </p:spPr>
          <p:style>
            <a:lnRef idx="1">
              <a:schemeClr val="dk1"/>
            </a:lnRef>
            <a:fillRef idx="0">
              <a:schemeClr val="dk1"/>
            </a:fillRef>
            <a:effectRef idx="0">
              <a:schemeClr val="dk1"/>
            </a:effectRef>
            <a:fontRef idx="minor">
              <a:schemeClr val="tx1"/>
            </a:fontRef>
          </p:style>
        </p:cxnSp>
        <p:cxnSp>
          <p:nvCxnSpPr>
            <p:cNvPr id="99" name="직선 연결선 98">
              <a:extLst>
                <a:ext uri="{FF2B5EF4-FFF2-40B4-BE49-F238E27FC236}">
                  <a16:creationId xmlns:a16="http://schemas.microsoft.com/office/drawing/2014/main" id="{94571C33-9794-47C7-B205-0DB83C22F128}"/>
                </a:ext>
              </a:extLst>
            </p:cNvPr>
            <p:cNvCxnSpPr>
              <a:cxnSpLocks/>
              <a:stCxn id="96" idx="5"/>
              <a:endCxn id="94" idx="0"/>
            </p:cNvCxnSpPr>
            <p:nvPr/>
          </p:nvCxnSpPr>
          <p:spPr>
            <a:xfrm>
              <a:off x="2750548" y="3005145"/>
              <a:ext cx="593227" cy="1975802"/>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110" name="그룹 109">
            <a:extLst>
              <a:ext uri="{FF2B5EF4-FFF2-40B4-BE49-F238E27FC236}">
                <a16:creationId xmlns:a16="http://schemas.microsoft.com/office/drawing/2014/main" id="{4393FED4-C201-4062-AC10-654488235AC1}"/>
              </a:ext>
            </a:extLst>
          </p:cNvPr>
          <p:cNvGrpSpPr/>
          <p:nvPr/>
        </p:nvGrpSpPr>
        <p:grpSpPr>
          <a:xfrm>
            <a:off x="6921773" y="2626267"/>
            <a:ext cx="1926454" cy="2817765"/>
            <a:chOff x="1639262" y="2626267"/>
            <a:chExt cx="1926454" cy="2817765"/>
          </a:xfrm>
        </p:grpSpPr>
        <p:grpSp>
          <p:nvGrpSpPr>
            <p:cNvPr id="111" name="그룹 110">
              <a:extLst>
                <a:ext uri="{FF2B5EF4-FFF2-40B4-BE49-F238E27FC236}">
                  <a16:creationId xmlns:a16="http://schemas.microsoft.com/office/drawing/2014/main" id="{844D1083-3716-40B4-B06B-9337B840EA77}"/>
                </a:ext>
              </a:extLst>
            </p:cNvPr>
            <p:cNvGrpSpPr/>
            <p:nvPr/>
          </p:nvGrpSpPr>
          <p:grpSpPr>
            <a:xfrm>
              <a:off x="1639262" y="2626267"/>
              <a:ext cx="1926454" cy="2817765"/>
              <a:chOff x="349402" y="950999"/>
              <a:chExt cx="1926454" cy="2817765"/>
            </a:xfrm>
          </p:grpSpPr>
          <p:grpSp>
            <p:nvGrpSpPr>
              <p:cNvPr id="115" name="그룹 114">
                <a:extLst>
                  <a:ext uri="{FF2B5EF4-FFF2-40B4-BE49-F238E27FC236}">
                    <a16:creationId xmlns:a16="http://schemas.microsoft.com/office/drawing/2014/main" id="{A86F00C8-FA3B-4F81-B4A9-5E41261A236C}"/>
                  </a:ext>
                </a:extLst>
              </p:cNvPr>
              <p:cNvGrpSpPr/>
              <p:nvPr/>
            </p:nvGrpSpPr>
            <p:grpSpPr>
              <a:xfrm>
                <a:off x="349402" y="950999"/>
                <a:ext cx="1926454" cy="2817765"/>
                <a:chOff x="1145218" y="1492578"/>
                <a:chExt cx="1926454" cy="2817765"/>
              </a:xfrm>
            </p:grpSpPr>
            <p:sp>
              <p:nvSpPr>
                <p:cNvPr id="119" name="이등변 삼각형 118">
                  <a:extLst>
                    <a:ext uri="{FF2B5EF4-FFF2-40B4-BE49-F238E27FC236}">
                      <a16:creationId xmlns:a16="http://schemas.microsoft.com/office/drawing/2014/main" id="{3B815B1D-B2F7-4BD2-94ED-6C87030D3CFF}"/>
                    </a:ext>
                  </a:extLst>
                </p:cNvPr>
                <p:cNvSpPr/>
                <p:nvPr/>
              </p:nvSpPr>
              <p:spPr>
                <a:xfrm>
                  <a:off x="1349405" y="2795018"/>
                  <a:ext cx="1500326" cy="129338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타원 119">
                  <a:extLst>
                    <a:ext uri="{FF2B5EF4-FFF2-40B4-BE49-F238E27FC236}">
                      <a16:creationId xmlns:a16="http://schemas.microsoft.com/office/drawing/2014/main" id="{F0CDBB2F-2B43-432E-9B1F-681F7789DB1A}"/>
                    </a:ext>
                  </a:extLst>
                </p:cNvPr>
                <p:cNvSpPr/>
                <p:nvPr/>
              </p:nvSpPr>
              <p:spPr>
                <a:xfrm>
                  <a:off x="1877626" y="2573076"/>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21" name="타원 120">
                  <a:extLst>
                    <a:ext uri="{FF2B5EF4-FFF2-40B4-BE49-F238E27FC236}">
                      <a16:creationId xmlns:a16="http://schemas.microsoft.com/office/drawing/2014/main" id="{6A7D8FCF-964D-499F-9692-F5A0B1DF76D8}"/>
                    </a:ext>
                  </a:extLst>
                </p:cNvPr>
                <p:cNvSpPr/>
                <p:nvPr/>
              </p:nvSpPr>
              <p:spPr>
                <a:xfrm>
                  <a:off x="1145218" y="3866460"/>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22" name="타원 121">
                  <a:extLst>
                    <a:ext uri="{FF2B5EF4-FFF2-40B4-BE49-F238E27FC236}">
                      <a16:creationId xmlns:a16="http://schemas.microsoft.com/office/drawing/2014/main" id="{C682BA0F-8CB0-467D-BAC8-65285991C49D}"/>
                    </a:ext>
                  </a:extLst>
                </p:cNvPr>
                <p:cNvSpPr/>
                <p:nvPr/>
              </p:nvSpPr>
              <p:spPr>
                <a:xfrm>
                  <a:off x="2627789" y="384725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23" name="타원 122">
                  <a:extLst>
                    <a:ext uri="{FF2B5EF4-FFF2-40B4-BE49-F238E27FC236}">
                      <a16:creationId xmlns:a16="http://schemas.microsoft.com/office/drawing/2014/main" id="{EA879CCB-C2F3-492B-A193-DF614E0CF898}"/>
                    </a:ext>
                  </a:extLst>
                </p:cNvPr>
                <p:cNvSpPr/>
                <p:nvPr/>
              </p:nvSpPr>
              <p:spPr>
                <a:xfrm>
                  <a:off x="1877626" y="1492578"/>
                  <a:ext cx="443883" cy="4438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grpSp>
          <p:sp>
            <p:nvSpPr>
              <p:cNvPr id="116" name="TextBox 115">
                <a:extLst>
                  <a:ext uri="{FF2B5EF4-FFF2-40B4-BE49-F238E27FC236}">
                    <a16:creationId xmlns:a16="http://schemas.microsoft.com/office/drawing/2014/main" id="{A9224FB3-768F-4D80-8011-E26330689FA1}"/>
                  </a:ext>
                </a:extLst>
              </p:cNvPr>
              <p:cNvSpPr txBox="1"/>
              <p:nvPr/>
            </p:nvSpPr>
            <p:spPr>
              <a:xfrm>
                <a:off x="920015" y="2692166"/>
                <a:ext cx="300082" cy="369332"/>
              </a:xfrm>
              <a:prstGeom prst="rect">
                <a:avLst/>
              </a:prstGeom>
              <a:noFill/>
            </p:spPr>
            <p:txBody>
              <a:bodyPr wrap="square" rtlCol="0">
                <a:spAutoFit/>
              </a:bodyPr>
              <a:lstStyle/>
              <a:p>
                <a:r>
                  <a:rPr lang="en-US" dirty="0"/>
                  <a:t>+</a:t>
                </a:r>
              </a:p>
            </p:txBody>
          </p:sp>
          <p:sp>
            <p:nvSpPr>
              <p:cNvPr id="117" name="TextBox 116">
                <a:extLst>
                  <a:ext uri="{FF2B5EF4-FFF2-40B4-BE49-F238E27FC236}">
                    <a16:creationId xmlns:a16="http://schemas.microsoft.com/office/drawing/2014/main" id="{66DEE599-EA7F-421F-A655-EB49725F9E26}"/>
                  </a:ext>
                </a:extLst>
              </p:cNvPr>
              <p:cNvSpPr txBox="1"/>
              <p:nvPr/>
            </p:nvSpPr>
            <p:spPr>
              <a:xfrm>
                <a:off x="1417312" y="2692166"/>
                <a:ext cx="300082" cy="369332"/>
              </a:xfrm>
              <a:prstGeom prst="rect">
                <a:avLst/>
              </a:prstGeom>
              <a:noFill/>
            </p:spPr>
            <p:txBody>
              <a:bodyPr wrap="none" rtlCol="0">
                <a:spAutoFit/>
              </a:bodyPr>
              <a:lstStyle/>
              <a:p>
                <a:r>
                  <a:rPr lang="en-US" dirty="0"/>
                  <a:t>+</a:t>
                </a:r>
              </a:p>
            </p:txBody>
          </p:sp>
          <p:sp>
            <p:nvSpPr>
              <p:cNvPr id="118" name="TextBox 117">
                <a:extLst>
                  <a:ext uri="{FF2B5EF4-FFF2-40B4-BE49-F238E27FC236}">
                    <a16:creationId xmlns:a16="http://schemas.microsoft.com/office/drawing/2014/main" id="{65589922-1520-401D-9033-F2E1C31DFF4D}"/>
                  </a:ext>
                </a:extLst>
              </p:cNvPr>
              <p:cNvSpPr txBox="1"/>
              <p:nvPr/>
            </p:nvSpPr>
            <p:spPr>
              <a:xfrm>
                <a:off x="1146815" y="3235487"/>
                <a:ext cx="300082" cy="369332"/>
              </a:xfrm>
              <a:prstGeom prst="rect">
                <a:avLst/>
              </a:prstGeom>
              <a:noFill/>
            </p:spPr>
            <p:txBody>
              <a:bodyPr wrap="square" rtlCol="0">
                <a:spAutoFit/>
              </a:bodyPr>
              <a:lstStyle/>
              <a:p>
                <a:r>
                  <a:rPr lang="en-US" dirty="0"/>
                  <a:t>-</a:t>
                </a:r>
              </a:p>
            </p:txBody>
          </p:sp>
          <p:sp>
            <p:nvSpPr>
              <p:cNvPr id="127" name="TextBox 126">
                <a:extLst>
                  <a:ext uri="{FF2B5EF4-FFF2-40B4-BE49-F238E27FC236}">
                    <a16:creationId xmlns:a16="http://schemas.microsoft.com/office/drawing/2014/main" id="{7213A82B-6288-4DBE-8FE0-0887C411CEF3}"/>
                  </a:ext>
                </a:extLst>
              </p:cNvPr>
              <p:cNvSpPr txBox="1"/>
              <p:nvPr/>
            </p:nvSpPr>
            <p:spPr>
              <a:xfrm>
                <a:off x="661272" y="1773136"/>
                <a:ext cx="300082" cy="369332"/>
              </a:xfrm>
              <a:prstGeom prst="rect">
                <a:avLst/>
              </a:prstGeom>
              <a:noFill/>
            </p:spPr>
            <p:txBody>
              <a:bodyPr wrap="square" rtlCol="0">
                <a:spAutoFit/>
              </a:bodyPr>
              <a:lstStyle/>
              <a:p>
                <a:r>
                  <a:rPr lang="en-US" dirty="0"/>
                  <a:t>+</a:t>
                </a:r>
              </a:p>
            </p:txBody>
          </p:sp>
          <p:sp>
            <p:nvSpPr>
              <p:cNvPr id="128" name="TextBox 127">
                <a:extLst>
                  <a:ext uri="{FF2B5EF4-FFF2-40B4-BE49-F238E27FC236}">
                    <a16:creationId xmlns:a16="http://schemas.microsoft.com/office/drawing/2014/main" id="{1BA60A96-DBCF-4406-BAAE-702192A3A479}"/>
                  </a:ext>
                </a:extLst>
              </p:cNvPr>
              <p:cNvSpPr txBox="1"/>
              <p:nvPr/>
            </p:nvSpPr>
            <p:spPr>
              <a:xfrm>
                <a:off x="1267271" y="1690820"/>
                <a:ext cx="300082" cy="369332"/>
              </a:xfrm>
              <a:prstGeom prst="rect">
                <a:avLst/>
              </a:prstGeom>
              <a:noFill/>
            </p:spPr>
            <p:txBody>
              <a:bodyPr wrap="square" rtlCol="0">
                <a:spAutoFit/>
              </a:bodyPr>
              <a:lstStyle/>
              <a:p>
                <a:r>
                  <a:rPr lang="en-US" dirty="0"/>
                  <a:t>-</a:t>
                </a:r>
              </a:p>
            </p:txBody>
          </p:sp>
          <p:sp>
            <p:nvSpPr>
              <p:cNvPr id="129" name="TextBox 128">
                <a:extLst>
                  <a:ext uri="{FF2B5EF4-FFF2-40B4-BE49-F238E27FC236}">
                    <a16:creationId xmlns:a16="http://schemas.microsoft.com/office/drawing/2014/main" id="{6F51245C-3FA6-4DC9-9750-4C84C1B79F3C}"/>
                  </a:ext>
                </a:extLst>
              </p:cNvPr>
              <p:cNvSpPr txBox="1"/>
              <p:nvPr/>
            </p:nvSpPr>
            <p:spPr>
              <a:xfrm>
                <a:off x="1714763" y="1793598"/>
                <a:ext cx="300082" cy="369332"/>
              </a:xfrm>
              <a:prstGeom prst="rect">
                <a:avLst/>
              </a:prstGeom>
              <a:noFill/>
            </p:spPr>
            <p:txBody>
              <a:bodyPr wrap="square" rtlCol="0">
                <a:spAutoFit/>
              </a:bodyPr>
              <a:lstStyle/>
              <a:p>
                <a:r>
                  <a:rPr lang="en-US" dirty="0"/>
                  <a:t>-</a:t>
                </a:r>
              </a:p>
            </p:txBody>
          </p:sp>
        </p:grpSp>
        <p:cxnSp>
          <p:nvCxnSpPr>
            <p:cNvPr id="112" name="직선 연결선 111">
              <a:extLst>
                <a:ext uri="{FF2B5EF4-FFF2-40B4-BE49-F238E27FC236}">
                  <a16:creationId xmlns:a16="http://schemas.microsoft.com/office/drawing/2014/main" id="{90B343D9-DC3A-4E3D-B198-A3A03BC33FFC}"/>
                </a:ext>
              </a:extLst>
            </p:cNvPr>
            <p:cNvCxnSpPr>
              <a:stCxn id="123" idx="4"/>
              <a:endCxn id="120" idx="0"/>
            </p:cNvCxnSpPr>
            <p:nvPr/>
          </p:nvCxnSpPr>
          <p:spPr>
            <a:xfrm>
              <a:off x="2593612" y="3070150"/>
              <a:ext cx="0" cy="636615"/>
            </a:xfrm>
            <a:prstGeom prst="line">
              <a:avLst/>
            </a:prstGeom>
            <a:ln w="28575"/>
          </p:spPr>
          <p:style>
            <a:lnRef idx="1">
              <a:schemeClr val="dk1"/>
            </a:lnRef>
            <a:fillRef idx="0">
              <a:schemeClr val="dk1"/>
            </a:fillRef>
            <a:effectRef idx="0">
              <a:schemeClr val="dk1"/>
            </a:effectRef>
            <a:fontRef idx="minor">
              <a:schemeClr val="tx1"/>
            </a:fontRef>
          </p:style>
        </p:cxnSp>
        <p:cxnSp>
          <p:nvCxnSpPr>
            <p:cNvPr id="113" name="직선 연결선 112">
              <a:extLst>
                <a:ext uri="{FF2B5EF4-FFF2-40B4-BE49-F238E27FC236}">
                  <a16:creationId xmlns:a16="http://schemas.microsoft.com/office/drawing/2014/main" id="{6B509B18-CD2A-48BD-9FA1-F6E8B611CB01}"/>
                </a:ext>
              </a:extLst>
            </p:cNvPr>
            <p:cNvCxnSpPr>
              <a:cxnSpLocks/>
              <a:stCxn id="123" idx="3"/>
              <a:endCxn id="121" idx="0"/>
            </p:cNvCxnSpPr>
            <p:nvPr/>
          </p:nvCxnSpPr>
          <p:spPr>
            <a:xfrm flipH="1">
              <a:off x="1861204" y="3005145"/>
              <a:ext cx="575471" cy="1995004"/>
            </a:xfrm>
            <a:prstGeom prst="line">
              <a:avLst/>
            </a:prstGeom>
            <a:ln w="28575"/>
          </p:spPr>
          <p:style>
            <a:lnRef idx="1">
              <a:schemeClr val="dk1"/>
            </a:lnRef>
            <a:fillRef idx="0">
              <a:schemeClr val="dk1"/>
            </a:fillRef>
            <a:effectRef idx="0">
              <a:schemeClr val="dk1"/>
            </a:effectRef>
            <a:fontRef idx="minor">
              <a:schemeClr val="tx1"/>
            </a:fontRef>
          </p:style>
        </p:cxnSp>
        <p:cxnSp>
          <p:nvCxnSpPr>
            <p:cNvPr id="114" name="직선 연결선 113">
              <a:extLst>
                <a:ext uri="{FF2B5EF4-FFF2-40B4-BE49-F238E27FC236}">
                  <a16:creationId xmlns:a16="http://schemas.microsoft.com/office/drawing/2014/main" id="{B2FDB946-DA98-444E-BB5C-72451867D6B1}"/>
                </a:ext>
              </a:extLst>
            </p:cNvPr>
            <p:cNvCxnSpPr>
              <a:cxnSpLocks/>
              <a:stCxn id="123" idx="5"/>
              <a:endCxn id="122" idx="0"/>
            </p:cNvCxnSpPr>
            <p:nvPr/>
          </p:nvCxnSpPr>
          <p:spPr>
            <a:xfrm>
              <a:off x="2750548" y="3005145"/>
              <a:ext cx="593227" cy="1975802"/>
            </a:xfrm>
            <a:prstGeom prst="line">
              <a:avLst/>
            </a:prstGeom>
            <a:ln w="28575"/>
          </p:spPr>
          <p:style>
            <a:lnRef idx="1">
              <a:schemeClr val="dk1"/>
            </a:lnRef>
            <a:fillRef idx="0">
              <a:schemeClr val="dk1"/>
            </a:fillRef>
            <a:effectRef idx="0">
              <a:schemeClr val="dk1"/>
            </a:effectRef>
            <a:fontRef idx="minor">
              <a:schemeClr val="tx1"/>
            </a:fontRef>
          </p:style>
        </p:cxnSp>
      </p:grpSp>
      <p:sp>
        <p:nvSpPr>
          <p:cNvPr id="30" name="직사각형 29">
            <a:extLst>
              <a:ext uri="{FF2B5EF4-FFF2-40B4-BE49-F238E27FC236}">
                <a16:creationId xmlns:a16="http://schemas.microsoft.com/office/drawing/2014/main" id="{0702F172-A480-4424-919C-1274B763FC63}"/>
              </a:ext>
            </a:extLst>
          </p:cNvPr>
          <p:cNvSpPr/>
          <p:nvPr/>
        </p:nvSpPr>
        <p:spPr>
          <a:xfrm>
            <a:off x="3770893" y="5623542"/>
            <a:ext cx="1040670" cy="369332"/>
          </a:xfrm>
          <a:prstGeom prst="rect">
            <a:avLst/>
          </a:prstGeom>
        </p:spPr>
        <p:txBody>
          <a:bodyPr wrap="none">
            <a:spAutoFit/>
          </a:bodyPr>
          <a:lstStyle/>
          <a:p>
            <a:r>
              <a:rPr lang="en-US" dirty="0"/>
              <a:t>Balanced</a:t>
            </a:r>
          </a:p>
        </p:txBody>
      </p:sp>
      <p:sp>
        <p:nvSpPr>
          <p:cNvPr id="130" name="직사각형 129">
            <a:extLst>
              <a:ext uri="{FF2B5EF4-FFF2-40B4-BE49-F238E27FC236}">
                <a16:creationId xmlns:a16="http://schemas.microsoft.com/office/drawing/2014/main" id="{BBEFFA76-C3C2-45B8-B58E-ECEE8D8AA764}"/>
              </a:ext>
            </a:extLst>
          </p:cNvPr>
          <p:cNvSpPr/>
          <p:nvPr/>
        </p:nvSpPr>
        <p:spPr>
          <a:xfrm>
            <a:off x="7212182" y="5623542"/>
            <a:ext cx="1441420" cy="369332"/>
          </a:xfrm>
          <a:prstGeom prst="rect">
            <a:avLst/>
          </a:prstGeom>
        </p:spPr>
        <p:txBody>
          <a:bodyPr wrap="none">
            <a:spAutoFit/>
          </a:bodyPr>
          <a:lstStyle/>
          <a:p>
            <a:r>
              <a:rPr lang="en-US" dirty="0"/>
              <a:t>Not Balanced</a:t>
            </a:r>
          </a:p>
        </p:txBody>
      </p:sp>
    </p:spTree>
    <p:extLst>
      <p:ext uri="{BB962C8B-B14F-4D97-AF65-F5344CB8AC3E}">
        <p14:creationId xmlns:p14="http://schemas.microsoft.com/office/powerpoint/2010/main" val="11900466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Structural Balance</a:t>
            </a:r>
          </a:p>
        </p:txBody>
      </p:sp>
      <p:sp>
        <p:nvSpPr>
          <p:cNvPr id="95" name="내용 개체 틀 2">
            <a:extLst>
              <a:ext uri="{FF2B5EF4-FFF2-40B4-BE49-F238E27FC236}">
                <a16:creationId xmlns:a16="http://schemas.microsoft.com/office/drawing/2014/main" id="{A669E9AF-40AC-4972-96D4-980FE88D4FBB}"/>
              </a:ext>
            </a:extLst>
          </p:cNvPr>
          <p:cNvSpPr>
            <a:spLocks noGrp="1"/>
          </p:cNvSpPr>
          <p:nvPr>
            <p:ph idx="1"/>
          </p:nvPr>
        </p:nvSpPr>
        <p:spPr>
          <a:xfrm>
            <a:off x="576191" y="1232249"/>
            <a:ext cx="11039617" cy="1591877"/>
          </a:xfrm>
        </p:spPr>
        <p:txBody>
          <a:bodyPr>
            <a:normAutofit/>
          </a:bodyPr>
          <a:lstStyle/>
          <a:p>
            <a:pPr marL="0" indent="0">
              <a:buNone/>
            </a:pPr>
            <a:r>
              <a:rPr lang="en-US" sz="2400" i="1" dirty="0"/>
              <a:t>The Balance Theorem</a:t>
            </a:r>
          </a:p>
          <a:p>
            <a:pPr marL="0" indent="0">
              <a:buNone/>
            </a:pPr>
            <a:r>
              <a:rPr lang="en-US" sz="2000" dirty="0"/>
              <a:t>If a labeled complete graph is balanced, then either all pairs of nodes are friends or else the nodes can be divided into two groups, </a:t>
            </a:r>
            <a:r>
              <a:rPr lang="en-US" sz="2000" b="1" i="1" dirty="0"/>
              <a:t>X</a:t>
            </a:r>
            <a:r>
              <a:rPr lang="en-US" sz="2000" dirty="0"/>
              <a:t> and </a:t>
            </a:r>
            <a:r>
              <a:rPr lang="en-US" sz="2000" b="1" i="1" dirty="0"/>
              <a:t>Y</a:t>
            </a:r>
            <a:r>
              <a:rPr lang="en-US" sz="2000" dirty="0"/>
              <a:t>. Each pair of people in </a:t>
            </a:r>
            <a:r>
              <a:rPr lang="en-US" sz="2000" b="1" i="1" dirty="0"/>
              <a:t>X</a:t>
            </a:r>
            <a:r>
              <a:rPr lang="en-US" sz="2000" dirty="0"/>
              <a:t> likes each other, each pair of people in </a:t>
            </a:r>
            <a:r>
              <a:rPr lang="en-US" sz="2000" b="1" i="1" dirty="0"/>
              <a:t>Y</a:t>
            </a:r>
            <a:r>
              <a:rPr lang="en-US" sz="2000" dirty="0"/>
              <a:t> likes each other, and everyone is </a:t>
            </a:r>
            <a:r>
              <a:rPr lang="en-US" sz="2000" b="1" i="1" dirty="0"/>
              <a:t>X</a:t>
            </a:r>
            <a:r>
              <a:rPr lang="en-US" sz="2000" dirty="0"/>
              <a:t> is the enemy of everyone in </a:t>
            </a:r>
            <a:r>
              <a:rPr lang="en-US" sz="2000" b="1" i="1" dirty="0"/>
              <a:t>Y </a:t>
            </a:r>
          </a:p>
        </p:txBody>
      </p:sp>
      <p:sp>
        <p:nvSpPr>
          <p:cNvPr id="3" name="TextBox 2">
            <a:extLst>
              <a:ext uri="{FF2B5EF4-FFF2-40B4-BE49-F238E27FC236}">
                <a16:creationId xmlns:a16="http://schemas.microsoft.com/office/drawing/2014/main" id="{FD135B65-7428-4EF9-AD48-AEF72C019E42}"/>
              </a:ext>
            </a:extLst>
          </p:cNvPr>
          <p:cNvSpPr txBox="1"/>
          <p:nvPr/>
        </p:nvSpPr>
        <p:spPr>
          <a:xfrm>
            <a:off x="576191" y="3724960"/>
            <a:ext cx="5113538" cy="461665"/>
          </a:xfrm>
          <a:prstGeom prst="rect">
            <a:avLst/>
          </a:prstGeom>
          <a:noFill/>
        </p:spPr>
        <p:txBody>
          <a:bodyPr wrap="square" rtlCol="0">
            <a:spAutoFit/>
          </a:bodyPr>
          <a:lstStyle/>
          <a:p>
            <a:r>
              <a:rPr lang="en-US" sz="2400" dirty="0"/>
              <a:t>Application of Structural Balance</a:t>
            </a:r>
          </a:p>
        </p:txBody>
      </p:sp>
      <p:sp>
        <p:nvSpPr>
          <p:cNvPr id="4" name="직사각형 3">
            <a:extLst>
              <a:ext uri="{FF2B5EF4-FFF2-40B4-BE49-F238E27FC236}">
                <a16:creationId xmlns:a16="http://schemas.microsoft.com/office/drawing/2014/main" id="{6D4B98C5-88C9-4374-B1FB-8140D388DAD3}"/>
              </a:ext>
            </a:extLst>
          </p:cNvPr>
          <p:cNvSpPr/>
          <p:nvPr/>
        </p:nvSpPr>
        <p:spPr>
          <a:xfrm>
            <a:off x="576191" y="4304320"/>
            <a:ext cx="9952726" cy="923330"/>
          </a:xfrm>
          <a:prstGeom prst="rect">
            <a:avLst/>
          </a:prstGeom>
        </p:spPr>
        <p:txBody>
          <a:bodyPr wrap="square">
            <a:spAutoFit/>
          </a:bodyPr>
          <a:lstStyle/>
          <a:p>
            <a:r>
              <a:rPr lang="en-US" dirty="0"/>
              <a:t>The structural balance can be applied to trust, distrust, online ratings and international relations. The positive and negative relationships work is important for understanding the role they play on Social Websites, where users register subjective evaluations of each other.</a:t>
            </a:r>
          </a:p>
        </p:txBody>
      </p:sp>
    </p:spTree>
    <p:extLst>
      <p:ext uri="{BB962C8B-B14F-4D97-AF65-F5344CB8AC3E}">
        <p14:creationId xmlns:p14="http://schemas.microsoft.com/office/powerpoint/2010/main" val="4001479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57131-D2E4-4013-A578-B1FBDA271C35}"/>
              </a:ext>
            </a:extLst>
          </p:cNvPr>
          <p:cNvSpPr>
            <a:spLocks noGrp="1"/>
          </p:cNvSpPr>
          <p:nvPr>
            <p:ph type="title"/>
          </p:nvPr>
        </p:nvSpPr>
        <p:spPr>
          <a:xfrm>
            <a:off x="435005" y="100582"/>
            <a:ext cx="10093912" cy="1347218"/>
          </a:xfrm>
        </p:spPr>
        <p:txBody>
          <a:bodyPr>
            <a:normAutofit/>
          </a:bodyPr>
          <a:lstStyle/>
          <a:p>
            <a:r>
              <a:rPr lang="en-US" sz="4000" dirty="0"/>
              <a:t>Structural Balance</a:t>
            </a:r>
          </a:p>
        </p:txBody>
      </p:sp>
      <p:sp>
        <p:nvSpPr>
          <p:cNvPr id="95" name="내용 개체 틀 2">
            <a:extLst>
              <a:ext uri="{FF2B5EF4-FFF2-40B4-BE49-F238E27FC236}">
                <a16:creationId xmlns:a16="http://schemas.microsoft.com/office/drawing/2014/main" id="{A669E9AF-40AC-4972-96D4-980FE88D4FBB}"/>
              </a:ext>
            </a:extLst>
          </p:cNvPr>
          <p:cNvSpPr>
            <a:spLocks noGrp="1"/>
          </p:cNvSpPr>
          <p:nvPr>
            <p:ph idx="1"/>
          </p:nvPr>
        </p:nvSpPr>
        <p:spPr>
          <a:xfrm>
            <a:off x="576191" y="3851162"/>
            <a:ext cx="11039617" cy="1591877"/>
          </a:xfrm>
        </p:spPr>
        <p:txBody>
          <a:bodyPr>
            <a:normAutofit/>
          </a:bodyPr>
          <a:lstStyle/>
          <a:p>
            <a:pPr marL="0" indent="0">
              <a:buNone/>
            </a:pPr>
            <a:r>
              <a:rPr lang="en-US" sz="2400" i="1" dirty="0"/>
              <a:t>Characterization of Weakly Balanced Networks</a:t>
            </a:r>
          </a:p>
          <a:p>
            <a:pPr marL="0" indent="0">
              <a:buNone/>
            </a:pPr>
            <a:r>
              <a:rPr lang="en-US" sz="2000" dirty="0"/>
              <a:t>If a labeled complete graph is balanced, then either all pairs of nodes are friends or else the nodes can be divided groups in such a way that every two nodes belonging to the same group are friends and every two nodes belonging to different groups are enemies.</a:t>
            </a:r>
            <a:endParaRPr lang="en-US" sz="2000" b="1" i="1" dirty="0"/>
          </a:p>
        </p:txBody>
      </p:sp>
      <p:sp>
        <p:nvSpPr>
          <p:cNvPr id="6" name="내용 개체 틀 2">
            <a:extLst>
              <a:ext uri="{FF2B5EF4-FFF2-40B4-BE49-F238E27FC236}">
                <a16:creationId xmlns:a16="http://schemas.microsoft.com/office/drawing/2014/main" id="{E8C87691-489B-4DBC-959E-004BD49EC0B0}"/>
              </a:ext>
            </a:extLst>
          </p:cNvPr>
          <p:cNvSpPr txBox="1">
            <a:spLocks/>
          </p:cNvSpPr>
          <p:nvPr/>
        </p:nvSpPr>
        <p:spPr>
          <a:xfrm>
            <a:off x="576191" y="1414961"/>
            <a:ext cx="11039617" cy="15918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Weak Structural Balance Property</a:t>
            </a:r>
          </a:p>
          <a:p>
            <a:pPr marL="0" indent="0">
              <a:buFont typeface="Arial" panose="020B0604020202020204" pitchFamily="34" charset="0"/>
              <a:buNone/>
            </a:pPr>
            <a:r>
              <a:rPr lang="en-US" sz="2000" dirty="0"/>
              <a:t>There is no set of three nodes such that the edges among them consist of exactly two positive edges and one negative edge</a:t>
            </a:r>
            <a:endParaRPr lang="en-US" sz="2000" b="1" i="1" dirty="0"/>
          </a:p>
        </p:txBody>
      </p:sp>
    </p:spTree>
    <p:extLst>
      <p:ext uri="{BB962C8B-B14F-4D97-AF65-F5344CB8AC3E}">
        <p14:creationId xmlns:p14="http://schemas.microsoft.com/office/powerpoint/2010/main" val="2002388484"/>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TM02892315[[fn=줄기]]</Template>
  <TotalTime>4339</TotalTime>
  <Words>2399</Words>
  <Application>Microsoft Office PowerPoint</Application>
  <PresentationFormat>와이드스크린</PresentationFormat>
  <Paragraphs>556</Paragraphs>
  <Slides>38</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38</vt:i4>
      </vt:variant>
    </vt:vector>
  </HeadingPairs>
  <TitlesOfParts>
    <vt:vector size="47" baseType="lpstr">
      <vt:lpstr>맑은 고딕</vt:lpstr>
      <vt:lpstr>Arial</vt:lpstr>
      <vt:lpstr>Calibri</vt:lpstr>
      <vt:lpstr>Calibri Light</vt:lpstr>
      <vt:lpstr>Cambria Math</vt:lpstr>
      <vt:lpstr>Wingdings</vt:lpstr>
      <vt:lpstr>Wingdings 2</vt:lpstr>
      <vt:lpstr>HDOfficeLightV0</vt:lpstr>
      <vt:lpstr>Office 테마</vt:lpstr>
      <vt:lpstr>Social Network Analysis</vt:lpstr>
      <vt:lpstr>Table of Contents  - Graphs - Strong and Weak Ties - Networks in their surrounding Contexts - Positive and Negative Relationship </vt:lpstr>
      <vt:lpstr>Graphs</vt:lpstr>
      <vt:lpstr>Basic Definitions</vt:lpstr>
      <vt:lpstr>Basic Definitions</vt:lpstr>
      <vt:lpstr>Paths and Connectivity</vt:lpstr>
      <vt:lpstr>Paths and Connectivity</vt:lpstr>
      <vt:lpstr>Distance and Breadth-First-Search</vt:lpstr>
      <vt:lpstr>Distance and Breadth-First-Search</vt:lpstr>
      <vt:lpstr>Strong and Weak Ties</vt:lpstr>
      <vt:lpstr>Triadic Closure</vt:lpstr>
      <vt:lpstr>Triadic Closure</vt:lpstr>
      <vt:lpstr>Triadic Closure</vt:lpstr>
      <vt:lpstr>The Strength of Weak Ties</vt:lpstr>
      <vt:lpstr>The Strength of Weak Ties</vt:lpstr>
      <vt:lpstr>Tie Strength and Network Structure in Large-Scale Data</vt:lpstr>
      <vt:lpstr>Tie Strength and Social Media Facebook</vt:lpstr>
      <vt:lpstr>Closure, Structural Holes and Social Capital</vt:lpstr>
      <vt:lpstr>Closure, Structural Holes and Social Capital</vt:lpstr>
      <vt:lpstr>Closure, Structural Holes and Social Capital</vt:lpstr>
      <vt:lpstr>Betweenness Measures and Graph Partitioning</vt:lpstr>
      <vt:lpstr>Betweenness Measures and Graph Partitioning</vt:lpstr>
      <vt:lpstr>Betweenness Measures and Graph Partitioning</vt:lpstr>
      <vt:lpstr>Betweenness Measures and Graph Partitioning</vt:lpstr>
      <vt:lpstr>Networks in their Surrounding Contexts</vt:lpstr>
      <vt:lpstr>Networks in Their Surrounding Contexts</vt:lpstr>
      <vt:lpstr>Selection and Social Influence</vt:lpstr>
      <vt:lpstr>Affiliation</vt:lpstr>
      <vt:lpstr>Affiliation</vt:lpstr>
      <vt:lpstr>Affiliation</vt:lpstr>
      <vt:lpstr>Spatial Model of Segregation</vt:lpstr>
      <vt:lpstr>Spatial Model of Segregation</vt:lpstr>
      <vt:lpstr>Spatial Model of Segregation</vt:lpstr>
      <vt:lpstr>Positive and Negative Relationships</vt:lpstr>
      <vt:lpstr>Structural Balance</vt:lpstr>
      <vt:lpstr>Structural Balance</vt:lpstr>
      <vt:lpstr>Structural Balance</vt:lpstr>
      <vt:lpstr>Structural Balance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agdal1125@gmail.com</dc:creator>
  <cp:lastModifiedBy>agdal1125@gmail.com</cp:lastModifiedBy>
  <cp:revision>118</cp:revision>
  <dcterms:created xsi:type="dcterms:W3CDTF">2018-01-23T16:32:33Z</dcterms:created>
  <dcterms:modified xsi:type="dcterms:W3CDTF">2018-04-09T06:44:11Z</dcterms:modified>
</cp:coreProperties>
</file>