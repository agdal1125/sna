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  <p:sldMasterId id="2147483828" r:id="rId2"/>
  </p:sldMasterIdLst>
  <p:notesMasterIdLst>
    <p:notesMasterId r:id="rId26"/>
  </p:notesMasterIdLst>
  <p:sldIdLst>
    <p:sldId id="256" r:id="rId3"/>
    <p:sldId id="257" r:id="rId4"/>
    <p:sldId id="259" r:id="rId5"/>
    <p:sldId id="262" r:id="rId6"/>
    <p:sldId id="272" r:id="rId7"/>
    <p:sldId id="273" r:id="rId8"/>
    <p:sldId id="275" r:id="rId9"/>
    <p:sldId id="276" r:id="rId10"/>
    <p:sldId id="274" r:id="rId11"/>
    <p:sldId id="277" r:id="rId12"/>
    <p:sldId id="279" r:id="rId13"/>
    <p:sldId id="278" r:id="rId14"/>
    <p:sldId id="267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05" autoAdjust="0"/>
    <p:restoredTop sz="94660"/>
  </p:normalViewPr>
  <p:slideViewPr>
    <p:cSldViewPr snapToGrid="0">
      <p:cViewPr varScale="1">
        <p:scale>
          <a:sx n="49" d="100"/>
          <a:sy n="49" d="100"/>
        </p:scale>
        <p:origin x="29" y="8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0746A-1847-40EC-B93C-F7873E555D98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6FAC4-1E03-49E8-BD28-AF1566EF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59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10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83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898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2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153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96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83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38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97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89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58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E778D0-FFC8-41A2-B947-98DA5567D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3FE50C6-4AE6-4854-9690-468A21E43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CC4856-83A7-4A2E-94B0-9B59BEA46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ADA6B5-36DA-4622-977E-C5EE2D79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64629E-5C28-40C0-BE9C-C384FD89C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25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390A2-6434-466B-B133-59B47A53B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B85408-5405-43F3-A997-A5686CB94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144089-4D32-4F98-A7FB-1C2A8F348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CE616D-41EF-418F-A2DB-F20A6BC0F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010034-811C-4DD9-A1C6-D621CFFF5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69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68C6EF-60E1-435A-9C44-04A6091F8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D2ED5B-91D1-4F8A-8EF6-4279E4857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E68F84-151A-4C60-A3B2-A14C668FA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92B3AA-C5D3-4832-8649-68BDB7487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86E432-659F-44D8-8A12-8103CF70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45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32EB8B-677E-4694-A127-91719DD3D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CDC3F7-1B55-4876-BD32-3ED444C906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E494C3-D018-424F-9050-572713E91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A2F95C-92E5-4C9D-AC9B-2966B84E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4F9551-3C93-4A80-BDDC-AA1533934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AE71EF-8BA6-43D5-810C-030E0FD55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05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A59D0-50BB-4170-BE00-42EF8EECF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ED1FFE-B351-410A-9A93-BE911A56C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7D3C85-3EEF-4978-B964-F1D03497B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5E88F12-E7A7-437A-AA0B-C98CD8E0E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7898A3E-6654-40A8-A650-6E10B5318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793AD4-71BB-44BC-A819-00BBEEC94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C0C474A-9D29-4AC6-8099-6936A0E57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C22D096-7FC8-4B85-8DD2-B78BD83B6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72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AB49E-DD91-4743-92FB-333855004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AE0E5B3-D27E-4B0B-A82F-85B74A437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5F03F2D-2E51-47B2-9792-4A28229B2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0E86D9-06A5-423D-9C31-F9F01177E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341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00617D2-FE63-4DB6-BD5C-11EE21791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711279F-9A6E-47B3-9E75-B09142F8F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C0ED18-147D-426B-9BDD-47F0CE69C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7328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74A789-8FA9-42C2-BEFB-69AD8A343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E60AB4-FE26-42E4-A180-FA71B0343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10925E-B44B-4012-8EC7-A74A62A74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E7592C-F6DE-4074-8536-7C84DF98C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FFF679-1D3C-43D1-879D-9C72BEF3F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A742E1-198A-4145-A47C-D4260E3C8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61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9BCFA-8E3D-45E0-A5E3-B6C5C7EAF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4E60FB5-BCE8-4367-A632-8ACED77684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884AB8-4C1E-4530-9662-D640EA6EF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42870E-9785-42DB-AFAE-67F54B4C5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4BBD24-2034-4783-814F-E89080E8B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4CF8DE-F01A-4779-9306-48C82822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0449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B82F0D-D432-49E7-9257-67F148EFB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BB3D6E-B8FE-40AC-9CE1-EE9EAC324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986245-99D4-4649-AC16-BA8FCD218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575F22-0CA1-46F3-8E0C-39BE66907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0E33A0-8EEF-46E0-BCCB-52BD1147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457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13BE6CC-C1FF-4C17-B34B-0A76B08363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585AA7-3746-4B4D-AF4D-FCC51BCC6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4FA8AE-CD0B-461D-82D3-C07B14B5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24693C-45D0-4197-81DE-EFF297EB1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20C0C-F115-4D8E-9B96-6D53880C9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09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978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279CF3A-34F9-4D70-B5AF-11E9FE85A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A94A1-E614-4C83-97E7-4191D8659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4E1FAA-6D6A-4AA7-9C6D-935F7F5DF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1CB8E-6F81-4EA9-97B5-248BF9D22C8A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9DAEA3-9658-4897-9B7E-6310FDF24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099C83-9D8F-49C9-BAC8-4DA77C413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C7EB3-5AE8-4FED-A667-9442F52E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7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6D051-E4B5-482E-B56D-9743B8F63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2975" y="1839318"/>
            <a:ext cx="9866050" cy="820029"/>
          </a:xfrm>
        </p:spPr>
        <p:txBody>
          <a:bodyPr>
            <a:noAutofit/>
          </a:bodyPr>
          <a:lstStyle/>
          <a:p>
            <a:r>
              <a:rPr lang="en-US" dirty="0"/>
              <a:t>Social Network Analysis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1003AF-8E5C-46DF-8B69-6FDCCB435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1370" y="5032044"/>
            <a:ext cx="8528482" cy="1655762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en-US" dirty="0"/>
              <a:t>Prof. </a:t>
            </a:r>
            <a:r>
              <a:rPr lang="en-US" dirty="0" err="1"/>
              <a:t>Keeheon</a:t>
            </a:r>
            <a:r>
              <a:rPr lang="en-US" dirty="0"/>
              <a:t> Lee</a:t>
            </a:r>
          </a:p>
          <a:p>
            <a:pPr algn="r"/>
            <a:endParaRPr lang="en-US" dirty="0"/>
          </a:p>
          <a:p>
            <a:pPr algn="r"/>
            <a:r>
              <a:rPr lang="en-US" dirty="0"/>
              <a:t>TA. </a:t>
            </a:r>
            <a:r>
              <a:rPr lang="en-US" dirty="0" err="1"/>
              <a:t>Jaekeun</a:t>
            </a:r>
            <a:r>
              <a:rPr lang="en-US" dirty="0"/>
              <a:t> Lee</a:t>
            </a:r>
            <a:br>
              <a:rPr lang="en-US" dirty="0"/>
            </a:br>
            <a:r>
              <a:rPr lang="en-US" dirty="0"/>
              <a:t>010-5599-9411</a:t>
            </a:r>
            <a:br>
              <a:rPr lang="en-US" dirty="0"/>
            </a:br>
            <a:r>
              <a:rPr lang="en-US" dirty="0"/>
              <a:t>agdal1125@gmail.com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FBAF3C4-19D9-4DA7-8BC8-3BB32DC4E825}"/>
              </a:ext>
            </a:extLst>
          </p:cNvPr>
          <p:cNvSpPr txBox="1">
            <a:spLocks/>
          </p:cNvSpPr>
          <p:nvPr/>
        </p:nvSpPr>
        <p:spPr>
          <a:xfrm>
            <a:off x="838200" y="22493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Network Dynamics: Population Models</a:t>
            </a:r>
          </a:p>
        </p:txBody>
      </p:sp>
    </p:spTree>
    <p:extLst>
      <p:ext uri="{BB962C8B-B14F-4D97-AF65-F5344CB8AC3E}">
        <p14:creationId xmlns:p14="http://schemas.microsoft.com/office/powerpoint/2010/main" val="2579392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8DDFD7D-610F-4AE3-9776-3F48FEC95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34501"/>
            <a:ext cx="9930415" cy="4074850"/>
          </a:xfrm>
        </p:spPr>
        <p:txBody>
          <a:bodyPr>
            <a:normAutofit/>
          </a:bodyPr>
          <a:lstStyle/>
          <a:p>
            <a:r>
              <a:rPr lang="en-US" dirty="0"/>
              <a:t>Table of Contents</a:t>
            </a:r>
            <a:br>
              <a:rPr lang="en-US" dirty="0"/>
            </a:br>
            <a:br>
              <a:rPr lang="en-US" dirty="0"/>
            </a:br>
            <a:r>
              <a:rPr lang="en-US" sz="3600" dirty="0"/>
              <a:t>- Information Cascades</a:t>
            </a:r>
            <a:br>
              <a:rPr lang="en-US" sz="3600" dirty="0"/>
            </a:br>
            <a:r>
              <a:rPr lang="en-US" sz="3600" dirty="0"/>
              <a:t>- Network Effects</a:t>
            </a:r>
            <a:br>
              <a:rPr lang="en-US" sz="3600" dirty="0"/>
            </a:br>
            <a:r>
              <a:rPr lang="en-US" sz="3600" dirty="0"/>
              <a:t>- Power Laws and Rich-Get-Richer Phenomena</a:t>
            </a:r>
            <a:br>
              <a:rPr lang="en-US" sz="3600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649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E60F558-2A47-49C0-9D66-EB452AEEE5CE}"/>
              </a:ext>
            </a:extLst>
          </p:cNvPr>
          <p:cNvSpPr txBox="1">
            <a:spLocks/>
          </p:cNvSpPr>
          <p:nvPr/>
        </p:nvSpPr>
        <p:spPr>
          <a:xfrm>
            <a:off x="2954281" y="2664442"/>
            <a:ext cx="60920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Information Cascades</a:t>
            </a:r>
          </a:p>
        </p:txBody>
      </p:sp>
    </p:spTree>
    <p:extLst>
      <p:ext uri="{BB962C8B-B14F-4D97-AF65-F5344CB8AC3E}">
        <p14:creationId xmlns:p14="http://schemas.microsoft.com/office/powerpoint/2010/main" val="753801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32E8A-08AA-4414-AAFD-23532DC7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52" y="191252"/>
            <a:ext cx="1214465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Following the Crowd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E8F1F9E-B1C1-4354-A1AA-BD554D51D8DA}"/>
              </a:ext>
            </a:extLst>
          </p:cNvPr>
          <p:cNvSpPr/>
          <p:nvPr/>
        </p:nvSpPr>
        <p:spPr>
          <a:xfrm>
            <a:off x="417251" y="2048209"/>
            <a:ext cx="58793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b="1" dirty="0"/>
              <a:t>Information Cascade/ Herding (Informational Effects)</a:t>
            </a:r>
            <a:endParaRPr lang="en-US" altLang="ko-KR" sz="20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F715F81-7E69-44B8-BB9E-D6B1454321F1}"/>
              </a:ext>
            </a:extLst>
          </p:cNvPr>
          <p:cNvSpPr/>
          <p:nvPr/>
        </p:nvSpPr>
        <p:spPr>
          <a:xfrm>
            <a:off x="563202" y="2647099"/>
            <a:ext cx="517909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Happens when sequential decision is made by people</a:t>
            </a:r>
            <a:br>
              <a:rPr lang="en-US" altLang="ko-KR" sz="1600" dirty="0"/>
            </a:b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People abandon private information in favor of inferences based on earlier people’s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Rational behavior as a result of drawing inference from limited information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6AF87EA-4EBB-42E9-BECB-D70E9F09047E}"/>
              </a:ext>
            </a:extLst>
          </p:cNvPr>
          <p:cNvCxnSpPr/>
          <p:nvPr/>
        </p:nvCxnSpPr>
        <p:spPr>
          <a:xfrm>
            <a:off x="6438660" y="2048209"/>
            <a:ext cx="0" cy="29385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CC1C2BF1-A8CA-40A3-A528-7F6E154B6B53}"/>
              </a:ext>
            </a:extLst>
          </p:cNvPr>
          <p:cNvSpPr/>
          <p:nvPr/>
        </p:nvSpPr>
        <p:spPr>
          <a:xfrm>
            <a:off x="6580704" y="2048209"/>
            <a:ext cx="24368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b="1" dirty="0"/>
              <a:t>Direct-Benefit Effects</a:t>
            </a:r>
            <a:endParaRPr lang="en-US" altLang="ko-KR" sz="20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A3EB39-2BDA-4F4F-A4B7-CD26742C1F9A}"/>
              </a:ext>
            </a:extLst>
          </p:cNvPr>
          <p:cNvSpPr/>
          <p:nvPr/>
        </p:nvSpPr>
        <p:spPr>
          <a:xfrm>
            <a:off x="6804204" y="2647099"/>
            <a:ext cx="5179093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When following others give off direct benefit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example)</a:t>
            </a:r>
          </a:p>
          <a:p>
            <a:r>
              <a:rPr lang="en-US" sz="1400" dirty="0"/>
              <a:t> Fax machine, Computer operating systems, Social Networking Sites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1074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32E8A-08AA-4414-AAFD-23532DC7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52" y="191252"/>
            <a:ext cx="1214465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Bayes Rule: A Model of Decision Making under Uncertainty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E8F1F9E-B1C1-4354-A1AA-BD554D51D8DA}"/>
              </a:ext>
            </a:extLst>
          </p:cNvPr>
          <p:cNvSpPr/>
          <p:nvPr/>
        </p:nvSpPr>
        <p:spPr>
          <a:xfrm>
            <a:off x="916907" y="1613118"/>
            <a:ext cx="26325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b="1" dirty="0"/>
              <a:t>Conditional Probability</a:t>
            </a:r>
            <a:endParaRPr lang="en-US" altLang="ko-KR" sz="20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04CE76-127D-4191-8609-E1A02C4EBCC6}"/>
              </a:ext>
            </a:extLst>
          </p:cNvPr>
          <p:cNvSpPr/>
          <p:nvPr/>
        </p:nvSpPr>
        <p:spPr>
          <a:xfrm>
            <a:off x="916907" y="3538034"/>
            <a:ext cx="14002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b="1" dirty="0"/>
              <a:t>Bayes’ Rule</a:t>
            </a:r>
            <a:endParaRPr lang="en-US" altLang="ko-K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EDC32358-10A4-4119-AD40-3751ACB5F0AF}"/>
                  </a:ext>
                </a:extLst>
              </p:cNvPr>
              <p:cNvSpPr/>
              <p:nvPr/>
            </p:nvSpPr>
            <p:spPr>
              <a:xfrm>
                <a:off x="6441865" y="2007734"/>
                <a:ext cx="2550314" cy="7331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ko-KR" sz="2000" dirty="0"/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EDC32358-10A4-4119-AD40-3751ACB5F0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865" y="2007734"/>
                <a:ext cx="2550314" cy="7331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직사각형 12">
            <a:extLst>
              <a:ext uri="{FF2B5EF4-FFF2-40B4-BE49-F238E27FC236}">
                <a16:creationId xmlns:a16="http://schemas.microsoft.com/office/drawing/2014/main" id="{77DB5515-585C-4F6F-801A-CB70225629A1}"/>
              </a:ext>
            </a:extLst>
          </p:cNvPr>
          <p:cNvSpPr/>
          <p:nvPr/>
        </p:nvSpPr>
        <p:spPr>
          <a:xfrm>
            <a:off x="1201969" y="2094552"/>
            <a:ext cx="45481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Conditional Probability of A given B is </a:t>
            </a:r>
          </a:p>
          <a:p>
            <a:r>
              <a:rPr lang="en-US" altLang="ko-KR" dirty="0"/>
              <a:t>probability of A given that B already happened</a:t>
            </a:r>
          </a:p>
        </p:txBody>
      </p:sp>
      <p:pic>
        <p:nvPicPr>
          <p:cNvPr id="1026" name="Picture 2" descr="bayes ruleì ëí ì´ë¯¸ì§ ê²ìê²°ê³¼">
            <a:extLst>
              <a:ext uri="{FF2B5EF4-FFF2-40B4-BE49-F238E27FC236}">
                <a16:creationId xmlns:a16="http://schemas.microsoft.com/office/drawing/2014/main" id="{D341A4EB-88A7-402F-930F-E0CF36588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297" y="4154670"/>
            <a:ext cx="3852123" cy="1553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7096D6-C955-4A73-B4C3-A8929897BFAE}"/>
              </a:ext>
            </a:extLst>
          </p:cNvPr>
          <p:cNvSpPr/>
          <p:nvPr/>
        </p:nvSpPr>
        <p:spPr>
          <a:xfrm>
            <a:off x="9085339" y="4234747"/>
            <a:ext cx="157998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/>
              <a:t>Prior probability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54CE8C-8D71-4C5A-9463-47A6CDACAD60}"/>
              </a:ext>
            </a:extLst>
          </p:cNvPr>
          <p:cNvSpPr/>
          <p:nvPr/>
        </p:nvSpPr>
        <p:spPr>
          <a:xfrm>
            <a:off x="5449958" y="5538536"/>
            <a:ext cx="198381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/>
              <a:t>Posterior probability </a:t>
            </a:r>
          </a:p>
          <a:p>
            <a:r>
              <a:rPr lang="en-US" altLang="ko-KR" sz="1600" dirty="0"/>
              <a:t>(of A given B)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2D07529-EB56-407C-BCBF-E57877FDE1B7}"/>
              </a:ext>
            </a:extLst>
          </p:cNvPr>
          <p:cNvCxnSpPr/>
          <p:nvPr/>
        </p:nvCxnSpPr>
        <p:spPr>
          <a:xfrm flipV="1">
            <a:off x="6411674" y="5264458"/>
            <a:ext cx="162757" cy="274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38AA43B-F6AC-4C21-B3CA-3E6C8C99C260}"/>
              </a:ext>
            </a:extLst>
          </p:cNvPr>
          <p:cNvCxnSpPr>
            <a:cxnSpLocks/>
          </p:cNvCxnSpPr>
          <p:nvPr/>
        </p:nvCxnSpPr>
        <p:spPr>
          <a:xfrm flipH="1">
            <a:off x="9085339" y="4573301"/>
            <a:ext cx="529178" cy="273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5A94130-F2EA-4CD2-A9A5-9513728503C5}"/>
              </a:ext>
            </a:extLst>
          </p:cNvPr>
          <p:cNvSpPr/>
          <p:nvPr/>
        </p:nvSpPr>
        <p:spPr>
          <a:xfrm>
            <a:off x="8389399" y="4651899"/>
            <a:ext cx="629414" cy="33735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6EEF3B-F161-4A4B-85BB-648B4F90E95E}"/>
              </a:ext>
            </a:extLst>
          </p:cNvPr>
          <p:cNvSpPr/>
          <p:nvPr/>
        </p:nvSpPr>
        <p:spPr>
          <a:xfrm>
            <a:off x="6399771" y="4847209"/>
            <a:ext cx="879918" cy="33735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BE10B23-724E-4687-935A-D1F27734BCB7}"/>
              </a:ext>
            </a:extLst>
          </p:cNvPr>
          <p:cNvSpPr/>
          <p:nvPr/>
        </p:nvSpPr>
        <p:spPr>
          <a:xfrm>
            <a:off x="1201969" y="4080858"/>
            <a:ext cx="41110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Description of the probability of an event</a:t>
            </a:r>
          </a:p>
          <a:p>
            <a:r>
              <a:rPr lang="en-US" altLang="ko-KR" b="1" dirty="0"/>
              <a:t>based on the conditions</a:t>
            </a:r>
            <a:r>
              <a:rPr lang="en-US" altLang="ko-KR" dirty="0"/>
              <a:t> that might be related to the event</a:t>
            </a:r>
          </a:p>
        </p:txBody>
      </p:sp>
    </p:spTree>
    <p:extLst>
      <p:ext uri="{BB962C8B-B14F-4D97-AF65-F5344CB8AC3E}">
        <p14:creationId xmlns:p14="http://schemas.microsoft.com/office/powerpoint/2010/main" val="2724705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32E8A-08AA-4414-AAFD-23532DC7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52" y="191252"/>
            <a:ext cx="1214465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Bayes Rule: A Model of Decision Making under Uncertainty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6ECD109-C271-44C6-A658-22C3F2B967CA}"/>
              </a:ext>
            </a:extLst>
          </p:cNvPr>
          <p:cNvSpPr/>
          <p:nvPr/>
        </p:nvSpPr>
        <p:spPr>
          <a:xfrm>
            <a:off x="884044" y="1516815"/>
            <a:ext cx="35260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b="1" dirty="0"/>
              <a:t>Example: </a:t>
            </a:r>
            <a:r>
              <a:rPr lang="en-US" altLang="ko-KR" sz="2000" dirty="0"/>
              <a:t>Eyewitness testimony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3AF12B9-4EB9-4649-A061-B70630C597A1}"/>
              </a:ext>
            </a:extLst>
          </p:cNvPr>
          <p:cNvSpPr/>
          <p:nvPr/>
        </p:nvSpPr>
        <p:spPr>
          <a:xfrm>
            <a:off x="1210340" y="2032334"/>
            <a:ext cx="665541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/>
              <a:t>80% of taxi cabs are black, 20% are yellow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/>
              <a:t>A witness to a hit-and-run accident claims the taxi cab involved was yellow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/>
              <a:t>Suppose the eyewitness is imperfect and color may be misidentified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/>
              <a:t>The witness’s claim will be 80% true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31BB6B76-B946-4934-AE11-1EAA9BE32DA4}"/>
                  </a:ext>
                </a:extLst>
              </p:cNvPr>
              <p:cNvSpPr/>
              <p:nvPr/>
            </p:nvSpPr>
            <p:spPr>
              <a:xfrm>
                <a:off x="1210340" y="3802251"/>
                <a:ext cx="8123441" cy="7414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𝑅𝑒𝑝𝑜𝑟𝑡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𝑇𝑟𝑢𝑒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∗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𝑅𝑒𝑝𝑜𝑟𝑡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𝑅𝑒𝑝𝑜𝑟𝑡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31BB6B76-B946-4934-AE11-1EAA9BE32D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340" y="3802251"/>
                <a:ext cx="8123441" cy="7414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1C4FBB83-AC08-4CFE-B69C-7A786B0A99AF}"/>
                  </a:ext>
                </a:extLst>
              </p:cNvPr>
              <p:cNvSpPr/>
              <p:nvPr/>
            </p:nvSpPr>
            <p:spPr>
              <a:xfrm>
                <a:off x="4073854" y="4682577"/>
                <a:ext cx="2231829" cy="7251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 ∗0.8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𝑅𝑒𝑝𝑜𝑟𝑡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1C4FBB83-AC08-4CFE-B69C-7A786B0A99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854" y="4682577"/>
                <a:ext cx="2231829" cy="7251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7B649242-B861-409F-B73C-4BCFBAB66B4E}"/>
              </a:ext>
            </a:extLst>
          </p:cNvPr>
          <p:cNvSpPr/>
          <p:nvPr/>
        </p:nvSpPr>
        <p:spPr>
          <a:xfrm>
            <a:off x="6096000" y="3820539"/>
            <a:ext cx="2965704" cy="31944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F3DF5D6-6294-4673-A7E0-9B394E15A7D1}"/>
              </a:ext>
            </a:extLst>
          </p:cNvPr>
          <p:cNvCxnSpPr>
            <a:cxnSpLocks/>
          </p:cNvCxnSpPr>
          <p:nvPr/>
        </p:nvCxnSpPr>
        <p:spPr>
          <a:xfrm flipH="1">
            <a:off x="8298955" y="3418678"/>
            <a:ext cx="529178" cy="273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BF240B-F59E-4317-BC96-491AB6F3F51F}"/>
              </a:ext>
            </a:extLst>
          </p:cNvPr>
          <p:cNvSpPr/>
          <p:nvPr/>
        </p:nvSpPr>
        <p:spPr>
          <a:xfrm>
            <a:off x="8828133" y="3078237"/>
            <a:ext cx="20696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/>
              <a:t>Accuracy of testimony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1517F5B-F6C6-4D59-A311-19E3EB26F0BC}"/>
              </a:ext>
            </a:extLst>
          </p:cNvPr>
          <p:cNvSpPr/>
          <p:nvPr/>
        </p:nvSpPr>
        <p:spPr>
          <a:xfrm>
            <a:off x="4410138" y="3820539"/>
            <a:ext cx="1506030" cy="31944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44FEA03-6AF0-47AB-938F-B57437B9982D}"/>
              </a:ext>
            </a:extLst>
          </p:cNvPr>
          <p:cNvCxnSpPr>
            <a:cxnSpLocks/>
          </p:cNvCxnSpPr>
          <p:nvPr/>
        </p:nvCxnSpPr>
        <p:spPr>
          <a:xfrm flipH="1">
            <a:off x="5170993" y="3418678"/>
            <a:ext cx="529178" cy="273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FFC4BA0-1C31-464B-9963-45B1F89B82D1}"/>
              </a:ext>
            </a:extLst>
          </p:cNvPr>
          <p:cNvSpPr/>
          <p:nvPr/>
        </p:nvSpPr>
        <p:spPr>
          <a:xfrm>
            <a:off x="5700171" y="3078237"/>
            <a:ext cx="22402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/>
              <a:t>Frequency of Yellow cab</a:t>
            </a:r>
          </a:p>
          <a:p>
            <a:r>
              <a:rPr lang="en-US" altLang="ko-KR" sz="1600" dirty="0"/>
              <a:t>(Prior probability)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0F379E44-78F1-44C2-B659-9D6E4D3F41DC}"/>
                  </a:ext>
                </a:extLst>
              </p:cNvPr>
              <p:cNvSpPr/>
              <p:nvPr/>
            </p:nvSpPr>
            <p:spPr>
              <a:xfrm>
                <a:off x="6100949" y="4682577"/>
                <a:ext cx="2261260" cy="6705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 ∗0.8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0.32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 </m:t>
                      </m:r>
                    </m:oMath>
                  </m:oMathPara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0F379E44-78F1-44C2-B659-9D6E4D3F41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0949" y="4682577"/>
                <a:ext cx="2261260" cy="6705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EBE0E650-2DA4-4EC5-A187-0EB53FB6EED1}"/>
                  </a:ext>
                </a:extLst>
              </p:cNvPr>
              <p:cNvSpPr/>
              <p:nvPr/>
            </p:nvSpPr>
            <p:spPr>
              <a:xfrm>
                <a:off x="642152" y="6049032"/>
                <a:ext cx="940783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𝑅𝑒𝑝𝑜𝑟𝑡</m:t>
                        </m:r>
                        <m: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𝑇𝑟𝑢𝑒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𝑅𝑒𝑝𝑜𝑟𝑡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𝑇𝑟𝑢𝑒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𝑇𝑟𝑢𝑒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𝑅𝑒𝑝𝑜𝑟𝑡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𝑇𝑟𝑢𝑒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EBE0E650-2DA4-4EC5-A187-0EB53FB6EE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52" y="6049032"/>
                <a:ext cx="9407832" cy="338554"/>
              </a:xfrm>
              <a:prstGeom prst="rect">
                <a:avLst/>
              </a:prstGeom>
              <a:blipFill>
                <a:blip r:embed="rId5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E64B0CA6-0803-461C-AAE6-C6AA9C23F8A7}"/>
                  </a:ext>
                </a:extLst>
              </p:cNvPr>
              <p:cNvSpPr/>
              <p:nvPr/>
            </p:nvSpPr>
            <p:spPr>
              <a:xfrm>
                <a:off x="3021312" y="6382489"/>
                <a:ext cx="100521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0.2 ∗0.8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E64B0CA6-0803-461C-AAE6-C6AA9C23F8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312" y="6382489"/>
                <a:ext cx="1005212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F64D5D3A-B333-40A5-B98A-E3E9FC986256}"/>
                  </a:ext>
                </a:extLst>
              </p:cNvPr>
              <p:cNvSpPr/>
              <p:nvPr/>
            </p:nvSpPr>
            <p:spPr>
              <a:xfrm>
                <a:off x="6908506" y="6382489"/>
                <a:ext cx="100521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∗0.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F64D5D3A-B333-40A5-B98A-E3E9FC9862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506" y="6382489"/>
                <a:ext cx="1005212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직사각형 31">
            <a:extLst>
              <a:ext uri="{FF2B5EF4-FFF2-40B4-BE49-F238E27FC236}">
                <a16:creationId xmlns:a16="http://schemas.microsoft.com/office/drawing/2014/main" id="{0537E87D-8F0E-4BA3-B196-D21CFC984333}"/>
              </a:ext>
            </a:extLst>
          </p:cNvPr>
          <p:cNvSpPr/>
          <p:nvPr/>
        </p:nvSpPr>
        <p:spPr>
          <a:xfrm>
            <a:off x="635986" y="6049032"/>
            <a:ext cx="9221246" cy="61771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826D62B3-803A-407E-9C15-8FBF5C57E302}"/>
              </a:ext>
            </a:extLst>
          </p:cNvPr>
          <p:cNvCxnSpPr>
            <a:cxnSpLocks/>
          </p:cNvCxnSpPr>
          <p:nvPr/>
        </p:nvCxnSpPr>
        <p:spPr>
          <a:xfrm flipV="1">
            <a:off x="4538046" y="5394989"/>
            <a:ext cx="262554" cy="599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274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32E8A-08AA-4414-AAFD-23532DC7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52" y="191252"/>
            <a:ext cx="1214465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Bayes Rule: Herding Experiment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6ECD109-C271-44C6-A658-22C3F2B967CA}"/>
              </a:ext>
            </a:extLst>
          </p:cNvPr>
          <p:cNvSpPr/>
          <p:nvPr/>
        </p:nvSpPr>
        <p:spPr>
          <a:xfrm>
            <a:off x="250725" y="1244793"/>
            <a:ext cx="2898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b="1" dirty="0"/>
              <a:t>Example: </a:t>
            </a:r>
            <a:r>
              <a:rPr lang="en-US" altLang="ko-KR" sz="2000" dirty="0"/>
              <a:t>Urn Experiment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3AF12B9-4EB9-4649-A061-B70630C597A1}"/>
              </a:ext>
            </a:extLst>
          </p:cNvPr>
          <p:cNvSpPr/>
          <p:nvPr/>
        </p:nvSpPr>
        <p:spPr>
          <a:xfrm>
            <a:off x="250725" y="1663327"/>
            <a:ext cx="769128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/>
              <a:t>50% chance that urn contains 2 red, 1 blue and in the other case, 1 red, 2 blue marbles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/>
              <a:t>Each Student picks one marble, and check the color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/>
              <a:t>The student predicts majority of marbles blue or red, and write the prediction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/>
              <a:t>Students can only see the predictions written by other students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FD7FC9A-150D-4C94-A3D3-B77C7E8975F6}"/>
              </a:ext>
            </a:extLst>
          </p:cNvPr>
          <p:cNvGrpSpPr/>
          <p:nvPr/>
        </p:nvGrpSpPr>
        <p:grpSpPr>
          <a:xfrm>
            <a:off x="8045173" y="1797371"/>
            <a:ext cx="3766864" cy="812827"/>
            <a:chOff x="7672311" y="2098805"/>
            <a:chExt cx="3766864" cy="8189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6427DE6A-6D22-4C9F-9B2A-6F296678B22F}"/>
                    </a:ext>
                  </a:extLst>
                </p:cNvPr>
                <p:cNvSpPr/>
                <p:nvPr/>
              </p:nvSpPr>
              <p:spPr>
                <a:xfrm>
                  <a:off x="7672311" y="2098805"/>
                  <a:ext cx="3032690" cy="4993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ko-KR" sz="1400" dirty="0"/>
                          <m:t>P</m:t>
                        </m:r>
                        <m:r>
                          <m:rPr>
                            <m:nor/>
                          </m:rPr>
                          <a:rPr lang="en-US" altLang="ko-KR" sz="1400" dirty="0"/>
                          <m:t>(</m:t>
                        </m:r>
                        <m:r>
                          <m:rPr>
                            <m:nor/>
                          </m:rPr>
                          <a:rPr lang="en-US" altLang="ko-KR" sz="1400" dirty="0"/>
                          <m:t>majority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dirty="0"/>
                          <m:t>blue</m:t>
                        </m:r>
                        <m:r>
                          <m:rPr>
                            <m:nor/>
                          </m:rPr>
                          <a:rPr lang="en-US" altLang="ko-KR" sz="1400" dirty="0"/>
                          <m:t>) = </m:t>
                        </m:r>
                        <m:r>
                          <m:rPr>
                            <m:nor/>
                          </m:rPr>
                          <a:rPr lang="en-US" altLang="ko-KR" sz="1400" dirty="0"/>
                          <m:t>P</m:t>
                        </m:r>
                        <m:r>
                          <m:rPr>
                            <m:nor/>
                          </m:rPr>
                          <a:rPr lang="en-US" altLang="ko-KR" sz="1400" dirty="0"/>
                          <m:t>(</m:t>
                        </m:r>
                        <m:r>
                          <m:rPr>
                            <m:nor/>
                          </m:rPr>
                          <a:rPr lang="en-US" altLang="ko-KR" sz="1400" dirty="0"/>
                          <m:t>majority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dirty="0"/>
                          <m:t>red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)</m:t>
                        </m:r>
                        <m:r>
                          <m:rPr>
                            <m:nor/>
                          </m:rPr>
                          <a:rPr lang="en-US" altLang="ko-KR" sz="1400" dirty="0"/>
                          <m:t> =</m:t>
                        </m:r>
                        <m:f>
                          <m:f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6427DE6A-6D22-4C9F-9B2A-6F296678B2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2311" y="2098805"/>
                  <a:ext cx="3032690" cy="499365"/>
                </a:xfrm>
                <a:prstGeom prst="rect">
                  <a:avLst/>
                </a:prstGeom>
                <a:blipFill>
                  <a:blip r:embed="rId2"/>
                  <a:stretch>
                    <a:fillRect b="-12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31B8AD35-DF01-471B-B587-715F010392CB}"/>
                    </a:ext>
                  </a:extLst>
                </p:cNvPr>
                <p:cNvSpPr/>
                <p:nvPr/>
              </p:nvSpPr>
              <p:spPr>
                <a:xfrm>
                  <a:off x="7672311" y="2416941"/>
                  <a:ext cx="3766864" cy="50078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ko-KR" sz="140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altLang="ko-KR" sz="1400" dirty="0" smtClean="0"/>
                          <m:t>(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blue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|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majority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blue</m:t>
                        </m:r>
                        <m:r>
                          <m:rPr>
                            <m:nor/>
                          </m:rPr>
                          <a:rPr lang="en-US" altLang="ko-KR" sz="1400" dirty="0" smtClean="0"/>
                          <m:t>) = </m:t>
                        </m:r>
                        <m:r>
                          <m:rPr>
                            <m:nor/>
                          </m:rPr>
                          <a:rPr lang="en-US" altLang="ko-KR" sz="140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altLang="ko-KR" sz="1400" dirty="0" smtClean="0"/>
                          <m:t>(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red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|</m:t>
                        </m:r>
                        <m:r>
                          <m:rPr>
                            <m:nor/>
                          </m:rPr>
                          <a:rPr lang="en-US" altLang="ko-KR" sz="1400" dirty="0" smtClean="0"/>
                          <m:t>majority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dirty="0" smtClean="0"/>
                          <m:t>red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)</m:t>
                        </m:r>
                        <m:r>
                          <m:rPr>
                            <m:nor/>
                          </m:rPr>
                          <a:rPr lang="en-US" altLang="ko-KR" sz="1400" dirty="0" smtClean="0"/>
                          <m:t> =</m:t>
                        </m:r>
                        <m:f>
                          <m:f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31B8AD35-DF01-471B-B587-715F010392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2311" y="2416941"/>
                  <a:ext cx="3766864" cy="500786"/>
                </a:xfrm>
                <a:prstGeom prst="rect">
                  <a:avLst/>
                </a:prstGeom>
                <a:blipFill>
                  <a:blip r:embed="rId3"/>
                  <a:stretch>
                    <a:fillRect b="-12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6EBCE07-B93E-468D-8B21-ADF8CBDE49EC}"/>
                </a:ext>
              </a:extLst>
            </p:cNvPr>
            <p:cNvSpPr/>
            <p:nvPr/>
          </p:nvSpPr>
          <p:spPr>
            <a:xfrm>
              <a:off x="7741328" y="2098806"/>
              <a:ext cx="3551068" cy="81519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C2A706E-4762-4109-BD14-FB1ED7EBB49E}"/>
              </a:ext>
            </a:extLst>
          </p:cNvPr>
          <p:cNvSpPr/>
          <p:nvPr/>
        </p:nvSpPr>
        <p:spPr>
          <a:xfrm>
            <a:off x="250725" y="3056334"/>
            <a:ext cx="22246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 dirty="0"/>
              <a:t>First student picked Blue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A7D00310-F574-442D-8DB4-464E8DC85E22}"/>
                  </a:ext>
                </a:extLst>
              </p:cNvPr>
              <p:cNvSpPr/>
              <p:nvPr/>
            </p:nvSpPr>
            <p:spPr>
              <a:xfrm>
                <a:off x="530352" y="3372123"/>
                <a:ext cx="6882653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  <m:t>𝑚𝑎𝑗𝑜𝑟𝑖𝑡</m:t>
                          </m:r>
                          <m:sSub>
                            <m:sSub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</m:sub>
                          </m:sSub>
                        </m:e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𝑏𝑙𝑢𝑒</m:t>
                          </m:r>
                        </m:e>
                      </m:d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𝑚𝑎𝑗𝑜𝑟𝑖𝑡</m:t>
                              </m:r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𝑏𝑙𝑢𝑒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</m:e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𝑚𝑎𝑗𝑜𝑟𝑖𝑡</m:t>
                              </m:r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𝑏𝑙𝑢𝑒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</m:e>
                          </m:d>
                        </m:den>
                      </m:f>
                      <m:r>
                        <m:rPr>
                          <m:nor/>
                        </m:rPr>
                        <a:rPr lang="en-US" altLang="ko-KR" b="0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ko-KR" dirty="0"/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A7D00310-F574-442D-8DB4-464E8DC85E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" y="3372123"/>
                <a:ext cx="6882653" cy="669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1FD6E158-C1AB-45EF-A669-93B58E68D1C9}"/>
                  </a:ext>
                </a:extLst>
              </p:cNvPr>
              <p:cNvSpPr/>
              <p:nvPr/>
            </p:nvSpPr>
            <p:spPr>
              <a:xfrm>
                <a:off x="2813522" y="4187729"/>
                <a:ext cx="2024807" cy="11101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 ∗</m:t>
                          </m:r>
                          <m:f>
                            <m:f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num>
                        <m:den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</m:e>
                          </m:d>
                        </m:den>
                      </m:f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1FD6E158-C1AB-45EF-A669-93B58E68D1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522" y="4187729"/>
                <a:ext cx="2024807" cy="11101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E1B4D211-E9A8-49D4-8400-07675AD7D677}"/>
                  </a:ext>
                </a:extLst>
              </p:cNvPr>
              <p:cNvSpPr/>
              <p:nvPr/>
            </p:nvSpPr>
            <p:spPr>
              <a:xfrm>
                <a:off x="300361" y="6253028"/>
                <a:ext cx="7744812" cy="4834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𝑏𝑙𝑢𝑒</m:t>
                        </m:r>
                      </m:e>
                    </m:d>
                    <m:r>
                      <a:rPr lang="en-US" altLang="ko-KR" sz="14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𝑚𝑎𝑗𝑜𝑟𝑖𝑡</m:t>
                        </m:r>
                        <m:sSub>
                          <m:sSubPr>
                            <m:ctrlP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  <m:t>𝑏𝑙𝑢𝑒</m:t>
                            </m:r>
                          </m:sub>
                        </m:sSub>
                      </m:e>
                    </m:d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𝑏𝑙𝑢𝑒</m:t>
                        </m:r>
                      </m:e>
                      <m:e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𝑚𝑎𝑗𝑜𝑟𝑖𝑡</m:t>
                        </m:r>
                        <m:sSub>
                          <m:sSubPr>
                            <m:ctrlP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  <m:t>𝑏𝑙𝑢𝑒</m:t>
                            </m:r>
                          </m:sub>
                        </m:sSub>
                      </m:e>
                    </m:d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𝑚𝑎𝑗𝑜𝑟𝑖𝑡</m:t>
                        </m:r>
                        <m:sSub>
                          <m:sSubPr>
                            <m:ctrlP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  <m:t>𝑟𝑒𝑑</m:t>
                            </m:r>
                          </m:sub>
                        </m:sSub>
                      </m:e>
                    </m:d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𝑏𝑙𝑢𝑒</m:t>
                        </m:r>
                      </m:e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𝑚𝑎𝑗𝑜𝑟𝑖𝑡</m:t>
                        </m:r>
                        <m:sSub>
                          <m:sSubPr>
                            <m:ctrlP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  <m:t>𝑟𝑒𝑑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/>
                  <a:t>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E1B4D211-E9A8-49D4-8400-07675AD7D6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61" y="6253028"/>
                <a:ext cx="7744812" cy="483466"/>
              </a:xfrm>
              <a:prstGeom prst="rect">
                <a:avLst/>
              </a:prstGeom>
              <a:blipFill>
                <a:blip r:embed="rId6"/>
                <a:stretch>
                  <a:fillRect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13E1FA23-79E9-4EA1-94AA-BE16CCD8D518}"/>
                  </a:ext>
                </a:extLst>
              </p:cNvPr>
              <p:cNvSpPr/>
              <p:nvPr/>
            </p:nvSpPr>
            <p:spPr>
              <a:xfrm>
                <a:off x="5017111" y="4488129"/>
                <a:ext cx="29249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dirty="0"/>
                  <a:t> First student will write blue</a:t>
                </a: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13E1FA23-79E9-4EA1-94AA-BE16CCD8D5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111" y="4488129"/>
                <a:ext cx="2924903" cy="369332"/>
              </a:xfrm>
              <a:prstGeom prst="rect">
                <a:avLst/>
              </a:prstGeom>
              <a:blipFill>
                <a:blip r:embed="rId7"/>
                <a:stretch>
                  <a:fillRect t="-8197" r="-125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8668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32E8A-08AA-4414-AAFD-23532DC7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52" y="191252"/>
            <a:ext cx="1214465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Bayes Rule: Herding Experiment- continued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6ECD109-C271-44C6-A658-22C3F2B967CA}"/>
              </a:ext>
            </a:extLst>
          </p:cNvPr>
          <p:cNvSpPr/>
          <p:nvPr/>
        </p:nvSpPr>
        <p:spPr>
          <a:xfrm>
            <a:off x="250725" y="1244793"/>
            <a:ext cx="2898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b="1" dirty="0"/>
              <a:t>Example: </a:t>
            </a:r>
            <a:r>
              <a:rPr lang="en-US" altLang="ko-KR" sz="2000" dirty="0"/>
              <a:t>Urn Experiment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3AF12B9-4EB9-4649-A061-B70630C597A1}"/>
              </a:ext>
            </a:extLst>
          </p:cNvPr>
          <p:cNvSpPr/>
          <p:nvPr/>
        </p:nvSpPr>
        <p:spPr>
          <a:xfrm>
            <a:off x="250725" y="1663327"/>
            <a:ext cx="769128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/>
              <a:t>50% chance that urn contains 2 red, 1 blue and in the other case, 1 red, 2 blue marbles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/>
              <a:t>Each Student picks one marble, and check the color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/>
              <a:t>The student predicts majority of marbles blue or red, and write the prediction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/>
              <a:t>Students can only see the predictions written by other students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FD7FC9A-150D-4C94-A3D3-B77C7E8975F6}"/>
              </a:ext>
            </a:extLst>
          </p:cNvPr>
          <p:cNvGrpSpPr/>
          <p:nvPr/>
        </p:nvGrpSpPr>
        <p:grpSpPr>
          <a:xfrm>
            <a:off x="8045173" y="1797371"/>
            <a:ext cx="3766864" cy="812827"/>
            <a:chOff x="7672311" y="2098805"/>
            <a:chExt cx="3766864" cy="8189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6427DE6A-6D22-4C9F-9B2A-6F296678B22F}"/>
                    </a:ext>
                  </a:extLst>
                </p:cNvPr>
                <p:cNvSpPr/>
                <p:nvPr/>
              </p:nvSpPr>
              <p:spPr>
                <a:xfrm>
                  <a:off x="7672311" y="2098805"/>
                  <a:ext cx="3032690" cy="4993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ko-KR" sz="1400" dirty="0"/>
                          <m:t>P</m:t>
                        </m:r>
                        <m:r>
                          <m:rPr>
                            <m:nor/>
                          </m:rPr>
                          <a:rPr lang="en-US" altLang="ko-KR" sz="1400" dirty="0"/>
                          <m:t>(</m:t>
                        </m:r>
                        <m:r>
                          <m:rPr>
                            <m:nor/>
                          </m:rPr>
                          <a:rPr lang="en-US" altLang="ko-KR" sz="1400" dirty="0"/>
                          <m:t>majority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dirty="0"/>
                          <m:t>blue</m:t>
                        </m:r>
                        <m:r>
                          <m:rPr>
                            <m:nor/>
                          </m:rPr>
                          <a:rPr lang="en-US" altLang="ko-KR" sz="1400" dirty="0"/>
                          <m:t>) = </m:t>
                        </m:r>
                        <m:r>
                          <m:rPr>
                            <m:nor/>
                          </m:rPr>
                          <a:rPr lang="en-US" altLang="ko-KR" sz="1400" dirty="0"/>
                          <m:t>P</m:t>
                        </m:r>
                        <m:r>
                          <m:rPr>
                            <m:nor/>
                          </m:rPr>
                          <a:rPr lang="en-US" altLang="ko-KR" sz="1400" dirty="0"/>
                          <m:t>(</m:t>
                        </m:r>
                        <m:r>
                          <m:rPr>
                            <m:nor/>
                          </m:rPr>
                          <a:rPr lang="en-US" altLang="ko-KR" sz="1400" dirty="0"/>
                          <m:t>majority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dirty="0"/>
                          <m:t>red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)</m:t>
                        </m:r>
                        <m:r>
                          <m:rPr>
                            <m:nor/>
                          </m:rPr>
                          <a:rPr lang="en-US" altLang="ko-KR" sz="1400" dirty="0"/>
                          <m:t> =</m:t>
                        </m:r>
                        <m:f>
                          <m:f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6427DE6A-6D22-4C9F-9B2A-6F296678B2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2311" y="2098805"/>
                  <a:ext cx="3032690" cy="499365"/>
                </a:xfrm>
                <a:prstGeom prst="rect">
                  <a:avLst/>
                </a:prstGeom>
                <a:blipFill>
                  <a:blip r:embed="rId2"/>
                  <a:stretch>
                    <a:fillRect b="-12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31B8AD35-DF01-471B-B587-715F010392CB}"/>
                    </a:ext>
                  </a:extLst>
                </p:cNvPr>
                <p:cNvSpPr/>
                <p:nvPr/>
              </p:nvSpPr>
              <p:spPr>
                <a:xfrm>
                  <a:off x="7672311" y="2416941"/>
                  <a:ext cx="3766864" cy="50078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ko-KR" sz="140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altLang="ko-KR" sz="1400" dirty="0" smtClean="0"/>
                          <m:t>(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blue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|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majority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blue</m:t>
                        </m:r>
                        <m:r>
                          <m:rPr>
                            <m:nor/>
                          </m:rPr>
                          <a:rPr lang="en-US" altLang="ko-KR" sz="1400" dirty="0" smtClean="0"/>
                          <m:t>) = </m:t>
                        </m:r>
                        <m:r>
                          <m:rPr>
                            <m:nor/>
                          </m:rPr>
                          <a:rPr lang="en-US" altLang="ko-KR" sz="140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altLang="ko-KR" sz="1400" dirty="0" smtClean="0"/>
                          <m:t>(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red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|</m:t>
                        </m:r>
                        <m:r>
                          <m:rPr>
                            <m:nor/>
                          </m:rPr>
                          <a:rPr lang="en-US" altLang="ko-KR" sz="1400" dirty="0" smtClean="0"/>
                          <m:t>majority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dirty="0" smtClean="0"/>
                          <m:t>red</m:t>
                        </m:r>
                        <m:r>
                          <m:rPr>
                            <m:nor/>
                          </m:rPr>
                          <a:rPr lang="en-US" altLang="ko-KR" sz="1400" b="0" i="0" dirty="0" smtClean="0"/>
                          <m:t>)</m:t>
                        </m:r>
                        <m:r>
                          <m:rPr>
                            <m:nor/>
                          </m:rPr>
                          <a:rPr lang="en-US" altLang="ko-KR" sz="1400" dirty="0" smtClean="0"/>
                          <m:t> =</m:t>
                        </m:r>
                        <m:f>
                          <m:f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31B8AD35-DF01-471B-B587-715F010392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2311" y="2416941"/>
                  <a:ext cx="3766864" cy="500786"/>
                </a:xfrm>
                <a:prstGeom prst="rect">
                  <a:avLst/>
                </a:prstGeom>
                <a:blipFill>
                  <a:blip r:embed="rId3"/>
                  <a:stretch>
                    <a:fillRect b="-12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6EBCE07-B93E-468D-8B21-ADF8CBDE49EC}"/>
                </a:ext>
              </a:extLst>
            </p:cNvPr>
            <p:cNvSpPr/>
            <p:nvPr/>
          </p:nvSpPr>
          <p:spPr>
            <a:xfrm>
              <a:off x="7741328" y="2098806"/>
              <a:ext cx="3551068" cy="81519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C2A706E-4762-4109-BD14-FB1ED7EBB49E}"/>
              </a:ext>
            </a:extLst>
          </p:cNvPr>
          <p:cNvSpPr/>
          <p:nvPr/>
        </p:nvSpPr>
        <p:spPr>
          <a:xfrm>
            <a:off x="386351" y="2986422"/>
            <a:ext cx="48543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 dirty="0"/>
              <a:t>Second student wrote blue and Third student picked Red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A7D00310-F574-442D-8DB4-464E8DC85E22}"/>
                  </a:ext>
                </a:extLst>
              </p:cNvPr>
              <p:cNvSpPr/>
              <p:nvPr/>
            </p:nvSpPr>
            <p:spPr>
              <a:xfrm>
                <a:off x="530352" y="3372123"/>
                <a:ext cx="8853449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  <m:t>𝑚𝑎𝑗𝑜𝑟𝑖𝑡</m:t>
                          </m:r>
                          <m:sSub>
                            <m:sSub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</m:sub>
                          </m:sSub>
                        </m:e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</m:e>
                      </m:d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𝑚𝑎𝑗𝑜𝑟𝑖𝑡</m:t>
                              </m:r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𝑏𝑙𝑢𝑒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𝑟𝑒𝑑</m:t>
                              </m:r>
                            </m:e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𝑚𝑎𝑗𝑜𝑟𝑖𝑡</m:t>
                              </m:r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𝑏𝑙𝑢𝑒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𝑟𝑒𝑑</m:t>
                              </m:r>
                            </m:e>
                          </m:d>
                        </m:den>
                      </m:f>
                      <m:r>
                        <m:rPr>
                          <m:nor/>
                        </m:rPr>
                        <a:rPr lang="en-US" altLang="ko-KR" b="0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ko-KR" dirty="0"/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A7D00310-F574-442D-8DB4-464E8DC85E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" y="3372123"/>
                <a:ext cx="8853449" cy="669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1FD6E158-C1AB-45EF-A669-93B58E68D1C9}"/>
                  </a:ext>
                </a:extLst>
              </p:cNvPr>
              <p:cNvSpPr/>
              <p:nvPr/>
            </p:nvSpPr>
            <p:spPr>
              <a:xfrm>
                <a:off x="2813522" y="4187729"/>
                <a:ext cx="3374214" cy="11091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 ∗</m:t>
                          </m:r>
                          <m:f>
                            <m:f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</m:den>
                          </m:f>
                        </m:num>
                        <m:den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𝑟𝑒𝑑</m:t>
                              </m:r>
                            </m:e>
                          </m:d>
                        </m:den>
                      </m:f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1FD6E158-C1AB-45EF-A669-93B58E68D1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522" y="4187729"/>
                <a:ext cx="3374214" cy="11091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E1B4D211-E9A8-49D4-8400-07675AD7D677}"/>
                  </a:ext>
                </a:extLst>
              </p:cNvPr>
              <p:cNvSpPr/>
              <p:nvPr/>
            </p:nvSpPr>
            <p:spPr>
              <a:xfrm>
                <a:off x="300361" y="6253028"/>
                <a:ext cx="10814884" cy="4857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𝑏𝑙𝑢𝑒</m:t>
                        </m:r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𝑏𝑙𝑢𝑒</m:t>
                        </m:r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𝑟𝑒𝑑</m:t>
                        </m:r>
                      </m:e>
                    </m:d>
                    <m:r>
                      <a:rPr lang="en-US" altLang="ko-KR" sz="14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𝑚𝑎𝑗𝑜𝑟𝑖𝑡</m:t>
                        </m:r>
                        <m:sSub>
                          <m:sSubPr>
                            <m:ctrlP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  <m:t>𝑏𝑙𝑢𝑒</m:t>
                            </m:r>
                          </m:sub>
                        </m:sSub>
                      </m:e>
                    </m:d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𝑏𝑙𝑢𝑒</m:t>
                        </m:r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𝑏𝑙𝑢𝑒</m:t>
                        </m:r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𝑟𝑒𝑑</m:t>
                        </m:r>
                      </m:e>
                      <m:e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𝑚𝑎𝑗𝑜𝑟𝑖𝑡</m:t>
                        </m:r>
                        <m:sSub>
                          <m:sSubPr>
                            <m:ctrlP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  <m:t>𝑏𝑙𝑢𝑒</m:t>
                            </m:r>
                          </m:sub>
                        </m:sSub>
                      </m:e>
                    </m:d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𝑚𝑎𝑗𝑜𝑟𝑖𝑡</m:t>
                        </m:r>
                        <m:sSub>
                          <m:sSubPr>
                            <m:ctrlP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  <m:t>𝑟𝑒𝑑</m:t>
                            </m:r>
                          </m:sub>
                        </m:sSub>
                      </m:e>
                    </m:d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𝑏𝑙𝑢𝑒</m:t>
                        </m:r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𝑏𝑙𝑢𝑒</m:t>
                        </m:r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𝑟𝑒𝑑</m:t>
                        </m:r>
                      </m:e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𝑚𝑎𝑗𝑜𝑟𝑖𝑡</m:t>
                        </m:r>
                        <m:sSub>
                          <m:sSubPr>
                            <m:ctrlP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  <m:t>𝑟𝑒𝑑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/>
                  <a:t>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E1B4D211-E9A8-49D4-8400-07675AD7D6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61" y="6253028"/>
                <a:ext cx="10814884" cy="485774"/>
              </a:xfrm>
              <a:prstGeom prst="rect">
                <a:avLst/>
              </a:prstGeom>
              <a:blipFill>
                <a:blip r:embed="rId6"/>
                <a:stretch>
                  <a:fillRect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13E1FA23-79E9-4EA1-94AA-BE16CCD8D518}"/>
                  </a:ext>
                </a:extLst>
              </p:cNvPr>
              <p:cNvSpPr/>
              <p:nvPr/>
            </p:nvSpPr>
            <p:spPr>
              <a:xfrm>
                <a:off x="6964821" y="4488129"/>
                <a:ext cx="437254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Third student will write blue even though 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     he picked red</a:t>
                </a: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13E1FA23-79E9-4EA1-94AA-BE16CCD8D5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821" y="4488129"/>
                <a:ext cx="4372544" cy="646331"/>
              </a:xfrm>
              <a:prstGeom prst="rect">
                <a:avLst/>
              </a:prstGeom>
              <a:blipFill>
                <a:blip r:embed="rId7"/>
                <a:stretch>
                  <a:fillRect t="-4717" r="-279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5401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32E8A-08AA-4414-AAFD-23532DC7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52" y="191252"/>
            <a:ext cx="1214465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Bayes Rule: Herding Experiment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6ECD109-C271-44C6-A658-22C3F2B967CA}"/>
              </a:ext>
            </a:extLst>
          </p:cNvPr>
          <p:cNvSpPr/>
          <p:nvPr/>
        </p:nvSpPr>
        <p:spPr>
          <a:xfrm>
            <a:off x="1197820" y="1244793"/>
            <a:ext cx="2898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b="1" dirty="0"/>
              <a:t>Example: </a:t>
            </a:r>
            <a:r>
              <a:rPr lang="en-US" altLang="ko-KR" sz="2000" dirty="0"/>
              <a:t>Urn Experiment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983A2AD-D87A-46B8-81A6-A588352D56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034" t="39962" r="7015" b="16505"/>
          <a:stretch/>
        </p:blipFill>
        <p:spPr>
          <a:xfrm>
            <a:off x="2299316" y="1983162"/>
            <a:ext cx="6684886" cy="468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045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32E8A-08AA-4414-AAFD-23532DC7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52" y="191252"/>
            <a:ext cx="1214465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General Cascade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BDE637E0-FBA4-40CF-B995-53F9C4B5BB8C}"/>
                  </a:ext>
                </a:extLst>
              </p:cNvPr>
              <p:cNvSpPr/>
              <p:nvPr/>
            </p:nvSpPr>
            <p:spPr>
              <a:xfrm>
                <a:off x="124432" y="1921475"/>
                <a:ext cx="7691289" cy="20853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World is randomly placed into one of two possible states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For the two options, G is a good one, B is a bad idea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Each individuals can make choices G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P(G) =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sz="1600" dirty="0"/>
                  <a:t> , P(B)= 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ko-KR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Payoff obtained from two choices are respectively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(&gt;0)</m:t>
                    </m:r>
                  </m:oMath>
                </a14:m>
                <a:r>
                  <a:rPr lang="en-US" altLang="ko-KR" sz="1400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(&lt;0)</m:t>
                    </m:r>
                  </m:oMath>
                </a14:m>
                <a:endParaRPr lang="en-US" altLang="ko-KR" sz="14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Each individuals get </a:t>
                </a:r>
                <a:r>
                  <a:rPr lang="en-US" altLang="ko-KR" sz="1600" b="1" dirty="0"/>
                  <a:t>private</a:t>
                </a:r>
                <a:r>
                  <a:rPr lang="en-US" altLang="ko-KR" sz="1600" dirty="0"/>
                  <a:t> </a:t>
                </a:r>
                <a:r>
                  <a:rPr lang="en-US" altLang="ko-KR" sz="1600" b="1" dirty="0"/>
                  <a:t>signals </a:t>
                </a:r>
                <a:r>
                  <a:rPr lang="en-US" altLang="ko-KR" sz="1600" dirty="0"/>
                  <a:t>before making decisions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 High signal  (H) suggests that </a:t>
                </a:r>
                <a:r>
                  <a:rPr lang="en-US" altLang="ko-KR" sz="1600" b="1" dirty="0"/>
                  <a:t>accepting is a good</a:t>
                </a:r>
                <a:r>
                  <a:rPr lang="en-US" altLang="ko-KR" sz="1600" dirty="0"/>
                  <a:t> idea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Low signal (L) suggests that </a:t>
                </a:r>
                <a:r>
                  <a:rPr lang="en-US" altLang="ko-KR" sz="1600" b="1" dirty="0"/>
                  <a:t>accepting is a bad</a:t>
                </a:r>
                <a:r>
                  <a:rPr lang="en-US" altLang="ko-KR" sz="1600" dirty="0"/>
                  <a:t> idea</a:t>
                </a:r>
              </a:p>
            </p:txBody>
          </p:sp>
        </mc:Choice>
        <mc:Fallback xmlns="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BDE637E0-FBA4-40CF-B995-53F9C4B5BB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32" y="1921475"/>
                <a:ext cx="7691289" cy="2085314"/>
              </a:xfrm>
              <a:prstGeom prst="rect">
                <a:avLst/>
              </a:prstGeom>
              <a:blipFill>
                <a:blip r:embed="rId2"/>
                <a:stretch>
                  <a:fillRect l="-317" t="-877" b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7B63C9A5-F6D4-469D-A6EE-6961E6D74412}"/>
              </a:ext>
            </a:extLst>
          </p:cNvPr>
          <p:cNvSpPr/>
          <p:nvPr/>
        </p:nvSpPr>
        <p:spPr>
          <a:xfrm>
            <a:off x="204869" y="1516815"/>
            <a:ext cx="14405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Assumption: </a:t>
            </a:r>
            <a:endParaRPr lang="en-US" b="1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E86408F-C076-4BBD-AA3C-BAE5BB8C3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657528"/>
              </p:ext>
            </p:extLst>
          </p:nvPr>
        </p:nvGraphicFramePr>
        <p:xfrm>
          <a:off x="204869" y="4093154"/>
          <a:ext cx="3658638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321097582"/>
                    </a:ext>
                  </a:extLst>
                </a:gridCol>
                <a:gridCol w="461639">
                  <a:extLst>
                    <a:ext uri="{9D8B030D-6E8A-4147-A177-3AD203B41FA5}">
                      <a16:colId xmlns:a16="http://schemas.microsoft.com/office/drawing/2014/main" val="1834400085"/>
                    </a:ext>
                  </a:extLst>
                </a:gridCol>
                <a:gridCol w="1065321">
                  <a:extLst>
                    <a:ext uri="{9D8B030D-6E8A-4147-A177-3AD203B41FA5}">
                      <a16:colId xmlns:a16="http://schemas.microsoft.com/office/drawing/2014/main" val="523293520"/>
                    </a:ext>
                  </a:extLst>
                </a:gridCol>
                <a:gridCol w="1217278">
                  <a:extLst>
                    <a:ext uri="{9D8B030D-6E8A-4147-A177-3AD203B41FA5}">
                      <a16:colId xmlns:a16="http://schemas.microsoft.com/office/drawing/2014/main" val="627923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States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607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04759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Signals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1-q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962754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1-q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q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20240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63C02059-D86C-44C0-BB7D-3300B25ECE5C}"/>
              </a:ext>
            </a:extLst>
          </p:cNvPr>
          <p:cNvSpPr/>
          <p:nvPr/>
        </p:nvSpPr>
        <p:spPr>
          <a:xfrm>
            <a:off x="7053814" y="1147483"/>
            <a:ext cx="2060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Individual decisions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7D17A77A-3D07-4029-9A11-DA0E9736FAA2}"/>
                  </a:ext>
                </a:extLst>
              </p:cNvPr>
              <p:cNvSpPr/>
              <p:nvPr/>
            </p:nvSpPr>
            <p:spPr>
              <a:xfrm>
                <a:off x="6294760" y="1701481"/>
                <a:ext cx="5458930" cy="6790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𝑞𝑝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𝑞𝑝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+(1−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)(1−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7D17A77A-3D07-4029-9A11-DA0E9736FA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760" y="1701481"/>
                <a:ext cx="5458930" cy="6790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24703C30-0D37-4B5E-B207-865EB2828644}"/>
                  </a:ext>
                </a:extLst>
              </p:cNvPr>
              <p:cNvSpPr/>
              <p:nvPr/>
            </p:nvSpPr>
            <p:spPr>
              <a:xfrm>
                <a:off x="6294760" y="2737695"/>
                <a:ext cx="5870390" cy="6790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)(1−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𝑞𝑝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+(1−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)(1−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&lt;1−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24703C30-0D37-4B5E-B207-865EB28286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760" y="2737695"/>
                <a:ext cx="5870390" cy="6790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F41745-C9E6-4EEB-93F3-419CF10CE812}"/>
              </a:ext>
            </a:extLst>
          </p:cNvPr>
          <p:cNvSpPr/>
          <p:nvPr/>
        </p:nvSpPr>
        <p:spPr>
          <a:xfrm>
            <a:off x="6208743" y="3676602"/>
            <a:ext cx="62784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Individuals are more likely to accept, if received high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Individuals are more likely to reject if received low signal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06123E6-36FB-40D8-9261-BFE1473E1ECF}"/>
              </a:ext>
            </a:extLst>
          </p:cNvPr>
          <p:cNvSpPr/>
          <p:nvPr/>
        </p:nvSpPr>
        <p:spPr>
          <a:xfrm>
            <a:off x="2065892" y="5878005"/>
            <a:ext cx="87177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People are prone to the private signals </a:t>
            </a:r>
            <a:r>
              <a:rPr lang="en-US" sz="2000" b="1" dirty="0">
                <a:sym typeface="Wingdings" panose="05000000000000000000" pitchFamily="2" charset="2"/>
              </a:rPr>
              <a:t> scientific explanation of herding effect</a:t>
            </a:r>
          </a:p>
        </p:txBody>
      </p:sp>
    </p:spTree>
    <p:extLst>
      <p:ext uri="{BB962C8B-B14F-4D97-AF65-F5344CB8AC3E}">
        <p14:creationId xmlns:p14="http://schemas.microsoft.com/office/powerpoint/2010/main" val="142691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32E8A-08AA-4414-AAFD-23532DC7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52" y="191252"/>
            <a:ext cx="1214465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Sequential Decision Making and Cascades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755A03-AB67-47E2-B862-428684451D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457" t="32857" r="10441" b="36733"/>
          <a:stretch/>
        </p:blipFill>
        <p:spPr>
          <a:xfrm>
            <a:off x="1778592" y="1290914"/>
            <a:ext cx="7775311" cy="4276172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B858FB4A-0D84-4FB1-9BBF-C377835BF33B}"/>
              </a:ext>
            </a:extLst>
          </p:cNvPr>
          <p:cNvSpPr/>
          <p:nvPr/>
        </p:nvSpPr>
        <p:spPr>
          <a:xfrm>
            <a:off x="1094375" y="5941067"/>
            <a:ext cx="1124020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Cascade begins when the difference between the number of acceptances and rejections reaches two</a:t>
            </a:r>
            <a:endParaRPr lang="en-US" sz="2000" b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11811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32E8A-08AA-4414-AAFD-23532DC7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52" y="191252"/>
            <a:ext cx="1214465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Lessons from Cascades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653ABD4-0E95-4819-9192-044CF1239216}"/>
              </a:ext>
            </a:extLst>
          </p:cNvPr>
          <p:cNvSpPr/>
          <p:nvPr/>
        </p:nvSpPr>
        <p:spPr>
          <a:xfrm>
            <a:off x="250725" y="1663327"/>
            <a:ext cx="769128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b="1" dirty="0"/>
              <a:t>Cascades can be wrong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b="1" dirty="0"/>
              <a:t>Cascades can be based on very little information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b="1" dirty="0"/>
              <a:t>Cascades are fragile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02331D-A41F-40F5-9015-B2C15638008E}"/>
              </a:ext>
            </a:extLst>
          </p:cNvPr>
          <p:cNvSpPr txBox="1"/>
          <p:nvPr/>
        </p:nvSpPr>
        <p:spPr>
          <a:xfrm>
            <a:off x="1067629" y="1974223"/>
            <a:ext cx="54886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first two people happen to get high signals, a cascade of acceptances will start immediately, even though it is the wrong choice for the population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EF734-63E3-4510-966D-AA6EF55D875D}"/>
              </a:ext>
            </a:extLst>
          </p:cNvPr>
          <p:cNvSpPr txBox="1"/>
          <p:nvPr/>
        </p:nvSpPr>
        <p:spPr>
          <a:xfrm>
            <a:off x="1067629" y="3388435"/>
            <a:ext cx="51320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People ignore their private information once a cascade starts, thus only the pre-cascade information influences the behavior of the population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48A4DE-3820-40CE-B76E-569A52D27C9D}"/>
              </a:ext>
            </a:extLst>
          </p:cNvPr>
          <p:cNvSpPr txBox="1"/>
          <p:nvPr/>
        </p:nvSpPr>
        <p:spPr>
          <a:xfrm>
            <a:off x="1067629" y="4802647"/>
            <a:ext cx="5132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Cascades can start easily, but also </a:t>
            </a:r>
            <a:r>
              <a:rPr lang="en-US"/>
              <a:t>end easily.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104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E60F558-2A47-49C0-9D66-EB452AEEE5CE}"/>
              </a:ext>
            </a:extLst>
          </p:cNvPr>
          <p:cNvSpPr txBox="1">
            <a:spLocks/>
          </p:cNvSpPr>
          <p:nvPr/>
        </p:nvSpPr>
        <p:spPr>
          <a:xfrm>
            <a:off x="4107612" y="2513521"/>
            <a:ext cx="43269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Network Effects</a:t>
            </a:r>
          </a:p>
        </p:txBody>
      </p:sp>
    </p:spTree>
    <p:extLst>
      <p:ext uri="{BB962C8B-B14F-4D97-AF65-F5344CB8AC3E}">
        <p14:creationId xmlns:p14="http://schemas.microsoft.com/office/powerpoint/2010/main" val="2943293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32E8A-08AA-4414-AAFD-23532DC7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52" y="191252"/>
            <a:ext cx="1214465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Network Effect as Externalities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E8F1F9E-B1C1-4354-A1AA-BD554D51D8DA}"/>
              </a:ext>
            </a:extLst>
          </p:cNvPr>
          <p:cNvSpPr/>
          <p:nvPr/>
        </p:nvSpPr>
        <p:spPr>
          <a:xfrm>
            <a:off x="0" y="1555403"/>
            <a:ext cx="23470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/>
              <a:t>Externality</a:t>
            </a:r>
            <a:endParaRPr lang="en-US" altLang="ko-KR" sz="2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F715F81-7E69-44B8-BB9E-D6B1454321F1}"/>
              </a:ext>
            </a:extLst>
          </p:cNvPr>
          <p:cNvSpPr/>
          <p:nvPr/>
        </p:nvSpPr>
        <p:spPr>
          <a:xfrm>
            <a:off x="724224" y="2221025"/>
            <a:ext cx="77628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Situation where the welfare of an individual is affected by the actions of other individuals, without mutually agreed upon </a:t>
            </a:r>
            <a:r>
              <a:rPr lang="en-US" b="1" dirty="0"/>
              <a:t>compensation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2667415-C1FB-48AE-8464-35B56B5F79B4}"/>
              </a:ext>
            </a:extLst>
          </p:cNvPr>
          <p:cNvSpPr/>
          <p:nvPr/>
        </p:nvSpPr>
        <p:spPr>
          <a:xfrm>
            <a:off x="779168" y="3091811"/>
            <a:ext cx="967144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example)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When someone joins SNS, they have increased existing user’s welfare (positive)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When someone uses the same road, traffic becomes more congested (negative)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When someone buys a diet coke (X)  </a:t>
            </a:r>
            <a:r>
              <a:rPr lang="en-US" sz="1600" dirty="0">
                <a:sym typeface="Wingdings" panose="05000000000000000000" pitchFamily="2" charset="2"/>
              </a:rPr>
              <a:t> compensated with a payment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63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32E8A-08AA-4414-AAFD-23532DC7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52" y="191252"/>
            <a:ext cx="1214465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Economy with/without Network Effect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E8F1F9E-B1C1-4354-A1AA-BD554D51D8DA}"/>
              </a:ext>
            </a:extLst>
          </p:cNvPr>
          <p:cNvSpPr/>
          <p:nvPr/>
        </p:nvSpPr>
        <p:spPr>
          <a:xfrm>
            <a:off x="1053357" y="1347504"/>
            <a:ext cx="338547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Economy without </a:t>
            </a:r>
          </a:p>
          <a:p>
            <a:pPr algn="ctr"/>
            <a:r>
              <a:rPr lang="en-US" altLang="ko-KR" sz="2000" b="1" dirty="0"/>
              <a:t>Network effect</a:t>
            </a:r>
            <a:endParaRPr lang="en-US" altLang="ko-KR" sz="20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42D7877-FEE1-44EF-80DB-26CF10EBD3B6}"/>
              </a:ext>
            </a:extLst>
          </p:cNvPr>
          <p:cNvSpPr/>
          <p:nvPr/>
        </p:nvSpPr>
        <p:spPr>
          <a:xfrm>
            <a:off x="7137698" y="1347504"/>
            <a:ext cx="338547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Economy with</a:t>
            </a:r>
          </a:p>
          <a:p>
            <a:pPr algn="ctr"/>
            <a:r>
              <a:rPr lang="en-US" altLang="ko-KR" sz="2000" b="1" dirty="0"/>
              <a:t>Network effect</a:t>
            </a:r>
            <a:endParaRPr lang="en-US" altLang="ko-KR" sz="20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816072-2473-4AE2-A926-8082E3F87C02}"/>
              </a:ext>
            </a:extLst>
          </p:cNvPr>
          <p:cNvSpPr/>
          <p:nvPr/>
        </p:nvSpPr>
        <p:spPr>
          <a:xfrm>
            <a:off x="195306" y="2174651"/>
            <a:ext cx="590069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Customer’s willingness to pay and the price is</a:t>
            </a:r>
          </a:p>
          <a:p>
            <a:pPr algn="just"/>
            <a:r>
              <a:rPr lang="en-US" dirty="0"/>
              <a:t>Determined by the customer’s intrinsic interest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Each customer is specified by a single </a:t>
            </a:r>
          </a:p>
          <a:p>
            <a:pPr algn="just"/>
            <a:r>
              <a:rPr lang="en-US" b="1" dirty="0"/>
              <a:t>reservation price r(x)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2B71477-2B85-4EA0-8F57-3A8BE6520C61}"/>
              </a:ext>
            </a:extLst>
          </p:cNvPr>
          <p:cNvSpPr/>
          <p:nvPr/>
        </p:nvSpPr>
        <p:spPr>
          <a:xfrm>
            <a:off x="6566958" y="1981421"/>
            <a:ext cx="5272945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Customer’s willingness to pay and the price is</a:t>
            </a:r>
          </a:p>
          <a:p>
            <a:pPr algn="just"/>
            <a:r>
              <a:rPr lang="en-US" dirty="0"/>
              <a:t>Determined by the customer’s intrinsic interest</a:t>
            </a:r>
          </a:p>
          <a:p>
            <a:pPr algn="ctr"/>
            <a:r>
              <a:rPr lang="en-US" sz="3200" b="1" dirty="0"/>
              <a:t>+</a:t>
            </a:r>
            <a:endParaRPr lang="en-US" b="1" dirty="0"/>
          </a:p>
          <a:p>
            <a:pPr algn="just"/>
            <a:r>
              <a:rPr lang="en-US" dirty="0"/>
              <a:t>The number if other people using the good</a:t>
            </a:r>
          </a:p>
          <a:p>
            <a:pPr algn="just"/>
            <a:r>
              <a:rPr lang="en-US" dirty="0"/>
              <a:t>(Larger the user population, the more willing to pay)</a:t>
            </a:r>
          </a:p>
          <a:p>
            <a:pPr algn="just"/>
            <a:r>
              <a:rPr lang="en-US" b="1" dirty="0"/>
              <a:t>Population using the good f(z)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22EF98-01D5-4F48-BB2F-0687438515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129" t="45747" r="10259" b="25058"/>
          <a:stretch/>
        </p:blipFill>
        <p:spPr>
          <a:xfrm>
            <a:off x="6566958" y="4124804"/>
            <a:ext cx="4928360" cy="27331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2779E94-BEA6-4D99-9877-9D928B9DFD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943" t="51716" r="10518" b="14267"/>
          <a:stretch/>
        </p:blipFill>
        <p:spPr>
          <a:xfrm>
            <a:off x="152935" y="3678612"/>
            <a:ext cx="4690499" cy="3038525"/>
          </a:xfrm>
          <a:prstGeom prst="rect">
            <a:avLst/>
          </a:prstGeom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736E0CAD-FB86-422A-845A-40CBD52469D8}"/>
              </a:ext>
            </a:extLst>
          </p:cNvPr>
          <p:cNvSpPr/>
          <p:nvPr/>
        </p:nvSpPr>
        <p:spPr>
          <a:xfrm>
            <a:off x="1855433" y="5015883"/>
            <a:ext cx="417250" cy="36398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22BA58F-103A-4044-B07C-0C16088D63FC}"/>
              </a:ext>
            </a:extLst>
          </p:cNvPr>
          <p:cNvSpPr/>
          <p:nvPr/>
        </p:nvSpPr>
        <p:spPr>
          <a:xfrm>
            <a:off x="7261934" y="5619565"/>
            <a:ext cx="417250" cy="36398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E539CF1-0634-4607-A9AD-EDD366F474E7}"/>
              </a:ext>
            </a:extLst>
          </p:cNvPr>
          <p:cNvSpPr/>
          <p:nvPr/>
        </p:nvSpPr>
        <p:spPr>
          <a:xfrm>
            <a:off x="9472474" y="5646198"/>
            <a:ext cx="417250" cy="36398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9AC88C7-6781-49D0-BBE8-F203105E1D36}"/>
              </a:ext>
            </a:extLst>
          </p:cNvPr>
          <p:cNvCxnSpPr>
            <a:stCxn id="10" idx="7"/>
          </p:cNvCxnSpPr>
          <p:nvPr/>
        </p:nvCxnSpPr>
        <p:spPr>
          <a:xfrm flipV="1">
            <a:off x="2211578" y="4367814"/>
            <a:ext cx="1818884" cy="70137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3E19395-EA8A-4951-BAFD-81C1B88B349F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725438" y="4463297"/>
            <a:ext cx="2597601" cy="120957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746514E-59DB-49EF-9386-1E72CBEA4F74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178199" y="4367814"/>
            <a:ext cx="4355380" cy="13316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6214C6B-306C-4633-A3DF-D157B715B065}"/>
              </a:ext>
            </a:extLst>
          </p:cNvPr>
          <p:cNvSpPr/>
          <p:nvPr/>
        </p:nvSpPr>
        <p:spPr>
          <a:xfrm>
            <a:off x="3948109" y="4182172"/>
            <a:ext cx="123009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Equilibrium</a:t>
            </a:r>
            <a:endParaRPr lang="en-US" altLang="ko-KR" sz="14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02C9844-D498-4C6D-9556-F1DF8E115D1D}"/>
              </a:ext>
            </a:extLst>
          </p:cNvPr>
          <p:cNvSpPr/>
          <p:nvPr/>
        </p:nvSpPr>
        <p:spPr>
          <a:xfrm>
            <a:off x="8830437" y="4305283"/>
            <a:ext cx="187102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r(x) = 1-x ,  f(z) = z</a:t>
            </a:r>
          </a:p>
          <a:p>
            <a:endParaRPr lang="en-US" b="1" dirty="0"/>
          </a:p>
          <a:p>
            <a:r>
              <a:rPr lang="en-US" b="1" dirty="0"/>
              <a:t>r(x)*f(z)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527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32E8A-08AA-4414-AAFD-23532DC7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52" y="191252"/>
            <a:ext cx="1214465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Stability, Instability and Tipping Points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42D7877-FEE1-44EF-80DB-26CF10EBD3B6}"/>
              </a:ext>
            </a:extLst>
          </p:cNvPr>
          <p:cNvSpPr/>
          <p:nvPr/>
        </p:nvSpPr>
        <p:spPr>
          <a:xfrm>
            <a:off x="-177503" y="1516815"/>
            <a:ext cx="55062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Economy with Network effect</a:t>
            </a:r>
            <a:endParaRPr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22EF98-01D5-4F48-BB2F-0687438515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129" t="45747" r="10259" b="25058"/>
          <a:stretch/>
        </p:blipFill>
        <p:spPr>
          <a:xfrm>
            <a:off x="1167639" y="2532486"/>
            <a:ext cx="7298443" cy="404760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88414C-02DA-49E1-BD36-3E9678BFBE80}"/>
              </a:ext>
            </a:extLst>
          </p:cNvPr>
          <p:cNvSpPr/>
          <p:nvPr/>
        </p:nvSpPr>
        <p:spPr>
          <a:xfrm>
            <a:off x="2959835" y="2024650"/>
            <a:ext cx="892736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/>
              <a:t>(0 , z’) , ( z’’ , 1 ) : There is </a:t>
            </a:r>
            <a:r>
              <a:rPr lang="en-US" altLang="ko-KR" sz="2000" b="1" dirty="0"/>
              <a:t>“downward pressure” </a:t>
            </a:r>
            <a:r>
              <a:rPr lang="en-US" altLang="ko-KR" sz="2000" dirty="0"/>
              <a:t>on the consumption of the good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C272D4-6611-4361-93A7-E4C9F77B9273}"/>
              </a:ext>
            </a:extLst>
          </p:cNvPr>
          <p:cNvSpPr/>
          <p:nvPr/>
        </p:nvSpPr>
        <p:spPr>
          <a:xfrm>
            <a:off x="2959835" y="2513590"/>
            <a:ext cx="892736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/>
              <a:t>( z’, z’’ ) : There is </a:t>
            </a:r>
            <a:r>
              <a:rPr lang="en-US" altLang="ko-KR" sz="2000" b="1" dirty="0"/>
              <a:t>“upward pressure” </a:t>
            </a:r>
            <a:r>
              <a:rPr lang="en-US" altLang="ko-KR" sz="2000" dirty="0"/>
              <a:t>on the consumption of the good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C0002CC-7620-4A1E-891B-F8F87C8A0133}"/>
              </a:ext>
            </a:extLst>
          </p:cNvPr>
          <p:cNvSpPr/>
          <p:nvPr/>
        </p:nvSpPr>
        <p:spPr>
          <a:xfrm>
            <a:off x="5533697" y="4824248"/>
            <a:ext cx="409903" cy="40011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A9BDCE5-033B-49EF-B203-64077EF6851B}"/>
              </a:ext>
            </a:extLst>
          </p:cNvPr>
          <p:cNvCxnSpPr>
            <a:cxnSpLocks/>
            <a:endCxn id="3" idx="0"/>
          </p:cNvCxnSpPr>
          <p:nvPr/>
        </p:nvCxnSpPr>
        <p:spPr>
          <a:xfrm flipH="1">
            <a:off x="5738649" y="4336060"/>
            <a:ext cx="204951" cy="4881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CF8C36-6335-4F7F-9FF3-93C7F8012FAD}"/>
              </a:ext>
            </a:extLst>
          </p:cNvPr>
          <p:cNvSpPr/>
          <p:nvPr/>
        </p:nvSpPr>
        <p:spPr>
          <a:xfrm>
            <a:off x="5533697" y="3975888"/>
            <a:ext cx="20179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Strong Stability point</a:t>
            </a:r>
            <a:endParaRPr lang="en-US" altLang="ko-KR" sz="1400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2F7F945-C416-47BF-81C8-563EAF5E24A8}"/>
              </a:ext>
            </a:extLst>
          </p:cNvPr>
          <p:cNvSpPr/>
          <p:nvPr/>
        </p:nvSpPr>
        <p:spPr>
          <a:xfrm>
            <a:off x="2317531" y="4843690"/>
            <a:ext cx="409903" cy="40011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09A01EA-293A-4930-8617-08B553225BA7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2522483" y="4355502"/>
            <a:ext cx="204951" cy="4881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4654B41-6749-4DF5-9FAA-45DD9C6DA950}"/>
              </a:ext>
            </a:extLst>
          </p:cNvPr>
          <p:cNvSpPr/>
          <p:nvPr/>
        </p:nvSpPr>
        <p:spPr>
          <a:xfrm>
            <a:off x="1718441" y="4028283"/>
            <a:ext cx="20179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Critical (Tipping Point) 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057915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E60F558-2A47-49C0-9D66-EB452AEEE5CE}"/>
              </a:ext>
            </a:extLst>
          </p:cNvPr>
          <p:cNvSpPr txBox="1">
            <a:spLocks/>
          </p:cNvSpPr>
          <p:nvPr/>
        </p:nvSpPr>
        <p:spPr>
          <a:xfrm>
            <a:off x="680987" y="2664442"/>
            <a:ext cx="1063865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Power Laws and Rich-Get-Richer Phenomena</a:t>
            </a:r>
          </a:p>
        </p:txBody>
      </p:sp>
    </p:spTree>
    <p:extLst>
      <p:ext uri="{BB962C8B-B14F-4D97-AF65-F5344CB8AC3E}">
        <p14:creationId xmlns:p14="http://schemas.microsoft.com/office/powerpoint/2010/main" val="2546917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32E8A-08AA-4414-AAFD-23532DC7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52" y="191252"/>
            <a:ext cx="1214465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Understanding Popularity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E8F1F9E-B1C1-4354-A1AA-BD554D51D8DA}"/>
              </a:ext>
            </a:extLst>
          </p:cNvPr>
          <p:cNvSpPr/>
          <p:nvPr/>
        </p:nvSpPr>
        <p:spPr>
          <a:xfrm>
            <a:off x="173420" y="1555403"/>
            <a:ext cx="3484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/>
              <a:t>Definition of Popularity</a:t>
            </a:r>
            <a:endParaRPr lang="en-US" altLang="ko-KR" sz="2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F715F81-7E69-44B8-BB9E-D6B1454321F1}"/>
              </a:ext>
            </a:extLst>
          </p:cNvPr>
          <p:cNvSpPr/>
          <p:nvPr/>
        </p:nvSpPr>
        <p:spPr>
          <a:xfrm>
            <a:off x="724224" y="2221025"/>
            <a:ext cx="77628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Phenomena characterized by extreme imbalances</a:t>
            </a:r>
          </a:p>
          <a:p>
            <a:pPr marL="285750" indent="-285750">
              <a:buFontTx/>
              <a:buChar char="-"/>
            </a:pPr>
            <a:r>
              <a:rPr lang="en-US" dirty="0"/>
              <a:t>A few people achieve wider visibility, and very few attain global name and recognition</a:t>
            </a:r>
          </a:p>
          <a:p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54B15DB-CD0F-4F1A-B437-AB59EFC03433}"/>
              </a:ext>
            </a:extLst>
          </p:cNvPr>
          <p:cNvSpPr/>
          <p:nvPr/>
        </p:nvSpPr>
        <p:spPr>
          <a:xfrm>
            <a:off x="724224" y="3221457"/>
            <a:ext cx="40452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to quantify these imbalances?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C4F1916-5C08-43C2-8A26-3EFA694585BC}"/>
              </a:ext>
            </a:extLst>
          </p:cNvPr>
          <p:cNvSpPr/>
          <p:nvPr/>
        </p:nvSpPr>
        <p:spPr>
          <a:xfrm>
            <a:off x="360240" y="4198805"/>
            <a:ext cx="77628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Network approach to analyze popularity </a:t>
            </a:r>
          </a:p>
          <a:p>
            <a:endParaRPr lang="en-US" sz="24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43B5FF1-8A63-4A38-9DF1-5D9453CCD254}"/>
              </a:ext>
            </a:extLst>
          </p:cNvPr>
          <p:cNvSpPr/>
          <p:nvPr/>
        </p:nvSpPr>
        <p:spPr>
          <a:xfrm>
            <a:off x="724224" y="4702432"/>
            <a:ext cx="77628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In-links: web pages that are referred to from other sites</a:t>
            </a:r>
          </a:p>
          <a:p>
            <a:pPr marL="285750" indent="-285750">
              <a:buFontTx/>
              <a:buChar char="-"/>
            </a:pPr>
            <a:r>
              <a:rPr lang="en-US" dirty="0"/>
              <a:t>As a function of </a:t>
            </a:r>
            <a:r>
              <a:rPr lang="en-US" i="1" dirty="0"/>
              <a:t>k </a:t>
            </a:r>
            <a:r>
              <a:rPr lang="en-US" dirty="0"/>
              <a:t>, what fraction of pages on the Web have </a:t>
            </a:r>
            <a:r>
              <a:rPr lang="en-US" i="1" dirty="0"/>
              <a:t>k</a:t>
            </a:r>
            <a:r>
              <a:rPr lang="en-US" dirty="0"/>
              <a:t> in-links?</a:t>
            </a:r>
          </a:p>
          <a:p>
            <a:pPr marL="285750" indent="-285750">
              <a:buFontTx/>
              <a:buChar char="-"/>
            </a:pPr>
            <a:r>
              <a:rPr lang="en-US" dirty="0"/>
              <a:t>Large </a:t>
            </a:r>
            <a:r>
              <a:rPr lang="en-US" i="1" dirty="0"/>
              <a:t>k </a:t>
            </a:r>
            <a:r>
              <a:rPr lang="en-US" dirty="0"/>
              <a:t> = greater popularity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296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32E8A-08AA-4414-AAFD-23532DC7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52" y="191252"/>
            <a:ext cx="1214465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Experiment on the Web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E8F1F9E-B1C1-4354-A1AA-BD554D51D8DA}"/>
              </a:ext>
            </a:extLst>
          </p:cNvPr>
          <p:cNvSpPr/>
          <p:nvPr/>
        </p:nvSpPr>
        <p:spPr>
          <a:xfrm>
            <a:off x="0" y="1516815"/>
            <a:ext cx="65742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/>
              <a:t>Normal (Gaussian) Distribution </a:t>
            </a:r>
            <a:r>
              <a:rPr lang="en-US" altLang="ko-KR" sz="2000" dirty="0"/>
              <a:t>(Assumption)</a:t>
            </a:r>
            <a:endParaRPr lang="en-US" altLang="ko-KR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BB9BF1F-A3B4-429E-A3BA-DC032B2610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086" t="48178" r="38061" b="23683"/>
          <a:stretch/>
        </p:blipFill>
        <p:spPr>
          <a:xfrm>
            <a:off x="5891047" y="2159436"/>
            <a:ext cx="5617779" cy="406887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C542DC4-9C42-4034-B901-E61E493CC957}"/>
              </a:ext>
            </a:extLst>
          </p:cNvPr>
          <p:cNvSpPr/>
          <p:nvPr/>
        </p:nvSpPr>
        <p:spPr>
          <a:xfrm>
            <a:off x="804041" y="2104163"/>
            <a:ext cx="490307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2000" b="1" dirty="0"/>
              <a:t>Central Limit Theorem:</a:t>
            </a:r>
          </a:p>
          <a:p>
            <a:pPr algn="just"/>
            <a:endParaRPr lang="en-US" altLang="ko-KR" sz="2000" dirty="0"/>
          </a:p>
          <a:p>
            <a:pPr algn="just"/>
            <a:r>
              <a:rPr lang="en-US" altLang="ko-KR" sz="2000" dirty="0"/>
              <a:t>If we take any sequence of small independent random quantities, then in the limit their sum will be distributed according to the normal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3637200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32E8A-08AA-4414-AAFD-23532DC7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52" y="191252"/>
            <a:ext cx="1214465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Power Laws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E8F1F9E-B1C1-4354-A1AA-BD554D51D8DA}"/>
              </a:ext>
            </a:extLst>
          </p:cNvPr>
          <p:cNvSpPr/>
          <p:nvPr/>
        </p:nvSpPr>
        <p:spPr>
          <a:xfrm>
            <a:off x="0" y="1516815"/>
            <a:ext cx="24594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/>
              <a:t>Power Law</a:t>
            </a:r>
            <a:endParaRPr lang="en-US" altLang="ko-KR" sz="2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50E109-A251-4D7B-A5C1-D9A397C698AC}"/>
              </a:ext>
            </a:extLst>
          </p:cNvPr>
          <p:cNvSpPr/>
          <p:nvPr/>
        </p:nvSpPr>
        <p:spPr>
          <a:xfrm>
            <a:off x="1639612" y="3509436"/>
            <a:ext cx="81823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altLang="ko-KR" dirty="0"/>
              <a:t>The fraction of telephone numbers that receive k calls per day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altLang="ko-KR" dirty="0"/>
              <a:t>The fraction of books bought by k people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altLang="ko-KR" dirty="0"/>
              <a:t>The fraction of scientific papers that receive k citations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altLang="ko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998A48A4-154F-464F-95A5-5B46CC606DA2}"/>
                  </a:ext>
                </a:extLst>
              </p:cNvPr>
              <p:cNvSpPr/>
              <p:nvPr/>
            </p:nvSpPr>
            <p:spPr>
              <a:xfrm>
                <a:off x="8403365" y="2473425"/>
                <a:ext cx="3725572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p>
                  </m:oMath>
                </a14:m>
                <a:endParaRPr lang="en-US" altLang="ko-KR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ko-KR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𝒍𝒐𝒈𝒌</m:t>
                    </m:r>
                  </m:oMath>
                </a14:m>
                <a:endParaRPr lang="en-US" altLang="ko-KR" sz="2000" b="1" dirty="0"/>
              </a:p>
            </p:txBody>
          </p:sp>
        </mc:Choice>
        <mc:Fallback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998A48A4-154F-464F-95A5-5B46CC606D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3365" y="2473425"/>
                <a:ext cx="3725572" cy="707886"/>
              </a:xfrm>
              <a:prstGeom prst="rect">
                <a:avLst/>
              </a:prstGeom>
              <a:blipFill>
                <a:blip r:embed="rId2"/>
                <a:stretch>
                  <a:fillRect l="-1473" t="-3448" b="-11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28DC2856-7886-48AF-A614-9A47AC62A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821" y="4016678"/>
            <a:ext cx="4486165" cy="25795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AC542DC4-9C42-4034-B901-E61E493CC957}"/>
                  </a:ext>
                </a:extLst>
              </p:cNvPr>
              <p:cNvSpPr/>
              <p:nvPr/>
            </p:nvSpPr>
            <p:spPr>
              <a:xfrm>
                <a:off x="642152" y="2145300"/>
                <a:ext cx="8623738" cy="35804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400" dirty="0"/>
                  <a:t>In reality, it is approximately proportional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en-US" altLang="ko-KR" sz="24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400" dirty="0"/>
                  <a:t>There are few very popular web pages with many in-links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400" dirty="0"/>
                  <a:t>There are other examples that power law can be applied: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400" dirty="0"/>
                  <a:t>Power law distribution presents straight line </a:t>
                </a:r>
                <a:br>
                  <a:rPr lang="en-US" altLang="ko-KR" sz="2400" dirty="0"/>
                </a:br>
                <a:r>
                  <a:rPr lang="en-US" altLang="ko-KR" sz="2400" dirty="0"/>
                  <a:t>on the log-log graph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400" dirty="0"/>
              </a:p>
            </p:txBody>
          </p:sp>
        </mc:Choice>
        <mc:Fallback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AC542DC4-9C42-4034-B901-E61E493CC9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52" y="2145300"/>
                <a:ext cx="8623738" cy="3580467"/>
              </a:xfrm>
              <a:prstGeom prst="rect">
                <a:avLst/>
              </a:prstGeom>
              <a:blipFill>
                <a:blip r:embed="rId4"/>
                <a:stretch>
                  <a:fillRect l="-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4306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32E8A-08AA-4414-AAFD-23532DC7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52" y="191252"/>
            <a:ext cx="1214465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Rich-Get-Richer Models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542DC4-9C42-4034-B901-E61E493CC957}"/>
              </a:ext>
            </a:extLst>
          </p:cNvPr>
          <p:cNvSpPr/>
          <p:nvPr/>
        </p:nvSpPr>
        <p:spPr>
          <a:xfrm>
            <a:off x="642152" y="1516815"/>
            <a:ext cx="98576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/>
              <a:t>How is a network with power law distribution of in-links being built?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597F3B2-A28D-4EFF-95A5-788891DE2C11}"/>
              </a:ext>
            </a:extLst>
          </p:cNvPr>
          <p:cNvSpPr/>
          <p:nvPr/>
        </p:nvSpPr>
        <p:spPr>
          <a:xfrm>
            <a:off x="910166" y="2305081"/>
            <a:ext cx="985768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2400" dirty="0"/>
              <a:t>Pages are created in order and named as 1,2,3,4,5….,N</a:t>
            </a:r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r>
              <a:rPr lang="en-US" altLang="ko-KR" sz="2400" dirty="0"/>
              <a:t>Creation of page j will produce link to a previous page by choosing between option </a:t>
            </a:r>
            <a:r>
              <a:rPr lang="ko-KR" altLang="en-US" sz="2400" dirty="0"/>
              <a:t>①</a:t>
            </a:r>
            <a:r>
              <a:rPr lang="en-US" altLang="ko-KR" sz="2400" dirty="0"/>
              <a:t> and </a:t>
            </a:r>
            <a:r>
              <a:rPr lang="ko-KR" altLang="en-US" sz="2400" dirty="0"/>
              <a:t>②</a:t>
            </a:r>
            <a:r>
              <a:rPr lang="en-US" altLang="ko-KR" sz="2400" dirty="0"/>
              <a:t>: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lvl="1"/>
            <a:r>
              <a:rPr lang="ko-KR" altLang="en-US" sz="2400" dirty="0"/>
              <a:t>① </a:t>
            </a:r>
            <a:r>
              <a:rPr lang="en-US" altLang="ko-KR" sz="2400" dirty="0"/>
              <a:t>with probability </a:t>
            </a:r>
            <a:r>
              <a:rPr lang="en-US" altLang="ko-KR" sz="2400" i="1" dirty="0"/>
              <a:t>p, </a:t>
            </a:r>
            <a:r>
              <a:rPr lang="en-US" altLang="ko-KR" sz="2400" dirty="0"/>
              <a:t>page </a:t>
            </a:r>
            <a:r>
              <a:rPr lang="en-US" altLang="ko-KR" sz="2400" i="1" dirty="0"/>
              <a:t>j </a:t>
            </a:r>
            <a:r>
              <a:rPr lang="en-US" altLang="ko-KR" sz="2400" dirty="0"/>
              <a:t>chooses a page </a:t>
            </a:r>
            <a:r>
              <a:rPr lang="en-US" altLang="ko-KR" sz="2400" i="1" dirty="0" err="1"/>
              <a:t>i</a:t>
            </a:r>
            <a:r>
              <a:rPr lang="en-US" altLang="ko-KR" sz="2400" i="1" dirty="0"/>
              <a:t> </a:t>
            </a:r>
            <a:r>
              <a:rPr lang="en-US" altLang="ko-KR" sz="2400" dirty="0"/>
              <a:t>uniformly at random from    </a:t>
            </a:r>
            <a:br>
              <a:rPr lang="en-US" altLang="ko-KR" sz="2400" dirty="0"/>
            </a:br>
            <a:r>
              <a:rPr lang="en-US" altLang="ko-KR" sz="2400" dirty="0"/>
              <a:t>      among previous pages</a:t>
            </a:r>
            <a:endParaRPr lang="en-US" altLang="ko-KR" sz="2400" i="1" dirty="0"/>
          </a:p>
          <a:p>
            <a:pPr lvl="1"/>
            <a:endParaRPr lang="en-US" altLang="ko-KR" sz="2400" dirty="0"/>
          </a:p>
          <a:p>
            <a:pPr lvl="1"/>
            <a:r>
              <a:rPr lang="ko-KR" altLang="en-US" sz="2400" dirty="0"/>
              <a:t>② </a:t>
            </a:r>
            <a:r>
              <a:rPr lang="en-US" altLang="ko-KR" sz="2400" dirty="0"/>
              <a:t>with probability 1 – </a:t>
            </a:r>
            <a:r>
              <a:rPr lang="en-US" altLang="ko-KR" sz="2400" i="1" dirty="0"/>
              <a:t>p </a:t>
            </a:r>
            <a:r>
              <a:rPr lang="en-US" altLang="ko-KR" sz="2400" dirty="0"/>
              <a:t>, page </a:t>
            </a:r>
            <a:r>
              <a:rPr lang="en-US" altLang="ko-KR" sz="2400" i="1" dirty="0"/>
              <a:t>j </a:t>
            </a:r>
            <a:r>
              <a:rPr lang="en-US" altLang="ko-KR" sz="2400" dirty="0"/>
              <a:t>chooses a page </a:t>
            </a:r>
            <a:r>
              <a:rPr lang="en-US" altLang="ko-KR" sz="2400" i="1" dirty="0" err="1"/>
              <a:t>i</a:t>
            </a:r>
            <a:r>
              <a:rPr lang="en-US" altLang="ko-KR" sz="2400" i="1" dirty="0"/>
              <a:t> </a:t>
            </a:r>
            <a:r>
              <a:rPr lang="en-US" altLang="ko-KR" sz="2400" dirty="0"/>
              <a:t>uniformly at random</a:t>
            </a:r>
          </a:p>
          <a:p>
            <a:pPr lvl="1"/>
            <a:r>
              <a:rPr lang="en-US" altLang="ko-KR" sz="2400" i="1" dirty="0"/>
              <a:t>      </a:t>
            </a:r>
            <a:r>
              <a:rPr lang="en-US" altLang="ko-KR" sz="2400" dirty="0"/>
              <a:t>creates a link to the page that </a:t>
            </a:r>
            <a:r>
              <a:rPr lang="en-US" altLang="ko-KR" sz="2400" dirty="0" err="1"/>
              <a:t>i</a:t>
            </a:r>
            <a:r>
              <a:rPr lang="en-US" altLang="ko-KR" sz="2400" dirty="0"/>
              <a:t> point to</a:t>
            </a:r>
            <a:r>
              <a:rPr lang="en-US" altLang="ko-KR" sz="240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1786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32E8A-08AA-4414-AAFD-23532DC7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52" y="191252"/>
            <a:ext cx="1214465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Rich-Get-Richer Models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542DC4-9C42-4034-B901-E61E493CC957}"/>
              </a:ext>
            </a:extLst>
          </p:cNvPr>
          <p:cNvSpPr/>
          <p:nvPr/>
        </p:nvSpPr>
        <p:spPr>
          <a:xfrm>
            <a:off x="642152" y="1516815"/>
            <a:ext cx="985768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/>
              <a:t>Rich-get-richer dynamics:</a:t>
            </a:r>
          </a:p>
          <a:p>
            <a:endParaRPr lang="en-US" altLang="ko-KR" sz="2400" b="1" dirty="0"/>
          </a:p>
          <a:p>
            <a:r>
              <a:rPr lang="en-US" altLang="ko-KR" sz="2400" dirty="0"/>
              <a:t>When you copy the decision of a random earlier page, the probability that you end up linking to some page </a:t>
            </a:r>
            <a:r>
              <a:rPr lang="en-US" altLang="ko-KR" sz="2400" b="1" dirty="0"/>
              <a:t>L </a:t>
            </a:r>
            <a:r>
              <a:rPr lang="en-US" altLang="ko-KR" sz="2400" dirty="0"/>
              <a:t>is directly proportional to the total number of pages that currently link to </a:t>
            </a:r>
            <a:r>
              <a:rPr lang="en-US" altLang="ko-KR" sz="2400" b="1" dirty="0"/>
              <a:t>L</a:t>
            </a:r>
          </a:p>
          <a:p>
            <a:endParaRPr lang="en-US" altLang="ko-KR" sz="2400" b="1" dirty="0"/>
          </a:p>
          <a:p>
            <a:r>
              <a:rPr lang="en-US" altLang="ko-KR" sz="2400" b="1" dirty="0">
                <a:solidFill>
                  <a:srgbClr val="FF0000"/>
                </a:solidFill>
              </a:rPr>
              <a:t>The probability that L has an increase in popularity is directly proportional to L’s current popularity</a:t>
            </a:r>
          </a:p>
        </p:txBody>
      </p:sp>
    </p:spTree>
    <p:extLst>
      <p:ext uri="{BB962C8B-B14F-4D97-AF65-F5344CB8AC3E}">
        <p14:creationId xmlns:p14="http://schemas.microsoft.com/office/powerpoint/2010/main" val="2137552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32E8A-08AA-4414-AAFD-23532DC7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52" y="191252"/>
            <a:ext cx="1214465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The Long Tail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597F3B2-A28D-4EFF-95A5-788891DE2C11}"/>
              </a:ext>
            </a:extLst>
          </p:cNvPr>
          <p:cNvSpPr/>
          <p:nvPr/>
        </p:nvSpPr>
        <p:spPr>
          <a:xfrm>
            <a:off x="878635" y="1536174"/>
            <a:ext cx="577441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Distribution of popularity can be important for businesses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Chris Anderson: </a:t>
            </a:r>
            <a:r>
              <a:rPr lang="en-US" altLang="ko-KR" sz="2400" i="1" dirty="0"/>
              <a:t>“The Long Tail”, 2004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Everywhere in media:</a:t>
            </a:r>
          </a:p>
          <a:p>
            <a:pPr marL="800100" lvl="1" indent="-342900">
              <a:buFontTx/>
              <a:buChar char="-"/>
            </a:pPr>
            <a:r>
              <a:rPr lang="en-US" altLang="ko-KR" sz="2400" dirty="0"/>
              <a:t>‘hits’ – small number of blockbusters</a:t>
            </a:r>
          </a:p>
          <a:p>
            <a:pPr marL="800100" lvl="1" indent="-342900">
              <a:buFontTx/>
              <a:buChar char="-"/>
            </a:pPr>
            <a:r>
              <a:rPr lang="en-US" altLang="ko-KR" sz="2400" dirty="0"/>
              <a:t>‘niche products’ – interests a small segment of the audience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Amazon, Netflix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</p:txBody>
      </p:sp>
      <p:pic>
        <p:nvPicPr>
          <p:cNvPr id="2050" name="Picture 2" descr="long tailì ëí ì´ë¯¸ì§ ê²ìê²°ê³¼">
            <a:extLst>
              <a:ext uri="{FF2B5EF4-FFF2-40B4-BE49-F238E27FC236}">
                <a16:creationId xmlns:a16="http://schemas.microsoft.com/office/drawing/2014/main" id="{607CB85F-2509-4A38-9461-5262B777A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689" y="2349062"/>
            <a:ext cx="5122457" cy="305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E854555-1BEB-49E9-B33C-AF27205D3B11}"/>
              </a:ext>
            </a:extLst>
          </p:cNvPr>
          <p:cNvSpPr/>
          <p:nvPr/>
        </p:nvSpPr>
        <p:spPr>
          <a:xfrm>
            <a:off x="1446454" y="5691157"/>
            <a:ext cx="879368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Google uses popularity measures (page rank) to rank web pages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Amazon gain money from giant inventory of </a:t>
            </a:r>
            <a:r>
              <a:rPr lang="en-US" altLang="ko-KR" b="1" dirty="0"/>
              <a:t>niche products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recommendation systems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52561578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TM02892315[[fn=줄기]]</Template>
  <TotalTime>8889</TotalTime>
  <Words>1418</Words>
  <Application>Microsoft Office PowerPoint</Application>
  <PresentationFormat>와이드스크린</PresentationFormat>
  <Paragraphs>208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맑은 고딕</vt:lpstr>
      <vt:lpstr>Arial</vt:lpstr>
      <vt:lpstr>Calibri</vt:lpstr>
      <vt:lpstr>Calibri Light</vt:lpstr>
      <vt:lpstr>Cambria Math</vt:lpstr>
      <vt:lpstr>Wingdings</vt:lpstr>
      <vt:lpstr>Wingdings 2</vt:lpstr>
      <vt:lpstr>HDOfficeLightV0</vt:lpstr>
      <vt:lpstr>Office 테마</vt:lpstr>
      <vt:lpstr>Social Network Analysis</vt:lpstr>
      <vt:lpstr>Table of Contents  - Information Cascades - Network Effects - Power Laws and Rich-Get-Richer Phenomena  </vt:lpstr>
      <vt:lpstr>PowerPoint 프레젠테이션</vt:lpstr>
      <vt:lpstr>Following the Crowd</vt:lpstr>
      <vt:lpstr>Bayes Rule: A Model of Decision Making under Uncertainty</vt:lpstr>
      <vt:lpstr>Bayes Rule: A Model of Decision Making under Uncertainty</vt:lpstr>
      <vt:lpstr>Bayes Rule: Herding Experiment</vt:lpstr>
      <vt:lpstr>Bayes Rule: Herding Experiment- continued</vt:lpstr>
      <vt:lpstr>Bayes Rule: Herding Experiment</vt:lpstr>
      <vt:lpstr>General Cascade Model</vt:lpstr>
      <vt:lpstr>Sequential Decision Making and Cascades </vt:lpstr>
      <vt:lpstr>Lessons from Cascades</vt:lpstr>
      <vt:lpstr>PowerPoint 프레젠테이션</vt:lpstr>
      <vt:lpstr>Network Effect as Externalities</vt:lpstr>
      <vt:lpstr>Economy with/without Network Effect</vt:lpstr>
      <vt:lpstr>Stability, Instability and Tipping Points</vt:lpstr>
      <vt:lpstr>PowerPoint 프레젠테이션</vt:lpstr>
      <vt:lpstr>Understanding Popularity</vt:lpstr>
      <vt:lpstr>Experiment on the Web</vt:lpstr>
      <vt:lpstr>Power Laws</vt:lpstr>
      <vt:lpstr>Rich-Get-Richer Models</vt:lpstr>
      <vt:lpstr>Rich-Get-Richer Models</vt:lpstr>
      <vt:lpstr>The Long Tail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agdal1125@gmail.com</dc:creator>
  <cp:lastModifiedBy>agdal1125@gmail.com</cp:lastModifiedBy>
  <cp:revision>278</cp:revision>
  <dcterms:created xsi:type="dcterms:W3CDTF">2018-01-23T16:32:33Z</dcterms:created>
  <dcterms:modified xsi:type="dcterms:W3CDTF">2018-05-08T07:22:30Z</dcterms:modified>
</cp:coreProperties>
</file>