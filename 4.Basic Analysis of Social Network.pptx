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 id="2147483828" r:id="rId2"/>
  </p:sldMasterIdLst>
  <p:sldIdLst>
    <p:sldId id="256" r:id="rId3"/>
    <p:sldId id="267" r:id="rId4"/>
    <p:sldId id="270" r:id="rId5"/>
    <p:sldId id="271" r:id="rId6"/>
    <p:sldId id="273" r:id="rId7"/>
    <p:sldId id="274" r:id="rId8"/>
    <p:sldId id="275" r:id="rId9"/>
    <p:sldId id="276" r:id="rId10"/>
    <p:sldId id="278" r:id="rId11"/>
    <p:sldId id="279" r:id="rId12"/>
    <p:sldId id="280" r:id="rId13"/>
    <p:sldId id="281" r:id="rId14"/>
    <p:sldId id="282" r:id="rId15"/>
    <p:sldId id="283" r:id="rId16"/>
    <p:sldId id="284" r:id="rId17"/>
    <p:sldId id="285" r:id="rId18"/>
    <p:sldId id="286" r:id="rId19"/>
    <p:sldId id="287" r:id="rId20"/>
    <p:sldId id="288" r:id="rId21"/>
    <p:sldId id="289" r:id="rId22"/>
    <p:sldId id="290" r:id="rId23"/>
    <p:sldId id="29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보통 스타일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0" d="100"/>
          <a:sy n="100" d="100"/>
        </p:scale>
        <p:origin x="-29"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87600"/>
          </a:xfrm>
        </p:spPr>
        <p:txBody>
          <a:bodyPr anchor="b">
            <a:normAutofit/>
          </a:bodyPr>
          <a:lstStyle>
            <a:lvl1pPr algn="ctr">
              <a:defRPr sz="6000"/>
            </a:lvl1pPr>
          </a:lstStyle>
          <a:p>
            <a:r>
              <a:rPr lang="ko-KR" altLang="en-US"/>
              <a:t>마스터 제목 스타일 편집</a:t>
            </a:r>
            <a:endParaRPr lang="en-US" dirty="0"/>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75000"/>
                    <a:lumOff val="2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3/21/2018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82310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3/21/2018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94483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ko-KR" altLang="en-US"/>
              <a:t>마스터 제목 스타일 편집</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6B51CB8E-6F81-4EA9-97B5-248BF9D22C8A}" type="datetimeFigureOut">
              <a:rPr lang="en-US" smtClean="0"/>
              <a:t>3/21/2018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984898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6B51CB8E-6F81-4EA9-97B5-248BF9D22C8A}" type="datetimeFigureOut">
              <a:rPr lang="en-US" smtClean="0"/>
              <a:t>3/21/2018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9052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비교">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Content Placeholder 3"/>
          <p:cNvSpPr>
            <a:spLocks noGrp="1"/>
          </p:cNvSpPr>
          <p:nvPr>
            <p:ph sz="half" idx="2"/>
          </p:nvPr>
        </p:nvSpPr>
        <p:spPr>
          <a:xfrm>
            <a:off x="845127" y="2507550"/>
            <a:ext cx="5156200"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Content Placeholder 5"/>
          <p:cNvSpPr>
            <a:spLocks noGrp="1"/>
          </p:cNvSpPr>
          <p:nvPr>
            <p:ph sz="quarter" idx="4"/>
          </p:nvPr>
        </p:nvSpPr>
        <p:spPr>
          <a:xfrm>
            <a:off x="6172200" y="2507550"/>
            <a:ext cx="5181601" cy="368052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Date Placeholder 6"/>
          <p:cNvSpPr>
            <a:spLocks noGrp="1"/>
          </p:cNvSpPr>
          <p:nvPr>
            <p:ph type="dt" sz="half" idx="10"/>
          </p:nvPr>
        </p:nvSpPr>
        <p:spPr/>
        <p:txBody>
          <a:bodyPr/>
          <a:lstStyle/>
          <a:p>
            <a:fld id="{6B51CB8E-6F81-4EA9-97B5-248BF9D22C8A}" type="datetimeFigureOut">
              <a:rPr lang="en-US" smtClean="0"/>
              <a:t>3/21/2018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DC7EB3-5AE8-4FED-A667-9442F52E7975}" type="slidenum">
              <a:rPr lang="en-US" smtClean="0"/>
              <a:t>‹#›</a:t>
            </a:fld>
            <a:endParaRPr lang="en-US"/>
          </a:p>
        </p:txBody>
      </p:sp>
      <p:sp>
        <p:nvSpPr>
          <p:cNvPr id="10" name="Title 9"/>
          <p:cNvSpPr>
            <a:spLocks noGrp="1"/>
          </p:cNvSpPr>
          <p:nvPr>
            <p:ph type="title"/>
          </p:nvPr>
        </p:nvSpPr>
        <p:spPr/>
        <p:txBody>
          <a:bodyPr/>
          <a:lstStyle/>
          <a:p>
            <a:r>
              <a:rPr lang="ko-KR" altLang="en-US"/>
              <a:t>마스터 제목 스타일 편집</a:t>
            </a:r>
            <a:endParaRPr lang="en-US" dirty="0"/>
          </a:p>
        </p:txBody>
      </p:sp>
    </p:spTree>
    <p:extLst>
      <p:ext uri="{BB962C8B-B14F-4D97-AF65-F5344CB8AC3E}">
        <p14:creationId xmlns:p14="http://schemas.microsoft.com/office/powerpoint/2010/main" val="4188153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제목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B51CB8E-6F81-4EA9-97B5-248BF9D22C8A}" type="datetimeFigureOut">
              <a:rPr lang="en-US" smtClean="0"/>
              <a:t>3/21/2018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DC7EB3-5AE8-4FED-A667-9442F52E7975}" type="slidenum">
              <a:rPr lang="en-US" smtClean="0"/>
              <a:t>‹#›</a:t>
            </a:fld>
            <a:endParaRPr lang="en-US"/>
          </a:p>
        </p:txBody>
      </p:sp>
      <p:sp>
        <p:nvSpPr>
          <p:cNvPr id="6" name="Title 5"/>
          <p:cNvSpPr>
            <a:spLocks noGrp="1"/>
          </p:cNvSpPr>
          <p:nvPr>
            <p:ph type="title"/>
          </p:nvPr>
        </p:nvSpPr>
        <p:spPr/>
        <p:txBody>
          <a:bodyPr/>
          <a:lstStyle/>
          <a:p>
            <a:r>
              <a:rPr lang="ko-KR" altLang="en-US"/>
              <a:t>마스터 제목 스타일 편집</a:t>
            </a:r>
            <a:endParaRPr lang="en-US"/>
          </a:p>
        </p:txBody>
      </p:sp>
    </p:spTree>
    <p:extLst>
      <p:ext uri="{BB962C8B-B14F-4D97-AF65-F5344CB8AC3E}">
        <p14:creationId xmlns:p14="http://schemas.microsoft.com/office/powerpoint/2010/main" val="2772496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51CB8E-6F81-4EA9-97B5-248BF9D22C8A}" type="datetimeFigureOut">
              <a:rPr lang="en-US" smtClean="0"/>
              <a:t>3/21/2018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20478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197"/>
          </a:xfrm>
        </p:spPr>
        <p:txBody>
          <a:bodyPr anchor="b">
            <a:normAutofit/>
          </a:bodyPr>
          <a:lstStyle>
            <a:lvl1pPr>
              <a:defRPr sz="3200" b="0"/>
            </a:lvl1pPr>
          </a:lstStyle>
          <a:p>
            <a:r>
              <a:rPr lang="ko-KR" altLang="en-US"/>
              <a:t>마스터 제목 스타일 편집</a:t>
            </a:r>
            <a:endParaRPr lang="en-US" dirty="0"/>
          </a:p>
        </p:txBody>
      </p:sp>
      <p:sp>
        <p:nvSpPr>
          <p:cNvPr id="3" name="Content Placeholder 2"/>
          <p:cNvSpPr>
            <a:spLocks noGrp="1"/>
          </p:cNvSpPr>
          <p:nvPr>
            <p:ph idx="1"/>
          </p:nvPr>
        </p:nvSpPr>
        <p:spPr>
          <a:xfrm>
            <a:off x="5181600" y="990600"/>
            <a:ext cx="6172200" cy="48768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841248" y="2057399"/>
            <a:ext cx="3931920" cy="3810001"/>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3/21/2018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948338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931920" cy="1600200"/>
          </a:xfrm>
        </p:spPr>
        <p:txBody>
          <a:bodyPr anchor="b">
            <a:normAutofit/>
          </a:bodyPr>
          <a:lstStyle>
            <a:lvl1pPr>
              <a:defRPr sz="3200" b="0"/>
            </a:lvl1pPr>
          </a:lstStyle>
          <a:p>
            <a:r>
              <a:rPr lang="ko-KR" altLang="en-US"/>
              <a:t>마스터 제목 스타일 편집</a:t>
            </a:r>
            <a:endParaRPr lang="en-US" dirty="0"/>
          </a:p>
        </p:txBody>
      </p:sp>
      <p:sp>
        <p:nvSpPr>
          <p:cNvPr id="3" name="Picture Placeholder 2"/>
          <p:cNvSpPr>
            <a:spLocks noGrp="1"/>
          </p:cNvSpPr>
          <p:nvPr>
            <p:ph type="pic" idx="1"/>
          </p:nvPr>
        </p:nvSpPr>
        <p:spPr>
          <a:xfrm>
            <a:off x="5181600" y="990600"/>
            <a:ext cx="6172200" cy="4876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841248" y="2057400"/>
            <a:ext cx="3931920" cy="3810000"/>
          </a:xfrm>
        </p:spPr>
        <p:txBody>
          <a:bodyPr>
            <a:normAutofit/>
          </a:bodyPr>
          <a:lstStyle>
            <a:lvl1pPr marL="0" indent="0">
              <a:lnSpc>
                <a:spcPct val="90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6B51CB8E-6F81-4EA9-97B5-248BF9D22C8A}" type="datetimeFigureOut">
              <a:rPr lang="en-US" smtClean="0"/>
              <a:t>3/21/2018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23229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6B51CB8E-6F81-4EA9-97B5-248BF9D22C8A}" type="datetimeFigureOut">
              <a:rPr lang="en-US" smtClean="0"/>
              <a:t>3/21/2018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929989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0362"/>
            <a:ext cx="2628900"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838200" y="360362"/>
            <a:ext cx="7734300" cy="5811837"/>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Date Placeholder 3"/>
          <p:cNvSpPr>
            <a:spLocks noGrp="1"/>
          </p:cNvSpPr>
          <p:nvPr>
            <p:ph type="dt" sz="half" idx="10"/>
          </p:nvPr>
        </p:nvSpPr>
        <p:spPr/>
        <p:txBody>
          <a:bodyPr/>
          <a:lstStyle/>
          <a:p>
            <a:fld id="{6B51CB8E-6F81-4EA9-97B5-248BF9D22C8A}" type="datetimeFigureOut">
              <a:rPr lang="en-US" smtClean="0"/>
              <a:t>3/21/2018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511158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8E778D0-FFC8-41A2-B947-98DA5567D181}"/>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endParaRPr lang="en-US"/>
          </a:p>
        </p:txBody>
      </p:sp>
      <p:sp>
        <p:nvSpPr>
          <p:cNvPr id="3" name="부제목 2">
            <a:extLst>
              <a:ext uri="{FF2B5EF4-FFF2-40B4-BE49-F238E27FC236}">
                <a16:creationId xmlns:a16="http://schemas.microsoft.com/office/drawing/2014/main" id="{13FE50C6-4AE6-4854-9690-468A21E430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endParaRPr lang="en-US"/>
          </a:p>
        </p:txBody>
      </p:sp>
      <p:sp>
        <p:nvSpPr>
          <p:cNvPr id="4" name="날짜 개체 틀 3">
            <a:extLst>
              <a:ext uri="{FF2B5EF4-FFF2-40B4-BE49-F238E27FC236}">
                <a16:creationId xmlns:a16="http://schemas.microsoft.com/office/drawing/2014/main" id="{85CC4856-83A7-4A2E-94B0-9B59BEA46A6D}"/>
              </a:ext>
            </a:extLst>
          </p:cNvPr>
          <p:cNvSpPr>
            <a:spLocks noGrp="1"/>
          </p:cNvSpPr>
          <p:nvPr>
            <p:ph type="dt" sz="half" idx="10"/>
          </p:nvPr>
        </p:nvSpPr>
        <p:spPr/>
        <p:txBody>
          <a:bodyPr/>
          <a:lstStyle/>
          <a:p>
            <a:fld id="{6B51CB8E-6F81-4EA9-97B5-248BF9D22C8A}" type="datetimeFigureOut">
              <a:rPr lang="en-US" smtClean="0"/>
              <a:t>3/21/2018</a:t>
            </a:fld>
            <a:endParaRPr lang="en-US"/>
          </a:p>
        </p:txBody>
      </p:sp>
      <p:sp>
        <p:nvSpPr>
          <p:cNvPr id="5" name="바닥글 개체 틀 4">
            <a:extLst>
              <a:ext uri="{FF2B5EF4-FFF2-40B4-BE49-F238E27FC236}">
                <a16:creationId xmlns:a16="http://schemas.microsoft.com/office/drawing/2014/main" id="{81ADA6B5-36DA-4622-977E-C5EE2D797A06}"/>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0D64629E-5C28-40C0-BE9C-C384FD89C126}"/>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2834253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5390A2-6434-466B-B133-59B47A53BDF5}"/>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4BB85408-5405-43F3-A997-A5686CB94D15}"/>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AF144089-4D32-4F98-A7FB-1C2A8F3484AF}"/>
              </a:ext>
            </a:extLst>
          </p:cNvPr>
          <p:cNvSpPr>
            <a:spLocks noGrp="1"/>
          </p:cNvSpPr>
          <p:nvPr>
            <p:ph type="dt" sz="half" idx="10"/>
          </p:nvPr>
        </p:nvSpPr>
        <p:spPr/>
        <p:txBody>
          <a:bodyPr/>
          <a:lstStyle/>
          <a:p>
            <a:fld id="{6B51CB8E-6F81-4EA9-97B5-248BF9D22C8A}" type="datetimeFigureOut">
              <a:rPr lang="en-US" smtClean="0"/>
              <a:t>3/21/2018</a:t>
            </a:fld>
            <a:endParaRPr lang="en-US"/>
          </a:p>
        </p:txBody>
      </p:sp>
      <p:sp>
        <p:nvSpPr>
          <p:cNvPr id="5" name="바닥글 개체 틀 4">
            <a:extLst>
              <a:ext uri="{FF2B5EF4-FFF2-40B4-BE49-F238E27FC236}">
                <a16:creationId xmlns:a16="http://schemas.microsoft.com/office/drawing/2014/main" id="{D7CE616D-41EF-418F-A2DB-F20A6BC0FC77}"/>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C9010034-811C-4DD9-A1C6-D621CFFF5C7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483869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868C6EF-60E1-435A-9C44-04A6091F8063}"/>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AFD2ED5B-91D1-4F8A-8EF6-4279E4857B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78E68F84-151A-4C60-A3B2-A14C668FA552}"/>
              </a:ext>
            </a:extLst>
          </p:cNvPr>
          <p:cNvSpPr>
            <a:spLocks noGrp="1"/>
          </p:cNvSpPr>
          <p:nvPr>
            <p:ph type="dt" sz="half" idx="10"/>
          </p:nvPr>
        </p:nvSpPr>
        <p:spPr/>
        <p:txBody>
          <a:bodyPr/>
          <a:lstStyle/>
          <a:p>
            <a:fld id="{6B51CB8E-6F81-4EA9-97B5-248BF9D22C8A}" type="datetimeFigureOut">
              <a:rPr lang="en-US" smtClean="0"/>
              <a:t>3/21/2018</a:t>
            </a:fld>
            <a:endParaRPr lang="en-US"/>
          </a:p>
        </p:txBody>
      </p:sp>
      <p:sp>
        <p:nvSpPr>
          <p:cNvPr id="5" name="바닥글 개체 틀 4">
            <a:extLst>
              <a:ext uri="{FF2B5EF4-FFF2-40B4-BE49-F238E27FC236}">
                <a16:creationId xmlns:a16="http://schemas.microsoft.com/office/drawing/2014/main" id="{A292B3AA-C5D3-4832-8649-68BDB7487DFE}"/>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386E432-659F-44D8-8A12-8103CF70B771}"/>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847945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32EB8B-677E-4694-A127-91719DD3DC5A}"/>
              </a:ext>
            </a:extLst>
          </p:cNvPr>
          <p:cNvSpPr>
            <a:spLocks noGrp="1"/>
          </p:cNvSpPr>
          <p:nvPr>
            <p:ph type="title"/>
          </p:nvPr>
        </p:nvSpPr>
        <p:spPr/>
        <p:txBody>
          <a:body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1ECDC3F7-1B55-4876-BD32-3ED444C9060F}"/>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내용 개체 틀 3">
            <a:extLst>
              <a:ext uri="{FF2B5EF4-FFF2-40B4-BE49-F238E27FC236}">
                <a16:creationId xmlns:a16="http://schemas.microsoft.com/office/drawing/2014/main" id="{92E494C3-D018-424F-9050-572713E91683}"/>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날짜 개체 틀 4">
            <a:extLst>
              <a:ext uri="{FF2B5EF4-FFF2-40B4-BE49-F238E27FC236}">
                <a16:creationId xmlns:a16="http://schemas.microsoft.com/office/drawing/2014/main" id="{06A2F95C-92E5-4C9D-AC9B-2966B84EB5CE}"/>
              </a:ext>
            </a:extLst>
          </p:cNvPr>
          <p:cNvSpPr>
            <a:spLocks noGrp="1"/>
          </p:cNvSpPr>
          <p:nvPr>
            <p:ph type="dt" sz="half" idx="10"/>
          </p:nvPr>
        </p:nvSpPr>
        <p:spPr/>
        <p:txBody>
          <a:bodyPr/>
          <a:lstStyle/>
          <a:p>
            <a:fld id="{6B51CB8E-6F81-4EA9-97B5-248BF9D22C8A}" type="datetimeFigureOut">
              <a:rPr lang="en-US" smtClean="0"/>
              <a:t>3/21/2018</a:t>
            </a:fld>
            <a:endParaRPr lang="en-US"/>
          </a:p>
        </p:txBody>
      </p:sp>
      <p:sp>
        <p:nvSpPr>
          <p:cNvPr id="6" name="바닥글 개체 틀 5">
            <a:extLst>
              <a:ext uri="{FF2B5EF4-FFF2-40B4-BE49-F238E27FC236}">
                <a16:creationId xmlns:a16="http://schemas.microsoft.com/office/drawing/2014/main" id="{584F9551-3C93-4A80-BDDC-AA1533934547}"/>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46AE71EF-8BA6-43D5-810C-030E0FD55C5B}"/>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1345105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41A59D0-50BB-4170-BE00-42EF8EECFC9C}"/>
              </a:ext>
            </a:extLst>
          </p:cNvPr>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D9ED1FFE-B351-410A-9A93-BE911A56C5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837D3C85-3EEF-4978-B964-F1D03497B7C3}"/>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5" name="텍스트 개체 틀 4">
            <a:extLst>
              <a:ext uri="{FF2B5EF4-FFF2-40B4-BE49-F238E27FC236}">
                <a16:creationId xmlns:a16="http://schemas.microsoft.com/office/drawing/2014/main" id="{D5E88F12-E7A7-437A-AA0B-C98CD8E0E6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17898A3E-6654-40A8-A650-6E10B53188E7}"/>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7" name="날짜 개체 틀 6">
            <a:extLst>
              <a:ext uri="{FF2B5EF4-FFF2-40B4-BE49-F238E27FC236}">
                <a16:creationId xmlns:a16="http://schemas.microsoft.com/office/drawing/2014/main" id="{78793AD4-71BB-44BC-A819-00BBEEC948B3}"/>
              </a:ext>
            </a:extLst>
          </p:cNvPr>
          <p:cNvSpPr>
            <a:spLocks noGrp="1"/>
          </p:cNvSpPr>
          <p:nvPr>
            <p:ph type="dt" sz="half" idx="10"/>
          </p:nvPr>
        </p:nvSpPr>
        <p:spPr/>
        <p:txBody>
          <a:bodyPr/>
          <a:lstStyle/>
          <a:p>
            <a:fld id="{6B51CB8E-6F81-4EA9-97B5-248BF9D22C8A}" type="datetimeFigureOut">
              <a:rPr lang="en-US" smtClean="0"/>
              <a:t>3/21/2018</a:t>
            </a:fld>
            <a:endParaRPr lang="en-US"/>
          </a:p>
        </p:txBody>
      </p:sp>
      <p:sp>
        <p:nvSpPr>
          <p:cNvPr id="8" name="바닥글 개체 틀 7">
            <a:extLst>
              <a:ext uri="{FF2B5EF4-FFF2-40B4-BE49-F238E27FC236}">
                <a16:creationId xmlns:a16="http://schemas.microsoft.com/office/drawing/2014/main" id="{CC0C474A-9D29-4AC6-8099-6936A0E575AB}"/>
              </a:ext>
            </a:extLst>
          </p:cNvPr>
          <p:cNvSpPr>
            <a:spLocks noGrp="1"/>
          </p:cNvSpPr>
          <p:nvPr>
            <p:ph type="ftr" sz="quarter" idx="11"/>
          </p:nvPr>
        </p:nvSpPr>
        <p:spPr/>
        <p:txBody>
          <a:bodyPr/>
          <a:lstStyle/>
          <a:p>
            <a:endParaRPr lang="en-US"/>
          </a:p>
        </p:txBody>
      </p:sp>
      <p:sp>
        <p:nvSpPr>
          <p:cNvPr id="9" name="슬라이드 번호 개체 틀 8">
            <a:extLst>
              <a:ext uri="{FF2B5EF4-FFF2-40B4-BE49-F238E27FC236}">
                <a16:creationId xmlns:a16="http://schemas.microsoft.com/office/drawing/2014/main" id="{AC22D096-7FC8-4B85-8DD2-B78BD83B609D}"/>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4453725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9AB49E-DD91-4743-92FB-333855004BE6}"/>
              </a:ext>
            </a:extLst>
          </p:cNvPr>
          <p:cNvSpPr>
            <a:spLocks noGrp="1"/>
          </p:cNvSpPr>
          <p:nvPr>
            <p:ph type="title"/>
          </p:nvPr>
        </p:nvSpPr>
        <p:spPr/>
        <p:txBody>
          <a:bodyPr/>
          <a:lstStyle/>
          <a:p>
            <a:r>
              <a:rPr lang="ko-KR" altLang="en-US"/>
              <a:t>마스터 제목 스타일 편집</a:t>
            </a:r>
            <a:endParaRPr lang="en-US"/>
          </a:p>
        </p:txBody>
      </p:sp>
      <p:sp>
        <p:nvSpPr>
          <p:cNvPr id="3" name="날짜 개체 틀 2">
            <a:extLst>
              <a:ext uri="{FF2B5EF4-FFF2-40B4-BE49-F238E27FC236}">
                <a16:creationId xmlns:a16="http://schemas.microsoft.com/office/drawing/2014/main" id="{7AE0E5B3-D27E-4B0B-A82F-85B74A4375AF}"/>
              </a:ext>
            </a:extLst>
          </p:cNvPr>
          <p:cNvSpPr>
            <a:spLocks noGrp="1"/>
          </p:cNvSpPr>
          <p:nvPr>
            <p:ph type="dt" sz="half" idx="10"/>
          </p:nvPr>
        </p:nvSpPr>
        <p:spPr/>
        <p:txBody>
          <a:bodyPr/>
          <a:lstStyle/>
          <a:p>
            <a:fld id="{6B51CB8E-6F81-4EA9-97B5-248BF9D22C8A}" type="datetimeFigureOut">
              <a:rPr lang="en-US" smtClean="0"/>
              <a:t>3/21/2018</a:t>
            </a:fld>
            <a:endParaRPr lang="en-US"/>
          </a:p>
        </p:txBody>
      </p:sp>
      <p:sp>
        <p:nvSpPr>
          <p:cNvPr id="4" name="바닥글 개체 틀 3">
            <a:extLst>
              <a:ext uri="{FF2B5EF4-FFF2-40B4-BE49-F238E27FC236}">
                <a16:creationId xmlns:a16="http://schemas.microsoft.com/office/drawing/2014/main" id="{55F03F2D-2E51-47B2-9792-4A28229B2DA9}"/>
              </a:ext>
            </a:extLst>
          </p:cNvPr>
          <p:cNvSpPr>
            <a:spLocks noGrp="1"/>
          </p:cNvSpPr>
          <p:nvPr>
            <p:ph type="ftr" sz="quarter" idx="11"/>
          </p:nvPr>
        </p:nvSpPr>
        <p:spPr/>
        <p:txBody>
          <a:bodyPr/>
          <a:lstStyle/>
          <a:p>
            <a:endParaRPr lang="en-US"/>
          </a:p>
        </p:txBody>
      </p:sp>
      <p:sp>
        <p:nvSpPr>
          <p:cNvPr id="5" name="슬라이드 번호 개체 틀 4">
            <a:extLst>
              <a:ext uri="{FF2B5EF4-FFF2-40B4-BE49-F238E27FC236}">
                <a16:creationId xmlns:a16="http://schemas.microsoft.com/office/drawing/2014/main" id="{940E86D9-06A5-423D-9C31-F9F01177E1DF}"/>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1642341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000617D2-FE63-4DB6-BD5C-11EE21791A69}"/>
              </a:ext>
            </a:extLst>
          </p:cNvPr>
          <p:cNvSpPr>
            <a:spLocks noGrp="1"/>
          </p:cNvSpPr>
          <p:nvPr>
            <p:ph type="dt" sz="half" idx="10"/>
          </p:nvPr>
        </p:nvSpPr>
        <p:spPr/>
        <p:txBody>
          <a:bodyPr/>
          <a:lstStyle/>
          <a:p>
            <a:fld id="{6B51CB8E-6F81-4EA9-97B5-248BF9D22C8A}" type="datetimeFigureOut">
              <a:rPr lang="en-US" smtClean="0"/>
              <a:t>3/21/2018</a:t>
            </a:fld>
            <a:endParaRPr lang="en-US"/>
          </a:p>
        </p:txBody>
      </p:sp>
      <p:sp>
        <p:nvSpPr>
          <p:cNvPr id="3" name="바닥글 개체 틀 2">
            <a:extLst>
              <a:ext uri="{FF2B5EF4-FFF2-40B4-BE49-F238E27FC236}">
                <a16:creationId xmlns:a16="http://schemas.microsoft.com/office/drawing/2014/main" id="{1711279F-9A6E-47B3-9E75-B09142F8F915}"/>
              </a:ext>
            </a:extLst>
          </p:cNvPr>
          <p:cNvSpPr>
            <a:spLocks noGrp="1"/>
          </p:cNvSpPr>
          <p:nvPr>
            <p:ph type="ftr" sz="quarter" idx="11"/>
          </p:nvPr>
        </p:nvSpPr>
        <p:spPr/>
        <p:txBody>
          <a:bodyPr/>
          <a:lstStyle/>
          <a:p>
            <a:endParaRPr lang="en-US"/>
          </a:p>
        </p:txBody>
      </p:sp>
      <p:sp>
        <p:nvSpPr>
          <p:cNvPr id="4" name="슬라이드 번호 개체 틀 3">
            <a:extLst>
              <a:ext uri="{FF2B5EF4-FFF2-40B4-BE49-F238E27FC236}">
                <a16:creationId xmlns:a16="http://schemas.microsoft.com/office/drawing/2014/main" id="{FCC0ED18-147D-426B-9BDD-47F0CE69CC3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3177732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74A789-8FA9-42C2-BEFB-69AD8A34321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내용 개체 틀 2">
            <a:extLst>
              <a:ext uri="{FF2B5EF4-FFF2-40B4-BE49-F238E27FC236}">
                <a16:creationId xmlns:a16="http://schemas.microsoft.com/office/drawing/2014/main" id="{BCE60AB4-FE26-42E4-A180-FA71B0343B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텍스트 개체 틀 3">
            <a:extLst>
              <a:ext uri="{FF2B5EF4-FFF2-40B4-BE49-F238E27FC236}">
                <a16:creationId xmlns:a16="http://schemas.microsoft.com/office/drawing/2014/main" id="{2B10925E-B44B-4012-8EC7-A74A62A742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05E7592C-F6DE-4074-8536-7C84DF98C4F4}"/>
              </a:ext>
            </a:extLst>
          </p:cNvPr>
          <p:cNvSpPr>
            <a:spLocks noGrp="1"/>
          </p:cNvSpPr>
          <p:nvPr>
            <p:ph type="dt" sz="half" idx="10"/>
          </p:nvPr>
        </p:nvSpPr>
        <p:spPr/>
        <p:txBody>
          <a:bodyPr/>
          <a:lstStyle/>
          <a:p>
            <a:fld id="{6B51CB8E-6F81-4EA9-97B5-248BF9D22C8A}" type="datetimeFigureOut">
              <a:rPr lang="en-US" smtClean="0"/>
              <a:t>3/21/2018</a:t>
            </a:fld>
            <a:endParaRPr lang="en-US"/>
          </a:p>
        </p:txBody>
      </p:sp>
      <p:sp>
        <p:nvSpPr>
          <p:cNvPr id="6" name="바닥글 개체 틀 5">
            <a:extLst>
              <a:ext uri="{FF2B5EF4-FFF2-40B4-BE49-F238E27FC236}">
                <a16:creationId xmlns:a16="http://schemas.microsoft.com/office/drawing/2014/main" id="{8BFFF679-1D3C-43D1-879D-9C72BEF3F3F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80A742E1-198A-4145-A47C-D4260E3C8138}"/>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40021617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69BCFA-8E3D-45E0-A5E3-B6C5C7EAF26B}"/>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그림 개체 틀 2">
            <a:extLst>
              <a:ext uri="{FF2B5EF4-FFF2-40B4-BE49-F238E27FC236}">
                <a16:creationId xmlns:a16="http://schemas.microsoft.com/office/drawing/2014/main" id="{A4E60FB5-BCE8-4367-A632-8ACED77684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텍스트 개체 틀 3">
            <a:extLst>
              <a:ext uri="{FF2B5EF4-FFF2-40B4-BE49-F238E27FC236}">
                <a16:creationId xmlns:a16="http://schemas.microsoft.com/office/drawing/2014/main" id="{AE884AB8-4C1E-4530-9662-D640EA6EF7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142870E-9785-42DB-AFAE-67F54B4C5585}"/>
              </a:ext>
            </a:extLst>
          </p:cNvPr>
          <p:cNvSpPr>
            <a:spLocks noGrp="1"/>
          </p:cNvSpPr>
          <p:nvPr>
            <p:ph type="dt" sz="half" idx="10"/>
          </p:nvPr>
        </p:nvSpPr>
        <p:spPr/>
        <p:txBody>
          <a:bodyPr/>
          <a:lstStyle/>
          <a:p>
            <a:fld id="{6B51CB8E-6F81-4EA9-97B5-248BF9D22C8A}" type="datetimeFigureOut">
              <a:rPr lang="en-US" smtClean="0"/>
              <a:t>3/21/2018</a:t>
            </a:fld>
            <a:endParaRPr lang="en-US"/>
          </a:p>
        </p:txBody>
      </p:sp>
      <p:sp>
        <p:nvSpPr>
          <p:cNvPr id="6" name="바닥글 개체 틀 5">
            <a:extLst>
              <a:ext uri="{FF2B5EF4-FFF2-40B4-BE49-F238E27FC236}">
                <a16:creationId xmlns:a16="http://schemas.microsoft.com/office/drawing/2014/main" id="{894BBD24-2034-4783-814F-E89080E8BF95}"/>
              </a:ext>
            </a:extLst>
          </p:cNvPr>
          <p:cNvSpPr>
            <a:spLocks noGrp="1"/>
          </p:cNvSpPr>
          <p:nvPr>
            <p:ph type="ftr" sz="quarter" idx="11"/>
          </p:nvPr>
        </p:nvSpPr>
        <p:spPr/>
        <p:txBody>
          <a:bodyPr/>
          <a:lstStyle/>
          <a:p>
            <a:endParaRPr lang="en-US"/>
          </a:p>
        </p:txBody>
      </p:sp>
      <p:sp>
        <p:nvSpPr>
          <p:cNvPr id="7" name="슬라이드 번호 개체 틀 6">
            <a:extLst>
              <a:ext uri="{FF2B5EF4-FFF2-40B4-BE49-F238E27FC236}">
                <a16:creationId xmlns:a16="http://schemas.microsoft.com/office/drawing/2014/main" id="{DE4CF8DE-F01A-4779-9306-48C82822047E}"/>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6240449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B82F0D-D432-49E7-9257-67F148EFBE20}"/>
              </a:ext>
            </a:extLst>
          </p:cNvPr>
          <p:cNvSpPr>
            <a:spLocks noGrp="1"/>
          </p:cNvSpPr>
          <p:nvPr>
            <p:ph type="title"/>
          </p:nvPr>
        </p:nvSpPr>
        <p:spPr/>
        <p:txBody>
          <a:bodyPr/>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50BB3D6E-B8FE-40AC-9CE1-EE9EAC32405E}"/>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C986245-99D4-4649-AC16-BA8FCD2187BF}"/>
              </a:ext>
            </a:extLst>
          </p:cNvPr>
          <p:cNvSpPr>
            <a:spLocks noGrp="1"/>
          </p:cNvSpPr>
          <p:nvPr>
            <p:ph type="dt" sz="half" idx="10"/>
          </p:nvPr>
        </p:nvSpPr>
        <p:spPr/>
        <p:txBody>
          <a:bodyPr/>
          <a:lstStyle/>
          <a:p>
            <a:fld id="{6B51CB8E-6F81-4EA9-97B5-248BF9D22C8A}" type="datetimeFigureOut">
              <a:rPr lang="en-US" smtClean="0"/>
              <a:t>3/21/2018</a:t>
            </a:fld>
            <a:endParaRPr lang="en-US"/>
          </a:p>
        </p:txBody>
      </p:sp>
      <p:sp>
        <p:nvSpPr>
          <p:cNvPr id="5" name="바닥글 개체 틀 4">
            <a:extLst>
              <a:ext uri="{FF2B5EF4-FFF2-40B4-BE49-F238E27FC236}">
                <a16:creationId xmlns:a16="http://schemas.microsoft.com/office/drawing/2014/main" id="{05575F22-0CA1-46F3-8E0C-39BE6690750D}"/>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B40E33A0-8EEF-46E0-BCCB-52BD11470EF7}"/>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5131457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13BE6CC-C1FF-4C17-B34B-0A76B083633E}"/>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세로 텍스트 개체 틀 2">
            <a:extLst>
              <a:ext uri="{FF2B5EF4-FFF2-40B4-BE49-F238E27FC236}">
                <a16:creationId xmlns:a16="http://schemas.microsoft.com/office/drawing/2014/main" id="{A4585AA7-3746-4B4D-AF4D-FCC51BCC64BD}"/>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6E4FA8AE-CD0B-461D-82D3-C07B14B5B226}"/>
              </a:ext>
            </a:extLst>
          </p:cNvPr>
          <p:cNvSpPr>
            <a:spLocks noGrp="1"/>
          </p:cNvSpPr>
          <p:nvPr>
            <p:ph type="dt" sz="half" idx="10"/>
          </p:nvPr>
        </p:nvSpPr>
        <p:spPr/>
        <p:txBody>
          <a:bodyPr/>
          <a:lstStyle/>
          <a:p>
            <a:fld id="{6B51CB8E-6F81-4EA9-97B5-248BF9D22C8A}" type="datetimeFigureOut">
              <a:rPr lang="en-US" smtClean="0"/>
              <a:t>3/21/2018</a:t>
            </a:fld>
            <a:endParaRPr lang="en-US"/>
          </a:p>
        </p:txBody>
      </p:sp>
      <p:sp>
        <p:nvSpPr>
          <p:cNvPr id="5" name="바닥글 개체 틀 4">
            <a:extLst>
              <a:ext uri="{FF2B5EF4-FFF2-40B4-BE49-F238E27FC236}">
                <a16:creationId xmlns:a16="http://schemas.microsoft.com/office/drawing/2014/main" id="{E224693C-45D0-4197-81DE-EFF297EB1530}"/>
              </a:ext>
            </a:extLst>
          </p:cNvPr>
          <p:cNvSpPr>
            <a:spLocks noGrp="1"/>
          </p:cNvSpPr>
          <p:nvPr>
            <p:ph type="ftr" sz="quarter" idx="11"/>
          </p:nvPr>
        </p:nvSpPr>
        <p:spPr/>
        <p:txBody>
          <a:bodyPr/>
          <a:lstStyle/>
          <a:p>
            <a:endParaRPr lang="en-US"/>
          </a:p>
        </p:txBody>
      </p:sp>
      <p:sp>
        <p:nvSpPr>
          <p:cNvPr id="6" name="슬라이드 번호 개체 틀 5">
            <a:extLst>
              <a:ext uri="{FF2B5EF4-FFF2-40B4-BE49-F238E27FC236}">
                <a16:creationId xmlns:a16="http://schemas.microsoft.com/office/drawing/2014/main" id="{52520C0C-F115-4D8E-9B96-6D53880C9C33}"/>
              </a:ext>
            </a:extLst>
          </p:cNvPr>
          <p:cNvSpPr>
            <a:spLocks noGrp="1"/>
          </p:cNvSpPr>
          <p:nvPr>
            <p:ph type="sldNum" sz="quarter" idx="12"/>
          </p:nvPr>
        </p:nvSpPr>
        <p:spPr/>
        <p:txBody>
          <a:bodyPr/>
          <a:lstStyle/>
          <a:p>
            <a:fld id="{ADDC7EB3-5AE8-4FED-A667-9442F52E7975}" type="slidenum">
              <a:rPr lang="en-US" smtClean="0"/>
              <a:t>‹#›</a:t>
            </a:fld>
            <a:endParaRPr lang="en-US"/>
          </a:p>
        </p:txBody>
      </p:sp>
    </p:spTree>
    <p:extLst>
      <p:ext uri="{BB962C8B-B14F-4D97-AF65-F5344CB8AC3E}">
        <p14:creationId xmlns:p14="http://schemas.microsoft.com/office/powerpoint/2010/main" val="2797209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5127" y="365760"/>
            <a:ext cx="10515600" cy="132556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845127" y="1828800"/>
            <a:ext cx="10515600" cy="4351337"/>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fld id="{6B51CB8E-6F81-4EA9-97B5-248BF9D22C8A}" type="datetimeFigureOut">
              <a:rPr lang="en-US" smtClean="0"/>
              <a:t>3/21/2018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617527" y="6356350"/>
            <a:ext cx="2743200"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398897856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2" pitchFamily="18"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2" pitchFamily="18"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2" pitchFamily="18"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2" pitchFamily="18" charset="2"/>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279CF3A-34F9-4D70-B5AF-11E9FE85AF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텍스트 개체 틀 2">
            <a:extLst>
              <a:ext uri="{FF2B5EF4-FFF2-40B4-BE49-F238E27FC236}">
                <a16:creationId xmlns:a16="http://schemas.microsoft.com/office/drawing/2014/main" id="{BFEA94A1-E614-4C83-97E7-4191D86595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p>
        </p:txBody>
      </p:sp>
      <p:sp>
        <p:nvSpPr>
          <p:cNvPr id="4" name="날짜 개체 틀 3">
            <a:extLst>
              <a:ext uri="{FF2B5EF4-FFF2-40B4-BE49-F238E27FC236}">
                <a16:creationId xmlns:a16="http://schemas.microsoft.com/office/drawing/2014/main" id="{2B4E1FAA-6D6A-4AA7-9C6D-935F7F5DF9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51CB8E-6F81-4EA9-97B5-248BF9D22C8A}" type="datetimeFigureOut">
              <a:rPr lang="en-US" smtClean="0"/>
              <a:t>3/21/2018</a:t>
            </a:fld>
            <a:endParaRPr lang="en-US"/>
          </a:p>
        </p:txBody>
      </p:sp>
      <p:sp>
        <p:nvSpPr>
          <p:cNvPr id="5" name="바닥글 개체 틀 4">
            <a:extLst>
              <a:ext uri="{FF2B5EF4-FFF2-40B4-BE49-F238E27FC236}">
                <a16:creationId xmlns:a16="http://schemas.microsoft.com/office/drawing/2014/main" id="{CF9DAEA3-9658-4897-9B7E-6310FDF243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슬라이드 번호 개체 틀 5">
            <a:extLst>
              <a:ext uri="{FF2B5EF4-FFF2-40B4-BE49-F238E27FC236}">
                <a16:creationId xmlns:a16="http://schemas.microsoft.com/office/drawing/2014/main" id="{8B099C83-9D8F-49C9-BAC8-4DA77C413E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DC7EB3-5AE8-4FED-A667-9442F52E7975}" type="slidenum">
              <a:rPr lang="en-US" smtClean="0"/>
              <a:t>‹#›</a:t>
            </a:fld>
            <a:endParaRPr lang="en-US"/>
          </a:p>
        </p:txBody>
      </p:sp>
    </p:spTree>
    <p:extLst>
      <p:ext uri="{BB962C8B-B14F-4D97-AF65-F5344CB8AC3E}">
        <p14:creationId xmlns:p14="http://schemas.microsoft.com/office/powerpoint/2010/main" val="176567202"/>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76D051-E4B5-482E-B56D-9743B8F63B61}"/>
              </a:ext>
            </a:extLst>
          </p:cNvPr>
          <p:cNvSpPr>
            <a:spLocks noGrp="1"/>
          </p:cNvSpPr>
          <p:nvPr>
            <p:ph type="ctrTitle"/>
          </p:nvPr>
        </p:nvSpPr>
        <p:spPr>
          <a:xfrm>
            <a:off x="1162975" y="1839318"/>
            <a:ext cx="9866050" cy="820029"/>
          </a:xfrm>
        </p:spPr>
        <p:txBody>
          <a:bodyPr>
            <a:noAutofit/>
          </a:bodyPr>
          <a:lstStyle/>
          <a:p>
            <a:r>
              <a:rPr lang="en-US" dirty="0">
                <a:latin typeface="Franklin Gothic Book" panose="020B0503020102020204" pitchFamily="34" charset="0"/>
              </a:rPr>
              <a:t>Social Network Analysis</a:t>
            </a:r>
          </a:p>
        </p:txBody>
      </p:sp>
      <p:sp>
        <p:nvSpPr>
          <p:cNvPr id="3" name="부제목 2">
            <a:extLst>
              <a:ext uri="{FF2B5EF4-FFF2-40B4-BE49-F238E27FC236}">
                <a16:creationId xmlns:a16="http://schemas.microsoft.com/office/drawing/2014/main" id="{9C1003AF-8E5C-46DF-8B69-6FDCCB43535B}"/>
              </a:ext>
            </a:extLst>
          </p:cNvPr>
          <p:cNvSpPr>
            <a:spLocks noGrp="1"/>
          </p:cNvSpPr>
          <p:nvPr>
            <p:ph type="subTitle" idx="1"/>
          </p:nvPr>
        </p:nvSpPr>
        <p:spPr>
          <a:xfrm>
            <a:off x="3311370" y="5032044"/>
            <a:ext cx="8528482" cy="1655762"/>
          </a:xfrm>
        </p:spPr>
        <p:txBody>
          <a:bodyPr>
            <a:normAutofit fontScale="92500" lnSpcReduction="20000"/>
          </a:bodyPr>
          <a:lstStyle/>
          <a:p>
            <a:pPr algn="r"/>
            <a:r>
              <a:rPr lang="en-US" dirty="0">
                <a:latin typeface="Franklin Gothic Book" panose="020B0503020102020204" pitchFamily="34" charset="0"/>
              </a:rPr>
              <a:t>Prof. </a:t>
            </a:r>
            <a:r>
              <a:rPr lang="en-US" dirty="0" err="1">
                <a:latin typeface="Franklin Gothic Book" panose="020B0503020102020204" pitchFamily="34" charset="0"/>
              </a:rPr>
              <a:t>Keeheon</a:t>
            </a:r>
            <a:r>
              <a:rPr lang="en-US" dirty="0">
                <a:latin typeface="Franklin Gothic Book" panose="020B0503020102020204" pitchFamily="34" charset="0"/>
              </a:rPr>
              <a:t> Lee</a:t>
            </a:r>
          </a:p>
          <a:p>
            <a:pPr algn="r"/>
            <a:endParaRPr lang="en-US" dirty="0">
              <a:latin typeface="Franklin Gothic Book" panose="020B0503020102020204" pitchFamily="34" charset="0"/>
            </a:endParaRPr>
          </a:p>
          <a:p>
            <a:pPr algn="r"/>
            <a:r>
              <a:rPr lang="en-US" dirty="0">
                <a:latin typeface="Franklin Gothic Book" panose="020B0503020102020204" pitchFamily="34" charset="0"/>
              </a:rPr>
              <a:t>TA. </a:t>
            </a:r>
            <a:r>
              <a:rPr lang="en-US" dirty="0" err="1">
                <a:latin typeface="Franklin Gothic Book" panose="020B0503020102020204" pitchFamily="34" charset="0"/>
              </a:rPr>
              <a:t>Jaekeun</a:t>
            </a:r>
            <a:r>
              <a:rPr lang="en-US" dirty="0">
                <a:latin typeface="Franklin Gothic Book" panose="020B0503020102020204" pitchFamily="34" charset="0"/>
              </a:rPr>
              <a:t> Lee</a:t>
            </a:r>
            <a:br>
              <a:rPr lang="en-US" dirty="0">
                <a:latin typeface="Franklin Gothic Book" panose="020B0503020102020204" pitchFamily="34" charset="0"/>
              </a:rPr>
            </a:br>
            <a:r>
              <a:rPr lang="en-US" dirty="0">
                <a:latin typeface="Franklin Gothic Book" panose="020B0503020102020204" pitchFamily="34" charset="0"/>
              </a:rPr>
              <a:t>010-5599-9411</a:t>
            </a:r>
            <a:br>
              <a:rPr lang="en-US" dirty="0">
                <a:latin typeface="Franklin Gothic Book" panose="020B0503020102020204" pitchFamily="34" charset="0"/>
              </a:rPr>
            </a:br>
            <a:r>
              <a:rPr lang="en-US" dirty="0">
                <a:latin typeface="Franklin Gothic Book" panose="020B0503020102020204" pitchFamily="34" charset="0"/>
              </a:rPr>
              <a:t>agdal1125@gmail.com</a:t>
            </a:r>
          </a:p>
        </p:txBody>
      </p:sp>
      <p:sp>
        <p:nvSpPr>
          <p:cNvPr id="4" name="제목 1">
            <a:extLst>
              <a:ext uri="{FF2B5EF4-FFF2-40B4-BE49-F238E27FC236}">
                <a16:creationId xmlns:a16="http://schemas.microsoft.com/office/drawing/2014/main" id="{2FBAF3C4-19D9-4DA7-8BC8-3BB32DC4E825}"/>
              </a:ext>
            </a:extLst>
          </p:cNvPr>
          <p:cNvSpPr txBox="1">
            <a:spLocks/>
          </p:cNvSpPr>
          <p:nvPr/>
        </p:nvSpPr>
        <p:spPr>
          <a:xfrm>
            <a:off x="838200" y="2249333"/>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dirty="0">
                <a:latin typeface="Franklin Gothic Book" panose="020B0503020102020204" pitchFamily="34" charset="0"/>
              </a:rPr>
              <a:t>Basic Methods for Analyzing Networks</a:t>
            </a:r>
          </a:p>
        </p:txBody>
      </p:sp>
    </p:spTree>
    <p:extLst>
      <p:ext uri="{BB962C8B-B14F-4D97-AF65-F5344CB8AC3E}">
        <p14:creationId xmlns:p14="http://schemas.microsoft.com/office/powerpoint/2010/main" val="2579392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0BFF4308-7F5A-4007-8881-9215BE7FAC8F}"/>
              </a:ext>
            </a:extLst>
          </p:cNvPr>
          <p:cNvSpPr>
            <a:spLocks noGrp="1"/>
          </p:cNvSpPr>
          <p:nvPr>
            <p:ph type="title"/>
          </p:nvPr>
        </p:nvSpPr>
        <p:spPr>
          <a:xfrm>
            <a:off x="838200" y="365125"/>
            <a:ext cx="12451672" cy="1339388"/>
          </a:xfrm>
        </p:spPr>
        <p:txBody>
          <a:bodyPr>
            <a:normAutofit/>
          </a:bodyPr>
          <a:lstStyle/>
          <a:p>
            <a:r>
              <a:rPr lang="en-US" dirty="0">
                <a:latin typeface="Franklin Gothic Book" panose="020B0503020102020204" pitchFamily="34" charset="0"/>
              </a:rPr>
              <a:t>Table of Contents</a:t>
            </a:r>
          </a:p>
        </p:txBody>
      </p:sp>
      <p:sp>
        <p:nvSpPr>
          <p:cNvPr id="4" name="직사각형 3">
            <a:extLst>
              <a:ext uri="{FF2B5EF4-FFF2-40B4-BE49-F238E27FC236}">
                <a16:creationId xmlns:a16="http://schemas.microsoft.com/office/drawing/2014/main" id="{4C2C6BA2-5B88-4692-833B-27E8DDA27143}"/>
              </a:ext>
            </a:extLst>
          </p:cNvPr>
          <p:cNvSpPr/>
          <p:nvPr/>
        </p:nvSpPr>
        <p:spPr>
          <a:xfrm>
            <a:off x="1453717" y="1704513"/>
            <a:ext cx="10738283" cy="3539430"/>
          </a:xfrm>
          <a:prstGeom prst="rect">
            <a:avLst/>
          </a:prstGeom>
        </p:spPr>
        <p:txBody>
          <a:bodyPr wrap="square">
            <a:spAutoFit/>
          </a:bodyPr>
          <a:lstStyle/>
          <a:p>
            <a:pPr marL="457200" indent="-457200">
              <a:buAutoNum type="arabicPeriod"/>
            </a:pPr>
            <a:r>
              <a:rPr lang="en-US" sz="3200" dirty="0">
                <a:latin typeface="Franklin Gothic Book" panose="020B0503020102020204" pitchFamily="34" charset="0"/>
              </a:rPr>
              <a:t>Graphs &amp; Matrices</a:t>
            </a:r>
          </a:p>
          <a:p>
            <a:pPr marL="457200" indent="-457200">
              <a:buAutoNum type="arabicPeriod"/>
            </a:pPr>
            <a:r>
              <a:rPr lang="en-US" sz="3200" dirty="0">
                <a:latin typeface="Franklin Gothic Book" panose="020B0503020102020204" pitchFamily="34" charset="0"/>
              </a:rPr>
              <a:t>Relationship Measures</a:t>
            </a:r>
          </a:p>
          <a:p>
            <a:pPr marL="457200" indent="-457200">
              <a:buAutoNum type="arabicPeriod"/>
            </a:pPr>
            <a:r>
              <a:rPr lang="en-US" sz="3200" dirty="0">
                <a:latin typeface="Franklin Gothic Book" panose="020B0503020102020204" pitchFamily="34" charset="0"/>
              </a:rPr>
              <a:t>Centrality and Prestige</a:t>
            </a:r>
          </a:p>
          <a:p>
            <a:pPr marL="457200" indent="-457200">
              <a:buAutoNum type="arabicPeriod"/>
            </a:pPr>
            <a:r>
              <a:rPr lang="en-US" sz="3200" dirty="0">
                <a:latin typeface="Franklin Gothic Book" panose="020B0503020102020204" pitchFamily="34" charset="0"/>
              </a:rPr>
              <a:t>Cliques</a:t>
            </a:r>
          </a:p>
          <a:p>
            <a:pPr marL="457200" indent="-457200">
              <a:buAutoNum type="arabicPeriod"/>
            </a:pPr>
            <a:r>
              <a:rPr lang="en-US" sz="3200" dirty="0">
                <a:latin typeface="Franklin Gothic Book" panose="020B0503020102020204" pitchFamily="34" charset="0"/>
              </a:rPr>
              <a:t>Structural Equivalence</a:t>
            </a:r>
          </a:p>
          <a:p>
            <a:pPr marL="457200" indent="-457200">
              <a:buAutoNum type="arabicPeriod"/>
            </a:pPr>
            <a:r>
              <a:rPr lang="en-US" sz="3200" dirty="0">
                <a:latin typeface="Franklin Gothic Book" panose="020B0503020102020204" pitchFamily="34" charset="0"/>
              </a:rPr>
              <a:t>Visual Displays</a:t>
            </a:r>
          </a:p>
          <a:p>
            <a:pPr marL="457200" indent="-457200">
              <a:buAutoNum type="arabicPeriod"/>
            </a:pPr>
            <a:r>
              <a:rPr lang="en-US" sz="3200" dirty="0" err="1">
                <a:latin typeface="Franklin Gothic Book" panose="020B0503020102020204" pitchFamily="34" charset="0"/>
              </a:rPr>
              <a:t>Blockmodels</a:t>
            </a:r>
            <a:endParaRPr lang="en-US" sz="3200" dirty="0">
              <a:latin typeface="Franklin Gothic Book" panose="020B0503020102020204" pitchFamily="34" charset="0"/>
            </a:endParaRPr>
          </a:p>
        </p:txBody>
      </p:sp>
    </p:spTree>
    <p:extLst>
      <p:ext uri="{BB962C8B-B14F-4D97-AF65-F5344CB8AC3E}">
        <p14:creationId xmlns:p14="http://schemas.microsoft.com/office/powerpoint/2010/main" val="4225396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t>1. Graphs &amp; Matrices</a:t>
            </a:r>
          </a:p>
        </p:txBody>
      </p:sp>
      <p:sp>
        <p:nvSpPr>
          <p:cNvPr id="20" name="직사각형 19">
            <a:extLst>
              <a:ext uri="{FF2B5EF4-FFF2-40B4-BE49-F238E27FC236}">
                <a16:creationId xmlns:a16="http://schemas.microsoft.com/office/drawing/2014/main" id="{E28D416D-B4E6-4F2E-B7C8-B73B5B7280DB}"/>
              </a:ext>
            </a:extLst>
          </p:cNvPr>
          <p:cNvSpPr/>
          <p:nvPr/>
        </p:nvSpPr>
        <p:spPr>
          <a:xfrm>
            <a:off x="690562" y="1350578"/>
            <a:ext cx="10810875" cy="400110"/>
          </a:xfrm>
          <a:prstGeom prst="rect">
            <a:avLst/>
          </a:prstGeom>
        </p:spPr>
        <p:txBody>
          <a:bodyPr wrap="square">
            <a:spAutoFit/>
          </a:bodyPr>
          <a:lstStyle/>
          <a:p>
            <a:r>
              <a:rPr lang="en-US" sz="2000" dirty="0"/>
              <a:t>Social network data can be represented and analyzed in two major methods: graphs and matrices</a:t>
            </a:r>
          </a:p>
        </p:txBody>
      </p:sp>
      <p:grpSp>
        <p:nvGrpSpPr>
          <p:cNvPr id="29" name="그룹 28">
            <a:extLst>
              <a:ext uri="{FF2B5EF4-FFF2-40B4-BE49-F238E27FC236}">
                <a16:creationId xmlns:a16="http://schemas.microsoft.com/office/drawing/2014/main" id="{64426521-E838-491B-9C3F-5179DA5B4CA9}"/>
              </a:ext>
            </a:extLst>
          </p:cNvPr>
          <p:cNvGrpSpPr/>
          <p:nvPr/>
        </p:nvGrpSpPr>
        <p:grpSpPr>
          <a:xfrm>
            <a:off x="838200" y="2414163"/>
            <a:ext cx="3841810" cy="1817656"/>
            <a:chOff x="1032029" y="2915361"/>
            <a:chExt cx="3841810" cy="1817656"/>
          </a:xfrm>
        </p:grpSpPr>
        <p:sp>
          <p:nvSpPr>
            <p:cNvPr id="3" name="타원 2">
              <a:extLst>
                <a:ext uri="{FF2B5EF4-FFF2-40B4-BE49-F238E27FC236}">
                  <a16:creationId xmlns:a16="http://schemas.microsoft.com/office/drawing/2014/main" id="{57D36DC0-3927-4F4D-9E5D-B4F9959B2321}"/>
                </a:ext>
              </a:extLst>
            </p:cNvPr>
            <p:cNvSpPr/>
            <p:nvPr/>
          </p:nvSpPr>
          <p:spPr>
            <a:xfrm>
              <a:off x="1032029" y="2920276"/>
              <a:ext cx="612559" cy="6125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 name="타원 6">
              <a:extLst>
                <a:ext uri="{FF2B5EF4-FFF2-40B4-BE49-F238E27FC236}">
                  <a16:creationId xmlns:a16="http://schemas.microsoft.com/office/drawing/2014/main" id="{51C9CD87-6612-4C01-829F-237FA08F02BA}"/>
                </a:ext>
              </a:extLst>
            </p:cNvPr>
            <p:cNvSpPr/>
            <p:nvPr/>
          </p:nvSpPr>
          <p:spPr>
            <a:xfrm>
              <a:off x="4261280" y="2915361"/>
              <a:ext cx="612559" cy="6125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9" name="타원 8">
              <a:extLst>
                <a:ext uri="{FF2B5EF4-FFF2-40B4-BE49-F238E27FC236}">
                  <a16:creationId xmlns:a16="http://schemas.microsoft.com/office/drawing/2014/main" id="{80297837-DB6B-43A1-A6D7-72B457F8E8EC}"/>
                </a:ext>
              </a:extLst>
            </p:cNvPr>
            <p:cNvSpPr/>
            <p:nvPr/>
          </p:nvSpPr>
          <p:spPr>
            <a:xfrm>
              <a:off x="3195961" y="4120457"/>
              <a:ext cx="612559" cy="6125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0" name="타원 9">
              <a:extLst>
                <a:ext uri="{FF2B5EF4-FFF2-40B4-BE49-F238E27FC236}">
                  <a16:creationId xmlns:a16="http://schemas.microsoft.com/office/drawing/2014/main" id="{3FF78060-7390-4046-8B79-689D713AD9D0}"/>
                </a:ext>
              </a:extLst>
            </p:cNvPr>
            <p:cNvSpPr/>
            <p:nvPr/>
          </p:nvSpPr>
          <p:spPr>
            <a:xfrm>
              <a:off x="2099569" y="2920276"/>
              <a:ext cx="612559" cy="6125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 name="타원 10">
              <a:extLst>
                <a:ext uri="{FF2B5EF4-FFF2-40B4-BE49-F238E27FC236}">
                  <a16:creationId xmlns:a16="http://schemas.microsoft.com/office/drawing/2014/main" id="{F3C4F39D-74EC-4DBB-8B2C-DBB64E886456}"/>
                </a:ext>
              </a:extLst>
            </p:cNvPr>
            <p:cNvSpPr/>
            <p:nvPr/>
          </p:nvSpPr>
          <p:spPr>
            <a:xfrm>
              <a:off x="2099568" y="4120458"/>
              <a:ext cx="612559" cy="6125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5" name="직선 연결선 4">
              <a:extLst>
                <a:ext uri="{FF2B5EF4-FFF2-40B4-BE49-F238E27FC236}">
                  <a16:creationId xmlns:a16="http://schemas.microsoft.com/office/drawing/2014/main" id="{9FF8E5AE-20F1-42EF-B762-537E2745F28E}"/>
                </a:ext>
              </a:extLst>
            </p:cNvPr>
            <p:cNvCxnSpPr>
              <a:stCxn id="3" idx="6"/>
              <a:endCxn id="10" idx="2"/>
            </p:cNvCxnSpPr>
            <p:nvPr/>
          </p:nvCxnSpPr>
          <p:spPr>
            <a:xfrm>
              <a:off x="1644588" y="3226556"/>
              <a:ext cx="45498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직선 연결선 13">
              <a:extLst>
                <a:ext uri="{FF2B5EF4-FFF2-40B4-BE49-F238E27FC236}">
                  <a16:creationId xmlns:a16="http://schemas.microsoft.com/office/drawing/2014/main" id="{5F237106-8A22-496E-997D-77867AEE4896}"/>
                </a:ext>
              </a:extLst>
            </p:cNvPr>
            <p:cNvCxnSpPr>
              <a:cxnSpLocks/>
              <a:stCxn id="11" idx="0"/>
              <a:endCxn id="10" idx="4"/>
            </p:cNvCxnSpPr>
            <p:nvPr/>
          </p:nvCxnSpPr>
          <p:spPr>
            <a:xfrm flipV="1">
              <a:off x="2405848" y="3532835"/>
              <a:ext cx="1" cy="58762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C9DCC127-1BAE-4886-932F-F66E21F1CE56}"/>
                </a:ext>
              </a:extLst>
            </p:cNvPr>
            <p:cNvCxnSpPr>
              <a:cxnSpLocks/>
              <a:stCxn id="11" idx="6"/>
              <a:endCxn id="9" idx="2"/>
            </p:cNvCxnSpPr>
            <p:nvPr/>
          </p:nvCxnSpPr>
          <p:spPr>
            <a:xfrm flipV="1">
              <a:off x="2712127" y="4426737"/>
              <a:ext cx="483834"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직선 연결선 18">
              <a:extLst>
                <a:ext uri="{FF2B5EF4-FFF2-40B4-BE49-F238E27FC236}">
                  <a16:creationId xmlns:a16="http://schemas.microsoft.com/office/drawing/2014/main" id="{41AD73FF-9EF5-4968-971A-C7A33D404DD8}"/>
                </a:ext>
              </a:extLst>
            </p:cNvPr>
            <p:cNvCxnSpPr>
              <a:cxnSpLocks/>
              <a:stCxn id="7" idx="2"/>
              <a:endCxn id="10" idx="6"/>
            </p:cNvCxnSpPr>
            <p:nvPr/>
          </p:nvCxnSpPr>
          <p:spPr>
            <a:xfrm flipH="1">
              <a:off x="2712128" y="3221641"/>
              <a:ext cx="1549152" cy="4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3BED0F3C-BCDB-4BC3-B80B-30193EF67132}"/>
                </a:ext>
              </a:extLst>
            </p:cNvPr>
            <p:cNvCxnSpPr>
              <a:cxnSpLocks/>
              <a:stCxn id="7" idx="3"/>
              <a:endCxn id="9" idx="7"/>
            </p:cNvCxnSpPr>
            <p:nvPr/>
          </p:nvCxnSpPr>
          <p:spPr>
            <a:xfrm flipH="1">
              <a:off x="3718813" y="3438213"/>
              <a:ext cx="632174" cy="771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F9B2F2C8-04A8-4CEB-A796-CC84BA7FBA21}"/>
                </a:ext>
              </a:extLst>
            </p:cNvPr>
            <p:cNvCxnSpPr>
              <a:cxnSpLocks/>
              <a:stCxn id="3" idx="5"/>
              <a:endCxn id="9" idx="1"/>
            </p:cNvCxnSpPr>
            <p:nvPr/>
          </p:nvCxnSpPr>
          <p:spPr>
            <a:xfrm>
              <a:off x="1554881" y="3443128"/>
              <a:ext cx="1730787" cy="767036"/>
            </a:xfrm>
            <a:prstGeom prst="line">
              <a:avLst/>
            </a:prstGeom>
          </p:spPr>
          <p:style>
            <a:lnRef idx="1">
              <a:schemeClr val="accent1"/>
            </a:lnRef>
            <a:fillRef idx="0">
              <a:schemeClr val="accent1"/>
            </a:fillRef>
            <a:effectRef idx="0">
              <a:schemeClr val="accent1"/>
            </a:effectRef>
            <a:fontRef idx="minor">
              <a:schemeClr val="tx1"/>
            </a:fontRef>
          </p:style>
        </p:cxnSp>
      </p:grpSp>
      <p:sp>
        <p:nvSpPr>
          <p:cNvPr id="30" name="직사각형 29">
            <a:extLst>
              <a:ext uri="{FF2B5EF4-FFF2-40B4-BE49-F238E27FC236}">
                <a16:creationId xmlns:a16="http://schemas.microsoft.com/office/drawing/2014/main" id="{E9255D52-816F-4465-B2C0-80321422394D}"/>
              </a:ext>
            </a:extLst>
          </p:cNvPr>
          <p:cNvSpPr/>
          <p:nvPr/>
        </p:nvSpPr>
        <p:spPr>
          <a:xfrm>
            <a:off x="2532667" y="4737981"/>
            <a:ext cx="760208" cy="369332"/>
          </a:xfrm>
          <a:prstGeom prst="rect">
            <a:avLst/>
          </a:prstGeom>
        </p:spPr>
        <p:txBody>
          <a:bodyPr wrap="none">
            <a:spAutoFit/>
          </a:bodyPr>
          <a:lstStyle/>
          <a:p>
            <a:r>
              <a:rPr lang="en-US" dirty="0"/>
              <a:t>Graph</a:t>
            </a:r>
          </a:p>
        </p:txBody>
      </p:sp>
      <p:sp>
        <p:nvSpPr>
          <p:cNvPr id="31" name="직사각형 30">
            <a:extLst>
              <a:ext uri="{FF2B5EF4-FFF2-40B4-BE49-F238E27FC236}">
                <a16:creationId xmlns:a16="http://schemas.microsoft.com/office/drawing/2014/main" id="{F1780B0D-627D-494D-B630-47B7882F3135}"/>
              </a:ext>
            </a:extLst>
          </p:cNvPr>
          <p:cNvSpPr/>
          <p:nvPr/>
        </p:nvSpPr>
        <p:spPr>
          <a:xfrm>
            <a:off x="8138919" y="4719662"/>
            <a:ext cx="799706" cy="369332"/>
          </a:xfrm>
          <a:prstGeom prst="rect">
            <a:avLst/>
          </a:prstGeom>
        </p:spPr>
        <p:txBody>
          <a:bodyPr wrap="none">
            <a:spAutoFit/>
          </a:bodyPr>
          <a:lstStyle/>
          <a:p>
            <a:r>
              <a:rPr lang="en-US" dirty="0"/>
              <a:t>Matrix</a:t>
            </a:r>
          </a:p>
        </p:txBody>
      </p:sp>
      <p:graphicFrame>
        <p:nvGraphicFramePr>
          <p:cNvPr id="32" name="표 31">
            <a:extLst>
              <a:ext uri="{FF2B5EF4-FFF2-40B4-BE49-F238E27FC236}">
                <a16:creationId xmlns:a16="http://schemas.microsoft.com/office/drawing/2014/main" id="{4D21FBAB-F992-4C18-ADFB-4A6824139CB5}"/>
              </a:ext>
            </a:extLst>
          </p:cNvPr>
          <p:cNvGraphicFramePr>
            <a:graphicFrameLocks noGrp="1"/>
          </p:cNvGraphicFramePr>
          <p:nvPr>
            <p:extLst>
              <p:ext uri="{D42A27DB-BD31-4B8C-83A1-F6EECF244321}">
                <p14:modId xmlns:p14="http://schemas.microsoft.com/office/powerpoint/2010/main" val="3566262850"/>
              </p:ext>
            </p:extLst>
          </p:nvPr>
        </p:nvGraphicFramePr>
        <p:xfrm>
          <a:off x="6810841" y="2032423"/>
          <a:ext cx="3045042" cy="2544498"/>
        </p:xfrm>
        <a:graphic>
          <a:graphicData uri="http://schemas.openxmlformats.org/drawingml/2006/table">
            <a:tbl>
              <a:tblPr firstRow="1" bandRow="1">
                <a:tableStyleId>{2D5ABB26-0587-4C30-8999-92F81FD0307C}</a:tableStyleId>
              </a:tblPr>
              <a:tblGrid>
                <a:gridCol w="507507">
                  <a:extLst>
                    <a:ext uri="{9D8B030D-6E8A-4147-A177-3AD203B41FA5}">
                      <a16:colId xmlns:a16="http://schemas.microsoft.com/office/drawing/2014/main" val="2992714167"/>
                    </a:ext>
                  </a:extLst>
                </a:gridCol>
                <a:gridCol w="507507">
                  <a:extLst>
                    <a:ext uri="{9D8B030D-6E8A-4147-A177-3AD203B41FA5}">
                      <a16:colId xmlns:a16="http://schemas.microsoft.com/office/drawing/2014/main" val="913128364"/>
                    </a:ext>
                  </a:extLst>
                </a:gridCol>
                <a:gridCol w="507507">
                  <a:extLst>
                    <a:ext uri="{9D8B030D-6E8A-4147-A177-3AD203B41FA5}">
                      <a16:colId xmlns:a16="http://schemas.microsoft.com/office/drawing/2014/main" val="552116854"/>
                    </a:ext>
                  </a:extLst>
                </a:gridCol>
                <a:gridCol w="507507">
                  <a:extLst>
                    <a:ext uri="{9D8B030D-6E8A-4147-A177-3AD203B41FA5}">
                      <a16:colId xmlns:a16="http://schemas.microsoft.com/office/drawing/2014/main" val="3962807999"/>
                    </a:ext>
                  </a:extLst>
                </a:gridCol>
                <a:gridCol w="542828">
                  <a:extLst>
                    <a:ext uri="{9D8B030D-6E8A-4147-A177-3AD203B41FA5}">
                      <a16:colId xmlns:a16="http://schemas.microsoft.com/office/drawing/2014/main" val="3025591354"/>
                    </a:ext>
                  </a:extLst>
                </a:gridCol>
                <a:gridCol w="472186">
                  <a:extLst>
                    <a:ext uri="{9D8B030D-6E8A-4147-A177-3AD203B41FA5}">
                      <a16:colId xmlns:a16="http://schemas.microsoft.com/office/drawing/2014/main" val="2249156756"/>
                    </a:ext>
                  </a:extLst>
                </a:gridCol>
              </a:tblGrid>
              <a:tr h="424083">
                <a:tc>
                  <a:txBody>
                    <a:bodyPr/>
                    <a:lstStyle/>
                    <a:p>
                      <a:pPr algn="ctr"/>
                      <a:endParaRPr lang="en-US" sz="1400" dirty="0"/>
                    </a:p>
                  </a:txBody>
                  <a:tcPr marL="72874" marR="72874" marT="36437" marB="36437">
                    <a:solidFill>
                      <a:schemeClr val="accent1">
                        <a:lumMod val="20000"/>
                        <a:lumOff val="80000"/>
                      </a:schemeClr>
                    </a:solidFill>
                  </a:tcPr>
                </a:tc>
                <a:tc>
                  <a:txBody>
                    <a:bodyPr/>
                    <a:lstStyle/>
                    <a:p>
                      <a:pPr algn="ctr"/>
                      <a:r>
                        <a:rPr lang="en-US" sz="1400" b="1" dirty="0">
                          <a:solidFill>
                            <a:schemeClr val="bg1"/>
                          </a:solidFill>
                        </a:rPr>
                        <a:t>A</a:t>
                      </a:r>
                    </a:p>
                  </a:txBody>
                  <a:tcPr marL="72874" marR="72874" marT="36437" marB="36437">
                    <a:solidFill>
                      <a:schemeClr val="accent5"/>
                    </a:solidFill>
                  </a:tcPr>
                </a:tc>
                <a:tc>
                  <a:txBody>
                    <a:bodyPr/>
                    <a:lstStyle/>
                    <a:p>
                      <a:pPr algn="ctr"/>
                      <a:r>
                        <a:rPr lang="en-US" sz="1400" b="1" dirty="0">
                          <a:solidFill>
                            <a:schemeClr val="bg1"/>
                          </a:solidFill>
                        </a:rPr>
                        <a:t>B</a:t>
                      </a:r>
                    </a:p>
                  </a:txBody>
                  <a:tcPr marL="72874" marR="72874" marT="36437" marB="36437">
                    <a:solidFill>
                      <a:schemeClr val="accent5"/>
                    </a:solidFill>
                  </a:tcPr>
                </a:tc>
                <a:tc>
                  <a:txBody>
                    <a:bodyPr/>
                    <a:lstStyle/>
                    <a:p>
                      <a:pPr algn="ctr"/>
                      <a:r>
                        <a:rPr lang="en-US" sz="1400" b="1" dirty="0">
                          <a:solidFill>
                            <a:schemeClr val="bg1"/>
                          </a:solidFill>
                        </a:rPr>
                        <a:t>C</a:t>
                      </a:r>
                    </a:p>
                  </a:txBody>
                  <a:tcPr marL="72874" marR="72874" marT="36437" marB="36437">
                    <a:solidFill>
                      <a:schemeClr val="accent5"/>
                    </a:solidFill>
                  </a:tcPr>
                </a:tc>
                <a:tc>
                  <a:txBody>
                    <a:bodyPr/>
                    <a:lstStyle/>
                    <a:p>
                      <a:pPr algn="ctr"/>
                      <a:r>
                        <a:rPr lang="en-US" sz="1400" b="1" dirty="0">
                          <a:solidFill>
                            <a:schemeClr val="bg1"/>
                          </a:solidFill>
                        </a:rPr>
                        <a:t>D</a:t>
                      </a:r>
                    </a:p>
                  </a:txBody>
                  <a:tcPr marL="72874" marR="72874" marT="36437" marB="36437">
                    <a:solidFill>
                      <a:schemeClr val="accent5"/>
                    </a:solidFill>
                  </a:tcPr>
                </a:tc>
                <a:tc>
                  <a:txBody>
                    <a:bodyPr/>
                    <a:lstStyle/>
                    <a:p>
                      <a:pPr algn="ctr"/>
                      <a:r>
                        <a:rPr lang="en-US" sz="1400" b="1" dirty="0">
                          <a:solidFill>
                            <a:schemeClr val="bg1"/>
                          </a:solidFill>
                        </a:rPr>
                        <a:t>E</a:t>
                      </a:r>
                    </a:p>
                  </a:txBody>
                  <a:tcPr marL="72874" marR="72874" marT="36437" marB="36437">
                    <a:solidFill>
                      <a:schemeClr val="accent5"/>
                    </a:solidFill>
                  </a:tcPr>
                </a:tc>
                <a:extLst>
                  <a:ext uri="{0D108BD9-81ED-4DB2-BD59-A6C34878D82A}">
                    <a16:rowId xmlns:a16="http://schemas.microsoft.com/office/drawing/2014/main" val="770621522"/>
                  </a:ext>
                </a:extLst>
              </a:tr>
              <a:tr h="424083">
                <a:tc>
                  <a:txBody>
                    <a:bodyPr/>
                    <a:lstStyle/>
                    <a:p>
                      <a:pPr algn="ctr"/>
                      <a:r>
                        <a:rPr lang="en-US" sz="1400" b="1" dirty="0">
                          <a:solidFill>
                            <a:schemeClr val="bg1"/>
                          </a:solidFill>
                        </a:rPr>
                        <a:t>A</a:t>
                      </a:r>
                    </a:p>
                  </a:txBody>
                  <a:tcPr marL="72874" marR="72874" marT="36437" marB="36437">
                    <a:solidFill>
                      <a:schemeClr val="accent5"/>
                    </a:solidFill>
                  </a:tcPr>
                </a:tc>
                <a:tc>
                  <a:txBody>
                    <a:bodyPr/>
                    <a:lstStyle/>
                    <a:p>
                      <a:pPr algn="ctr"/>
                      <a:r>
                        <a:rPr lang="en-US" sz="1400" dirty="0"/>
                        <a:t>0</a:t>
                      </a:r>
                    </a:p>
                  </a:txBody>
                  <a:tcPr marL="72874" marR="72874" marT="36437" marB="36437">
                    <a:solidFill>
                      <a:schemeClr val="accent1">
                        <a:lumMod val="20000"/>
                        <a:lumOff val="80000"/>
                      </a:schemeClr>
                    </a:solidFill>
                  </a:tcPr>
                </a:tc>
                <a:tc>
                  <a:txBody>
                    <a:bodyPr/>
                    <a:lstStyle/>
                    <a:p>
                      <a:pPr algn="ctr"/>
                      <a:r>
                        <a:rPr lang="en-US" sz="1400" dirty="0"/>
                        <a:t>1</a:t>
                      </a:r>
                    </a:p>
                  </a:txBody>
                  <a:tcPr marL="72874" marR="72874" marT="36437" marB="36437">
                    <a:solidFill>
                      <a:schemeClr val="accent1">
                        <a:lumMod val="20000"/>
                        <a:lumOff val="80000"/>
                      </a:schemeClr>
                    </a:solidFill>
                  </a:tcPr>
                </a:tc>
                <a:tc>
                  <a:txBody>
                    <a:bodyPr/>
                    <a:lstStyle/>
                    <a:p>
                      <a:pPr algn="ctr"/>
                      <a:r>
                        <a:rPr lang="en-US" sz="1400" dirty="0"/>
                        <a:t>0</a:t>
                      </a:r>
                    </a:p>
                  </a:txBody>
                  <a:tcPr marL="72874" marR="72874" marT="36437" marB="36437">
                    <a:solidFill>
                      <a:schemeClr val="accent1">
                        <a:lumMod val="20000"/>
                        <a:lumOff val="80000"/>
                      </a:schemeClr>
                    </a:solidFill>
                  </a:tcPr>
                </a:tc>
                <a:tc>
                  <a:txBody>
                    <a:bodyPr/>
                    <a:lstStyle/>
                    <a:p>
                      <a:pPr algn="ctr"/>
                      <a:r>
                        <a:rPr lang="en-US" sz="1400" dirty="0"/>
                        <a:t>1</a:t>
                      </a:r>
                    </a:p>
                  </a:txBody>
                  <a:tcPr marL="72874" marR="72874" marT="36437" marB="36437">
                    <a:solidFill>
                      <a:schemeClr val="accent1">
                        <a:lumMod val="20000"/>
                        <a:lumOff val="80000"/>
                      </a:schemeClr>
                    </a:solidFill>
                  </a:tcPr>
                </a:tc>
                <a:tc>
                  <a:txBody>
                    <a:bodyPr/>
                    <a:lstStyle/>
                    <a:p>
                      <a:pPr algn="ctr"/>
                      <a:r>
                        <a:rPr lang="en-US" sz="1400" dirty="0"/>
                        <a:t>0</a:t>
                      </a:r>
                    </a:p>
                  </a:txBody>
                  <a:tcPr marL="72874" marR="72874" marT="36437" marB="36437">
                    <a:solidFill>
                      <a:schemeClr val="accent1">
                        <a:lumMod val="20000"/>
                        <a:lumOff val="80000"/>
                      </a:schemeClr>
                    </a:solidFill>
                  </a:tcPr>
                </a:tc>
                <a:extLst>
                  <a:ext uri="{0D108BD9-81ED-4DB2-BD59-A6C34878D82A}">
                    <a16:rowId xmlns:a16="http://schemas.microsoft.com/office/drawing/2014/main" val="3637483625"/>
                  </a:ext>
                </a:extLst>
              </a:tr>
              <a:tr h="424083">
                <a:tc>
                  <a:txBody>
                    <a:bodyPr/>
                    <a:lstStyle/>
                    <a:p>
                      <a:pPr algn="ctr"/>
                      <a:r>
                        <a:rPr lang="en-US" sz="1400" b="1" dirty="0">
                          <a:solidFill>
                            <a:schemeClr val="bg1"/>
                          </a:solidFill>
                        </a:rPr>
                        <a:t>B</a:t>
                      </a:r>
                    </a:p>
                  </a:txBody>
                  <a:tcPr marL="72874" marR="72874" marT="36437" marB="36437">
                    <a:solidFill>
                      <a:schemeClr val="accent5"/>
                    </a:solidFill>
                  </a:tcPr>
                </a:tc>
                <a:tc>
                  <a:txBody>
                    <a:bodyPr/>
                    <a:lstStyle/>
                    <a:p>
                      <a:pPr algn="ctr"/>
                      <a:r>
                        <a:rPr lang="en-US" sz="1400" dirty="0"/>
                        <a:t>1</a:t>
                      </a:r>
                    </a:p>
                  </a:txBody>
                  <a:tcPr marL="72874" marR="72874" marT="36437" marB="36437">
                    <a:solidFill>
                      <a:schemeClr val="accent1">
                        <a:lumMod val="20000"/>
                        <a:lumOff val="80000"/>
                      </a:schemeClr>
                    </a:solidFill>
                  </a:tcPr>
                </a:tc>
                <a:tc>
                  <a:txBody>
                    <a:bodyPr/>
                    <a:lstStyle/>
                    <a:p>
                      <a:pPr algn="ctr"/>
                      <a:r>
                        <a:rPr lang="en-US" sz="1400" dirty="0"/>
                        <a:t>0</a:t>
                      </a:r>
                    </a:p>
                  </a:txBody>
                  <a:tcPr marL="72874" marR="72874" marT="36437" marB="36437">
                    <a:solidFill>
                      <a:schemeClr val="accent1">
                        <a:lumMod val="20000"/>
                        <a:lumOff val="80000"/>
                      </a:schemeClr>
                    </a:solidFill>
                  </a:tcPr>
                </a:tc>
                <a:tc>
                  <a:txBody>
                    <a:bodyPr/>
                    <a:lstStyle/>
                    <a:p>
                      <a:pPr algn="ctr"/>
                      <a:r>
                        <a:rPr lang="en-US" sz="1400" dirty="0"/>
                        <a:t>1</a:t>
                      </a:r>
                    </a:p>
                  </a:txBody>
                  <a:tcPr marL="72874" marR="72874" marT="36437" marB="36437">
                    <a:solidFill>
                      <a:schemeClr val="accent1">
                        <a:lumMod val="20000"/>
                        <a:lumOff val="80000"/>
                      </a:schemeClr>
                    </a:solidFill>
                  </a:tcPr>
                </a:tc>
                <a:tc>
                  <a:txBody>
                    <a:bodyPr/>
                    <a:lstStyle/>
                    <a:p>
                      <a:pPr algn="ctr"/>
                      <a:r>
                        <a:rPr lang="en-US" sz="1400" dirty="0"/>
                        <a:t>0</a:t>
                      </a:r>
                    </a:p>
                  </a:txBody>
                  <a:tcPr marL="72874" marR="72874" marT="36437" marB="36437">
                    <a:solidFill>
                      <a:schemeClr val="accent1">
                        <a:lumMod val="20000"/>
                        <a:lumOff val="80000"/>
                      </a:schemeClr>
                    </a:solidFill>
                  </a:tcPr>
                </a:tc>
                <a:tc>
                  <a:txBody>
                    <a:bodyPr/>
                    <a:lstStyle/>
                    <a:p>
                      <a:pPr algn="ctr"/>
                      <a:r>
                        <a:rPr lang="en-US" sz="1400" dirty="0"/>
                        <a:t>1</a:t>
                      </a:r>
                    </a:p>
                  </a:txBody>
                  <a:tcPr marL="72874" marR="72874" marT="36437" marB="36437">
                    <a:solidFill>
                      <a:schemeClr val="accent1">
                        <a:lumMod val="20000"/>
                        <a:lumOff val="80000"/>
                      </a:schemeClr>
                    </a:solidFill>
                  </a:tcPr>
                </a:tc>
                <a:extLst>
                  <a:ext uri="{0D108BD9-81ED-4DB2-BD59-A6C34878D82A}">
                    <a16:rowId xmlns:a16="http://schemas.microsoft.com/office/drawing/2014/main" val="477933919"/>
                  </a:ext>
                </a:extLst>
              </a:tr>
              <a:tr h="424083">
                <a:tc>
                  <a:txBody>
                    <a:bodyPr/>
                    <a:lstStyle/>
                    <a:p>
                      <a:pPr algn="ctr"/>
                      <a:r>
                        <a:rPr lang="en-US" sz="1400" b="1" dirty="0">
                          <a:solidFill>
                            <a:schemeClr val="bg1"/>
                          </a:solidFill>
                        </a:rPr>
                        <a:t>C</a:t>
                      </a:r>
                    </a:p>
                  </a:txBody>
                  <a:tcPr marL="72874" marR="72874" marT="36437" marB="36437">
                    <a:solidFill>
                      <a:schemeClr val="accent5"/>
                    </a:solidFill>
                  </a:tcPr>
                </a:tc>
                <a:tc>
                  <a:txBody>
                    <a:bodyPr/>
                    <a:lstStyle/>
                    <a:p>
                      <a:pPr algn="ctr"/>
                      <a:r>
                        <a:rPr lang="en-US" sz="1400" dirty="0"/>
                        <a:t>0</a:t>
                      </a:r>
                    </a:p>
                  </a:txBody>
                  <a:tcPr marL="72874" marR="72874" marT="36437" marB="36437">
                    <a:solidFill>
                      <a:schemeClr val="accent1">
                        <a:lumMod val="20000"/>
                        <a:lumOff val="80000"/>
                      </a:schemeClr>
                    </a:solidFill>
                  </a:tcPr>
                </a:tc>
                <a:tc>
                  <a:txBody>
                    <a:bodyPr/>
                    <a:lstStyle/>
                    <a:p>
                      <a:pPr algn="ctr"/>
                      <a:r>
                        <a:rPr lang="en-US" sz="1400" dirty="0"/>
                        <a:t>1</a:t>
                      </a:r>
                    </a:p>
                  </a:txBody>
                  <a:tcPr marL="72874" marR="72874" marT="36437" marB="36437">
                    <a:solidFill>
                      <a:schemeClr val="accent1">
                        <a:lumMod val="20000"/>
                        <a:lumOff val="80000"/>
                      </a:schemeClr>
                    </a:solidFill>
                  </a:tcPr>
                </a:tc>
                <a:tc>
                  <a:txBody>
                    <a:bodyPr/>
                    <a:lstStyle/>
                    <a:p>
                      <a:pPr algn="ctr"/>
                      <a:r>
                        <a:rPr lang="en-US" sz="1400" dirty="0"/>
                        <a:t>0</a:t>
                      </a:r>
                    </a:p>
                  </a:txBody>
                  <a:tcPr marL="72874" marR="72874" marT="36437" marB="36437">
                    <a:solidFill>
                      <a:schemeClr val="accent1">
                        <a:lumMod val="20000"/>
                        <a:lumOff val="80000"/>
                      </a:schemeClr>
                    </a:solidFill>
                  </a:tcPr>
                </a:tc>
                <a:tc>
                  <a:txBody>
                    <a:bodyPr/>
                    <a:lstStyle/>
                    <a:p>
                      <a:pPr algn="ctr"/>
                      <a:r>
                        <a:rPr lang="en-US" sz="1400" dirty="0"/>
                        <a:t>1</a:t>
                      </a:r>
                    </a:p>
                  </a:txBody>
                  <a:tcPr marL="72874" marR="72874" marT="36437" marB="36437">
                    <a:solidFill>
                      <a:schemeClr val="accent1">
                        <a:lumMod val="20000"/>
                        <a:lumOff val="80000"/>
                      </a:schemeClr>
                    </a:solidFill>
                  </a:tcPr>
                </a:tc>
                <a:tc>
                  <a:txBody>
                    <a:bodyPr/>
                    <a:lstStyle/>
                    <a:p>
                      <a:pPr algn="ctr"/>
                      <a:r>
                        <a:rPr lang="en-US" sz="1400" dirty="0"/>
                        <a:t>0</a:t>
                      </a:r>
                    </a:p>
                  </a:txBody>
                  <a:tcPr marL="72874" marR="72874" marT="36437" marB="36437">
                    <a:solidFill>
                      <a:schemeClr val="accent1">
                        <a:lumMod val="20000"/>
                        <a:lumOff val="80000"/>
                      </a:schemeClr>
                    </a:solidFill>
                  </a:tcPr>
                </a:tc>
                <a:extLst>
                  <a:ext uri="{0D108BD9-81ED-4DB2-BD59-A6C34878D82A}">
                    <a16:rowId xmlns:a16="http://schemas.microsoft.com/office/drawing/2014/main" val="2990282051"/>
                  </a:ext>
                </a:extLst>
              </a:tr>
              <a:tr h="424083">
                <a:tc>
                  <a:txBody>
                    <a:bodyPr/>
                    <a:lstStyle/>
                    <a:p>
                      <a:pPr algn="ctr"/>
                      <a:r>
                        <a:rPr lang="en-US" sz="1400" b="1" dirty="0">
                          <a:solidFill>
                            <a:schemeClr val="bg1"/>
                          </a:solidFill>
                        </a:rPr>
                        <a:t>D</a:t>
                      </a:r>
                    </a:p>
                  </a:txBody>
                  <a:tcPr marL="72874" marR="72874" marT="36437" marB="36437">
                    <a:solidFill>
                      <a:schemeClr val="accent5"/>
                    </a:solidFill>
                  </a:tcPr>
                </a:tc>
                <a:tc>
                  <a:txBody>
                    <a:bodyPr/>
                    <a:lstStyle/>
                    <a:p>
                      <a:pPr algn="ctr"/>
                      <a:r>
                        <a:rPr lang="en-US" sz="1400" dirty="0"/>
                        <a:t>1</a:t>
                      </a:r>
                    </a:p>
                  </a:txBody>
                  <a:tcPr marL="72874" marR="72874" marT="36437" marB="36437">
                    <a:solidFill>
                      <a:schemeClr val="accent1">
                        <a:lumMod val="20000"/>
                        <a:lumOff val="80000"/>
                      </a:schemeClr>
                    </a:solidFill>
                  </a:tcPr>
                </a:tc>
                <a:tc>
                  <a:txBody>
                    <a:bodyPr/>
                    <a:lstStyle/>
                    <a:p>
                      <a:pPr algn="ctr"/>
                      <a:r>
                        <a:rPr lang="en-US" sz="1400" dirty="0"/>
                        <a:t>0</a:t>
                      </a:r>
                    </a:p>
                  </a:txBody>
                  <a:tcPr marL="72874" marR="72874" marT="36437" marB="36437">
                    <a:solidFill>
                      <a:schemeClr val="accent1">
                        <a:lumMod val="20000"/>
                        <a:lumOff val="80000"/>
                      </a:schemeClr>
                    </a:solidFill>
                  </a:tcPr>
                </a:tc>
                <a:tc>
                  <a:txBody>
                    <a:bodyPr/>
                    <a:lstStyle/>
                    <a:p>
                      <a:pPr algn="ctr"/>
                      <a:r>
                        <a:rPr lang="en-US" sz="1400" dirty="0"/>
                        <a:t>1</a:t>
                      </a:r>
                    </a:p>
                  </a:txBody>
                  <a:tcPr marL="72874" marR="72874" marT="36437" marB="36437">
                    <a:solidFill>
                      <a:schemeClr val="accent1">
                        <a:lumMod val="20000"/>
                        <a:lumOff val="80000"/>
                      </a:schemeClr>
                    </a:solidFill>
                  </a:tcPr>
                </a:tc>
                <a:tc>
                  <a:txBody>
                    <a:bodyPr/>
                    <a:lstStyle/>
                    <a:p>
                      <a:pPr algn="ctr"/>
                      <a:r>
                        <a:rPr lang="en-US" sz="1400" dirty="0"/>
                        <a:t>0</a:t>
                      </a:r>
                    </a:p>
                  </a:txBody>
                  <a:tcPr marL="72874" marR="72874" marT="36437" marB="36437">
                    <a:solidFill>
                      <a:schemeClr val="accent1">
                        <a:lumMod val="20000"/>
                        <a:lumOff val="80000"/>
                      </a:schemeClr>
                    </a:solidFill>
                  </a:tcPr>
                </a:tc>
                <a:tc>
                  <a:txBody>
                    <a:bodyPr/>
                    <a:lstStyle/>
                    <a:p>
                      <a:pPr algn="ctr"/>
                      <a:r>
                        <a:rPr lang="en-US" sz="1400" dirty="0"/>
                        <a:t>1</a:t>
                      </a:r>
                    </a:p>
                  </a:txBody>
                  <a:tcPr marL="72874" marR="72874" marT="36437" marB="36437">
                    <a:solidFill>
                      <a:schemeClr val="accent1">
                        <a:lumMod val="20000"/>
                        <a:lumOff val="80000"/>
                      </a:schemeClr>
                    </a:solidFill>
                  </a:tcPr>
                </a:tc>
                <a:extLst>
                  <a:ext uri="{0D108BD9-81ED-4DB2-BD59-A6C34878D82A}">
                    <a16:rowId xmlns:a16="http://schemas.microsoft.com/office/drawing/2014/main" val="3272843437"/>
                  </a:ext>
                </a:extLst>
              </a:tr>
              <a:tr h="424083">
                <a:tc>
                  <a:txBody>
                    <a:bodyPr/>
                    <a:lstStyle/>
                    <a:p>
                      <a:pPr algn="ctr"/>
                      <a:r>
                        <a:rPr lang="en-US" sz="1400" b="1" dirty="0">
                          <a:solidFill>
                            <a:schemeClr val="bg1"/>
                          </a:solidFill>
                        </a:rPr>
                        <a:t>E</a:t>
                      </a:r>
                    </a:p>
                  </a:txBody>
                  <a:tcPr marL="72874" marR="72874" marT="36437" marB="36437">
                    <a:solidFill>
                      <a:schemeClr val="accent5"/>
                    </a:solidFill>
                  </a:tcPr>
                </a:tc>
                <a:tc>
                  <a:txBody>
                    <a:bodyPr/>
                    <a:lstStyle/>
                    <a:p>
                      <a:pPr algn="ctr"/>
                      <a:r>
                        <a:rPr lang="en-US" sz="1400" dirty="0"/>
                        <a:t>0</a:t>
                      </a:r>
                    </a:p>
                  </a:txBody>
                  <a:tcPr marL="72874" marR="72874" marT="36437" marB="36437">
                    <a:solidFill>
                      <a:schemeClr val="accent1">
                        <a:lumMod val="20000"/>
                        <a:lumOff val="80000"/>
                      </a:schemeClr>
                    </a:solidFill>
                  </a:tcPr>
                </a:tc>
                <a:tc>
                  <a:txBody>
                    <a:bodyPr/>
                    <a:lstStyle/>
                    <a:p>
                      <a:pPr algn="ctr"/>
                      <a:r>
                        <a:rPr lang="en-US" sz="1400" dirty="0"/>
                        <a:t>1</a:t>
                      </a:r>
                    </a:p>
                  </a:txBody>
                  <a:tcPr marL="72874" marR="72874" marT="36437" marB="36437">
                    <a:solidFill>
                      <a:schemeClr val="accent1">
                        <a:lumMod val="20000"/>
                        <a:lumOff val="80000"/>
                      </a:schemeClr>
                    </a:solidFill>
                  </a:tcPr>
                </a:tc>
                <a:tc>
                  <a:txBody>
                    <a:bodyPr/>
                    <a:lstStyle/>
                    <a:p>
                      <a:pPr algn="ctr"/>
                      <a:r>
                        <a:rPr lang="en-US" sz="1400" dirty="0"/>
                        <a:t>0</a:t>
                      </a:r>
                    </a:p>
                  </a:txBody>
                  <a:tcPr marL="72874" marR="72874" marT="36437" marB="36437">
                    <a:solidFill>
                      <a:schemeClr val="accent1">
                        <a:lumMod val="20000"/>
                        <a:lumOff val="80000"/>
                      </a:schemeClr>
                    </a:solidFill>
                  </a:tcPr>
                </a:tc>
                <a:tc>
                  <a:txBody>
                    <a:bodyPr/>
                    <a:lstStyle/>
                    <a:p>
                      <a:pPr algn="ctr"/>
                      <a:r>
                        <a:rPr lang="en-US" sz="1400" dirty="0"/>
                        <a:t>1</a:t>
                      </a:r>
                    </a:p>
                  </a:txBody>
                  <a:tcPr marL="72874" marR="72874" marT="36437" marB="36437">
                    <a:solidFill>
                      <a:schemeClr val="accent1">
                        <a:lumMod val="20000"/>
                        <a:lumOff val="80000"/>
                      </a:schemeClr>
                    </a:solidFill>
                  </a:tcPr>
                </a:tc>
                <a:tc>
                  <a:txBody>
                    <a:bodyPr/>
                    <a:lstStyle/>
                    <a:p>
                      <a:pPr algn="ctr"/>
                      <a:r>
                        <a:rPr lang="en-US" sz="1400" dirty="0"/>
                        <a:t>0</a:t>
                      </a:r>
                    </a:p>
                  </a:txBody>
                  <a:tcPr marL="72874" marR="72874" marT="36437" marB="36437">
                    <a:solidFill>
                      <a:schemeClr val="accent1">
                        <a:lumMod val="20000"/>
                        <a:lumOff val="80000"/>
                      </a:schemeClr>
                    </a:solidFill>
                  </a:tcPr>
                </a:tc>
                <a:extLst>
                  <a:ext uri="{0D108BD9-81ED-4DB2-BD59-A6C34878D82A}">
                    <a16:rowId xmlns:a16="http://schemas.microsoft.com/office/drawing/2014/main" val="1382349475"/>
                  </a:ext>
                </a:extLst>
              </a:tr>
            </a:tbl>
          </a:graphicData>
        </a:graphic>
      </p:graphicFrame>
      <p:sp>
        <p:nvSpPr>
          <p:cNvPr id="33" name="직사각형 32">
            <a:extLst>
              <a:ext uri="{FF2B5EF4-FFF2-40B4-BE49-F238E27FC236}">
                <a16:creationId xmlns:a16="http://schemas.microsoft.com/office/drawing/2014/main" id="{6424F8B9-597B-47BE-8574-BE77ADAA6972}"/>
              </a:ext>
            </a:extLst>
          </p:cNvPr>
          <p:cNvSpPr/>
          <p:nvPr/>
        </p:nvSpPr>
        <p:spPr>
          <a:xfrm>
            <a:off x="997789" y="5244144"/>
            <a:ext cx="4590172" cy="369332"/>
          </a:xfrm>
          <a:prstGeom prst="rect">
            <a:avLst/>
          </a:prstGeom>
        </p:spPr>
        <p:txBody>
          <a:bodyPr wrap="square">
            <a:spAutoFit/>
          </a:bodyPr>
          <a:lstStyle/>
          <a:p>
            <a:pPr marL="285750" indent="-285750">
              <a:buFont typeface="Arial" panose="020B0604020202020204" pitchFamily="34" charset="0"/>
              <a:buChar char="•"/>
            </a:pPr>
            <a:r>
              <a:rPr lang="en-US" dirty="0"/>
              <a:t>Present visualizations of social networks</a:t>
            </a:r>
          </a:p>
        </p:txBody>
      </p:sp>
      <p:sp>
        <p:nvSpPr>
          <p:cNvPr id="34" name="직사각형 33">
            <a:extLst>
              <a:ext uri="{FF2B5EF4-FFF2-40B4-BE49-F238E27FC236}">
                <a16:creationId xmlns:a16="http://schemas.microsoft.com/office/drawing/2014/main" id="{93C911A6-B897-4C2C-9B2A-22B2CF283980}"/>
              </a:ext>
            </a:extLst>
          </p:cNvPr>
          <p:cNvSpPr/>
          <p:nvPr/>
        </p:nvSpPr>
        <p:spPr>
          <a:xfrm>
            <a:off x="6399701" y="5244144"/>
            <a:ext cx="4787301" cy="646331"/>
          </a:xfrm>
          <a:prstGeom prst="rect">
            <a:avLst/>
          </a:prstGeom>
        </p:spPr>
        <p:txBody>
          <a:bodyPr wrap="square">
            <a:spAutoFit/>
          </a:bodyPr>
          <a:lstStyle/>
          <a:p>
            <a:pPr marL="285750" indent="-285750">
              <a:buFont typeface="Arial" panose="020B0604020202020204" pitchFamily="34" charset="0"/>
              <a:buChar char="•"/>
            </a:pPr>
            <a:r>
              <a:rPr lang="en-US" dirty="0"/>
              <a:t>Mathematical algebraic representations of network relations</a:t>
            </a:r>
          </a:p>
        </p:txBody>
      </p:sp>
      <p:sp>
        <p:nvSpPr>
          <p:cNvPr id="35" name="직사각형 34">
            <a:extLst>
              <a:ext uri="{FF2B5EF4-FFF2-40B4-BE49-F238E27FC236}">
                <a16:creationId xmlns:a16="http://schemas.microsoft.com/office/drawing/2014/main" id="{63662C9E-2089-4B9F-956A-E9D9F31AD686}"/>
              </a:ext>
            </a:extLst>
          </p:cNvPr>
          <p:cNvSpPr/>
          <p:nvPr/>
        </p:nvSpPr>
        <p:spPr>
          <a:xfrm>
            <a:off x="997789" y="5544333"/>
            <a:ext cx="4590172" cy="923330"/>
          </a:xfrm>
          <a:prstGeom prst="rect">
            <a:avLst/>
          </a:prstGeom>
        </p:spPr>
        <p:txBody>
          <a:bodyPr wrap="square">
            <a:spAutoFit/>
          </a:bodyPr>
          <a:lstStyle/>
          <a:p>
            <a:pPr marL="285750" indent="-285750">
              <a:buFont typeface="Arial" panose="020B0604020202020204" pitchFamily="34" charset="0"/>
              <a:buChar char="•"/>
            </a:pPr>
            <a:r>
              <a:rPr lang="en-US" dirty="0"/>
              <a:t>Provide more forceful visual illustrations of network structure</a:t>
            </a:r>
          </a:p>
          <a:p>
            <a:pPr marL="285750" indent="-285750">
              <a:buFont typeface="Arial" panose="020B0604020202020204" pitchFamily="34" charset="0"/>
              <a:buChar char="•"/>
            </a:pPr>
            <a:r>
              <a:rPr lang="en-US" dirty="0"/>
              <a:t>Do not support mathematical manipulations</a:t>
            </a:r>
          </a:p>
        </p:txBody>
      </p:sp>
      <p:sp>
        <p:nvSpPr>
          <p:cNvPr id="36" name="직사각형 35">
            <a:extLst>
              <a:ext uri="{FF2B5EF4-FFF2-40B4-BE49-F238E27FC236}">
                <a16:creationId xmlns:a16="http://schemas.microsoft.com/office/drawing/2014/main" id="{4EF28377-C265-4683-9A44-0DABD6921BCB}"/>
              </a:ext>
            </a:extLst>
          </p:cNvPr>
          <p:cNvSpPr/>
          <p:nvPr/>
        </p:nvSpPr>
        <p:spPr>
          <a:xfrm>
            <a:off x="6399701" y="5821332"/>
            <a:ext cx="4787301" cy="923330"/>
          </a:xfrm>
          <a:prstGeom prst="rect">
            <a:avLst/>
          </a:prstGeom>
        </p:spPr>
        <p:txBody>
          <a:bodyPr wrap="square">
            <a:spAutoFit/>
          </a:bodyPr>
          <a:lstStyle/>
          <a:p>
            <a:pPr marL="285750" indent="-285750">
              <a:buFont typeface="Arial" panose="020B0604020202020204" pitchFamily="34" charset="0"/>
              <a:buChar char="•"/>
            </a:pPr>
            <a:r>
              <a:rPr lang="en-US" dirty="0"/>
              <a:t>Facilitate sophisticated mathematical and computer analysis of the network </a:t>
            </a:r>
          </a:p>
          <a:p>
            <a:pPr marL="285750" indent="-285750">
              <a:buFont typeface="Arial" panose="020B0604020202020204" pitchFamily="34" charset="0"/>
              <a:buChar char="•"/>
            </a:pPr>
            <a:r>
              <a:rPr lang="en-US" dirty="0"/>
              <a:t>Less user-friendly</a:t>
            </a:r>
          </a:p>
        </p:txBody>
      </p:sp>
    </p:spTree>
    <p:extLst>
      <p:ext uri="{BB962C8B-B14F-4D97-AF65-F5344CB8AC3E}">
        <p14:creationId xmlns:p14="http://schemas.microsoft.com/office/powerpoint/2010/main" val="1206103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latin typeface="Franklin Gothic Book" panose="020B0503020102020204" pitchFamily="34" charset="0"/>
              </a:rPr>
              <a:t>1. Graphs &amp; Matrices   </a:t>
            </a:r>
            <a:r>
              <a:rPr lang="en-US" sz="2400" b="1" dirty="0">
                <a:latin typeface="Franklin Gothic Book" panose="020B0503020102020204" pitchFamily="34" charset="0"/>
              </a:rPr>
              <a:t>Graphs</a:t>
            </a:r>
            <a:endParaRPr lang="en-US" sz="3200" b="1" dirty="0">
              <a:latin typeface="Franklin Gothic Book" panose="020B0503020102020204" pitchFamily="34" charset="0"/>
            </a:endParaRPr>
          </a:p>
        </p:txBody>
      </p:sp>
      <p:sp>
        <p:nvSpPr>
          <p:cNvPr id="20" name="직사각형 19">
            <a:extLst>
              <a:ext uri="{FF2B5EF4-FFF2-40B4-BE49-F238E27FC236}">
                <a16:creationId xmlns:a16="http://schemas.microsoft.com/office/drawing/2014/main" id="{E28D416D-B4E6-4F2E-B7C8-B73B5B7280DB}"/>
              </a:ext>
            </a:extLst>
          </p:cNvPr>
          <p:cNvSpPr/>
          <p:nvPr/>
        </p:nvSpPr>
        <p:spPr>
          <a:xfrm>
            <a:off x="468621" y="1385813"/>
            <a:ext cx="11906852" cy="369332"/>
          </a:xfrm>
          <a:prstGeom prst="rect">
            <a:avLst/>
          </a:prstGeom>
        </p:spPr>
        <p:txBody>
          <a:bodyPr wrap="square">
            <a:spAutoFit/>
          </a:bodyPr>
          <a:lstStyle/>
          <a:p>
            <a:r>
              <a:rPr lang="en-US" dirty="0">
                <a:latin typeface="Franklin Gothic Book" panose="020B0503020102020204" pitchFamily="34" charset="0"/>
              </a:rPr>
              <a:t>The idea of implementing graphs to social network data originated from Jacob Moreno’s (1934) </a:t>
            </a:r>
            <a:r>
              <a:rPr lang="en-US" b="1" i="1" dirty="0">
                <a:latin typeface="Franklin Gothic Book" panose="020B0503020102020204" pitchFamily="34" charset="0"/>
              </a:rPr>
              <a:t>sociogram</a:t>
            </a:r>
          </a:p>
        </p:txBody>
      </p:sp>
      <p:sp>
        <p:nvSpPr>
          <p:cNvPr id="4" name="직사각형 3">
            <a:extLst>
              <a:ext uri="{FF2B5EF4-FFF2-40B4-BE49-F238E27FC236}">
                <a16:creationId xmlns:a16="http://schemas.microsoft.com/office/drawing/2014/main" id="{9ED38D3D-38D3-4141-A511-A01E4E222F55}"/>
              </a:ext>
            </a:extLst>
          </p:cNvPr>
          <p:cNvSpPr/>
          <p:nvPr/>
        </p:nvSpPr>
        <p:spPr>
          <a:xfrm>
            <a:off x="468621" y="2001460"/>
            <a:ext cx="1274708" cy="369332"/>
          </a:xfrm>
          <a:prstGeom prst="rect">
            <a:avLst/>
          </a:prstGeom>
        </p:spPr>
        <p:txBody>
          <a:bodyPr wrap="none">
            <a:spAutoFit/>
          </a:bodyPr>
          <a:lstStyle/>
          <a:p>
            <a:r>
              <a:rPr lang="en-US" b="1" dirty="0">
                <a:latin typeface="Franklin Gothic Book" panose="020B0503020102020204" pitchFamily="34" charset="0"/>
              </a:rPr>
              <a:t>Sociogram:</a:t>
            </a:r>
            <a:endParaRPr lang="en-US" dirty="0">
              <a:latin typeface="Franklin Gothic Book" panose="020B0503020102020204" pitchFamily="34" charset="0"/>
            </a:endParaRPr>
          </a:p>
        </p:txBody>
      </p:sp>
      <p:sp>
        <p:nvSpPr>
          <p:cNvPr id="24" name="직사각형 23">
            <a:extLst>
              <a:ext uri="{FF2B5EF4-FFF2-40B4-BE49-F238E27FC236}">
                <a16:creationId xmlns:a16="http://schemas.microsoft.com/office/drawing/2014/main" id="{0E95F17D-68D9-4D5B-942C-B827AABE7D01}"/>
              </a:ext>
            </a:extLst>
          </p:cNvPr>
          <p:cNvSpPr/>
          <p:nvPr/>
        </p:nvSpPr>
        <p:spPr>
          <a:xfrm>
            <a:off x="1755883" y="2032167"/>
            <a:ext cx="9475286" cy="646331"/>
          </a:xfrm>
          <a:prstGeom prst="rect">
            <a:avLst/>
          </a:prstGeom>
        </p:spPr>
        <p:txBody>
          <a:bodyPr wrap="none">
            <a:spAutoFit/>
          </a:bodyPr>
          <a:lstStyle/>
          <a:p>
            <a:r>
              <a:rPr lang="en-US" dirty="0">
                <a:latin typeface="Franklin Gothic Book" panose="020B0503020102020204" pitchFamily="34" charset="0"/>
              </a:rPr>
              <a:t>Two-dimensional diagram for displaying the relations among actors in a bounded social system. </a:t>
            </a:r>
            <a:br>
              <a:rPr lang="en-US" dirty="0">
                <a:latin typeface="Franklin Gothic Book" panose="020B0503020102020204" pitchFamily="34" charset="0"/>
              </a:rPr>
            </a:br>
            <a:r>
              <a:rPr lang="en-US" dirty="0">
                <a:latin typeface="Franklin Gothic Book" panose="020B0503020102020204" pitchFamily="34" charset="0"/>
              </a:rPr>
              <a:t>(ex. Elementary school classroom)</a:t>
            </a:r>
          </a:p>
        </p:txBody>
      </p:sp>
      <p:sp>
        <p:nvSpPr>
          <p:cNvPr id="25" name="직사각형 24">
            <a:extLst>
              <a:ext uri="{FF2B5EF4-FFF2-40B4-BE49-F238E27FC236}">
                <a16:creationId xmlns:a16="http://schemas.microsoft.com/office/drawing/2014/main" id="{1EF5109C-3184-4BBC-B519-4D7F791351D9}"/>
              </a:ext>
            </a:extLst>
          </p:cNvPr>
          <p:cNvSpPr/>
          <p:nvPr/>
        </p:nvSpPr>
        <p:spPr>
          <a:xfrm>
            <a:off x="896625" y="3077232"/>
            <a:ext cx="11478848" cy="369332"/>
          </a:xfrm>
          <a:prstGeom prst="rect">
            <a:avLst/>
          </a:prstGeom>
        </p:spPr>
        <p:txBody>
          <a:bodyPr wrap="none">
            <a:spAutoFit/>
          </a:bodyPr>
          <a:lstStyle/>
          <a:p>
            <a:pPr marL="285750" indent="-285750">
              <a:buFont typeface="Arial" panose="020B0604020202020204" pitchFamily="34" charset="0"/>
              <a:buChar char="•"/>
            </a:pPr>
            <a:r>
              <a:rPr lang="en-US" dirty="0">
                <a:latin typeface="Franklin Gothic Book" panose="020B0503020102020204" pitchFamily="34" charset="0"/>
              </a:rPr>
              <a:t>In sociogram or graph, actors are represented by set of </a:t>
            </a:r>
            <a:r>
              <a:rPr lang="en-US" b="1" dirty="0">
                <a:latin typeface="Franklin Gothic Book" panose="020B0503020102020204" pitchFamily="34" charset="0"/>
              </a:rPr>
              <a:t>N </a:t>
            </a:r>
            <a:r>
              <a:rPr lang="en-US" dirty="0">
                <a:latin typeface="Franklin Gothic Book" panose="020B0503020102020204" pitchFamily="34" charset="0"/>
              </a:rPr>
              <a:t>(number of actors) </a:t>
            </a:r>
            <a:r>
              <a:rPr lang="en-US" b="1" dirty="0">
                <a:latin typeface="Franklin Gothic Book" panose="020B0503020102020204" pitchFamily="34" charset="0"/>
              </a:rPr>
              <a:t>points</a:t>
            </a:r>
            <a:r>
              <a:rPr lang="en-US" dirty="0">
                <a:latin typeface="Franklin Gothic Book" panose="020B0503020102020204" pitchFamily="34" charset="0"/>
              </a:rPr>
              <a:t> (also called </a:t>
            </a:r>
            <a:r>
              <a:rPr lang="en-US" b="1" dirty="0">
                <a:latin typeface="Franklin Gothic Book" panose="020B0503020102020204" pitchFamily="34" charset="0"/>
              </a:rPr>
              <a:t>vertices</a:t>
            </a:r>
            <a:r>
              <a:rPr lang="en-US" dirty="0">
                <a:latin typeface="Franklin Gothic Book" panose="020B0503020102020204" pitchFamily="34" charset="0"/>
              </a:rPr>
              <a:t> / </a:t>
            </a:r>
            <a:r>
              <a:rPr lang="en-US" b="1" dirty="0">
                <a:latin typeface="Franklin Gothic Book" panose="020B0503020102020204" pitchFamily="34" charset="0"/>
              </a:rPr>
              <a:t>nodes</a:t>
            </a:r>
            <a:r>
              <a:rPr lang="en-US" dirty="0">
                <a:latin typeface="Franklin Gothic Book" panose="020B0503020102020204" pitchFamily="34" charset="0"/>
              </a:rPr>
              <a:t>)</a:t>
            </a:r>
          </a:p>
        </p:txBody>
      </p:sp>
      <p:sp>
        <p:nvSpPr>
          <p:cNvPr id="6" name="타원 5">
            <a:extLst>
              <a:ext uri="{FF2B5EF4-FFF2-40B4-BE49-F238E27FC236}">
                <a16:creationId xmlns:a16="http://schemas.microsoft.com/office/drawing/2014/main" id="{023CBB88-4000-4F9F-8384-50B7D9A7F6B0}"/>
              </a:ext>
            </a:extLst>
          </p:cNvPr>
          <p:cNvSpPr/>
          <p:nvPr/>
        </p:nvSpPr>
        <p:spPr>
          <a:xfrm>
            <a:off x="259996" y="3032790"/>
            <a:ext cx="417250" cy="417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Franklin Gothic Book" panose="020B0503020102020204" pitchFamily="34" charset="0"/>
            </a:endParaRPr>
          </a:p>
        </p:txBody>
      </p:sp>
      <p:cxnSp>
        <p:nvCxnSpPr>
          <p:cNvPr id="12" name="직선 연결선 11">
            <a:extLst>
              <a:ext uri="{FF2B5EF4-FFF2-40B4-BE49-F238E27FC236}">
                <a16:creationId xmlns:a16="http://schemas.microsoft.com/office/drawing/2014/main" id="{A4CE0015-E696-4988-A5C6-7EFBEA4FF593}"/>
              </a:ext>
            </a:extLst>
          </p:cNvPr>
          <p:cNvCxnSpPr/>
          <p:nvPr/>
        </p:nvCxnSpPr>
        <p:spPr>
          <a:xfrm>
            <a:off x="269521" y="4108141"/>
            <a:ext cx="41725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직사각형 36">
            <a:extLst>
              <a:ext uri="{FF2B5EF4-FFF2-40B4-BE49-F238E27FC236}">
                <a16:creationId xmlns:a16="http://schemas.microsoft.com/office/drawing/2014/main" id="{E9C69FC3-8BFD-4DB9-8544-2AFCEB45EFE5}"/>
              </a:ext>
            </a:extLst>
          </p:cNvPr>
          <p:cNvSpPr/>
          <p:nvPr/>
        </p:nvSpPr>
        <p:spPr>
          <a:xfrm>
            <a:off x="1125568" y="3769741"/>
            <a:ext cx="10363030" cy="1754326"/>
          </a:xfrm>
          <a:prstGeom prst="rect">
            <a:avLst/>
          </a:prstGeom>
        </p:spPr>
        <p:txBody>
          <a:bodyPr wrap="none">
            <a:spAutoFit/>
          </a:bodyPr>
          <a:lstStyle/>
          <a:p>
            <a:pPr marL="285750" indent="-285750">
              <a:buFont typeface="Arial" panose="020B0604020202020204" pitchFamily="34" charset="0"/>
              <a:buChar char="•"/>
            </a:pPr>
            <a:r>
              <a:rPr lang="en-US" dirty="0">
                <a:latin typeface="Franklin Gothic Book" panose="020B0503020102020204" pitchFamily="34" charset="0"/>
              </a:rPr>
              <a:t>A </a:t>
            </a:r>
            <a:r>
              <a:rPr lang="en-US" b="1" dirty="0">
                <a:latin typeface="Franklin Gothic Book" panose="020B0503020102020204" pitchFamily="34" charset="0"/>
              </a:rPr>
              <a:t>line</a:t>
            </a:r>
            <a:r>
              <a:rPr lang="en-US" dirty="0">
                <a:latin typeface="Franklin Gothic Book" panose="020B0503020102020204" pitchFamily="34" charset="0"/>
              </a:rPr>
              <a:t> (also called an </a:t>
            </a:r>
            <a:r>
              <a:rPr lang="en-US" b="1" dirty="0">
                <a:latin typeface="Franklin Gothic Book" panose="020B0503020102020204" pitchFamily="34" charset="0"/>
              </a:rPr>
              <a:t>arc</a:t>
            </a:r>
            <a:r>
              <a:rPr lang="en-US" dirty="0">
                <a:latin typeface="Franklin Gothic Book" panose="020B0503020102020204" pitchFamily="34" charset="0"/>
              </a:rPr>
              <a:t> or </a:t>
            </a:r>
            <a:r>
              <a:rPr lang="en-US" b="1" dirty="0">
                <a:latin typeface="Franklin Gothic Book" panose="020B0503020102020204" pitchFamily="34" charset="0"/>
              </a:rPr>
              <a:t>edge</a:t>
            </a:r>
            <a:r>
              <a:rPr lang="en-US" dirty="0">
                <a:latin typeface="Franklin Gothic Book" panose="020B0503020102020204" pitchFamily="34" charset="0"/>
              </a:rPr>
              <a:t>) is drawn between a pair of points to indicate a relation or tie.</a:t>
            </a:r>
          </a:p>
          <a:p>
            <a:pPr marL="285750" indent="-285750">
              <a:buFont typeface="Arial" panose="020B0604020202020204" pitchFamily="34" charset="0"/>
              <a:buChar char="•"/>
            </a:pPr>
            <a:r>
              <a:rPr lang="en-US" dirty="0">
                <a:latin typeface="Franklin Gothic Book" panose="020B0503020102020204" pitchFamily="34" charset="0"/>
              </a:rPr>
              <a:t>Absence of line = no direct relations.</a:t>
            </a:r>
          </a:p>
          <a:p>
            <a:pPr marL="285750" indent="-285750">
              <a:buFont typeface="Arial" panose="020B0604020202020204" pitchFamily="34" charset="0"/>
              <a:buChar char="•"/>
            </a:pPr>
            <a:r>
              <a:rPr lang="en-US" dirty="0">
                <a:latin typeface="Franklin Gothic Book" panose="020B0503020102020204" pitchFamily="34" charset="0"/>
              </a:rPr>
              <a:t>The arrowhead symbolizes direction. If a line has no arrowhead, the relation is </a:t>
            </a:r>
            <a:r>
              <a:rPr lang="en-US" b="1" dirty="0">
                <a:latin typeface="Franklin Gothic Book" panose="020B0503020102020204" pitchFamily="34" charset="0"/>
              </a:rPr>
              <a:t>non-directed</a:t>
            </a:r>
            <a:r>
              <a:rPr lang="en-US" dirty="0">
                <a:latin typeface="Franklin Gothic Book" panose="020B0503020102020204" pitchFamily="34" charset="0"/>
              </a:rPr>
              <a:t> or </a:t>
            </a:r>
            <a:r>
              <a:rPr lang="en-US" b="1" dirty="0">
                <a:latin typeface="Franklin Gothic Book" panose="020B0503020102020204" pitchFamily="34" charset="0"/>
              </a:rPr>
              <a:t>mutual</a:t>
            </a:r>
            <a:r>
              <a:rPr lang="en-US" dirty="0">
                <a:latin typeface="Franklin Gothic Book" panose="020B0503020102020204" pitchFamily="34" charset="0"/>
              </a:rPr>
              <a:t>.</a:t>
            </a:r>
          </a:p>
          <a:p>
            <a:pPr marL="285750" indent="-285750">
              <a:buFont typeface="Arial" panose="020B0604020202020204" pitchFamily="34" charset="0"/>
              <a:buChar char="•"/>
            </a:pPr>
            <a:r>
              <a:rPr lang="en-US" dirty="0">
                <a:latin typeface="Franklin Gothic Book" panose="020B0503020102020204" pitchFamily="34" charset="0"/>
              </a:rPr>
              <a:t>If it does, the graph is a </a:t>
            </a:r>
            <a:r>
              <a:rPr lang="en-US" b="1" dirty="0">
                <a:latin typeface="Franklin Gothic Book" panose="020B0503020102020204" pitchFamily="34" charset="0"/>
              </a:rPr>
              <a:t>directed graph</a:t>
            </a:r>
            <a:r>
              <a:rPr lang="en-US" dirty="0">
                <a:latin typeface="Franklin Gothic Book" panose="020B0503020102020204" pitchFamily="34" charset="0"/>
              </a:rPr>
              <a:t> or </a:t>
            </a:r>
            <a:r>
              <a:rPr lang="en-US" b="1" dirty="0">
                <a:latin typeface="Franklin Gothic Book" panose="020B0503020102020204" pitchFamily="34" charset="0"/>
              </a:rPr>
              <a:t>digraph</a:t>
            </a:r>
          </a:p>
          <a:p>
            <a:pPr marL="285750" indent="-285750">
              <a:buFont typeface="Arial" panose="020B0604020202020204" pitchFamily="34" charset="0"/>
              <a:buChar char="•"/>
            </a:pPr>
            <a:r>
              <a:rPr lang="en-US" dirty="0">
                <a:latin typeface="Franklin Gothic Book" panose="020B0503020102020204" pitchFamily="34" charset="0"/>
              </a:rPr>
              <a:t>The thickness of graph indicates strength of relationship </a:t>
            </a:r>
          </a:p>
          <a:p>
            <a:endParaRPr lang="en-US" dirty="0">
              <a:latin typeface="Franklin Gothic Book" panose="020B0503020102020204" pitchFamily="34" charset="0"/>
            </a:endParaRPr>
          </a:p>
        </p:txBody>
      </p:sp>
      <p:cxnSp>
        <p:nvCxnSpPr>
          <p:cNvPr id="38" name="직선 연결선 37">
            <a:extLst>
              <a:ext uri="{FF2B5EF4-FFF2-40B4-BE49-F238E27FC236}">
                <a16:creationId xmlns:a16="http://schemas.microsoft.com/office/drawing/2014/main" id="{5A605510-AF23-42E0-86E1-A4884A340D8E}"/>
              </a:ext>
            </a:extLst>
          </p:cNvPr>
          <p:cNvCxnSpPr>
            <a:cxnSpLocks/>
          </p:cNvCxnSpPr>
          <p:nvPr/>
        </p:nvCxnSpPr>
        <p:spPr>
          <a:xfrm>
            <a:off x="269521" y="4646904"/>
            <a:ext cx="578944" cy="0"/>
          </a:xfrm>
          <a:prstGeom prst="line">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타원 38">
            <a:extLst>
              <a:ext uri="{FF2B5EF4-FFF2-40B4-BE49-F238E27FC236}">
                <a16:creationId xmlns:a16="http://schemas.microsoft.com/office/drawing/2014/main" id="{B4AA2000-4E3A-4448-A9F3-FF382DDFE910}"/>
              </a:ext>
            </a:extLst>
          </p:cNvPr>
          <p:cNvSpPr/>
          <p:nvPr/>
        </p:nvSpPr>
        <p:spPr>
          <a:xfrm>
            <a:off x="171866" y="5801089"/>
            <a:ext cx="417250" cy="417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Franklin Gothic Book" panose="020B0503020102020204" pitchFamily="34" charset="0"/>
            </a:endParaRPr>
          </a:p>
        </p:txBody>
      </p:sp>
      <p:cxnSp>
        <p:nvCxnSpPr>
          <p:cNvPr id="40" name="직선 연결선 39">
            <a:extLst>
              <a:ext uri="{FF2B5EF4-FFF2-40B4-BE49-F238E27FC236}">
                <a16:creationId xmlns:a16="http://schemas.microsoft.com/office/drawing/2014/main" id="{CF44FB62-1B05-4D24-A93B-2B0036727E25}"/>
              </a:ext>
            </a:extLst>
          </p:cNvPr>
          <p:cNvCxnSpPr/>
          <p:nvPr/>
        </p:nvCxnSpPr>
        <p:spPr>
          <a:xfrm>
            <a:off x="589116" y="6009714"/>
            <a:ext cx="41725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타원 40">
            <a:extLst>
              <a:ext uri="{FF2B5EF4-FFF2-40B4-BE49-F238E27FC236}">
                <a16:creationId xmlns:a16="http://schemas.microsoft.com/office/drawing/2014/main" id="{A15F518E-30FC-4056-A733-9FCF570A1EAF}"/>
              </a:ext>
            </a:extLst>
          </p:cNvPr>
          <p:cNvSpPr/>
          <p:nvPr/>
        </p:nvSpPr>
        <p:spPr>
          <a:xfrm>
            <a:off x="946119" y="5801089"/>
            <a:ext cx="417250" cy="4172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Franklin Gothic Book" panose="020B0503020102020204" pitchFamily="34" charset="0"/>
            </a:endParaRPr>
          </a:p>
        </p:txBody>
      </p:sp>
      <p:sp>
        <p:nvSpPr>
          <p:cNvPr id="42" name="직사각형 41">
            <a:extLst>
              <a:ext uri="{FF2B5EF4-FFF2-40B4-BE49-F238E27FC236}">
                <a16:creationId xmlns:a16="http://schemas.microsoft.com/office/drawing/2014/main" id="{65FE0C96-58C4-4776-B9BB-6715F8EAB8F4}"/>
              </a:ext>
            </a:extLst>
          </p:cNvPr>
          <p:cNvSpPr/>
          <p:nvPr/>
        </p:nvSpPr>
        <p:spPr>
          <a:xfrm>
            <a:off x="1533941" y="5801089"/>
            <a:ext cx="9042219" cy="646331"/>
          </a:xfrm>
          <a:prstGeom prst="rect">
            <a:avLst/>
          </a:prstGeom>
        </p:spPr>
        <p:txBody>
          <a:bodyPr wrap="none">
            <a:spAutoFit/>
          </a:bodyPr>
          <a:lstStyle/>
          <a:p>
            <a:pPr marL="285750" indent="-285750">
              <a:buFont typeface="Arial" panose="020B0604020202020204" pitchFamily="34" charset="0"/>
              <a:buChar char="•"/>
            </a:pPr>
            <a:r>
              <a:rPr lang="en-US" dirty="0">
                <a:latin typeface="Franklin Gothic Book" panose="020B0503020102020204" pitchFamily="34" charset="0"/>
              </a:rPr>
              <a:t>The two nodes are </a:t>
            </a:r>
            <a:r>
              <a:rPr lang="en-US" b="1" dirty="0">
                <a:latin typeface="Franklin Gothic Book" panose="020B0503020102020204" pitchFamily="34" charset="0"/>
              </a:rPr>
              <a:t>adjacent </a:t>
            </a:r>
            <a:r>
              <a:rPr lang="en-US" dirty="0">
                <a:latin typeface="Franklin Gothic Book" panose="020B0503020102020204" pitchFamily="34" charset="0"/>
              </a:rPr>
              <a:t>, if a line exists between them</a:t>
            </a:r>
          </a:p>
          <a:p>
            <a:pPr marL="285750" indent="-285750">
              <a:buFont typeface="Arial" panose="020B0604020202020204" pitchFamily="34" charset="0"/>
              <a:buChar char="•"/>
            </a:pPr>
            <a:r>
              <a:rPr lang="en-US" dirty="0">
                <a:latin typeface="Franklin Gothic Book" panose="020B0503020102020204" pitchFamily="34" charset="0"/>
              </a:rPr>
              <a:t>A node is </a:t>
            </a:r>
            <a:r>
              <a:rPr lang="en-US" b="1" dirty="0">
                <a:latin typeface="Franklin Gothic Book" panose="020B0503020102020204" pitchFamily="34" charset="0"/>
              </a:rPr>
              <a:t>incident</a:t>
            </a:r>
            <a:r>
              <a:rPr lang="en-US" dirty="0">
                <a:latin typeface="Franklin Gothic Book" panose="020B0503020102020204" pitchFamily="34" charset="0"/>
              </a:rPr>
              <a:t> to a line (and vice versa), if it is one of the two nodes defining the line.</a:t>
            </a:r>
            <a:endParaRPr lang="en-US" b="1" dirty="0">
              <a:latin typeface="Franklin Gothic Book" panose="020B0503020102020204" pitchFamily="34" charset="0"/>
            </a:endParaRPr>
          </a:p>
        </p:txBody>
      </p:sp>
    </p:spTree>
    <p:extLst>
      <p:ext uri="{BB962C8B-B14F-4D97-AF65-F5344CB8AC3E}">
        <p14:creationId xmlns:p14="http://schemas.microsoft.com/office/powerpoint/2010/main" val="3526541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latin typeface="Franklin Gothic Book" panose="020B0503020102020204" pitchFamily="34" charset="0"/>
              </a:rPr>
              <a:t>1. Graphs &amp; Matrices   </a:t>
            </a:r>
            <a:r>
              <a:rPr lang="en-US" sz="2400" b="1" dirty="0">
                <a:latin typeface="Franklin Gothic Book" panose="020B0503020102020204" pitchFamily="34" charset="0"/>
              </a:rPr>
              <a:t>Graphs</a:t>
            </a:r>
            <a:endParaRPr lang="en-US" sz="3200" b="1" dirty="0">
              <a:latin typeface="Franklin Gothic Book" panose="020B0503020102020204" pitchFamily="34" charset="0"/>
            </a:endParaRPr>
          </a:p>
        </p:txBody>
      </p:sp>
      <p:sp>
        <p:nvSpPr>
          <p:cNvPr id="4" name="직사각형 3">
            <a:extLst>
              <a:ext uri="{FF2B5EF4-FFF2-40B4-BE49-F238E27FC236}">
                <a16:creationId xmlns:a16="http://schemas.microsoft.com/office/drawing/2014/main" id="{9ED38D3D-38D3-4141-A511-A01E4E222F55}"/>
              </a:ext>
            </a:extLst>
          </p:cNvPr>
          <p:cNvSpPr/>
          <p:nvPr/>
        </p:nvSpPr>
        <p:spPr>
          <a:xfrm>
            <a:off x="468621" y="1296430"/>
            <a:ext cx="1071127" cy="338554"/>
          </a:xfrm>
          <a:prstGeom prst="rect">
            <a:avLst/>
          </a:prstGeom>
        </p:spPr>
        <p:txBody>
          <a:bodyPr wrap="none">
            <a:spAutoFit/>
          </a:bodyPr>
          <a:lstStyle/>
          <a:p>
            <a:r>
              <a:rPr lang="en-US" sz="1600" b="1" dirty="0">
                <a:latin typeface="Franklin Gothic Book" panose="020B0503020102020204" pitchFamily="34" charset="0"/>
              </a:rPr>
              <a:t>Subgraph:</a:t>
            </a:r>
            <a:endParaRPr lang="en-US" sz="1600" dirty="0">
              <a:latin typeface="Franklin Gothic Book" panose="020B0503020102020204" pitchFamily="34" charset="0"/>
            </a:endParaRPr>
          </a:p>
        </p:txBody>
      </p:sp>
      <p:sp>
        <p:nvSpPr>
          <p:cNvPr id="24" name="직사각형 23">
            <a:extLst>
              <a:ext uri="{FF2B5EF4-FFF2-40B4-BE49-F238E27FC236}">
                <a16:creationId xmlns:a16="http://schemas.microsoft.com/office/drawing/2014/main" id="{0E95F17D-68D9-4D5B-942C-B827AABE7D01}"/>
              </a:ext>
            </a:extLst>
          </p:cNvPr>
          <p:cNvSpPr/>
          <p:nvPr/>
        </p:nvSpPr>
        <p:spPr>
          <a:xfrm>
            <a:off x="2164255" y="1304750"/>
            <a:ext cx="4388317" cy="338554"/>
          </a:xfrm>
          <a:prstGeom prst="rect">
            <a:avLst/>
          </a:prstGeom>
        </p:spPr>
        <p:txBody>
          <a:bodyPr wrap="none">
            <a:spAutoFit/>
          </a:bodyPr>
          <a:lstStyle/>
          <a:p>
            <a:r>
              <a:rPr lang="en-US" sz="1600" dirty="0">
                <a:latin typeface="Franklin Gothic Book" panose="020B0503020102020204" pitchFamily="34" charset="0"/>
              </a:rPr>
              <a:t>A subset of nodes and lines within a larger graph</a:t>
            </a:r>
          </a:p>
        </p:txBody>
      </p:sp>
      <p:grpSp>
        <p:nvGrpSpPr>
          <p:cNvPr id="60" name="그룹 59">
            <a:extLst>
              <a:ext uri="{FF2B5EF4-FFF2-40B4-BE49-F238E27FC236}">
                <a16:creationId xmlns:a16="http://schemas.microsoft.com/office/drawing/2014/main" id="{B7C2017F-083A-4652-A288-5F9BEC71D40E}"/>
              </a:ext>
            </a:extLst>
          </p:cNvPr>
          <p:cNvGrpSpPr/>
          <p:nvPr/>
        </p:nvGrpSpPr>
        <p:grpSpPr>
          <a:xfrm>
            <a:off x="7749749" y="3223815"/>
            <a:ext cx="4607505" cy="1956207"/>
            <a:chOff x="1036662" y="2807730"/>
            <a:chExt cx="6193188" cy="2629440"/>
          </a:xfrm>
        </p:grpSpPr>
        <p:sp>
          <p:nvSpPr>
            <p:cNvPr id="3" name="타원 2">
              <a:extLst>
                <a:ext uri="{FF2B5EF4-FFF2-40B4-BE49-F238E27FC236}">
                  <a16:creationId xmlns:a16="http://schemas.microsoft.com/office/drawing/2014/main" id="{B4559E6B-7960-44B8-BB1D-55E79B267AC5}"/>
                </a:ext>
              </a:extLst>
            </p:cNvPr>
            <p:cNvSpPr/>
            <p:nvPr/>
          </p:nvSpPr>
          <p:spPr>
            <a:xfrm>
              <a:off x="1180730" y="3178206"/>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타원 15">
              <a:extLst>
                <a:ext uri="{FF2B5EF4-FFF2-40B4-BE49-F238E27FC236}">
                  <a16:creationId xmlns:a16="http://schemas.microsoft.com/office/drawing/2014/main" id="{5FFB8B9B-8257-474D-B5DB-BC1EF78B20AD}"/>
                </a:ext>
              </a:extLst>
            </p:cNvPr>
            <p:cNvSpPr/>
            <p:nvPr/>
          </p:nvSpPr>
          <p:spPr>
            <a:xfrm>
              <a:off x="2681056" y="3178206"/>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타원 16">
              <a:extLst>
                <a:ext uri="{FF2B5EF4-FFF2-40B4-BE49-F238E27FC236}">
                  <a16:creationId xmlns:a16="http://schemas.microsoft.com/office/drawing/2014/main" id="{D1B4E0C5-7312-48F3-AE8A-404ABB70EECF}"/>
                </a:ext>
              </a:extLst>
            </p:cNvPr>
            <p:cNvSpPr/>
            <p:nvPr/>
          </p:nvSpPr>
          <p:spPr>
            <a:xfrm>
              <a:off x="4350058" y="3178206"/>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타원 17">
              <a:extLst>
                <a:ext uri="{FF2B5EF4-FFF2-40B4-BE49-F238E27FC236}">
                  <a16:creationId xmlns:a16="http://schemas.microsoft.com/office/drawing/2014/main" id="{741BE1FF-B29B-4E08-827E-A5EEB378EAAA}"/>
                </a:ext>
              </a:extLst>
            </p:cNvPr>
            <p:cNvSpPr/>
            <p:nvPr/>
          </p:nvSpPr>
          <p:spPr>
            <a:xfrm>
              <a:off x="4350058" y="4838330"/>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타원 18">
              <a:extLst>
                <a:ext uri="{FF2B5EF4-FFF2-40B4-BE49-F238E27FC236}">
                  <a16:creationId xmlns:a16="http://schemas.microsoft.com/office/drawing/2014/main" id="{894C9D03-6CDA-46CE-AB71-DE4124EE604E}"/>
                </a:ext>
              </a:extLst>
            </p:cNvPr>
            <p:cNvSpPr/>
            <p:nvPr/>
          </p:nvSpPr>
          <p:spPr>
            <a:xfrm>
              <a:off x="2681056" y="4838330"/>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타원 20">
              <a:extLst>
                <a:ext uri="{FF2B5EF4-FFF2-40B4-BE49-F238E27FC236}">
                  <a16:creationId xmlns:a16="http://schemas.microsoft.com/office/drawing/2014/main" id="{563627C9-E0D2-4B57-B31C-74FA15480052}"/>
                </a:ext>
              </a:extLst>
            </p:cNvPr>
            <p:cNvSpPr/>
            <p:nvPr/>
          </p:nvSpPr>
          <p:spPr>
            <a:xfrm>
              <a:off x="1180730" y="4838330"/>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타원 21">
              <a:extLst>
                <a:ext uri="{FF2B5EF4-FFF2-40B4-BE49-F238E27FC236}">
                  <a16:creationId xmlns:a16="http://schemas.microsoft.com/office/drawing/2014/main" id="{D540EF58-4D29-431D-915F-ED8518E72895}"/>
                </a:ext>
              </a:extLst>
            </p:cNvPr>
            <p:cNvSpPr/>
            <p:nvPr/>
          </p:nvSpPr>
          <p:spPr>
            <a:xfrm>
              <a:off x="5743852" y="3959441"/>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직선 화살표 연결선 6">
              <a:extLst>
                <a:ext uri="{FF2B5EF4-FFF2-40B4-BE49-F238E27FC236}">
                  <a16:creationId xmlns:a16="http://schemas.microsoft.com/office/drawing/2014/main" id="{FF164515-4617-44B1-A0B0-19FCA983E175}"/>
                </a:ext>
              </a:extLst>
            </p:cNvPr>
            <p:cNvCxnSpPr>
              <a:cxnSpLocks/>
              <a:stCxn id="3" idx="6"/>
              <a:endCxn id="16" idx="2"/>
            </p:cNvCxnSpPr>
            <p:nvPr/>
          </p:nvCxnSpPr>
          <p:spPr>
            <a:xfrm>
              <a:off x="1431524" y="3303603"/>
              <a:ext cx="124953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직선 화살표 연결선 25">
              <a:extLst>
                <a:ext uri="{FF2B5EF4-FFF2-40B4-BE49-F238E27FC236}">
                  <a16:creationId xmlns:a16="http://schemas.microsoft.com/office/drawing/2014/main" id="{7FAD2626-483C-4D92-800E-93A60D95473B}"/>
                </a:ext>
              </a:extLst>
            </p:cNvPr>
            <p:cNvCxnSpPr>
              <a:cxnSpLocks/>
              <a:endCxn id="17" idx="2"/>
            </p:cNvCxnSpPr>
            <p:nvPr/>
          </p:nvCxnSpPr>
          <p:spPr>
            <a:xfrm>
              <a:off x="2931850" y="3303603"/>
              <a:ext cx="141820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41B24FA8-F92C-4C45-A2A0-A0BE45B28313}"/>
                </a:ext>
              </a:extLst>
            </p:cNvPr>
            <p:cNvCxnSpPr>
              <a:cxnSpLocks/>
              <a:stCxn id="18" idx="1"/>
              <a:endCxn id="16" idx="5"/>
            </p:cNvCxnSpPr>
            <p:nvPr/>
          </p:nvCxnSpPr>
          <p:spPr>
            <a:xfrm flipH="1" flipV="1">
              <a:off x="2895122" y="3392272"/>
              <a:ext cx="1491664" cy="14827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직선 화살표 연결선 29">
              <a:extLst>
                <a:ext uri="{FF2B5EF4-FFF2-40B4-BE49-F238E27FC236}">
                  <a16:creationId xmlns:a16="http://schemas.microsoft.com/office/drawing/2014/main" id="{A59374DA-FE33-4979-9091-8FB9B4F7F8A4}"/>
                </a:ext>
              </a:extLst>
            </p:cNvPr>
            <p:cNvCxnSpPr>
              <a:cxnSpLocks/>
              <a:stCxn id="17" idx="4"/>
              <a:endCxn id="18" idx="0"/>
            </p:cNvCxnSpPr>
            <p:nvPr/>
          </p:nvCxnSpPr>
          <p:spPr>
            <a:xfrm>
              <a:off x="4475455" y="3429000"/>
              <a:ext cx="0" cy="14093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56EE830C-EE77-470F-B1C5-A6D2942C2F01}"/>
                </a:ext>
              </a:extLst>
            </p:cNvPr>
            <p:cNvCxnSpPr>
              <a:cxnSpLocks/>
              <a:stCxn id="22" idx="3"/>
              <a:endCxn id="18" idx="7"/>
            </p:cNvCxnSpPr>
            <p:nvPr/>
          </p:nvCxnSpPr>
          <p:spPr>
            <a:xfrm flipH="1">
              <a:off x="4564124" y="4173507"/>
              <a:ext cx="1216456" cy="7015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직선 화살표 연결선 42">
              <a:extLst>
                <a:ext uri="{FF2B5EF4-FFF2-40B4-BE49-F238E27FC236}">
                  <a16:creationId xmlns:a16="http://schemas.microsoft.com/office/drawing/2014/main" id="{F046B514-466A-4337-BB17-1F4D2959E67C}"/>
                </a:ext>
              </a:extLst>
            </p:cNvPr>
            <p:cNvCxnSpPr>
              <a:cxnSpLocks/>
              <a:stCxn id="22" idx="1"/>
              <a:endCxn id="17" idx="6"/>
            </p:cNvCxnSpPr>
            <p:nvPr/>
          </p:nvCxnSpPr>
          <p:spPr>
            <a:xfrm flipH="1" flipV="1">
              <a:off x="4600852" y="3303603"/>
              <a:ext cx="1179728" cy="6925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직선 화살표 연결선 43">
              <a:extLst>
                <a:ext uri="{FF2B5EF4-FFF2-40B4-BE49-F238E27FC236}">
                  <a16:creationId xmlns:a16="http://schemas.microsoft.com/office/drawing/2014/main" id="{16B2C6E2-6C05-43DA-9851-2DCBB8EB6A10}"/>
                </a:ext>
              </a:extLst>
            </p:cNvPr>
            <p:cNvCxnSpPr>
              <a:cxnSpLocks/>
              <a:stCxn id="19" idx="1"/>
              <a:endCxn id="3" idx="5"/>
            </p:cNvCxnSpPr>
            <p:nvPr/>
          </p:nvCxnSpPr>
          <p:spPr>
            <a:xfrm flipH="1" flipV="1">
              <a:off x="1394796" y="3392272"/>
              <a:ext cx="1322988" cy="148278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직선 화살표 연결선 46">
              <a:extLst>
                <a:ext uri="{FF2B5EF4-FFF2-40B4-BE49-F238E27FC236}">
                  <a16:creationId xmlns:a16="http://schemas.microsoft.com/office/drawing/2014/main" id="{19F85C3C-8A23-456A-9C3E-BF4407B43D13}"/>
                </a:ext>
              </a:extLst>
            </p:cNvPr>
            <p:cNvCxnSpPr>
              <a:cxnSpLocks/>
              <a:stCxn id="16" idx="4"/>
              <a:endCxn id="19" idx="0"/>
            </p:cNvCxnSpPr>
            <p:nvPr/>
          </p:nvCxnSpPr>
          <p:spPr>
            <a:xfrm>
              <a:off x="2806453" y="3429000"/>
              <a:ext cx="0" cy="1409330"/>
            </a:xfrm>
            <a:prstGeom prst="straightConnector1">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직사각형 49">
              <a:extLst>
                <a:ext uri="{FF2B5EF4-FFF2-40B4-BE49-F238E27FC236}">
                  <a16:creationId xmlns:a16="http://schemas.microsoft.com/office/drawing/2014/main" id="{41B0DD15-1B5F-473A-98A7-F92EAC3CE1CC}"/>
                </a:ext>
              </a:extLst>
            </p:cNvPr>
            <p:cNvSpPr/>
            <p:nvPr/>
          </p:nvSpPr>
          <p:spPr>
            <a:xfrm>
              <a:off x="1036662" y="2807730"/>
              <a:ext cx="981635" cy="381338"/>
            </a:xfrm>
            <a:prstGeom prst="rect">
              <a:avLst/>
            </a:prstGeom>
          </p:spPr>
          <p:txBody>
            <a:bodyPr wrap="square">
              <a:spAutoFit/>
            </a:bodyPr>
            <a:lstStyle/>
            <a:p>
              <a:r>
                <a:rPr lang="en-US" sz="1400" dirty="0">
                  <a:latin typeface="Franklin Gothic Book" panose="020B0503020102020204" pitchFamily="34" charset="0"/>
                </a:rPr>
                <a:t>Sally</a:t>
              </a:r>
              <a:endParaRPr lang="en-US" dirty="0"/>
            </a:p>
          </p:txBody>
        </p:sp>
        <p:sp>
          <p:nvSpPr>
            <p:cNvPr id="51" name="직사각형 50">
              <a:extLst>
                <a:ext uri="{FF2B5EF4-FFF2-40B4-BE49-F238E27FC236}">
                  <a16:creationId xmlns:a16="http://schemas.microsoft.com/office/drawing/2014/main" id="{3F7DAB01-C939-429B-9304-27F52BC6203A}"/>
                </a:ext>
              </a:extLst>
            </p:cNvPr>
            <p:cNvSpPr/>
            <p:nvPr/>
          </p:nvSpPr>
          <p:spPr>
            <a:xfrm>
              <a:off x="2536987" y="2807730"/>
              <a:ext cx="1066495" cy="381338"/>
            </a:xfrm>
            <a:prstGeom prst="rect">
              <a:avLst/>
            </a:prstGeom>
          </p:spPr>
          <p:txBody>
            <a:bodyPr wrap="square">
              <a:spAutoFit/>
            </a:bodyPr>
            <a:lstStyle/>
            <a:p>
              <a:r>
                <a:rPr lang="en-US" sz="1400" dirty="0">
                  <a:latin typeface="Franklin Gothic Book" panose="020B0503020102020204" pitchFamily="34" charset="0"/>
                </a:rPr>
                <a:t>Harry</a:t>
              </a:r>
              <a:endParaRPr lang="en-US" dirty="0"/>
            </a:p>
          </p:txBody>
        </p:sp>
        <p:sp>
          <p:nvSpPr>
            <p:cNvPr id="52" name="직사각형 51">
              <a:extLst>
                <a:ext uri="{FF2B5EF4-FFF2-40B4-BE49-F238E27FC236}">
                  <a16:creationId xmlns:a16="http://schemas.microsoft.com/office/drawing/2014/main" id="{B9208282-A77B-4B97-80DB-DF1103B7758A}"/>
                </a:ext>
              </a:extLst>
            </p:cNvPr>
            <p:cNvSpPr/>
            <p:nvPr/>
          </p:nvSpPr>
          <p:spPr>
            <a:xfrm>
              <a:off x="4179284" y="2807730"/>
              <a:ext cx="852109" cy="381338"/>
            </a:xfrm>
            <a:prstGeom prst="rect">
              <a:avLst/>
            </a:prstGeom>
          </p:spPr>
          <p:txBody>
            <a:bodyPr wrap="square">
              <a:spAutoFit/>
            </a:bodyPr>
            <a:lstStyle/>
            <a:p>
              <a:r>
                <a:rPr lang="en-US" sz="1400" dirty="0">
                  <a:latin typeface="Franklin Gothic Book" panose="020B0503020102020204" pitchFamily="34" charset="0"/>
                </a:rPr>
                <a:t>Tom</a:t>
              </a:r>
              <a:endParaRPr lang="en-US" dirty="0"/>
            </a:p>
          </p:txBody>
        </p:sp>
        <p:sp>
          <p:nvSpPr>
            <p:cNvPr id="53" name="직사각형 52">
              <a:extLst>
                <a:ext uri="{FF2B5EF4-FFF2-40B4-BE49-F238E27FC236}">
                  <a16:creationId xmlns:a16="http://schemas.microsoft.com/office/drawing/2014/main" id="{72E78AD1-AC24-49B7-9573-3680725AD4C4}"/>
                </a:ext>
              </a:extLst>
            </p:cNvPr>
            <p:cNvSpPr/>
            <p:nvPr/>
          </p:nvSpPr>
          <p:spPr>
            <a:xfrm>
              <a:off x="6030725" y="3900099"/>
              <a:ext cx="1199125" cy="381338"/>
            </a:xfrm>
            <a:prstGeom prst="rect">
              <a:avLst/>
            </a:prstGeom>
          </p:spPr>
          <p:txBody>
            <a:bodyPr wrap="square">
              <a:spAutoFit/>
            </a:bodyPr>
            <a:lstStyle/>
            <a:p>
              <a:r>
                <a:rPr lang="en-US" sz="1400" dirty="0">
                  <a:latin typeface="Franklin Gothic Book" panose="020B0503020102020204" pitchFamily="34" charset="0"/>
                </a:rPr>
                <a:t>Jane</a:t>
              </a:r>
              <a:endParaRPr lang="en-US" dirty="0"/>
            </a:p>
          </p:txBody>
        </p:sp>
        <p:sp>
          <p:nvSpPr>
            <p:cNvPr id="57" name="직사각형 56">
              <a:extLst>
                <a:ext uri="{FF2B5EF4-FFF2-40B4-BE49-F238E27FC236}">
                  <a16:creationId xmlns:a16="http://schemas.microsoft.com/office/drawing/2014/main" id="{525B8C92-7980-4B94-ABF0-C09189BEAEDA}"/>
                </a:ext>
              </a:extLst>
            </p:cNvPr>
            <p:cNvSpPr/>
            <p:nvPr/>
          </p:nvSpPr>
          <p:spPr>
            <a:xfrm>
              <a:off x="4178634" y="5055832"/>
              <a:ext cx="1007496" cy="381338"/>
            </a:xfrm>
            <a:prstGeom prst="rect">
              <a:avLst/>
            </a:prstGeom>
          </p:spPr>
          <p:txBody>
            <a:bodyPr wrap="square">
              <a:spAutoFit/>
            </a:bodyPr>
            <a:lstStyle/>
            <a:p>
              <a:r>
                <a:rPr lang="en-US" sz="1400" dirty="0">
                  <a:latin typeface="Franklin Gothic Book" panose="020B0503020102020204" pitchFamily="34" charset="0"/>
                </a:rPr>
                <a:t>Betty</a:t>
              </a:r>
              <a:endParaRPr lang="en-US" dirty="0"/>
            </a:p>
          </p:txBody>
        </p:sp>
        <p:sp>
          <p:nvSpPr>
            <p:cNvPr id="58" name="직사각형 57">
              <a:extLst>
                <a:ext uri="{FF2B5EF4-FFF2-40B4-BE49-F238E27FC236}">
                  <a16:creationId xmlns:a16="http://schemas.microsoft.com/office/drawing/2014/main" id="{5C6EA21F-B1B6-44DB-BA0A-4D179CC1945B}"/>
                </a:ext>
              </a:extLst>
            </p:cNvPr>
            <p:cNvSpPr/>
            <p:nvPr/>
          </p:nvSpPr>
          <p:spPr>
            <a:xfrm>
              <a:off x="2536987" y="5055832"/>
              <a:ext cx="1007496" cy="381338"/>
            </a:xfrm>
            <a:prstGeom prst="rect">
              <a:avLst/>
            </a:prstGeom>
          </p:spPr>
          <p:txBody>
            <a:bodyPr wrap="square">
              <a:spAutoFit/>
            </a:bodyPr>
            <a:lstStyle/>
            <a:p>
              <a:r>
                <a:rPr lang="en-US" sz="1400" dirty="0">
                  <a:latin typeface="Franklin Gothic Book" panose="020B0503020102020204" pitchFamily="34" charset="0"/>
                </a:rPr>
                <a:t>Dick</a:t>
              </a:r>
              <a:endParaRPr lang="en-US" dirty="0"/>
            </a:p>
          </p:txBody>
        </p:sp>
        <p:sp>
          <p:nvSpPr>
            <p:cNvPr id="59" name="직사각형 58">
              <a:extLst>
                <a:ext uri="{FF2B5EF4-FFF2-40B4-BE49-F238E27FC236}">
                  <a16:creationId xmlns:a16="http://schemas.microsoft.com/office/drawing/2014/main" id="{1DD6D225-F2FB-4D37-BA0D-2836B18C24CB}"/>
                </a:ext>
              </a:extLst>
            </p:cNvPr>
            <p:cNvSpPr/>
            <p:nvPr/>
          </p:nvSpPr>
          <p:spPr>
            <a:xfrm>
              <a:off x="1045539" y="5055832"/>
              <a:ext cx="1007496" cy="381338"/>
            </a:xfrm>
            <a:prstGeom prst="rect">
              <a:avLst/>
            </a:prstGeom>
          </p:spPr>
          <p:txBody>
            <a:bodyPr wrap="square">
              <a:spAutoFit/>
            </a:bodyPr>
            <a:lstStyle/>
            <a:p>
              <a:r>
                <a:rPr lang="en-US" sz="1400" dirty="0">
                  <a:latin typeface="Franklin Gothic Book" panose="020B0503020102020204" pitchFamily="34" charset="0"/>
                </a:rPr>
                <a:t>Mary</a:t>
              </a:r>
              <a:endParaRPr lang="en-US" dirty="0"/>
            </a:p>
          </p:txBody>
        </p:sp>
      </p:grpSp>
      <p:sp>
        <p:nvSpPr>
          <p:cNvPr id="61" name="직사각형 60">
            <a:extLst>
              <a:ext uri="{FF2B5EF4-FFF2-40B4-BE49-F238E27FC236}">
                <a16:creationId xmlns:a16="http://schemas.microsoft.com/office/drawing/2014/main" id="{0C5D567C-0C12-4C62-9CA8-19202F2E0E09}"/>
              </a:ext>
            </a:extLst>
          </p:cNvPr>
          <p:cNvSpPr/>
          <p:nvPr/>
        </p:nvSpPr>
        <p:spPr>
          <a:xfrm>
            <a:off x="468621" y="1665762"/>
            <a:ext cx="658642" cy="338554"/>
          </a:xfrm>
          <a:prstGeom prst="rect">
            <a:avLst/>
          </a:prstGeom>
        </p:spPr>
        <p:txBody>
          <a:bodyPr wrap="none">
            <a:spAutoFit/>
          </a:bodyPr>
          <a:lstStyle/>
          <a:p>
            <a:r>
              <a:rPr lang="en-US" sz="1600" b="1" dirty="0">
                <a:latin typeface="Franklin Gothic Book" panose="020B0503020102020204" pitchFamily="34" charset="0"/>
              </a:rPr>
              <a:t>Walk:</a:t>
            </a:r>
            <a:endParaRPr lang="en-US" sz="1600" dirty="0">
              <a:latin typeface="Franklin Gothic Book" panose="020B0503020102020204" pitchFamily="34" charset="0"/>
            </a:endParaRPr>
          </a:p>
        </p:txBody>
      </p:sp>
      <p:sp>
        <p:nvSpPr>
          <p:cNvPr id="62" name="직사각형 61">
            <a:extLst>
              <a:ext uri="{FF2B5EF4-FFF2-40B4-BE49-F238E27FC236}">
                <a16:creationId xmlns:a16="http://schemas.microsoft.com/office/drawing/2014/main" id="{62ECDE9F-24A3-4238-97BC-94C322934599}"/>
              </a:ext>
            </a:extLst>
          </p:cNvPr>
          <p:cNvSpPr/>
          <p:nvPr/>
        </p:nvSpPr>
        <p:spPr>
          <a:xfrm>
            <a:off x="2164255" y="1689786"/>
            <a:ext cx="6885411" cy="369332"/>
          </a:xfrm>
          <a:prstGeom prst="rect">
            <a:avLst/>
          </a:prstGeom>
        </p:spPr>
        <p:txBody>
          <a:bodyPr wrap="none">
            <a:spAutoFit/>
          </a:bodyPr>
          <a:lstStyle/>
          <a:p>
            <a:r>
              <a:rPr lang="en-US" sz="1600" dirty="0">
                <a:latin typeface="Franklin Gothic Book" panose="020B0503020102020204" pitchFamily="34" charset="0"/>
              </a:rPr>
              <a:t>Alternating sequence of incident nodes and lines   </a:t>
            </a:r>
            <a:r>
              <a:rPr lang="en-US" dirty="0">
                <a:latin typeface="Franklin Gothic Book" panose="020B0503020102020204" pitchFamily="34" charset="0"/>
              </a:rPr>
              <a:t>(</a:t>
            </a:r>
            <a:r>
              <a:rPr lang="en-US" sz="1400" dirty="0">
                <a:latin typeface="Franklin Gothic Book" panose="020B0503020102020204" pitchFamily="34" charset="0"/>
              </a:rPr>
              <a:t>ex. The triad (</a:t>
            </a:r>
            <a:r>
              <a:rPr lang="en-US" sz="1400" dirty="0" err="1">
                <a:latin typeface="Franklin Gothic Book" panose="020B0503020102020204" pitchFamily="34" charset="0"/>
              </a:rPr>
              <a:t>Tom,Betty,Jane</a:t>
            </a:r>
            <a:r>
              <a:rPr lang="en-US" sz="1400" dirty="0">
                <a:latin typeface="Franklin Gothic Book" panose="020B0503020102020204" pitchFamily="34" charset="0"/>
              </a:rPr>
              <a:t>)</a:t>
            </a:r>
            <a:r>
              <a:rPr lang="en-US" dirty="0">
                <a:latin typeface="Franklin Gothic Book" panose="020B0503020102020204" pitchFamily="34" charset="0"/>
              </a:rPr>
              <a:t>)</a:t>
            </a:r>
            <a:endParaRPr lang="en-US" sz="1600" dirty="0">
              <a:latin typeface="Franklin Gothic Book" panose="020B0503020102020204" pitchFamily="34" charset="0"/>
            </a:endParaRPr>
          </a:p>
        </p:txBody>
      </p:sp>
      <p:sp>
        <p:nvSpPr>
          <p:cNvPr id="63" name="직사각형 62">
            <a:extLst>
              <a:ext uri="{FF2B5EF4-FFF2-40B4-BE49-F238E27FC236}">
                <a16:creationId xmlns:a16="http://schemas.microsoft.com/office/drawing/2014/main" id="{30B83A4D-99E9-4E71-816F-68C8B1B834DC}"/>
              </a:ext>
            </a:extLst>
          </p:cNvPr>
          <p:cNvSpPr/>
          <p:nvPr/>
        </p:nvSpPr>
        <p:spPr>
          <a:xfrm>
            <a:off x="463395" y="2031237"/>
            <a:ext cx="1303049" cy="338554"/>
          </a:xfrm>
          <a:prstGeom prst="rect">
            <a:avLst/>
          </a:prstGeom>
        </p:spPr>
        <p:txBody>
          <a:bodyPr wrap="none">
            <a:spAutoFit/>
          </a:bodyPr>
          <a:lstStyle/>
          <a:p>
            <a:r>
              <a:rPr lang="en-US" sz="1600" b="1" dirty="0">
                <a:latin typeface="Franklin Gothic Book" panose="020B0503020102020204" pitchFamily="34" charset="0"/>
              </a:rPr>
              <a:t>Walk Length:</a:t>
            </a:r>
            <a:endParaRPr lang="en-US" sz="1600" dirty="0">
              <a:latin typeface="Franklin Gothic Book" panose="020B0503020102020204" pitchFamily="34" charset="0"/>
            </a:endParaRPr>
          </a:p>
        </p:txBody>
      </p:sp>
      <p:sp>
        <p:nvSpPr>
          <p:cNvPr id="64" name="직사각형 63">
            <a:extLst>
              <a:ext uri="{FF2B5EF4-FFF2-40B4-BE49-F238E27FC236}">
                <a16:creationId xmlns:a16="http://schemas.microsoft.com/office/drawing/2014/main" id="{097BC6CF-0A82-4AA6-97D8-CCD18D111BC7}"/>
              </a:ext>
            </a:extLst>
          </p:cNvPr>
          <p:cNvSpPr/>
          <p:nvPr/>
        </p:nvSpPr>
        <p:spPr>
          <a:xfrm>
            <a:off x="2164255" y="2075100"/>
            <a:ext cx="8966557" cy="338554"/>
          </a:xfrm>
          <a:prstGeom prst="rect">
            <a:avLst/>
          </a:prstGeom>
        </p:spPr>
        <p:txBody>
          <a:bodyPr wrap="none">
            <a:spAutoFit/>
          </a:bodyPr>
          <a:lstStyle/>
          <a:p>
            <a:r>
              <a:rPr lang="en-US" sz="1600" dirty="0">
                <a:latin typeface="Franklin Gothic Book" panose="020B0503020102020204" pitchFamily="34" charset="0"/>
              </a:rPr>
              <a:t>Number of lines a walk contains                               </a:t>
            </a:r>
            <a:r>
              <a:rPr lang="en-US" sz="1400" dirty="0">
                <a:latin typeface="Franklin Gothic Book" panose="020B0503020102020204" pitchFamily="34" charset="0"/>
              </a:rPr>
              <a:t>(ex. The walk Jane-Tom-Betty-Harry-Dick-Sally has length 5</a:t>
            </a:r>
            <a:r>
              <a:rPr lang="en-US" sz="1600" dirty="0">
                <a:latin typeface="Franklin Gothic Book" panose="020B0503020102020204" pitchFamily="34" charset="0"/>
              </a:rPr>
              <a:t>)</a:t>
            </a:r>
          </a:p>
        </p:txBody>
      </p:sp>
      <p:sp>
        <p:nvSpPr>
          <p:cNvPr id="65" name="직사각형 64">
            <a:extLst>
              <a:ext uri="{FF2B5EF4-FFF2-40B4-BE49-F238E27FC236}">
                <a16:creationId xmlns:a16="http://schemas.microsoft.com/office/drawing/2014/main" id="{06D6FF7C-308B-49B7-A381-EFC718A17D54}"/>
              </a:ext>
            </a:extLst>
          </p:cNvPr>
          <p:cNvSpPr/>
          <p:nvPr/>
        </p:nvSpPr>
        <p:spPr>
          <a:xfrm>
            <a:off x="463395" y="2371658"/>
            <a:ext cx="592535" cy="338554"/>
          </a:xfrm>
          <a:prstGeom prst="rect">
            <a:avLst/>
          </a:prstGeom>
        </p:spPr>
        <p:txBody>
          <a:bodyPr wrap="none">
            <a:spAutoFit/>
          </a:bodyPr>
          <a:lstStyle/>
          <a:p>
            <a:r>
              <a:rPr lang="en-US" sz="1600" b="1" dirty="0">
                <a:latin typeface="Franklin Gothic Book" panose="020B0503020102020204" pitchFamily="34" charset="0"/>
              </a:rPr>
              <a:t>Trail:</a:t>
            </a:r>
            <a:endParaRPr lang="en-US" sz="1600" dirty="0">
              <a:latin typeface="Franklin Gothic Book" panose="020B0503020102020204" pitchFamily="34" charset="0"/>
            </a:endParaRPr>
          </a:p>
        </p:txBody>
      </p:sp>
      <p:sp>
        <p:nvSpPr>
          <p:cNvPr id="66" name="직사각형 65">
            <a:extLst>
              <a:ext uri="{FF2B5EF4-FFF2-40B4-BE49-F238E27FC236}">
                <a16:creationId xmlns:a16="http://schemas.microsoft.com/office/drawing/2014/main" id="{521F1B08-C309-454A-9FC5-3A44600CCEFF}"/>
              </a:ext>
            </a:extLst>
          </p:cNvPr>
          <p:cNvSpPr/>
          <p:nvPr/>
        </p:nvSpPr>
        <p:spPr>
          <a:xfrm>
            <a:off x="2164255" y="2402436"/>
            <a:ext cx="7756739" cy="338554"/>
          </a:xfrm>
          <a:prstGeom prst="rect">
            <a:avLst/>
          </a:prstGeom>
        </p:spPr>
        <p:txBody>
          <a:bodyPr wrap="none">
            <a:spAutoFit/>
          </a:bodyPr>
          <a:lstStyle/>
          <a:p>
            <a:r>
              <a:rPr lang="en-US" sz="1600" dirty="0">
                <a:latin typeface="Franklin Gothic Book" panose="020B0503020102020204" pitchFamily="34" charset="0"/>
              </a:rPr>
              <a:t>Walk that consist of distinct lines, although some nodes may be visited more than once</a:t>
            </a:r>
          </a:p>
        </p:txBody>
      </p:sp>
      <p:sp>
        <p:nvSpPr>
          <p:cNvPr id="34" name="직사각형 33">
            <a:extLst>
              <a:ext uri="{FF2B5EF4-FFF2-40B4-BE49-F238E27FC236}">
                <a16:creationId xmlns:a16="http://schemas.microsoft.com/office/drawing/2014/main" id="{231F605A-6322-461A-AC8F-DD22D7E312C8}"/>
              </a:ext>
            </a:extLst>
          </p:cNvPr>
          <p:cNvSpPr/>
          <p:nvPr/>
        </p:nvSpPr>
        <p:spPr>
          <a:xfrm>
            <a:off x="463395" y="2703106"/>
            <a:ext cx="781111" cy="338554"/>
          </a:xfrm>
          <a:prstGeom prst="rect">
            <a:avLst/>
          </a:prstGeom>
        </p:spPr>
        <p:txBody>
          <a:bodyPr wrap="none">
            <a:spAutoFit/>
          </a:bodyPr>
          <a:lstStyle/>
          <a:p>
            <a:r>
              <a:rPr lang="en-US" sz="1600" b="1" dirty="0">
                <a:latin typeface="Franklin Gothic Book" panose="020B0503020102020204" pitchFamily="34" charset="0"/>
              </a:rPr>
              <a:t>Circuit:</a:t>
            </a:r>
            <a:endParaRPr lang="en-US" sz="1600" dirty="0">
              <a:latin typeface="Franklin Gothic Book" panose="020B0503020102020204" pitchFamily="34" charset="0"/>
            </a:endParaRPr>
          </a:p>
        </p:txBody>
      </p:sp>
      <p:sp>
        <p:nvSpPr>
          <p:cNvPr id="35" name="직사각형 34">
            <a:extLst>
              <a:ext uri="{FF2B5EF4-FFF2-40B4-BE49-F238E27FC236}">
                <a16:creationId xmlns:a16="http://schemas.microsoft.com/office/drawing/2014/main" id="{B93904B7-ADD4-461E-A89A-0F4FFD328A36}"/>
              </a:ext>
            </a:extLst>
          </p:cNvPr>
          <p:cNvSpPr/>
          <p:nvPr/>
        </p:nvSpPr>
        <p:spPr>
          <a:xfrm>
            <a:off x="2164255" y="2739923"/>
            <a:ext cx="7463966" cy="338554"/>
          </a:xfrm>
          <a:prstGeom prst="rect">
            <a:avLst/>
          </a:prstGeom>
        </p:spPr>
        <p:txBody>
          <a:bodyPr wrap="none">
            <a:spAutoFit/>
          </a:bodyPr>
          <a:lstStyle/>
          <a:p>
            <a:r>
              <a:rPr lang="en-US" sz="1600" dirty="0">
                <a:latin typeface="Franklin Gothic Book" panose="020B0503020102020204" pitchFamily="34" charset="0"/>
              </a:rPr>
              <a:t>Trail that starts and ends at the same node. </a:t>
            </a:r>
            <a:r>
              <a:rPr lang="en-US" sz="1400" dirty="0">
                <a:latin typeface="Franklin Gothic Book" panose="020B0503020102020204" pitchFamily="34" charset="0"/>
              </a:rPr>
              <a:t>(ex. Dick, Sally, Harry, Tom, Betty, Harry, Dick</a:t>
            </a:r>
            <a:r>
              <a:rPr lang="en-US" sz="1600" dirty="0">
                <a:latin typeface="Franklin Gothic Book" panose="020B0503020102020204" pitchFamily="34" charset="0"/>
              </a:rPr>
              <a:t>)</a:t>
            </a:r>
            <a:r>
              <a:rPr lang="en-US" sz="1400" dirty="0">
                <a:latin typeface="Franklin Gothic Book" panose="020B0503020102020204" pitchFamily="34" charset="0"/>
              </a:rPr>
              <a:t> </a:t>
            </a:r>
            <a:endParaRPr lang="en-US" sz="1600" dirty="0">
              <a:latin typeface="Franklin Gothic Book" panose="020B0503020102020204" pitchFamily="34" charset="0"/>
            </a:endParaRPr>
          </a:p>
        </p:txBody>
      </p:sp>
      <p:sp>
        <p:nvSpPr>
          <p:cNvPr id="36" name="직사각형 35">
            <a:extLst>
              <a:ext uri="{FF2B5EF4-FFF2-40B4-BE49-F238E27FC236}">
                <a16:creationId xmlns:a16="http://schemas.microsoft.com/office/drawing/2014/main" id="{26BFE807-0ADA-44EA-B39E-C33F39ACC5DB}"/>
              </a:ext>
            </a:extLst>
          </p:cNvPr>
          <p:cNvSpPr/>
          <p:nvPr/>
        </p:nvSpPr>
        <p:spPr>
          <a:xfrm>
            <a:off x="463395" y="3185679"/>
            <a:ext cx="632481" cy="338554"/>
          </a:xfrm>
          <a:prstGeom prst="rect">
            <a:avLst/>
          </a:prstGeom>
        </p:spPr>
        <p:txBody>
          <a:bodyPr wrap="none">
            <a:spAutoFit/>
          </a:bodyPr>
          <a:lstStyle/>
          <a:p>
            <a:r>
              <a:rPr lang="en-US" sz="1600" b="1" dirty="0">
                <a:latin typeface="Franklin Gothic Book" panose="020B0503020102020204" pitchFamily="34" charset="0"/>
              </a:rPr>
              <a:t>Path:</a:t>
            </a:r>
            <a:endParaRPr lang="en-US" sz="1600" dirty="0">
              <a:latin typeface="Franklin Gothic Book" panose="020B0503020102020204" pitchFamily="34" charset="0"/>
            </a:endParaRPr>
          </a:p>
        </p:txBody>
      </p:sp>
      <p:sp>
        <p:nvSpPr>
          <p:cNvPr id="37" name="직사각형 36">
            <a:extLst>
              <a:ext uri="{FF2B5EF4-FFF2-40B4-BE49-F238E27FC236}">
                <a16:creationId xmlns:a16="http://schemas.microsoft.com/office/drawing/2014/main" id="{758EA7EA-13F5-42C6-B75B-AFA2C855BF0A}"/>
              </a:ext>
            </a:extLst>
          </p:cNvPr>
          <p:cNvSpPr/>
          <p:nvPr/>
        </p:nvSpPr>
        <p:spPr>
          <a:xfrm>
            <a:off x="2164255" y="3196062"/>
            <a:ext cx="4291559" cy="584775"/>
          </a:xfrm>
          <a:prstGeom prst="rect">
            <a:avLst/>
          </a:prstGeom>
        </p:spPr>
        <p:txBody>
          <a:bodyPr wrap="none">
            <a:spAutoFit/>
          </a:bodyPr>
          <a:lstStyle/>
          <a:p>
            <a:r>
              <a:rPr lang="en-US" sz="1600" dirty="0">
                <a:latin typeface="Franklin Gothic Book" panose="020B0503020102020204" pitchFamily="34" charset="0"/>
              </a:rPr>
              <a:t>Walk with entirely distinct nodes and lines.</a:t>
            </a:r>
            <a:br>
              <a:rPr lang="en-US" sz="1600" dirty="0">
                <a:latin typeface="Franklin Gothic Book" panose="020B0503020102020204" pitchFamily="34" charset="0"/>
              </a:rPr>
            </a:br>
            <a:r>
              <a:rPr lang="en-US" sz="1600" dirty="0">
                <a:latin typeface="Franklin Gothic Book" panose="020B0503020102020204" pitchFamily="34" charset="0"/>
              </a:rPr>
              <a:t>In digraphs, all arrow must point same direction</a:t>
            </a:r>
          </a:p>
        </p:txBody>
      </p:sp>
      <p:sp>
        <p:nvSpPr>
          <p:cNvPr id="38" name="직사각형 37">
            <a:extLst>
              <a:ext uri="{FF2B5EF4-FFF2-40B4-BE49-F238E27FC236}">
                <a16:creationId xmlns:a16="http://schemas.microsoft.com/office/drawing/2014/main" id="{87F3DB5D-47CB-403A-B726-CBC1AE024F8B}"/>
              </a:ext>
            </a:extLst>
          </p:cNvPr>
          <p:cNvSpPr/>
          <p:nvPr/>
        </p:nvSpPr>
        <p:spPr>
          <a:xfrm>
            <a:off x="463395" y="3863365"/>
            <a:ext cx="1421158" cy="338554"/>
          </a:xfrm>
          <a:prstGeom prst="rect">
            <a:avLst/>
          </a:prstGeom>
        </p:spPr>
        <p:txBody>
          <a:bodyPr wrap="none">
            <a:spAutoFit/>
          </a:bodyPr>
          <a:lstStyle/>
          <a:p>
            <a:r>
              <a:rPr lang="en-US" sz="1600" b="1" dirty="0">
                <a:latin typeface="Franklin Gothic Book" panose="020B0503020102020204" pitchFamily="34" charset="0"/>
              </a:rPr>
              <a:t>Path distance:</a:t>
            </a:r>
            <a:endParaRPr lang="en-US" sz="1600" dirty="0">
              <a:latin typeface="Franklin Gothic Book" panose="020B0503020102020204" pitchFamily="34" charset="0"/>
            </a:endParaRPr>
          </a:p>
        </p:txBody>
      </p:sp>
      <p:sp>
        <p:nvSpPr>
          <p:cNvPr id="39" name="직사각형 38">
            <a:extLst>
              <a:ext uri="{FF2B5EF4-FFF2-40B4-BE49-F238E27FC236}">
                <a16:creationId xmlns:a16="http://schemas.microsoft.com/office/drawing/2014/main" id="{8CAFD4FD-F782-474B-97B5-D679C2F5AA03}"/>
              </a:ext>
            </a:extLst>
          </p:cNvPr>
          <p:cNvSpPr/>
          <p:nvPr/>
        </p:nvSpPr>
        <p:spPr>
          <a:xfrm>
            <a:off x="2164255" y="3882487"/>
            <a:ext cx="1439818" cy="338554"/>
          </a:xfrm>
          <a:prstGeom prst="rect">
            <a:avLst/>
          </a:prstGeom>
        </p:spPr>
        <p:txBody>
          <a:bodyPr wrap="none">
            <a:spAutoFit/>
          </a:bodyPr>
          <a:lstStyle/>
          <a:p>
            <a:r>
              <a:rPr lang="en-US" sz="1600" dirty="0">
                <a:latin typeface="Franklin Gothic Book" panose="020B0503020102020204" pitchFamily="34" charset="0"/>
              </a:rPr>
              <a:t>Length of path</a:t>
            </a:r>
          </a:p>
        </p:txBody>
      </p:sp>
      <p:sp>
        <p:nvSpPr>
          <p:cNvPr id="40" name="직사각형 39">
            <a:extLst>
              <a:ext uri="{FF2B5EF4-FFF2-40B4-BE49-F238E27FC236}">
                <a16:creationId xmlns:a16="http://schemas.microsoft.com/office/drawing/2014/main" id="{3F91AA6F-2513-4D06-A584-F327C18D71DB}"/>
              </a:ext>
            </a:extLst>
          </p:cNvPr>
          <p:cNvSpPr/>
          <p:nvPr/>
        </p:nvSpPr>
        <p:spPr>
          <a:xfrm>
            <a:off x="463395" y="6301698"/>
            <a:ext cx="761427" cy="338554"/>
          </a:xfrm>
          <a:prstGeom prst="rect">
            <a:avLst/>
          </a:prstGeom>
        </p:spPr>
        <p:txBody>
          <a:bodyPr wrap="none">
            <a:spAutoFit/>
          </a:bodyPr>
          <a:lstStyle/>
          <a:p>
            <a:r>
              <a:rPr lang="en-US" sz="1600" b="1" dirty="0">
                <a:latin typeface="Franklin Gothic Book" panose="020B0503020102020204" pitchFamily="34" charset="0"/>
              </a:rPr>
              <a:t>Isolate</a:t>
            </a:r>
            <a:endParaRPr lang="en-US" sz="1600" dirty="0">
              <a:latin typeface="Franklin Gothic Book" panose="020B0503020102020204" pitchFamily="34" charset="0"/>
            </a:endParaRPr>
          </a:p>
        </p:txBody>
      </p:sp>
      <p:sp>
        <p:nvSpPr>
          <p:cNvPr id="41" name="직사각형 40">
            <a:extLst>
              <a:ext uri="{FF2B5EF4-FFF2-40B4-BE49-F238E27FC236}">
                <a16:creationId xmlns:a16="http://schemas.microsoft.com/office/drawing/2014/main" id="{89DE002E-3233-4AE1-9A06-19C3FAB3F9C4}"/>
              </a:ext>
            </a:extLst>
          </p:cNvPr>
          <p:cNvSpPr/>
          <p:nvPr/>
        </p:nvSpPr>
        <p:spPr>
          <a:xfrm>
            <a:off x="2164255" y="6332476"/>
            <a:ext cx="2327881" cy="338554"/>
          </a:xfrm>
          <a:prstGeom prst="rect">
            <a:avLst/>
          </a:prstGeom>
        </p:spPr>
        <p:txBody>
          <a:bodyPr wrap="none">
            <a:spAutoFit/>
          </a:bodyPr>
          <a:lstStyle/>
          <a:p>
            <a:r>
              <a:rPr lang="en-US" sz="1600" dirty="0">
                <a:latin typeface="Franklin Gothic Book" panose="020B0503020102020204" pitchFamily="34" charset="0"/>
              </a:rPr>
              <a:t>Node with no connection</a:t>
            </a:r>
          </a:p>
        </p:txBody>
      </p:sp>
      <p:sp>
        <p:nvSpPr>
          <p:cNvPr id="42" name="직사각형 41">
            <a:extLst>
              <a:ext uri="{FF2B5EF4-FFF2-40B4-BE49-F238E27FC236}">
                <a16:creationId xmlns:a16="http://schemas.microsoft.com/office/drawing/2014/main" id="{71089580-12B7-476C-BDE4-79592DB8268E}"/>
              </a:ext>
            </a:extLst>
          </p:cNvPr>
          <p:cNvSpPr/>
          <p:nvPr/>
        </p:nvSpPr>
        <p:spPr>
          <a:xfrm>
            <a:off x="415112" y="4467262"/>
            <a:ext cx="1508426" cy="584775"/>
          </a:xfrm>
          <a:prstGeom prst="rect">
            <a:avLst/>
          </a:prstGeom>
        </p:spPr>
        <p:txBody>
          <a:bodyPr wrap="none">
            <a:spAutoFit/>
          </a:bodyPr>
          <a:lstStyle/>
          <a:p>
            <a:r>
              <a:rPr lang="en-US" sz="1600" b="1" dirty="0">
                <a:latin typeface="Franklin Gothic Book" panose="020B0503020102020204" pitchFamily="34" charset="0"/>
              </a:rPr>
              <a:t>Connected</a:t>
            </a:r>
          </a:p>
          <a:p>
            <a:r>
              <a:rPr lang="en-US" sz="1600" b="1" dirty="0">
                <a:latin typeface="Franklin Gothic Book" panose="020B0503020102020204" pitchFamily="34" charset="0"/>
              </a:rPr>
              <a:t>/ Disconnected</a:t>
            </a:r>
            <a:endParaRPr lang="en-US" sz="1600" dirty="0">
              <a:latin typeface="Franklin Gothic Book" panose="020B0503020102020204" pitchFamily="34" charset="0"/>
            </a:endParaRPr>
          </a:p>
        </p:txBody>
      </p:sp>
      <p:sp>
        <p:nvSpPr>
          <p:cNvPr id="45" name="직사각형 44">
            <a:extLst>
              <a:ext uri="{FF2B5EF4-FFF2-40B4-BE49-F238E27FC236}">
                <a16:creationId xmlns:a16="http://schemas.microsoft.com/office/drawing/2014/main" id="{53925F79-DC88-4695-96AB-210E54617432}"/>
              </a:ext>
            </a:extLst>
          </p:cNvPr>
          <p:cNvSpPr/>
          <p:nvPr/>
        </p:nvSpPr>
        <p:spPr>
          <a:xfrm>
            <a:off x="2164255" y="4509692"/>
            <a:ext cx="3669659" cy="584775"/>
          </a:xfrm>
          <a:prstGeom prst="rect">
            <a:avLst/>
          </a:prstGeom>
        </p:spPr>
        <p:txBody>
          <a:bodyPr wrap="none">
            <a:spAutoFit/>
          </a:bodyPr>
          <a:lstStyle/>
          <a:p>
            <a:r>
              <a:rPr lang="en-US" sz="1600" dirty="0">
                <a:latin typeface="Franklin Gothic Book" panose="020B0503020102020204" pitchFamily="34" charset="0"/>
              </a:rPr>
              <a:t>If path exist between every pair of nodes</a:t>
            </a:r>
          </a:p>
          <a:p>
            <a:r>
              <a:rPr lang="en-US" sz="1600" dirty="0">
                <a:latin typeface="Franklin Gothic Book" panose="020B0503020102020204" pitchFamily="34" charset="0"/>
              </a:rPr>
              <a:t>/If not</a:t>
            </a:r>
          </a:p>
        </p:txBody>
      </p:sp>
      <p:sp>
        <p:nvSpPr>
          <p:cNvPr id="46" name="직사각형 45">
            <a:extLst>
              <a:ext uri="{FF2B5EF4-FFF2-40B4-BE49-F238E27FC236}">
                <a16:creationId xmlns:a16="http://schemas.microsoft.com/office/drawing/2014/main" id="{8B7D6952-2D5E-4962-B90A-FEF83EA0E621}"/>
              </a:ext>
            </a:extLst>
          </p:cNvPr>
          <p:cNvSpPr/>
          <p:nvPr/>
        </p:nvSpPr>
        <p:spPr>
          <a:xfrm>
            <a:off x="607940" y="5269302"/>
            <a:ext cx="1989006" cy="738664"/>
          </a:xfrm>
          <a:prstGeom prst="rect">
            <a:avLst/>
          </a:prstGeom>
        </p:spPr>
        <p:txBody>
          <a:bodyPr wrap="none">
            <a:spAutoFit/>
          </a:bodyPr>
          <a:lstStyle/>
          <a:p>
            <a:r>
              <a:rPr lang="en-US" sz="1400" b="1" dirty="0">
                <a:latin typeface="Franklin Gothic Book" panose="020B0503020102020204" pitchFamily="34" charset="0"/>
              </a:rPr>
              <a:t>Strongly connected</a:t>
            </a:r>
          </a:p>
          <a:p>
            <a:r>
              <a:rPr lang="en-US" sz="1400" b="1" dirty="0">
                <a:latin typeface="Franklin Gothic Book" panose="020B0503020102020204" pitchFamily="34" charset="0"/>
              </a:rPr>
              <a:t>/ Unilaterally connected</a:t>
            </a:r>
          </a:p>
          <a:p>
            <a:r>
              <a:rPr lang="en-US" sz="1400" b="1" dirty="0">
                <a:latin typeface="Franklin Gothic Book" panose="020B0503020102020204" pitchFamily="34" charset="0"/>
              </a:rPr>
              <a:t>/ Weakly connected</a:t>
            </a:r>
            <a:endParaRPr lang="en-US" sz="1400" dirty="0">
              <a:latin typeface="Franklin Gothic Book" panose="020B0503020102020204" pitchFamily="34" charset="0"/>
            </a:endParaRPr>
          </a:p>
        </p:txBody>
      </p:sp>
      <p:sp>
        <p:nvSpPr>
          <p:cNvPr id="48" name="직사각형 47">
            <a:extLst>
              <a:ext uri="{FF2B5EF4-FFF2-40B4-BE49-F238E27FC236}">
                <a16:creationId xmlns:a16="http://schemas.microsoft.com/office/drawing/2014/main" id="{A20DF5DC-523B-4B93-8360-B8B660467ED7}"/>
              </a:ext>
            </a:extLst>
          </p:cNvPr>
          <p:cNvSpPr/>
          <p:nvPr/>
        </p:nvSpPr>
        <p:spPr>
          <a:xfrm>
            <a:off x="2596946" y="5269302"/>
            <a:ext cx="5330113" cy="307777"/>
          </a:xfrm>
          <a:prstGeom prst="rect">
            <a:avLst/>
          </a:prstGeom>
        </p:spPr>
        <p:txBody>
          <a:bodyPr wrap="none">
            <a:spAutoFit/>
          </a:bodyPr>
          <a:lstStyle/>
          <a:p>
            <a:r>
              <a:rPr lang="en-US" sz="1400" dirty="0">
                <a:latin typeface="Franklin Gothic Book" panose="020B0503020102020204" pitchFamily="34" charset="0"/>
              </a:rPr>
              <a:t>Every pair of nodes is connected by directed paths in both direction</a:t>
            </a:r>
          </a:p>
        </p:txBody>
      </p:sp>
      <p:sp>
        <p:nvSpPr>
          <p:cNvPr id="49" name="직사각형 48">
            <a:extLst>
              <a:ext uri="{FF2B5EF4-FFF2-40B4-BE49-F238E27FC236}">
                <a16:creationId xmlns:a16="http://schemas.microsoft.com/office/drawing/2014/main" id="{3E5E6758-D0E1-43EF-B936-E58D0C2D5D79}"/>
              </a:ext>
            </a:extLst>
          </p:cNvPr>
          <p:cNvSpPr/>
          <p:nvPr/>
        </p:nvSpPr>
        <p:spPr>
          <a:xfrm>
            <a:off x="2596946" y="5509934"/>
            <a:ext cx="6481711" cy="307777"/>
          </a:xfrm>
          <a:prstGeom prst="rect">
            <a:avLst/>
          </a:prstGeom>
        </p:spPr>
        <p:txBody>
          <a:bodyPr wrap="none">
            <a:spAutoFit/>
          </a:bodyPr>
          <a:lstStyle/>
          <a:p>
            <a:r>
              <a:rPr lang="en-US" sz="1400" dirty="0">
                <a:latin typeface="Franklin Gothic Book" panose="020B0503020102020204" pitchFamily="34" charset="0"/>
              </a:rPr>
              <a:t>All pairs of nodes are connected by paths in one direction but not the other direction</a:t>
            </a:r>
          </a:p>
        </p:txBody>
      </p:sp>
      <p:sp>
        <p:nvSpPr>
          <p:cNvPr id="54" name="직사각형 53">
            <a:extLst>
              <a:ext uri="{FF2B5EF4-FFF2-40B4-BE49-F238E27FC236}">
                <a16:creationId xmlns:a16="http://schemas.microsoft.com/office/drawing/2014/main" id="{EE3C426E-A851-49D6-ABF4-0F4679AC4F42}"/>
              </a:ext>
            </a:extLst>
          </p:cNvPr>
          <p:cNvSpPr/>
          <p:nvPr/>
        </p:nvSpPr>
        <p:spPr>
          <a:xfrm>
            <a:off x="2596946" y="5742684"/>
            <a:ext cx="4631653" cy="307777"/>
          </a:xfrm>
          <a:prstGeom prst="rect">
            <a:avLst/>
          </a:prstGeom>
        </p:spPr>
        <p:txBody>
          <a:bodyPr wrap="none">
            <a:spAutoFit/>
          </a:bodyPr>
          <a:lstStyle/>
          <a:p>
            <a:r>
              <a:rPr lang="en-US" sz="1400" dirty="0">
                <a:latin typeface="Franklin Gothic Book" panose="020B0503020102020204" pitchFamily="34" charset="0"/>
              </a:rPr>
              <a:t>All pairs of nodes are joined by lines, disregarding direction</a:t>
            </a:r>
          </a:p>
        </p:txBody>
      </p:sp>
    </p:spTree>
    <p:extLst>
      <p:ext uri="{BB962C8B-B14F-4D97-AF65-F5344CB8AC3E}">
        <p14:creationId xmlns:p14="http://schemas.microsoft.com/office/powerpoint/2010/main" val="755766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latin typeface="Franklin Gothic Book" panose="020B0503020102020204" pitchFamily="34" charset="0"/>
              </a:rPr>
              <a:t>1. Graphs &amp; Matrices   </a:t>
            </a:r>
            <a:r>
              <a:rPr lang="en-US" sz="2400" b="1" dirty="0">
                <a:latin typeface="Franklin Gothic Book" panose="020B0503020102020204" pitchFamily="34" charset="0"/>
              </a:rPr>
              <a:t>Matrices</a:t>
            </a:r>
            <a:endParaRPr lang="en-US" sz="3200" b="1" dirty="0">
              <a:latin typeface="Franklin Gothic Book" panose="020B0503020102020204" pitchFamily="34" charset="0"/>
            </a:endParaRPr>
          </a:p>
        </p:txBody>
      </p:sp>
      <p:sp>
        <p:nvSpPr>
          <p:cNvPr id="20" name="직사각형 19">
            <a:extLst>
              <a:ext uri="{FF2B5EF4-FFF2-40B4-BE49-F238E27FC236}">
                <a16:creationId xmlns:a16="http://schemas.microsoft.com/office/drawing/2014/main" id="{E28D416D-B4E6-4F2E-B7C8-B73B5B7280DB}"/>
              </a:ext>
            </a:extLst>
          </p:cNvPr>
          <p:cNvSpPr/>
          <p:nvPr/>
        </p:nvSpPr>
        <p:spPr>
          <a:xfrm>
            <a:off x="142574" y="1385813"/>
            <a:ext cx="11906852" cy="646331"/>
          </a:xfrm>
          <a:prstGeom prst="rect">
            <a:avLst/>
          </a:prstGeom>
        </p:spPr>
        <p:txBody>
          <a:bodyPr wrap="square">
            <a:spAutoFit/>
          </a:bodyPr>
          <a:lstStyle/>
          <a:p>
            <a:r>
              <a:rPr lang="en-US" dirty="0">
                <a:latin typeface="Franklin Gothic Book" panose="020B0503020102020204" pitchFamily="34" charset="0"/>
              </a:rPr>
              <a:t>An algebraic representation of network relations can express all the quantitative information embedded in a sociogram.</a:t>
            </a:r>
          </a:p>
          <a:p>
            <a:r>
              <a:rPr lang="en-US" dirty="0">
                <a:latin typeface="Franklin Gothic Book" panose="020B0503020102020204" pitchFamily="34" charset="0"/>
              </a:rPr>
              <a:t>The basic form of social network data for mathematical analysis is a tabular display called </a:t>
            </a:r>
            <a:r>
              <a:rPr lang="en-US" b="1" dirty="0">
                <a:latin typeface="Franklin Gothic Book" panose="020B0503020102020204" pitchFamily="34" charset="0"/>
              </a:rPr>
              <a:t>sociomatrix</a:t>
            </a:r>
            <a:r>
              <a:rPr lang="en-US" dirty="0">
                <a:latin typeface="Franklin Gothic Book" panose="020B0503020102020204" pitchFamily="34" charset="0"/>
              </a:rPr>
              <a:t> or </a:t>
            </a:r>
            <a:r>
              <a:rPr lang="en-US" b="1" dirty="0">
                <a:latin typeface="Franklin Gothic Book" panose="020B0503020102020204" pitchFamily="34" charset="0"/>
              </a:rPr>
              <a:t>adjacency matrix</a:t>
            </a:r>
          </a:p>
        </p:txBody>
      </p:sp>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105ABBBB-0921-4124-852B-B390AAE536EC}"/>
                  </a:ext>
                </a:extLst>
              </p:cNvPr>
              <p:cNvSpPr/>
              <p:nvPr/>
            </p:nvSpPr>
            <p:spPr>
              <a:xfrm>
                <a:off x="142574" y="2149293"/>
                <a:ext cx="11906852" cy="1776640"/>
              </a:xfrm>
              <a:prstGeom prst="rect">
                <a:avLst/>
              </a:prstGeom>
            </p:spPr>
            <p:txBody>
              <a:bodyPr wrap="square">
                <a:spAutoFit/>
              </a:bodyPr>
              <a:lstStyle/>
              <a:p>
                <a14:m>
                  <m:oMath xmlns:m="http://schemas.openxmlformats.org/officeDocument/2006/math">
                    <m:r>
                      <a:rPr lang="en-US" b="1" i="1" smtClean="0">
                        <a:latin typeface="Cambria Math" panose="02040503050406030204" pitchFamily="18" charset="0"/>
                      </a:rPr>
                      <m:t>𝑿</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𝑁</m:t>
                        </m:r>
                      </m:e>
                    </m:d>
                  </m:oMath>
                </a14:m>
                <a:r>
                  <a:rPr lang="en-US" dirty="0">
                    <a:latin typeface="Franklin Gothic Book" panose="020B0503020102020204" pitchFamily="34" charset="0"/>
                  </a:rPr>
                  <a:t> represents sociomatrix </a:t>
                </a:r>
                <a14:m>
                  <m:oMath xmlns:m="http://schemas.openxmlformats.org/officeDocument/2006/math">
                    <m:r>
                      <a:rPr lang="en-US" b="1" i="1">
                        <a:latin typeface="Cambria Math" panose="02040503050406030204" pitchFamily="18" charset="0"/>
                      </a:rPr>
                      <m:t>𝑿</m:t>
                    </m:r>
                  </m:oMath>
                </a14:m>
                <a:r>
                  <a:rPr lang="en-US" dirty="0">
                    <a:latin typeface="Franklin Gothic Book" panose="020B0503020102020204" pitchFamily="34" charset="0"/>
                  </a:rPr>
                  <a:t> with dimensions of </a:t>
                </a:r>
                <a14:m>
                  <m:oMath xmlns:m="http://schemas.openxmlformats.org/officeDocument/2006/math">
                    <m:r>
                      <a:rPr lang="en-US" i="1">
                        <a:latin typeface="Cambria Math" panose="02040503050406030204" pitchFamily="18" charset="0"/>
                      </a:rPr>
                      <m:t>𝑁</m:t>
                    </m:r>
                  </m:oMath>
                </a14:m>
                <a:r>
                  <a:rPr lang="en-US" i="1" dirty="0">
                    <a:latin typeface="Franklin Gothic Book" panose="020B0503020102020204" pitchFamily="34" charset="0"/>
                  </a:rPr>
                  <a:t> </a:t>
                </a:r>
                <a:r>
                  <a:rPr lang="en-US" dirty="0">
                    <a:latin typeface="Franklin Gothic Book" panose="020B0503020102020204" pitchFamily="34" charset="0"/>
                  </a:rPr>
                  <a:t>rows and </a:t>
                </a:r>
                <a14:m>
                  <m:oMath xmlns:m="http://schemas.openxmlformats.org/officeDocument/2006/math">
                    <m:r>
                      <a:rPr lang="en-US" i="1">
                        <a:latin typeface="Cambria Math" panose="02040503050406030204" pitchFamily="18" charset="0"/>
                      </a:rPr>
                      <m:t>𝑁</m:t>
                    </m:r>
                  </m:oMath>
                </a14:m>
                <a:r>
                  <a:rPr lang="en-US" i="1" dirty="0">
                    <a:latin typeface="Franklin Gothic Book" panose="020B0503020102020204" pitchFamily="34" charset="0"/>
                  </a:rPr>
                  <a:t> </a:t>
                </a:r>
                <a:r>
                  <a:rPr lang="en-US" dirty="0">
                    <a:latin typeface="Franklin Gothic Book" panose="020B0503020102020204" pitchFamily="34" charset="0"/>
                  </a:rPr>
                  <a:t>columns, and whose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r>
                      <a:rPr lang="en-US" b="0" i="1" smtClean="0">
                        <a:latin typeface="Cambria Math" panose="02040503050406030204" pitchFamily="18" charset="0"/>
                      </a:rPr>
                      <m:t> </m:t>
                    </m:r>
                    <m:r>
                      <a:rPr lang="en-US" b="0" i="1" smtClean="0">
                        <a:latin typeface="Cambria Math" panose="02040503050406030204" pitchFamily="18" charset="0"/>
                      </a:rPr>
                      <m:t>𝑐𝑒𝑙𝑙𝑠</m:t>
                    </m:r>
                  </m:oMath>
                </a14:m>
                <a:r>
                  <a:rPr lang="en-US" i="1" dirty="0">
                    <a:latin typeface="Franklin Gothic Book" panose="020B0503020102020204" pitchFamily="34" charset="0"/>
                  </a:rPr>
                  <a:t> </a:t>
                </a:r>
                <a:r>
                  <a:rPr lang="en-US" dirty="0">
                    <a:latin typeface="Franklin Gothic Book" panose="020B0503020102020204" pitchFamily="34" charset="0"/>
                  </a:rPr>
                  <a:t>display information about the relations among the </a:t>
                </a:r>
                <a14:m>
                  <m:oMath xmlns:m="http://schemas.openxmlformats.org/officeDocument/2006/math">
                    <m:r>
                      <a:rPr lang="en-US" i="1">
                        <a:latin typeface="Cambria Math" panose="02040503050406030204" pitchFamily="18" charset="0"/>
                      </a:rPr>
                      <m:t>𝑁</m:t>
                    </m:r>
                  </m:oMath>
                </a14:m>
                <a:r>
                  <a:rPr lang="en-US" i="1" dirty="0">
                    <a:latin typeface="Franklin Gothic Book" panose="020B0503020102020204" pitchFamily="34" charset="0"/>
                  </a:rPr>
                  <a:t> </a:t>
                </a:r>
                <a:r>
                  <a:rPr lang="en-US" dirty="0">
                    <a:latin typeface="Franklin Gothic Book" panose="020B0503020102020204" pitchFamily="34" charset="0"/>
                  </a:rPr>
                  <a:t>social actors</a:t>
                </a:r>
                <a:r>
                  <a:rPr lang="en-US" i="1" dirty="0">
                    <a:latin typeface="Franklin Gothic Book" panose="020B0503020102020204" pitchFamily="34" charset="0"/>
                  </a:rPr>
                  <a:t> </a:t>
                </a:r>
              </a:p>
              <a:p>
                <a:endParaRPr lang="en-US" i="1" dirty="0">
                  <a:latin typeface="Franklin Gothic Book" panose="020B0503020102020204" pitchFamily="34" charset="0"/>
                </a:endParaRP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oMath>
                </a14:m>
                <a:r>
                  <a:rPr lang="en-US" i="1" dirty="0">
                    <a:latin typeface="Franklin Gothic Book" panose="020B0503020102020204" pitchFamily="34" charset="0"/>
                  </a:rPr>
                  <a:t> </a:t>
                </a:r>
                <a:r>
                  <a:rPr lang="en-US" dirty="0">
                    <a:latin typeface="Franklin Gothic Book" panose="020B0503020102020204" pitchFamily="34" charset="0"/>
                  </a:rPr>
                  <a:t>refers to the value of cell of i</a:t>
                </a:r>
                <a:r>
                  <a:rPr lang="en-US" baseline="30000" dirty="0">
                    <a:latin typeface="Franklin Gothic Book" panose="020B0503020102020204" pitchFamily="34" charset="0"/>
                  </a:rPr>
                  <a:t>th</a:t>
                </a:r>
                <a:r>
                  <a:rPr lang="en-US" dirty="0">
                    <a:latin typeface="Franklin Gothic Book" panose="020B0503020102020204" pitchFamily="34" charset="0"/>
                  </a:rPr>
                  <a:t> row and j</a:t>
                </a:r>
                <a:r>
                  <a:rPr lang="en-US" baseline="30000" dirty="0">
                    <a:latin typeface="Franklin Gothic Book" panose="020B0503020102020204" pitchFamily="34" charset="0"/>
                  </a:rPr>
                  <a:t>th</a:t>
                </a:r>
                <a:r>
                  <a:rPr lang="en-US" dirty="0">
                    <a:latin typeface="Franklin Gothic Book" panose="020B0503020102020204" pitchFamily="34" charset="0"/>
                  </a:rPr>
                  <a:t> column; actor</a:t>
                </a:r>
                <a:r>
                  <a:rPr lang="en-US" dirty="0">
                    <a:latin typeface="Cambria Math" panose="02040503050406030204" pitchFamily="18" charset="0"/>
                    <a:ea typeface="Cambria Math" panose="02040503050406030204" pitchFamily="18" charset="0"/>
                  </a:rPr>
                  <a:t> </a:t>
                </a:r>
                <a:r>
                  <a:rPr lang="en-US" b="1" i="1" dirty="0" err="1">
                    <a:latin typeface="Cambria Math" panose="02040503050406030204" pitchFamily="18" charset="0"/>
                    <a:ea typeface="Cambria Math" panose="02040503050406030204" pitchFamily="18" charset="0"/>
                  </a:rPr>
                  <a:t>i</a:t>
                </a:r>
                <a:r>
                  <a:rPr lang="en-US" dirty="0">
                    <a:latin typeface="Calibri" panose="020F0502020204030204" pitchFamily="34" charset="0"/>
                    <a:ea typeface="Cambria Math" panose="02040503050406030204" pitchFamily="18" charset="0"/>
                    <a:cs typeface="Calibri" panose="020F0502020204030204" pitchFamily="34" charset="0"/>
                  </a:rPr>
                  <a:t> </a:t>
                </a:r>
                <a:r>
                  <a:rPr lang="en-US" dirty="0">
                    <a:latin typeface="Cambria Math" panose="02040503050406030204" pitchFamily="18" charset="0"/>
                    <a:ea typeface="Cambria Math" panose="02040503050406030204" pitchFamily="18" charset="0"/>
                  </a:rPr>
                  <a:t> </a:t>
                </a:r>
                <a:r>
                  <a:rPr lang="en-US" dirty="0">
                    <a:latin typeface="Franklin Gothic Book" panose="020B0503020102020204" pitchFamily="34" charset="0"/>
                  </a:rPr>
                  <a:t>sends relation to </a:t>
                </a:r>
                <a:r>
                  <a:rPr lang="en-US" b="1" i="1" dirty="0">
                    <a:latin typeface="Cambria Math" panose="02040503050406030204" pitchFamily="18" charset="0"/>
                    <a:ea typeface="Cambria Math" panose="02040503050406030204" pitchFamily="18" charset="0"/>
                  </a:rPr>
                  <a:t>j</a:t>
                </a:r>
                <a:r>
                  <a:rPr lang="en-US" b="1" i="1" dirty="0">
                    <a:latin typeface="Calibri" panose="020F0502020204030204" pitchFamily="34" charset="0"/>
                    <a:ea typeface="Cambria Math" panose="02040503050406030204" pitchFamily="18" charset="0"/>
                    <a:cs typeface="Calibri" panose="020F0502020204030204" pitchFamily="34" charset="0"/>
                  </a:rPr>
                  <a:t> </a:t>
                </a:r>
              </a:p>
              <a:p>
                <a:endParaRPr lang="en-US" b="1" i="1" dirty="0">
                  <a:latin typeface="Calibri" panose="020F0502020204030204" pitchFamily="34" charset="0"/>
                  <a:ea typeface="Cambria Math" panose="02040503050406030204" pitchFamily="18" charset="0"/>
                  <a:cs typeface="Calibri" panose="020F0502020204030204" pitchFamily="34" charset="0"/>
                </a:endParaRPr>
              </a:p>
              <a:p>
                <a:r>
                  <a:rPr lang="en-US" dirty="0">
                    <a:latin typeface="Calibri" panose="020F0502020204030204" pitchFamily="34" charset="0"/>
                    <a:ea typeface="Cambria Math" panose="02040503050406030204" pitchFamily="18" charset="0"/>
                    <a:cs typeface="Calibri" panose="020F0502020204030204" pitchFamily="34" charset="0"/>
                  </a:rPr>
                  <a:t>Mutual, undirected graphs are always symmetric, while digraphs can be asymmetric. </a:t>
                </a:r>
              </a:p>
            </p:txBody>
          </p:sp>
        </mc:Choice>
        <mc:Fallback xmlns="">
          <p:sp>
            <p:nvSpPr>
              <p:cNvPr id="15" name="직사각형 14">
                <a:extLst>
                  <a:ext uri="{FF2B5EF4-FFF2-40B4-BE49-F238E27FC236}">
                    <a16:creationId xmlns:a16="http://schemas.microsoft.com/office/drawing/2014/main" id="{105ABBBB-0921-4124-852B-B390AAE536EC}"/>
                  </a:ext>
                </a:extLst>
              </p:cNvPr>
              <p:cNvSpPr>
                <a:spLocks noRot="1" noChangeAspect="1" noMove="1" noResize="1" noEditPoints="1" noAdjustHandles="1" noChangeArrowheads="1" noChangeShapeType="1" noTextEdit="1"/>
              </p:cNvSpPr>
              <p:nvPr/>
            </p:nvSpPr>
            <p:spPr>
              <a:xfrm>
                <a:off x="142574" y="2149293"/>
                <a:ext cx="11906852" cy="1776640"/>
              </a:xfrm>
              <a:prstGeom prst="rect">
                <a:avLst/>
              </a:prstGeom>
              <a:blipFill>
                <a:blip r:embed="rId2"/>
                <a:stretch>
                  <a:fillRect l="-409" t="-2062" b="-4811"/>
                </a:stretch>
              </a:blipFill>
            </p:spPr>
            <p:txBody>
              <a:bodyPr/>
              <a:lstStyle/>
              <a:p>
                <a:r>
                  <a:rPr lang="en-US">
                    <a:noFill/>
                  </a:rPr>
                  <a:t> </a:t>
                </a:r>
              </a:p>
            </p:txBody>
          </p:sp>
        </mc:Fallback>
      </mc:AlternateContent>
      <p:grpSp>
        <p:nvGrpSpPr>
          <p:cNvPr id="16" name="그룹 15">
            <a:extLst>
              <a:ext uri="{FF2B5EF4-FFF2-40B4-BE49-F238E27FC236}">
                <a16:creationId xmlns:a16="http://schemas.microsoft.com/office/drawing/2014/main" id="{157FDC57-541B-4C37-A950-71693A0270DA}"/>
              </a:ext>
            </a:extLst>
          </p:cNvPr>
          <p:cNvGrpSpPr/>
          <p:nvPr/>
        </p:nvGrpSpPr>
        <p:grpSpPr>
          <a:xfrm>
            <a:off x="142574" y="3996172"/>
            <a:ext cx="4607505" cy="1956207"/>
            <a:chOff x="1036662" y="2807730"/>
            <a:chExt cx="6193188" cy="2629440"/>
          </a:xfrm>
        </p:grpSpPr>
        <p:sp>
          <p:nvSpPr>
            <p:cNvPr id="17" name="타원 16">
              <a:extLst>
                <a:ext uri="{FF2B5EF4-FFF2-40B4-BE49-F238E27FC236}">
                  <a16:creationId xmlns:a16="http://schemas.microsoft.com/office/drawing/2014/main" id="{AF12CC8E-E183-4942-8FC6-AE0ECC38D64D}"/>
                </a:ext>
              </a:extLst>
            </p:cNvPr>
            <p:cNvSpPr/>
            <p:nvPr/>
          </p:nvSpPr>
          <p:spPr>
            <a:xfrm>
              <a:off x="1180730" y="3178206"/>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타원 17">
              <a:extLst>
                <a:ext uri="{FF2B5EF4-FFF2-40B4-BE49-F238E27FC236}">
                  <a16:creationId xmlns:a16="http://schemas.microsoft.com/office/drawing/2014/main" id="{25A39E5E-757D-4AE6-A6A3-27B67A5E3EED}"/>
                </a:ext>
              </a:extLst>
            </p:cNvPr>
            <p:cNvSpPr/>
            <p:nvPr/>
          </p:nvSpPr>
          <p:spPr>
            <a:xfrm>
              <a:off x="2681056" y="3178206"/>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타원 18">
              <a:extLst>
                <a:ext uri="{FF2B5EF4-FFF2-40B4-BE49-F238E27FC236}">
                  <a16:creationId xmlns:a16="http://schemas.microsoft.com/office/drawing/2014/main" id="{9325126D-A487-4922-90F6-38E4AF27A029}"/>
                </a:ext>
              </a:extLst>
            </p:cNvPr>
            <p:cNvSpPr/>
            <p:nvPr/>
          </p:nvSpPr>
          <p:spPr>
            <a:xfrm>
              <a:off x="4350058" y="3178206"/>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타원 20">
              <a:extLst>
                <a:ext uri="{FF2B5EF4-FFF2-40B4-BE49-F238E27FC236}">
                  <a16:creationId xmlns:a16="http://schemas.microsoft.com/office/drawing/2014/main" id="{087332A7-359B-497F-9CB3-1977143791CD}"/>
                </a:ext>
              </a:extLst>
            </p:cNvPr>
            <p:cNvSpPr/>
            <p:nvPr/>
          </p:nvSpPr>
          <p:spPr>
            <a:xfrm>
              <a:off x="4350058" y="4838330"/>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타원 21">
              <a:extLst>
                <a:ext uri="{FF2B5EF4-FFF2-40B4-BE49-F238E27FC236}">
                  <a16:creationId xmlns:a16="http://schemas.microsoft.com/office/drawing/2014/main" id="{836AB0B5-2A2F-465E-AA8C-664AB98A7DCD}"/>
                </a:ext>
              </a:extLst>
            </p:cNvPr>
            <p:cNvSpPr/>
            <p:nvPr/>
          </p:nvSpPr>
          <p:spPr>
            <a:xfrm>
              <a:off x="2681056" y="4838330"/>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타원 22">
              <a:extLst>
                <a:ext uri="{FF2B5EF4-FFF2-40B4-BE49-F238E27FC236}">
                  <a16:creationId xmlns:a16="http://schemas.microsoft.com/office/drawing/2014/main" id="{14C76762-4CDF-4160-AF6C-9698FD577AF1}"/>
                </a:ext>
              </a:extLst>
            </p:cNvPr>
            <p:cNvSpPr/>
            <p:nvPr/>
          </p:nvSpPr>
          <p:spPr>
            <a:xfrm>
              <a:off x="1180730" y="4838330"/>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타원 25">
              <a:extLst>
                <a:ext uri="{FF2B5EF4-FFF2-40B4-BE49-F238E27FC236}">
                  <a16:creationId xmlns:a16="http://schemas.microsoft.com/office/drawing/2014/main" id="{4C3844D4-A9DF-42D8-AE10-4996AAD3132D}"/>
                </a:ext>
              </a:extLst>
            </p:cNvPr>
            <p:cNvSpPr/>
            <p:nvPr/>
          </p:nvSpPr>
          <p:spPr>
            <a:xfrm>
              <a:off x="5743852" y="3959441"/>
              <a:ext cx="250794" cy="25079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직선 화살표 연결선 26">
              <a:extLst>
                <a:ext uri="{FF2B5EF4-FFF2-40B4-BE49-F238E27FC236}">
                  <a16:creationId xmlns:a16="http://schemas.microsoft.com/office/drawing/2014/main" id="{417DA1AA-6B64-4D57-B502-D7A3D741C0FC}"/>
                </a:ext>
              </a:extLst>
            </p:cNvPr>
            <p:cNvCxnSpPr>
              <a:cxnSpLocks/>
              <a:stCxn id="17" idx="6"/>
              <a:endCxn id="18" idx="2"/>
            </p:cNvCxnSpPr>
            <p:nvPr/>
          </p:nvCxnSpPr>
          <p:spPr>
            <a:xfrm>
              <a:off x="1431524" y="3303603"/>
              <a:ext cx="1249532"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직선 화살표 연결선 27">
              <a:extLst>
                <a:ext uri="{FF2B5EF4-FFF2-40B4-BE49-F238E27FC236}">
                  <a16:creationId xmlns:a16="http://schemas.microsoft.com/office/drawing/2014/main" id="{9E59E62F-24E9-4A3A-B2C4-CF48CCE378ED}"/>
                </a:ext>
              </a:extLst>
            </p:cNvPr>
            <p:cNvCxnSpPr>
              <a:cxnSpLocks/>
              <a:endCxn id="19" idx="2"/>
            </p:cNvCxnSpPr>
            <p:nvPr/>
          </p:nvCxnSpPr>
          <p:spPr>
            <a:xfrm>
              <a:off x="2931850" y="3303603"/>
              <a:ext cx="1418208"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8E994FE7-53E8-45DC-ADBE-0792CCCE215C}"/>
                </a:ext>
              </a:extLst>
            </p:cNvPr>
            <p:cNvCxnSpPr>
              <a:cxnSpLocks/>
              <a:stCxn id="21" idx="1"/>
              <a:endCxn id="18" idx="5"/>
            </p:cNvCxnSpPr>
            <p:nvPr/>
          </p:nvCxnSpPr>
          <p:spPr>
            <a:xfrm flipH="1" flipV="1">
              <a:off x="2895122" y="3392272"/>
              <a:ext cx="1491664" cy="1482786"/>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직선 화살표 연결선 29">
              <a:extLst>
                <a:ext uri="{FF2B5EF4-FFF2-40B4-BE49-F238E27FC236}">
                  <a16:creationId xmlns:a16="http://schemas.microsoft.com/office/drawing/2014/main" id="{DD1AF21C-9F0B-4C2D-8704-7E04EBD71E3A}"/>
                </a:ext>
              </a:extLst>
            </p:cNvPr>
            <p:cNvCxnSpPr>
              <a:cxnSpLocks/>
              <a:stCxn id="19" idx="4"/>
              <a:endCxn id="21" idx="0"/>
            </p:cNvCxnSpPr>
            <p:nvPr/>
          </p:nvCxnSpPr>
          <p:spPr>
            <a:xfrm>
              <a:off x="4475455" y="3429000"/>
              <a:ext cx="0" cy="140933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C140AD80-CD14-424B-ABF9-B97D1FA74932}"/>
                </a:ext>
              </a:extLst>
            </p:cNvPr>
            <p:cNvCxnSpPr>
              <a:cxnSpLocks/>
              <a:stCxn id="26" idx="3"/>
              <a:endCxn id="21" idx="7"/>
            </p:cNvCxnSpPr>
            <p:nvPr/>
          </p:nvCxnSpPr>
          <p:spPr>
            <a:xfrm flipH="1">
              <a:off x="4564124" y="4173507"/>
              <a:ext cx="1216456" cy="701551"/>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직선 화살표 연결선 31">
              <a:extLst>
                <a:ext uri="{FF2B5EF4-FFF2-40B4-BE49-F238E27FC236}">
                  <a16:creationId xmlns:a16="http://schemas.microsoft.com/office/drawing/2014/main" id="{C12E0E94-1ABE-492F-A99F-6DA5027C8815}"/>
                </a:ext>
              </a:extLst>
            </p:cNvPr>
            <p:cNvCxnSpPr>
              <a:cxnSpLocks/>
              <a:stCxn id="26" idx="1"/>
              <a:endCxn id="19" idx="6"/>
            </p:cNvCxnSpPr>
            <p:nvPr/>
          </p:nvCxnSpPr>
          <p:spPr>
            <a:xfrm flipH="1" flipV="1">
              <a:off x="4600852" y="3303603"/>
              <a:ext cx="1179728" cy="692566"/>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직선 화살표 연결선 32">
              <a:extLst>
                <a:ext uri="{FF2B5EF4-FFF2-40B4-BE49-F238E27FC236}">
                  <a16:creationId xmlns:a16="http://schemas.microsoft.com/office/drawing/2014/main" id="{8EB377DC-3248-4E9F-BD12-7A22AE7B662D}"/>
                </a:ext>
              </a:extLst>
            </p:cNvPr>
            <p:cNvCxnSpPr>
              <a:cxnSpLocks/>
              <a:stCxn id="22" idx="1"/>
              <a:endCxn id="17" idx="5"/>
            </p:cNvCxnSpPr>
            <p:nvPr/>
          </p:nvCxnSpPr>
          <p:spPr>
            <a:xfrm flipH="1" flipV="1">
              <a:off x="1394796" y="3392272"/>
              <a:ext cx="1322988" cy="1482786"/>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A9B32128-36FD-446D-B97E-A9BBC81C88DD}"/>
                </a:ext>
              </a:extLst>
            </p:cNvPr>
            <p:cNvCxnSpPr>
              <a:cxnSpLocks/>
              <a:stCxn id="18" idx="4"/>
              <a:endCxn id="22" idx="0"/>
            </p:cNvCxnSpPr>
            <p:nvPr/>
          </p:nvCxnSpPr>
          <p:spPr>
            <a:xfrm>
              <a:off x="2806453" y="3429000"/>
              <a:ext cx="0" cy="140933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직사각형 34">
              <a:extLst>
                <a:ext uri="{FF2B5EF4-FFF2-40B4-BE49-F238E27FC236}">
                  <a16:creationId xmlns:a16="http://schemas.microsoft.com/office/drawing/2014/main" id="{F88306DB-E18C-42EF-997C-3F74BE86AB59}"/>
                </a:ext>
              </a:extLst>
            </p:cNvPr>
            <p:cNvSpPr/>
            <p:nvPr/>
          </p:nvSpPr>
          <p:spPr>
            <a:xfrm>
              <a:off x="1036662" y="2807730"/>
              <a:ext cx="981635" cy="381338"/>
            </a:xfrm>
            <a:prstGeom prst="rect">
              <a:avLst/>
            </a:prstGeom>
          </p:spPr>
          <p:txBody>
            <a:bodyPr wrap="square">
              <a:spAutoFit/>
            </a:bodyPr>
            <a:lstStyle/>
            <a:p>
              <a:r>
                <a:rPr lang="en-US" sz="1400" dirty="0">
                  <a:latin typeface="Franklin Gothic Book" panose="020B0503020102020204" pitchFamily="34" charset="0"/>
                </a:rPr>
                <a:t>Sally</a:t>
              </a:r>
              <a:endParaRPr lang="en-US" dirty="0"/>
            </a:p>
          </p:txBody>
        </p:sp>
        <p:sp>
          <p:nvSpPr>
            <p:cNvPr id="36" name="직사각형 35">
              <a:extLst>
                <a:ext uri="{FF2B5EF4-FFF2-40B4-BE49-F238E27FC236}">
                  <a16:creationId xmlns:a16="http://schemas.microsoft.com/office/drawing/2014/main" id="{D883174E-C06B-43DF-B5C7-CF638E33BDC3}"/>
                </a:ext>
              </a:extLst>
            </p:cNvPr>
            <p:cNvSpPr/>
            <p:nvPr/>
          </p:nvSpPr>
          <p:spPr>
            <a:xfrm>
              <a:off x="2536987" y="2807730"/>
              <a:ext cx="1066495" cy="381338"/>
            </a:xfrm>
            <a:prstGeom prst="rect">
              <a:avLst/>
            </a:prstGeom>
          </p:spPr>
          <p:txBody>
            <a:bodyPr wrap="square">
              <a:spAutoFit/>
            </a:bodyPr>
            <a:lstStyle/>
            <a:p>
              <a:r>
                <a:rPr lang="en-US" sz="1400" dirty="0">
                  <a:latin typeface="Franklin Gothic Book" panose="020B0503020102020204" pitchFamily="34" charset="0"/>
                </a:rPr>
                <a:t>Harry</a:t>
              </a:r>
              <a:endParaRPr lang="en-US" dirty="0"/>
            </a:p>
          </p:txBody>
        </p:sp>
        <p:sp>
          <p:nvSpPr>
            <p:cNvPr id="43" name="직사각형 42">
              <a:extLst>
                <a:ext uri="{FF2B5EF4-FFF2-40B4-BE49-F238E27FC236}">
                  <a16:creationId xmlns:a16="http://schemas.microsoft.com/office/drawing/2014/main" id="{1C0F3141-5FC4-4204-9D1A-6B172D92F07C}"/>
                </a:ext>
              </a:extLst>
            </p:cNvPr>
            <p:cNvSpPr/>
            <p:nvPr/>
          </p:nvSpPr>
          <p:spPr>
            <a:xfrm>
              <a:off x="4179284" y="2807730"/>
              <a:ext cx="852109" cy="381338"/>
            </a:xfrm>
            <a:prstGeom prst="rect">
              <a:avLst/>
            </a:prstGeom>
          </p:spPr>
          <p:txBody>
            <a:bodyPr wrap="square">
              <a:spAutoFit/>
            </a:bodyPr>
            <a:lstStyle/>
            <a:p>
              <a:r>
                <a:rPr lang="en-US" sz="1400" dirty="0">
                  <a:latin typeface="Franklin Gothic Book" panose="020B0503020102020204" pitchFamily="34" charset="0"/>
                </a:rPr>
                <a:t>Tom</a:t>
              </a:r>
              <a:endParaRPr lang="en-US" dirty="0"/>
            </a:p>
          </p:txBody>
        </p:sp>
        <p:sp>
          <p:nvSpPr>
            <p:cNvPr id="44" name="직사각형 43">
              <a:extLst>
                <a:ext uri="{FF2B5EF4-FFF2-40B4-BE49-F238E27FC236}">
                  <a16:creationId xmlns:a16="http://schemas.microsoft.com/office/drawing/2014/main" id="{692DCA15-08A6-4939-96DE-1F2EBF874A4A}"/>
                </a:ext>
              </a:extLst>
            </p:cNvPr>
            <p:cNvSpPr/>
            <p:nvPr/>
          </p:nvSpPr>
          <p:spPr>
            <a:xfrm>
              <a:off x="6030725" y="3900099"/>
              <a:ext cx="1199125" cy="381338"/>
            </a:xfrm>
            <a:prstGeom prst="rect">
              <a:avLst/>
            </a:prstGeom>
          </p:spPr>
          <p:txBody>
            <a:bodyPr wrap="square">
              <a:spAutoFit/>
            </a:bodyPr>
            <a:lstStyle/>
            <a:p>
              <a:r>
                <a:rPr lang="en-US" sz="1400" dirty="0">
                  <a:latin typeface="Franklin Gothic Book" panose="020B0503020102020204" pitchFamily="34" charset="0"/>
                </a:rPr>
                <a:t>Jane</a:t>
              </a:r>
              <a:endParaRPr lang="en-US" dirty="0"/>
            </a:p>
          </p:txBody>
        </p:sp>
        <p:sp>
          <p:nvSpPr>
            <p:cNvPr id="45" name="직사각형 44">
              <a:extLst>
                <a:ext uri="{FF2B5EF4-FFF2-40B4-BE49-F238E27FC236}">
                  <a16:creationId xmlns:a16="http://schemas.microsoft.com/office/drawing/2014/main" id="{DD0AA7AF-11B6-43FD-9F0C-73DB6815106E}"/>
                </a:ext>
              </a:extLst>
            </p:cNvPr>
            <p:cNvSpPr/>
            <p:nvPr/>
          </p:nvSpPr>
          <p:spPr>
            <a:xfrm>
              <a:off x="4178634" y="5055832"/>
              <a:ext cx="1007496" cy="381338"/>
            </a:xfrm>
            <a:prstGeom prst="rect">
              <a:avLst/>
            </a:prstGeom>
          </p:spPr>
          <p:txBody>
            <a:bodyPr wrap="square">
              <a:spAutoFit/>
            </a:bodyPr>
            <a:lstStyle/>
            <a:p>
              <a:r>
                <a:rPr lang="en-US" sz="1400" dirty="0">
                  <a:latin typeface="Franklin Gothic Book" panose="020B0503020102020204" pitchFamily="34" charset="0"/>
                </a:rPr>
                <a:t>Betty</a:t>
              </a:r>
              <a:endParaRPr lang="en-US" dirty="0"/>
            </a:p>
          </p:txBody>
        </p:sp>
        <p:sp>
          <p:nvSpPr>
            <p:cNvPr id="46" name="직사각형 45">
              <a:extLst>
                <a:ext uri="{FF2B5EF4-FFF2-40B4-BE49-F238E27FC236}">
                  <a16:creationId xmlns:a16="http://schemas.microsoft.com/office/drawing/2014/main" id="{ECD46FB5-AAAB-4733-B2E6-7D1A59669690}"/>
                </a:ext>
              </a:extLst>
            </p:cNvPr>
            <p:cNvSpPr/>
            <p:nvPr/>
          </p:nvSpPr>
          <p:spPr>
            <a:xfrm>
              <a:off x="2536987" y="5055832"/>
              <a:ext cx="1007496" cy="381338"/>
            </a:xfrm>
            <a:prstGeom prst="rect">
              <a:avLst/>
            </a:prstGeom>
          </p:spPr>
          <p:txBody>
            <a:bodyPr wrap="square">
              <a:spAutoFit/>
            </a:bodyPr>
            <a:lstStyle/>
            <a:p>
              <a:r>
                <a:rPr lang="en-US" sz="1400" dirty="0">
                  <a:latin typeface="Franklin Gothic Book" panose="020B0503020102020204" pitchFamily="34" charset="0"/>
                </a:rPr>
                <a:t>Dick</a:t>
              </a:r>
              <a:endParaRPr lang="en-US" dirty="0"/>
            </a:p>
          </p:txBody>
        </p:sp>
        <p:sp>
          <p:nvSpPr>
            <p:cNvPr id="47" name="직사각형 46">
              <a:extLst>
                <a:ext uri="{FF2B5EF4-FFF2-40B4-BE49-F238E27FC236}">
                  <a16:creationId xmlns:a16="http://schemas.microsoft.com/office/drawing/2014/main" id="{0D460B3C-67FA-4E84-970A-62C2B835373D}"/>
                </a:ext>
              </a:extLst>
            </p:cNvPr>
            <p:cNvSpPr/>
            <p:nvPr/>
          </p:nvSpPr>
          <p:spPr>
            <a:xfrm>
              <a:off x="1045539" y="5055832"/>
              <a:ext cx="1007496" cy="381338"/>
            </a:xfrm>
            <a:prstGeom prst="rect">
              <a:avLst/>
            </a:prstGeom>
          </p:spPr>
          <p:txBody>
            <a:bodyPr wrap="square">
              <a:spAutoFit/>
            </a:bodyPr>
            <a:lstStyle/>
            <a:p>
              <a:r>
                <a:rPr lang="en-US" sz="1400" dirty="0">
                  <a:latin typeface="Franklin Gothic Book" panose="020B0503020102020204" pitchFamily="34" charset="0"/>
                </a:rPr>
                <a:t>Mary</a:t>
              </a:r>
              <a:endParaRPr lang="en-US" dirty="0"/>
            </a:p>
          </p:txBody>
        </p:sp>
      </p:grpSp>
      <p:graphicFrame>
        <p:nvGraphicFramePr>
          <p:cNvPr id="3" name="표 2">
            <a:extLst>
              <a:ext uri="{FF2B5EF4-FFF2-40B4-BE49-F238E27FC236}">
                <a16:creationId xmlns:a16="http://schemas.microsoft.com/office/drawing/2014/main" id="{ED59230E-A999-4BF6-9ADB-B82B5E288530}"/>
              </a:ext>
            </a:extLst>
          </p:cNvPr>
          <p:cNvGraphicFramePr>
            <a:graphicFrameLocks noGrp="1"/>
          </p:cNvGraphicFramePr>
          <p:nvPr>
            <p:extLst>
              <p:ext uri="{D42A27DB-BD31-4B8C-83A1-F6EECF244321}">
                <p14:modId xmlns:p14="http://schemas.microsoft.com/office/powerpoint/2010/main" val="1980398350"/>
              </p:ext>
            </p:extLst>
          </p:nvPr>
        </p:nvGraphicFramePr>
        <p:xfrm>
          <a:off x="6422073" y="3885579"/>
          <a:ext cx="4403984" cy="2335564"/>
        </p:xfrm>
        <a:graphic>
          <a:graphicData uri="http://schemas.openxmlformats.org/drawingml/2006/table">
            <a:tbl>
              <a:tblPr firstRow="1" bandRow="1">
                <a:tableStyleId>{2D5ABB26-0587-4C30-8999-92F81FD0307C}</a:tableStyleId>
              </a:tblPr>
              <a:tblGrid>
                <a:gridCol w="550498">
                  <a:extLst>
                    <a:ext uri="{9D8B030D-6E8A-4147-A177-3AD203B41FA5}">
                      <a16:colId xmlns:a16="http://schemas.microsoft.com/office/drawing/2014/main" val="212742601"/>
                    </a:ext>
                  </a:extLst>
                </a:gridCol>
                <a:gridCol w="550498">
                  <a:extLst>
                    <a:ext uri="{9D8B030D-6E8A-4147-A177-3AD203B41FA5}">
                      <a16:colId xmlns:a16="http://schemas.microsoft.com/office/drawing/2014/main" val="2070193748"/>
                    </a:ext>
                  </a:extLst>
                </a:gridCol>
                <a:gridCol w="550498">
                  <a:extLst>
                    <a:ext uri="{9D8B030D-6E8A-4147-A177-3AD203B41FA5}">
                      <a16:colId xmlns:a16="http://schemas.microsoft.com/office/drawing/2014/main" val="2264527536"/>
                    </a:ext>
                  </a:extLst>
                </a:gridCol>
                <a:gridCol w="550498">
                  <a:extLst>
                    <a:ext uri="{9D8B030D-6E8A-4147-A177-3AD203B41FA5}">
                      <a16:colId xmlns:a16="http://schemas.microsoft.com/office/drawing/2014/main" val="1037712150"/>
                    </a:ext>
                  </a:extLst>
                </a:gridCol>
                <a:gridCol w="550498">
                  <a:extLst>
                    <a:ext uri="{9D8B030D-6E8A-4147-A177-3AD203B41FA5}">
                      <a16:colId xmlns:a16="http://schemas.microsoft.com/office/drawing/2014/main" val="1045142818"/>
                    </a:ext>
                  </a:extLst>
                </a:gridCol>
                <a:gridCol w="550498">
                  <a:extLst>
                    <a:ext uri="{9D8B030D-6E8A-4147-A177-3AD203B41FA5}">
                      <a16:colId xmlns:a16="http://schemas.microsoft.com/office/drawing/2014/main" val="2255321993"/>
                    </a:ext>
                  </a:extLst>
                </a:gridCol>
                <a:gridCol w="550498">
                  <a:extLst>
                    <a:ext uri="{9D8B030D-6E8A-4147-A177-3AD203B41FA5}">
                      <a16:colId xmlns:a16="http://schemas.microsoft.com/office/drawing/2014/main" val="1358499465"/>
                    </a:ext>
                  </a:extLst>
                </a:gridCol>
                <a:gridCol w="550498">
                  <a:extLst>
                    <a:ext uri="{9D8B030D-6E8A-4147-A177-3AD203B41FA5}">
                      <a16:colId xmlns:a16="http://schemas.microsoft.com/office/drawing/2014/main" val="3707804818"/>
                    </a:ext>
                  </a:extLst>
                </a:gridCol>
              </a:tblGrid>
              <a:tr h="309571">
                <a:tc>
                  <a:txBody>
                    <a:bodyPr/>
                    <a:lstStyle/>
                    <a:p>
                      <a:pPr algn="ctr"/>
                      <a:endParaRPr lang="en-US" sz="1200" dirty="0"/>
                    </a:p>
                  </a:txBody>
                  <a:tcPr/>
                </a:tc>
                <a:tc>
                  <a:txBody>
                    <a:bodyPr/>
                    <a:lstStyle/>
                    <a:p>
                      <a:pPr algn="ctr"/>
                      <a:r>
                        <a:rPr lang="en-US" sz="1200" dirty="0"/>
                        <a:t>Sally</a:t>
                      </a:r>
                    </a:p>
                  </a:txBody>
                  <a:tcPr/>
                </a:tc>
                <a:tc>
                  <a:txBody>
                    <a:bodyPr/>
                    <a:lstStyle/>
                    <a:p>
                      <a:pPr algn="ctr"/>
                      <a:r>
                        <a:rPr lang="en-US" sz="1200" dirty="0"/>
                        <a:t>Harry</a:t>
                      </a:r>
                    </a:p>
                  </a:txBody>
                  <a:tcPr/>
                </a:tc>
                <a:tc>
                  <a:txBody>
                    <a:bodyPr/>
                    <a:lstStyle/>
                    <a:p>
                      <a:pPr algn="ctr"/>
                      <a:r>
                        <a:rPr lang="en-US" sz="1200" dirty="0"/>
                        <a:t>Tom</a:t>
                      </a:r>
                    </a:p>
                  </a:txBody>
                  <a:tcPr/>
                </a:tc>
                <a:tc>
                  <a:txBody>
                    <a:bodyPr/>
                    <a:lstStyle/>
                    <a:p>
                      <a:pPr algn="ctr"/>
                      <a:r>
                        <a:rPr lang="en-US" sz="1200" dirty="0"/>
                        <a:t>Jane</a:t>
                      </a:r>
                    </a:p>
                  </a:txBody>
                  <a:tcPr/>
                </a:tc>
                <a:tc>
                  <a:txBody>
                    <a:bodyPr/>
                    <a:lstStyle/>
                    <a:p>
                      <a:pPr algn="ctr"/>
                      <a:r>
                        <a:rPr lang="en-US" sz="1200" dirty="0"/>
                        <a:t>Betty</a:t>
                      </a:r>
                    </a:p>
                  </a:txBody>
                  <a:tcPr/>
                </a:tc>
                <a:tc>
                  <a:txBody>
                    <a:bodyPr/>
                    <a:lstStyle/>
                    <a:p>
                      <a:pPr algn="ctr"/>
                      <a:r>
                        <a:rPr lang="en-US" sz="1200" dirty="0"/>
                        <a:t>Dick</a:t>
                      </a:r>
                    </a:p>
                  </a:txBody>
                  <a:tcPr/>
                </a:tc>
                <a:tc>
                  <a:txBody>
                    <a:bodyPr/>
                    <a:lstStyle/>
                    <a:p>
                      <a:pPr algn="ctr"/>
                      <a:r>
                        <a:rPr lang="en-US" sz="1200" dirty="0"/>
                        <a:t>Mary</a:t>
                      </a:r>
                    </a:p>
                  </a:txBody>
                  <a:tcPr/>
                </a:tc>
                <a:extLst>
                  <a:ext uri="{0D108BD9-81ED-4DB2-BD59-A6C34878D82A}">
                    <a16:rowId xmlns:a16="http://schemas.microsoft.com/office/drawing/2014/main" val="1687759355"/>
                  </a:ext>
                </a:extLst>
              </a:tr>
              <a:tr h="247295">
                <a:tc>
                  <a:txBody>
                    <a:bodyPr/>
                    <a:lstStyle/>
                    <a:p>
                      <a:pPr algn="ctr"/>
                      <a:r>
                        <a:rPr lang="en-US" sz="1200" dirty="0"/>
                        <a:t>Sally</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extLst>
                  <a:ext uri="{0D108BD9-81ED-4DB2-BD59-A6C34878D82A}">
                    <a16:rowId xmlns:a16="http://schemas.microsoft.com/office/drawing/2014/main" val="3372436052"/>
                  </a:ext>
                </a:extLst>
              </a:tr>
              <a:tr h="309571">
                <a:tc>
                  <a:txBody>
                    <a:bodyPr/>
                    <a:lstStyle/>
                    <a:p>
                      <a:pPr algn="ctr"/>
                      <a:r>
                        <a:rPr lang="en-US" sz="1200" dirty="0"/>
                        <a:t>Harry</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0</a:t>
                      </a:r>
                    </a:p>
                  </a:txBody>
                  <a:tcPr/>
                </a:tc>
                <a:extLst>
                  <a:ext uri="{0D108BD9-81ED-4DB2-BD59-A6C34878D82A}">
                    <a16:rowId xmlns:a16="http://schemas.microsoft.com/office/drawing/2014/main" val="1546713341"/>
                  </a:ext>
                </a:extLst>
              </a:tr>
              <a:tr h="254963">
                <a:tc>
                  <a:txBody>
                    <a:bodyPr/>
                    <a:lstStyle/>
                    <a:p>
                      <a:pPr algn="ctr"/>
                      <a:r>
                        <a:rPr lang="en-US" sz="1200" dirty="0"/>
                        <a:t>Tom</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0</a:t>
                      </a:r>
                    </a:p>
                  </a:txBody>
                  <a:tcPr/>
                </a:tc>
                <a:extLst>
                  <a:ext uri="{0D108BD9-81ED-4DB2-BD59-A6C34878D82A}">
                    <a16:rowId xmlns:a16="http://schemas.microsoft.com/office/drawing/2014/main" val="301118811"/>
                  </a:ext>
                </a:extLst>
              </a:tr>
              <a:tr h="247295">
                <a:tc>
                  <a:txBody>
                    <a:bodyPr/>
                    <a:lstStyle/>
                    <a:p>
                      <a:pPr algn="ctr"/>
                      <a:r>
                        <a:rPr lang="en-US" sz="1200" dirty="0"/>
                        <a:t>Jane</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0</a:t>
                      </a:r>
                    </a:p>
                  </a:txBody>
                  <a:tcPr/>
                </a:tc>
                <a:extLst>
                  <a:ext uri="{0D108BD9-81ED-4DB2-BD59-A6C34878D82A}">
                    <a16:rowId xmlns:a16="http://schemas.microsoft.com/office/drawing/2014/main" val="3347780151"/>
                  </a:ext>
                </a:extLst>
              </a:tr>
              <a:tr h="309571">
                <a:tc>
                  <a:txBody>
                    <a:bodyPr/>
                    <a:lstStyle/>
                    <a:p>
                      <a:pPr algn="ctr"/>
                      <a:r>
                        <a:rPr lang="en-US" sz="1200" dirty="0"/>
                        <a:t>Betty</a:t>
                      </a:r>
                    </a:p>
                  </a:txBody>
                  <a:tcPr/>
                </a:tc>
                <a:tc>
                  <a:txBody>
                    <a:bodyPr/>
                    <a:lstStyle/>
                    <a:p>
                      <a:pPr algn="ctr"/>
                      <a:r>
                        <a:rPr lang="en-US" sz="1200" dirty="0"/>
                        <a:t>0</a:t>
                      </a:r>
                    </a:p>
                  </a:txBody>
                  <a:tcPr/>
                </a:tc>
                <a:tc>
                  <a:txBody>
                    <a:bodyPr/>
                    <a:lstStyle/>
                    <a:p>
                      <a:pPr algn="ctr"/>
                      <a:r>
                        <a:rPr lang="en-US" sz="1200" dirty="0"/>
                        <a:t>1</a:t>
                      </a:r>
                    </a:p>
                  </a:txBody>
                  <a:tcPr/>
                </a:tc>
                <a:tc>
                  <a:txBody>
                    <a:bodyPr/>
                    <a:lstStyle/>
                    <a:p>
                      <a:pPr algn="ctr"/>
                      <a:r>
                        <a:rPr lang="en-US" sz="1200" dirty="0"/>
                        <a:t>1</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extLst>
                  <a:ext uri="{0D108BD9-81ED-4DB2-BD59-A6C34878D82A}">
                    <a16:rowId xmlns:a16="http://schemas.microsoft.com/office/drawing/2014/main" val="1062897417"/>
                  </a:ext>
                </a:extLst>
              </a:tr>
              <a:tr h="247295">
                <a:tc>
                  <a:txBody>
                    <a:bodyPr/>
                    <a:lstStyle/>
                    <a:p>
                      <a:pPr algn="ctr"/>
                      <a:r>
                        <a:rPr lang="en-US" sz="1200" dirty="0"/>
                        <a:t>Dick</a:t>
                      </a:r>
                    </a:p>
                  </a:txBody>
                  <a:tcPr/>
                </a:tc>
                <a:tc>
                  <a:txBody>
                    <a:bodyPr/>
                    <a:lstStyle/>
                    <a:p>
                      <a:pPr algn="ctr"/>
                      <a:r>
                        <a:rPr lang="en-US" sz="1200" dirty="0"/>
                        <a:t>1</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extLst>
                  <a:ext uri="{0D108BD9-81ED-4DB2-BD59-A6C34878D82A}">
                    <a16:rowId xmlns:a16="http://schemas.microsoft.com/office/drawing/2014/main" val="107999314"/>
                  </a:ext>
                </a:extLst>
              </a:tr>
              <a:tr h="309571">
                <a:tc>
                  <a:txBody>
                    <a:bodyPr/>
                    <a:lstStyle/>
                    <a:p>
                      <a:pPr algn="ctr"/>
                      <a:r>
                        <a:rPr lang="en-US" sz="1200" dirty="0"/>
                        <a:t>Mary</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tc>
                  <a:txBody>
                    <a:bodyPr/>
                    <a:lstStyle/>
                    <a:p>
                      <a:pPr algn="ctr"/>
                      <a:r>
                        <a:rPr lang="en-US" sz="1200" dirty="0"/>
                        <a:t>0</a:t>
                      </a:r>
                    </a:p>
                  </a:txBody>
                  <a:tcPr/>
                </a:tc>
                <a:extLst>
                  <a:ext uri="{0D108BD9-81ED-4DB2-BD59-A6C34878D82A}">
                    <a16:rowId xmlns:a16="http://schemas.microsoft.com/office/drawing/2014/main" val="4019778389"/>
                  </a:ext>
                </a:extLst>
              </a:tr>
            </a:tbl>
          </a:graphicData>
        </a:graphic>
      </p:graphicFrame>
      <p:sp>
        <p:nvSpPr>
          <p:cNvPr id="5" name="화살표: 오른쪽 4">
            <a:extLst>
              <a:ext uri="{FF2B5EF4-FFF2-40B4-BE49-F238E27FC236}">
                <a16:creationId xmlns:a16="http://schemas.microsoft.com/office/drawing/2014/main" id="{FFE1B5DC-94C8-4C6F-85CF-06DA03D94A53}"/>
              </a:ext>
            </a:extLst>
          </p:cNvPr>
          <p:cNvSpPr/>
          <p:nvPr/>
        </p:nvSpPr>
        <p:spPr>
          <a:xfrm>
            <a:off x="4944862" y="4808855"/>
            <a:ext cx="558265" cy="2837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1952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latin typeface="Franklin Gothic Book" panose="020B0503020102020204" pitchFamily="34" charset="0"/>
              </a:rPr>
              <a:t>1. Graphs &amp; Matrices   </a:t>
            </a:r>
            <a:r>
              <a:rPr lang="en-US" sz="2400" b="1" dirty="0">
                <a:latin typeface="Franklin Gothic Book" panose="020B0503020102020204" pitchFamily="34" charset="0"/>
              </a:rPr>
              <a:t>Matrices</a:t>
            </a:r>
            <a:endParaRPr lang="en-US" sz="3200" b="1" dirty="0">
              <a:latin typeface="Franklin Gothic Book" panose="020B0503020102020204" pitchFamily="34" charset="0"/>
            </a:endParaRPr>
          </a:p>
        </p:txBody>
      </p:sp>
      <p:sp>
        <p:nvSpPr>
          <p:cNvPr id="37" name="직사각형 36">
            <a:extLst>
              <a:ext uri="{FF2B5EF4-FFF2-40B4-BE49-F238E27FC236}">
                <a16:creationId xmlns:a16="http://schemas.microsoft.com/office/drawing/2014/main" id="{FEF82729-D453-4C77-9CC4-C376E2FF5FC4}"/>
              </a:ext>
            </a:extLst>
          </p:cNvPr>
          <p:cNvSpPr/>
          <p:nvPr/>
        </p:nvSpPr>
        <p:spPr>
          <a:xfrm>
            <a:off x="142574" y="1385813"/>
            <a:ext cx="11906852" cy="646331"/>
          </a:xfrm>
          <a:prstGeom prst="rect">
            <a:avLst/>
          </a:prstGeom>
        </p:spPr>
        <p:txBody>
          <a:bodyPr wrap="square">
            <a:spAutoFit/>
          </a:bodyPr>
          <a:lstStyle/>
          <a:p>
            <a:r>
              <a:rPr lang="en-US" dirty="0">
                <a:latin typeface="Franklin Gothic Book" panose="020B0503020102020204" pitchFamily="34" charset="0"/>
              </a:rPr>
              <a:t>Sometimes, network researchers use non square matrices to indicate actor attributes or their participation in certain events. </a:t>
            </a:r>
            <a:endParaRPr lang="en-US" b="1" dirty="0">
              <a:latin typeface="Franklin Gothic Book" panose="020B0503020102020204" pitchFamily="34" charset="0"/>
            </a:endParaRPr>
          </a:p>
        </p:txBody>
      </p:sp>
      <mc:AlternateContent xmlns:mc="http://schemas.openxmlformats.org/markup-compatibility/2006" xmlns:a14="http://schemas.microsoft.com/office/drawing/2010/main">
        <mc:Choice Requires="a14">
          <p:sp>
            <p:nvSpPr>
              <p:cNvPr id="4" name="직사각형 3">
                <a:extLst>
                  <a:ext uri="{FF2B5EF4-FFF2-40B4-BE49-F238E27FC236}">
                    <a16:creationId xmlns:a16="http://schemas.microsoft.com/office/drawing/2014/main" id="{CA485EAD-9E35-441F-B096-DE964434A68B}"/>
                  </a:ext>
                </a:extLst>
              </p:cNvPr>
              <p:cNvSpPr/>
              <p:nvPr/>
            </p:nvSpPr>
            <p:spPr>
              <a:xfrm>
                <a:off x="142574" y="2342044"/>
                <a:ext cx="12141401" cy="2308324"/>
              </a:xfrm>
              <a:prstGeom prst="rect">
                <a:avLst/>
              </a:prstGeom>
            </p:spPr>
            <p:txBody>
              <a:bodyPr wrap="none">
                <a:spAutoFit/>
              </a:bodyPr>
              <a:lstStyle/>
              <a:p>
                <a:r>
                  <a:rPr lang="en-US" b="1" dirty="0">
                    <a:latin typeface="Franklin Gothic Book" panose="020B0503020102020204" pitchFamily="34" charset="0"/>
                  </a:rPr>
                  <a:t>Z</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𝑁</m:t>
                        </m:r>
                        <m:r>
                          <a:rPr lang="en-US" i="1">
                            <a:latin typeface="Cambria Math" panose="02040503050406030204" pitchFamily="18" charset="0"/>
                          </a:rPr>
                          <m:t>,</m:t>
                        </m:r>
                        <m:r>
                          <a:rPr lang="en-US" b="0" i="1" smtClean="0">
                            <a:latin typeface="Cambria Math" panose="02040503050406030204" pitchFamily="18" charset="0"/>
                          </a:rPr>
                          <m:t>𝑀</m:t>
                        </m:r>
                      </m:e>
                    </m:d>
                  </m:oMath>
                </a14:m>
                <a:r>
                  <a:rPr lang="en-US" dirty="0">
                    <a:latin typeface="Franklin Gothic Book" panose="020B0503020102020204" pitchFamily="34" charset="0"/>
                  </a:rPr>
                  <a:t> denotes a rectangular matrix </a:t>
                </a:r>
                <a:r>
                  <a:rPr lang="en-US" b="1" dirty="0">
                    <a:latin typeface="Franklin Gothic Book" panose="020B0503020102020204" pitchFamily="34" charset="0"/>
                  </a:rPr>
                  <a:t>Z </a:t>
                </a:r>
                <a:r>
                  <a:rPr lang="en-US" dirty="0">
                    <a:latin typeface="Franklin Gothic Book" panose="020B0503020102020204" pitchFamily="34" charset="0"/>
                  </a:rPr>
                  <a:t>where </a:t>
                </a:r>
                <a:r>
                  <a:rPr lang="en-US" i="1" dirty="0">
                    <a:latin typeface="Franklin Gothic Book" panose="020B0503020102020204" pitchFamily="34" charset="0"/>
                  </a:rPr>
                  <a:t>N </a:t>
                </a:r>
                <a:r>
                  <a:rPr lang="en-US" dirty="0">
                    <a:latin typeface="Franklin Gothic Book" panose="020B0503020102020204" pitchFamily="34" charset="0"/>
                  </a:rPr>
                  <a:t>is the number of actors </a:t>
                </a:r>
              </a:p>
              <a:p>
                <a:r>
                  <a:rPr lang="en-US" dirty="0">
                    <a:latin typeface="Franklin Gothic Book" panose="020B0503020102020204" pitchFamily="34" charset="0"/>
                  </a:rPr>
                  <a:t>while </a:t>
                </a:r>
                <a:r>
                  <a:rPr lang="en-US" i="1" dirty="0">
                    <a:latin typeface="Franklin Gothic Book" panose="020B0503020102020204" pitchFamily="34" charset="0"/>
                  </a:rPr>
                  <a:t>M </a:t>
                </a:r>
                <a:r>
                  <a:rPr lang="en-US" dirty="0">
                    <a:latin typeface="Franklin Gothic Book" panose="020B0503020102020204" pitchFamily="34" charset="0"/>
                  </a:rPr>
                  <a:t>is the number of attributes, events or locations</a:t>
                </a:r>
              </a:p>
              <a:p>
                <a:endParaRPr lang="en-US" b="1" i="1" dirty="0">
                  <a:latin typeface="Franklin Gothic Book" panose="020B0503020102020204" pitchFamily="34" charset="0"/>
                </a:endParaRPr>
              </a:p>
              <a:p>
                <a:endParaRPr lang="en-US" b="1" i="1" dirty="0">
                  <a:latin typeface="Franklin Gothic Book" panose="020B0503020102020204" pitchFamily="34" charset="0"/>
                </a:endParaRPr>
              </a:p>
              <a:p>
                <a:r>
                  <a:rPr lang="en-US" dirty="0">
                    <a:latin typeface="Franklin Gothic Book" panose="020B0503020102020204" pitchFamily="34" charset="0"/>
                  </a:rPr>
                  <a:t>If a network researcher collects network data on more than one type of relation, multiple sociomatrices can be constructed,</a:t>
                </a:r>
              </a:p>
              <a:p>
                <a:r>
                  <a:rPr lang="en-US" dirty="0">
                    <a:latin typeface="Franklin Gothic Book" panose="020B0503020102020204" pitchFamily="34" charset="0"/>
                  </a:rPr>
                  <a:t>and analyzed jointly or separately. In </a:t>
                </a:r>
                <a:r>
                  <a:rPr lang="en-US" b="1" dirty="0">
                    <a:latin typeface="Franklin Gothic Book" panose="020B0503020102020204" pitchFamily="34" charset="0"/>
                  </a:rPr>
                  <a:t>Multiplex</a:t>
                </a:r>
                <a:r>
                  <a:rPr lang="en-US" dirty="0">
                    <a:latin typeface="Franklin Gothic Book" panose="020B0503020102020204" pitchFamily="34" charset="0"/>
                  </a:rPr>
                  <a:t> network, the matrix representation is enabled by adding a third subscript.</a:t>
                </a:r>
              </a:p>
              <a:p>
                <a:endParaRPr lang="en-US" dirty="0">
                  <a:latin typeface="Franklin Gothic Book" panose="020B0503020102020204" pitchFamily="34" charset="0"/>
                </a:endParaRP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r>
                          <a:rPr lang="en-US" b="0" i="1" smtClean="0">
                            <a:latin typeface="Cambria Math" panose="02040503050406030204" pitchFamily="18" charset="0"/>
                          </a:rPr>
                          <m:t>𝑘</m:t>
                        </m:r>
                      </m:sub>
                    </m:sSub>
                    <m:r>
                      <a:rPr lang="en-US" b="0" i="1" smtClean="0">
                        <a:latin typeface="Cambria Math" panose="02040503050406030204" pitchFamily="18" charset="0"/>
                      </a:rPr>
                      <m:t>:</m:t>
                    </m:r>
                  </m:oMath>
                </a14:m>
                <a:r>
                  <a:rPr lang="en-US" dirty="0">
                    <a:latin typeface="Franklin Gothic Book" panose="020B0503020102020204" pitchFamily="34" charset="0"/>
                  </a:rPr>
                  <a:t> cell value of i</a:t>
                </a:r>
                <a:r>
                  <a:rPr lang="en-US" baseline="30000" dirty="0">
                    <a:latin typeface="Franklin Gothic Book" panose="020B0503020102020204" pitchFamily="34" charset="0"/>
                  </a:rPr>
                  <a:t>th</a:t>
                </a:r>
                <a:r>
                  <a:rPr lang="en-US" dirty="0">
                    <a:latin typeface="Franklin Gothic Book" panose="020B0503020102020204" pitchFamily="34" charset="0"/>
                  </a:rPr>
                  <a:t> row and j</a:t>
                </a:r>
                <a:r>
                  <a:rPr lang="en-US" baseline="30000" dirty="0">
                    <a:latin typeface="Franklin Gothic Book" panose="020B0503020102020204" pitchFamily="34" charset="0"/>
                  </a:rPr>
                  <a:t>th</a:t>
                </a:r>
                <a:r>
                  <a:rPr lang="en-US" dirty="0">
                    <a:latin typeface="Franklin Gothic Book" panose="020B0503020102020204" pitchFamily="34" charset="0"/>
                  </a:rPr>
                  <a:t> column and k</a:t>
                </a:r>
                <a:r>
                  <a:rPr lang="en-US" baseline="30000" dirty="0">
                    <a:latin typeface="Franklin Gothic Book" panose="020B0503020102020204" pitchFamily="34" charset="0"/>
                  </a:rPr>
                  <a:t>th</a:t>
                </a:r>
                <a:r>
                  <a:rPr lang="en-US" dirty="0">
                    <a:latin typeface="Franklin Gothic Book" panose="020B0503020102020204" pitchFamily="34" charset="0"/>
                  </a:rPr>
                  <a:t> relation</a:t>
                </a:r>
              </a:p>
            </p:txBody>
          </p:sp>
        </mc:Choice>
        <mc:Fallback xmlns="">
          <p:sp>
            <p:nvSpPr>
              <p:cNvPr id="4" name="직사각형 3">
                <a:extLst>
                  <a:ext uri="{FF2B5EF4-FFF2-40B4-BE49-F238E27FC236}">
                    <a16:creationId xmlns:a16="http://schemas.microsoft.com/office/drawing/2014/main" id="{CA485EAD-9E35-441F-B096-DE964434A68B}"/>
                  </a:ext>
                </a:extLst>
              </p:cNvPr>
              <p:cNvSpPr>
                <a:spLocks noRot="1" noChangeAspect="1" noMove="1" noResize="1" noEditPoints="1" noAdjustHandles="1" noChangeArrowheads="1" noChangeShapeType="1" noTextEdit="1"/>
              </p:cNvSpPr>
              <p:nvPr/>
            </p:nvSpPr>
            <p:spPr>
              <a:xfrm>
                <a:off x="142574" y="2342044"/>
                <a:ext cx="12141401" cy="2308324"/>
              </a:xfrm>
              <a:prstGeom prst="rect">
                <a:avLst/>
              </a:prstGeom>
              <a:blipFill>
                <a:blip r:embed="rId2"/>
                <a:stretch>
                  <a:fillRect l="-402" t="-1319" b="-3166"/>
                </a:stretch>
              </a:blipFill>
            </p:spPr>
            <p:txBody>
              <a:bodyPr/>
              <a:lstStyle/>
              <a:p>
                <a:r>
                  <a:rPr lang="en-US">
                    <a:noFill/>
                  </a:rPr>
                  <a:t> </a:t>
                </a:r>
              </a:p>
            </p:txBody>
          </p:sp>
        </mc:Fallback>
      </mc:AlternateContent>
      <p:pic>
        <p:nvPicPr>
          <p:cNvPr id="1026" name="Picture 2" descr="multiplex networkì ëí ì´ë¯¸ì§ ê²ìê²°ê³¼">
            <a:extLst>
              <a:ext uri="{FF2B5EF4-FFF2-40B4-BE49-F238E27FC236}">
                <a16:creationId xmlns:a16="http://schemas.microsoft.com/office/drawing/2014/main" id="{AAC83DED-7AE5-4E4C-B2E0-3322E5ED65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4244" y="4137549"/>
            <a:ext cx="4383245" cy="2338711"/>
          </a:xfrm>
          <a:prstGeom prst="rect">
            <a:avLst/>
          </a:prstGeom>
          <a:noFill/>
          <a:extLst>
            <a:ext uri="{909E8E84-426E-40DD-AFC4-6F175D3DCCD1}">
              <a14:hiddenFill xmlns:a14="http://schemas.microsoft.com/office/drawing/2010/main">
                <a:solidFill>
                  <a:srgbClr val="FFFFFF"/>
                </a:solidFill>
              </a14:hiddenFill>
            </a:ext>
          </a:extLst>
        </p:spPr>
      </p:pic>
      <p:sp>
        <p:nvSpPr>
          <p:cNvPr id="6" name="직사각형 5">
            <a:extLst>
              <a:ext uri="{FF2B5EF4-FFF2-40B4-BE49-F238E27FC236}">
                <a16:creationId xmlns:a16="http://schemas.microsoft.com/office/drawing/2014/main" id="{92951915-3276-4369-9E8D-9A26BF526293}"/>
              </a:ext>
            </a:extLst>
          </p:cNvPr>
          <p:cNvSpPr/>
          <p:nvPr/>
        </p:nvSpPr>
        <p:spPr>
          <a:xfrm>
            <a:off x="9088462" y="6428418"/>
            <a:ext cx="1541769" cy="307777"/>
          </a:xfrm>
          <a:prstGeom prst="rect">
            <a:avLst/>
          </a:prstGeom>
        </p:spPr>
        <p:txBody>
          <a:bodyPr wrap="none">
            <a:spAutoFit/>
          </a:bodyPr>
          <a:lstStyle/>
          <a:p>
            <a:r>
              <a:rPr lang="en-US" sz="1400" dirty="0">
                <a:latin typeface="Franklin Gothic Book" panose="020B0503020102020204" pitchFamily="34" charset="0"/>
              </a:rPr>
              <a:t>Multiplex Network</a:t>
            </a:r>
            <a:endParaRPr lang="en-US" sz="1400" dirty="0"/>
          </a:p>
        </p:txBody>
      </p:sp>
    </p:spTree>
    <p:extLst>
      <p:ext uri="{BB962C8B-B14F-4D97-AF65-F5344CB8AC3E}">
        <p14:creationId xmlns:p14="http://schemas.microsoft.com/office/powerpoint/2010/main" val="722985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latin typeface="Franklin Gothic Book" panose="020B0503020102020204" pitchFamily="34" charset="0"/>
              </a:rPr>
              <a:t>2. Relationship Measures</a:t>
            </a:r>
            <a:endParaRPr lang="en-US" sz="3200" b="1" dirty="0">
              <a:latin typeface="Franklin Gothic Book" panose="020B0503020102020204" pitchFamily="34" charset="0"/>
            </a:endParaRPr>
          </a:p>
        </p:txBody>
      </p:sp>
      <p:sp>
        <p:nvSpPr>
          <p:cNvPr id="3" name="직사각형 2">
            <a:extLst>
              <a:ext uri="{FF2B5EF4-FFF2-40B4-BE49-F238E27FC236}">
                <a16:creationId xmlns:a16="http://schemas.microsoft.com/office/drawing/2014/main" id="{D5E2ACB4-CF57-445F-9E81-827CD9F57E90}"/>
              </a:ext>
            </a:extLst>
          </p:cNvPr>
          <p:cNvSpPr/>
          <p:nvPr/>
        </p:nvSpPr>
        <p:spPr>
          <a:xfrm>
            <a:off x="468621" y="1385813"/>
            <a:ext cx="11906852" cy="369332"/>
          </a:xfrm>
          <a:prstGeom prst="rect">
            <a:avLst/>
          </a:prstGeom>
        </p:spPr>
        <p:txBody>
          <a:bodyPr wrap="square">
            <a:spAutoFit/>
          </a:bodyPr>
          <a:lstStyle/>
          <a:p>
            <a:r>
              <a:rPr lang="en-US" dirty="0">
                <a:latin typeface="Franklin Gothic Book" panose="020B0503020102020204" pitchFamily="34" charset="0"/>
              </a:rPr>
              <a:t>Social Network Data is distinguished along two dimensions: </a:t>
            </a:r>
            <a:r>
              <a:rPr lang="en-US" b="1" dirty="0">
                <a:latin typeface="Franklin Gothic Book" panose="020B0503020102020204" pitchFamily="34" charset="0"/>
              </a:rPr>
              <a:t>Directionality</a:t>
            </a:r>
            <a:r>
              <a:rPr lang="en-US" dirty="0">
                <a:latin typeface="Franklin Gothic Book" panose="020B0503020102020204" pitchFamily="34" charset="0"/>
              </a:rPr>
              <a:t> and </a:t>
            </a:r>
            <a:r>
              <a:rPr lang="en-US" b="1" dirty="0">
                <a:latin typeface="Franklin Gothic Book" panose="020B0503020102020204" pitchFamily="34" charset="0"/>
              </a:rPr>
              <a:t>Valuation</a:t>
            </a:r>
            <a:r>
              <a:rPr lang="en-US" dirty="0">
                <a:latin typeface="Franklin Gothic Book" panose="020B0503020102020204" pitchFamily="34" charset="0"/>
              </a:rPr>
              <a:t> </a:t>
            </a:r>
            <a:endParaRPr lang="en-US" b="1" i="1" dirty="0">
              <a:latin typeface="Franklin Gothic Book" panose="020B0503020102020204" pitchFamily="34" charset="0"/>
            </a:endParaRPr>
          </a:p>
        </p:txBody>
      </p:sp>
      <p:sp>
        <p:nvSpPr>
          <p:cNvPr id="4" name="직사각형 3">
            <a:extLst>
              <a:ext uri="{FF2B5EF4-FFF2-40B4-BE49-F238E27FC236}">
                <a16:creationId xmlns:a16="http://schemas.microsoft.com/office/drawing/2014/main" id="{5AD62888-7216-4DFD-973F-6EBBEF5B6819}"/>
              </a:ext>
            </a:extLst>
          </p:cNvPr>
          <p:cNvSpPr/>
          <p:nvPr/>
        </p:nvSpPr>
        <p:spPr>
          <a:xfrm>
            <a:off x="468621" y="2054726"/>
            <a:ext cx="1454244" cy="369332"/>
          </a:xfrm>
          <a:prstGeom prst="rect">
            <a:avLst/>
          </a:prstGeom>
        </p:spPr>
        <p:txBody>
          <a:bodyPr wrap="none">
            <a:spAutoFit/>
          </a:bodyPr>
          <a:lstStyle/>
          <a:p>
            <a:r>
              <a:rPr lang="en-US" b="1" dirty="0">
                <a:latin typeface="Franklin Gothic Book" panose="020B0503020102020204" pitchFamily="34" charset="0"/>
              </a:rPr>
              <a:t>Directionality</a:t>
            </a:r>
            <a:endParaRPr lang="en-US" dirty="0"/>
          </a:p>
        </p:txBody>
      </p:sp>
      <p:sp>
        <p:nvSpPr>
          <p:cNvPr id="5" name="직사각형 4">
            <a:extLst>
              <a:ext uri="{FF2B5EF4-FFF2-40B4-BE49-F238E27FC236}">
                <a16:creationId xmlns:a16="http://schemas.microsoft.com/office/drawing/2014/main" id="{613D7255-8643-4A41-9A5E-7AB145C9248C}"/>
              </a:ext>
            </a:extLst>
          </p:cNvPr>
          <p:cNvSpPr/>
          <p:nvPr/>
        </p:nvSpPr>
        <p:spPr>
          <a:xfrm>
            <a:off x="1922865" y="2054726"/>
            <a:ext cx="2512804" cy="646331"/>
          </a:xfrm>
          <a:prstGeom prst="rect">
            <a:avLst/>
          </a:prstGeom>
        </p:spPr>
        <p:txBody>
          <a:bodyPr wrap="none">
            <a:spAutoFit/>
          </a:bodyPr>
          <a:lstStyle/>
          <a:p>
            <a:pPr marL="285750" indent="-285750">
              <a:buFontTx/>
              <a:buChar char="-"/>
            </a:pPr>
            <a:r>
              <a:rPr lang="en-US" dirty="0"/>
              <a:t>Nondirected relations</a:t>
            </a:r>
          </a:p>
          <a:p>
            <a:pPr marL="285750" indent="-285750">
              <a:buFontTx/>
              <a:buChar char="-"/>
            </a:pPr>
            <a:r>
              <a:rPr lang="en-US" dirty="0"/>
              <a:t>Directed relations</a:t>
            </a:r>
          </a:p>
        </p:txBody>
      </p:sp>
      <p:sp>
        <p:nvSpPr>
          <p:cNvPr id="6" name="직사각형 5">
            <a:extLst>
              <a:ext uri="{FF2B5EF4-FFF2-40B4-BE49-F238E27FC236}">
                <a16:creationId xmlns:a16="http://schemas.microsoft.com/office/drawing/2014/main" id="{A387A512-4B47-454B-A9CC-3E3B4FC175DF}"/>
              </a:ext>
            </a:extLst>
          </p:cNvPr>
          <p:cNvSpPr/>
          <p:nvPr/>
        </p:nvSpPr>
        <p:spPr>
          <a:xfrm>
            <a:off x="5528893" y="2008559"/>
            <a:ext cx="5372885" cy="830997"/>
          </a:xfrm>
          <a:prstGeom prst="rect">
            <a:avLst/>
          </a:prstGeom>
        </p:spPr>
        <p:txBody>
          <a:bodyPr wrap="square">
            <a:spAutoFit/>
          </a:bodyPr>
          <a:lstStyle/>
          <a:p>
            <a:r>
              <a:rPr lang="en-US" sz="1600" dirty="0">
                <a:latin typeface="Franklin Gothic Book" panose="020B0503020102020204" pitchFamily="34" charset="0"/>
              </a:rPr>
              <a:t>Many non-directed networks may be inherently directed, because the data does not fully consider subjective beliefs, attitudes of the individual actors</a:t>
            </a:r>
          </a:p>
        </p:txBody>
      </p:sp>
      <p:sp>
        <p:nvSpPr>
          <p:cNvPr id="7" name="직사각형 6">
            <a:extLst>
              <a:ext uri="{FF2B5EF4-FFF2-40B4-BE49-F238E27FC236}">
                <a16:creationId xmlns:a16="http://schemas.microsoft.com/office/drawing/2014/main" id="{B1025DE6-CC6D-4BC5-8E99-931D15E43FD3}"/>
              </a:ext>
            </a:extLst>
          </p:cNvPr>
          <p:cNvSpPr/>
          <p:nvPr/>
        </p:nvSpPr>
        <p:spPr>
          <a:xfrm>
            <a:off x="507831" y="3059668"/>
            <a:ext cx="1090491" cy="369332"/>
          </a:xfrm>
          <a:prstGeom prst="rect">
            <a:avLst/>
          </a:prstGeom>
        </p:spPr>
        <p:txBody>
          <a:bodyPr wrap="none">
            <a:spAutoFit/>
          </a:bodyPr>
          <a:lstStyle/>
          <a:p>
            <a:r>
              <a:rPr lang="en-US" b="1" dirty="0">
                <a:latin typeface="Franklin Gothic Book" panose="020B0503020102020204" pitchFamily="34" charset="0"/>
              </a:rPr>
              <a:t>Valuation</a:t>
            </a:r>
            <a:endParaRPr lang="en-US" dirty="0"/>
          </a:p>
        </p:txBody>
      </p:sp>
      <p:sp>
        <p:nvSpPr>
          <p:cNvPr id="8" name="직사각형 7">
            <a:extLst>
              <a:ext uri="{FF2B5EF4-FFF2-40B4-BE49-F238E27FC236}">
                <a16:creationId xmlns:a16="http://schemas.microsoft.com/office/drawing/2014/main" id="{3DED1E17-6D30-4BC5-B086-4BF53FBA24B9}"/>
              </a:ext>
            </a:extLst>
          </p:cNvPr>
          <p:cNvSpPr/>
          <p:nvPr/>
        </p:nvSpPr>
        <p:spPr>
          <a:xfrm>
            <a:off x="1922865" y="3059668"/>
            <a:ext cx="5713167" cy="646331"/>
          </a:xfrm>
          <a:prstGeom prst="rect">
            <a:avLst/>
          </a:prstGeom>
        </p:spPr>
        <p:txBody>
          <a:bodyPr wrap="none">
            <a:spAutoFit/>
          </a:bodyPr>
          <a:lstStyle/>
          <a:p>
            <a:pPr marL="285750" indent="-285750">
              <a:buFontTx/>
              <a:buChar char="-"/>
            </a:pPr>
            <a:r>
              <a:rPr lang="en-US" dirty="0"/>
              <a:t>Binary ( 0 or 1)</a:t>
            </a:r>
          </a:p>
          <a:p>
            <a:pPr marL="285750" indent="-285750">
              <a:buFontTx/>
              <a:buChar char="-"/>
            </a:pPr>
            <a:r>
              <a:rPr lang="en-US" dirty="0"/>
              <a:t>Valued Scale (weighted, quantified, continuous, ordinal)</a:t>
            </a:r>
          </a:p>
        </p:txBody>
      </p:sp>
      <p:graphicFrame>
        <p:nvGraphicFramePr>
          <p:cNvPr id="9" name="표 8">
            <a:extLst>
              <a:ext uri="{FF2B5EF4-FFF2-40B4-BE49-F238E27FC236}">
                <a16:creationId xmlns:a16="http://schemas.microsoft.com/office/drawing/2014/main" id="{339BC6C8-55A3-46E7-89E8-D41387882578}"/>
              </a:ext>
            </a:extLst>
          </p:cNvPr>
          <p:cNvGraphicFramePr>
            <a:graphicFrameLocks noGrp="1"/>
          </p:cNvGraphicFramePr>
          <p:nvPr>
            <p:extLst>
              <p:ext uri="{D42A27DB-BD31-4B8C-83A1-F6EECF244321}">
                <p14:modId xmlns:p14="http://schemas.microsoft.com/office/powerpoint/2010/main" val="3153465502"/>
              </p:ext>
            </p:extLst>
          </p:nvPr>
        </p:nvGraphicFramePr>
        <p:xfrm>
          <a:off x="4157292" y="3871828"/>
          <a:ext cx="7874495" cy="2894422"/>
        </p:xfrm>
        <a:graphic>
          <a:graphicData uri="http://schemas.openxmlformats.org/drawingml/2006/table">
            <a:tbl>
              <a:tblPr firstRow="1" bandRow="1">
                <a:tableStyleId>{2D5ABB26-0587-4C30-8999-92F81FD0307C}</a:tableStyleId>
              </a:tblPr>
              <a:tblGrid>
                <a:gridCol w="1116044">
                  <a:extLst>
                    <a:ext uri="{9D8B030D-6E8A-4147-A177-3AD203B41FA5}">
                      <a16:colId xmlns:a16="http://schemas.microsoft.com/office/drawing/2014/main" val="3875858300"/>
                    </a:ext>
                  </a:extLst>
                </a:gridCol>
                <a:gridCol w="1145219">
                  <a:extLst>
                    <a:ext uri="{9D8B030D-6E8A-4147-A177-3AD203B41FA5}">
                      <a16:colId xmlns:a16="http://schemas.microsoft.com/office/drawing/2014/main" val="1525574973"/>
                    </a:ext>
                  </a:extLst>
                </a:gridCol>
                <a:gridCol w="2689934">
                  <a:extLst>
                    <a:ext uri="{9D8B030D-6E8A-4147-A177-3AD203B41FA5}">
                      <a16:colId xmlns:a16="http://schemas.microsoft.com/office/drawing/2014/main" val="1527811735"/>
                    </a:ext>
                  </a:extLst>
                </a:gridCol>
                <a:gridCol w="2923298">
                  <a:extLst>
                    <a:ext uri="{9D8B030D-6E8A-4147-A177-3AD203B41FA5}">
                      <a16:colId xmlns:a16="http://schemas.microsoft.com/office/drawing/2014/main" val="2434370896"/>
                    </a:ext>
                  </a:extLst>
                </a:gridCol>
              </a:tblGrid>
              <a:tr h="502331">
                <a:tc rowSpan="2" gridSpan="2">
                  <a:txBody>
                    <a:bodyPr/>
                    <a:lstStyle/>
                    <a:p>
                      <a:pPr algn="ctr"/>
                      <a:endParaRPr lang="en-US" dirty="0">
                        <a:latin typeface="Franklin Gothic Book" panose="020B0503020102020204" pitchFamily="34" charset="0"/>
                      </a:endParaRPr>
                    </a:p>
                  </a:txBody>
                  <a:tcPr anchor="ctr">
                    <a:noFill/>
                  </a:tcPr>
                </a:tc>
                <a:tc rowSpan="2" hMerge="1">
                  <a:txBody>
                    <a:bodyPr/>
                    <a:lstStyle/>
                    <a:p>
                      <a:endParaRPr lang="en-US" dirty="0"/>
                    </a:p>
                  </a:txBody>
                  <a:tcPr/>
                </a:tc>
                <a:tc gridSpan="2">
                  <a:txBody>
                    <a:bodyPr/>
                    <a:lstStyle/>
                    <a:p>
                      <a:pPr algn="ctr"/>
                      <a:r>
                        <a:rPr lang="en-US" b="1" dirty="0">
                          <a:latin typeface="Franklin Gothic Book" panose="020B0503020102020204" pitchFamily="34" charset="0"/>
                        </a:rPr>
                        <a:t>Directionality</a:t>
                      </a:r>
                    </a:p>
                  </a:txBody>
                  <a:tcPr anchor="ctr">
                    <a:solidFill>
                      <a:schemeClr val="accent1">
                        <a:lumMod val="40000"/>
                        <a:lumOff val="60000"/>
                      </a:schemeClr>
                    </a:solidFill>
                  </a:tcPr>
                </a:tc>
                <a:tc hMerge="1">
                  <a:txBody>
                    <a:bodyPr/>
                    <a:lstStyle/>
                    <a:p>
                      <a:endParaRPr lang="en-US" dirty="0"/>
                    </a:p>
                  </a:txBody>
                  <a:tcPr/>
                </a:tc>
                <a:extLst>
                  <a:ext uri="{0D108BD9-81ED-4DB2-BD59-A6C34878D82A}">
                    <a16:rowId xmlns:a16="http://schemas.microsoft.com/office/drawing/2014/main" val="584301536"/>
                  </a:ext>
                </a:extLst>
              </a:tr>
              <a:tr h="502331">
                <a:tc gridSpan="2" vMerge="1">
                  <a:txBody>
                    <a:bodyPr/>
                    <a:lstStyle/>
                    <a:p>
                      <a:endParaRPr lang="en-US" dirty="0"/>
                    </a:p>
                  </a:txBody>
                  <a:tcPr/>
                </a:tc>
                <a:tc hMerge="1" vMerge="1">
                  <a:txBody>
                    <a:bodyPr/>
                    <a:lstStyle/>
                    <a:p>
                      <a:endParaRPr lang="en-US" dirty="0"/>
                    </a:p>
                  </a:txBody>
                  <a:tcPr/>
                </a:tc>
                <a:tc>
                  <a:txBody>
                    <a:bodyPr/>
                    <a:lstStyle/>
                    <a:p>
                      <a:pPr algn="ctr"/>
                      <a:r>
                        <a:rPr lang="en-US" dirty="0">
                          <a:latin typeface="Franklin Gothic Book" panose="020B0503020102020204" pitchFamily="34" charset="0"/>
                        </a:rPr>
                        <a:t>Nondirected</a:t>
                      </a:r>
                    </a:p>
                  </a:txBody>
                  <a:tcPr anchor="ctr">
                    <a:solidFill>
                      <a:schemeClr val="accent4">
                        <a:lumMod val="20000"/>
                        <a:lumOff val="80000"/>
                      </a:schemeClr>
                    </a:solidFill>
                  </a:tcPr>
                </a:tc>
                <a:tc>
                  <a:txBody>
                    <a:bodyPr/>
                    <a:lstStyle/>
                    <a:p>
                      <a:pPr algn="ctr"/>
                      <a:r>
                        <a:rPr lang="en-US" dirty="0">
                          <a:latin typeface="Franklin Gothic Book" panose="020B0503020102020204" pitchFamily="34" charset="0"/>
                        </a:rPr>
                        <a:t>Directed</a:t>
                      </a:r>
                    </a:p>
                  </a:txBody>
                  <a:tcPr anchor="ctr">
                    <a:solidFill>
                      <a:schemeClr val="bg2"/>
                    </a:solidFill>
                  </a:tcPr>
                </a:tc>
                <a:extLst>
                  <a:ext uri="{0D108BD9-81ED-4DB2-BD59-A6C34878D82A}">
                    <a16:rowId xmlns:a16="http://schemas.microsoft.com/office/drawing/2014/main" val="226341038"/>
                  </a:ext>
                </a:extLst>
              </a:tr>
              <a:tr h="502331">
                <a:tc rowSpan="2">
                  <a:txBody>
                    <a:bodyPr/>
                    <a:lstStyle/>
                    <a:p>
                      <a:pPr algn="ctr"/>
                      <a:r>
                        <a:rPr lang="en-US" b="1" dirty="0">
                          <a:latin typeface="Franklin Gothic Book" panose="020B0503020102020204" pitchFamily="34" charset="0"/>
                        </a:rPr>
                        <a:t>Valuation</a:t>
                      </a:r>
                    </a:p>
                  </a:txBody>
                  <a:tcPr anchor="ctr">
                    <a:solidFill>
                      <a:schemeClr val="accent1">
                        <a:lumMod val="40000"/>
                        <a:lumOff val="60000"/>
                      </a:schemeClr>
                    </a:solidFill>
                  </a:tcPr>
                </a:tc>
                <a:tc>
                  <a:txBody>
                    <a:bodyPr/>
                    <a:lstStyle/>
                    <a:p>
                      <a:pPr algn="ctr"/>
                      <a:r>
                        <a:rPr lang="en-US" dirty="0">
                          <a:latin typeface="Franklin Gothic Book" panose="020B0503020102020204" pitchFamily="34" charset="0"/>
                        </a:rPr>
                        <a:t>Binary</a:t>
                      </a:r>
                    </a:p>
                  </a:txBody>
                  <a:tcPr anchor="ctr">
                    <a:solidFill>
                      <a:schemeClr val="accent4">
                        <a:lumMod val="20000"/>
                        <a:lumOff val="80000"/>
                      </a:schemeClr>
                    </a:solidFill>
                  </a:tcPr>
                </a:tc>
                <a:tc>
                  <a:txBody>
                    <a:bodyPr/>
                    <a:lstStyle/>
                    <a:p>
                      <a:pPr algn="l"/>
                      <a:r>
                        <a:rPr lang="en-US" sz="1600" dirty="0">
                          <a:latin typeface="Franklin Gothic Book" panose="020B0503020102020204" pitchFamily="34" charset="0"/>
                        </a:rPr>
                        <a:t>Demand least information from informants. Require one member of a dyad to indicate presence of a tie</a:t>
                      </a:r>
                    </a:p>
                  </a:txBody>
                  <a:tcPr/>
                </a:tc>
                <a:tc>
                  <a:txBody>
                    <a:bodyPr/>
                    <a:lstStyle/>
                    <a:p>
                      <a:pPr algn="l"/>
                      <a:r>
                        <a:rPr lang="en-US" sz="1600" dirty="0">
                          <a:latin typeface="Franklin Gothic Book" panose="020B0503020102020204" pitchFamily="34" charset="0"/>
                        </a:rPr>
                        <a:t>Require both persons to mention the presence of a tie</a:t>
                      </a:r>
                    </a:p>
                  </a:txBody>
                  <a:tcPr/>
                </a:tc>
                <a:extLst>
                  <a:ext uri="{0D108BD9-81ED-4DB2-BD59-A6C34878D82A}">
                    <a16:rowId xmlns:a16="http://schemas.microsoft.com/office/drawing/2014/main" val="1469602135"/>
                  </a:ext>
                </a:extLst>
              </a:tr>
              <a:tr h="502331">
                <a:tc vMerge="1">
                  <a:txBody>
                    <a:bodyPr/>
                    <a:lstStyle/>
                    <a:p>
                      <a:endParaRPr lang="en-US" dirty="0"/>
                    </a:p>
                  </a:txBody>
                  <a:tcPr/>
                </a:tc>
                <a:tc>
                  <a:txBody>
                    <a:bodyPr/>
                    <a:lstStyle/>
                    <a:p>
                      <a:pPr algn="ctr"/>
                      <a:r>
                        <a:rPr lang="en-US" dirty="0">
                          <a:latin typeface="Franklin Gothic Book" panose="020B0503020102020204" pitchFamily="34" charset="0"/>
                        </a:rPr>
                        <a:t>Valued Scale</a:t>
                      </a:r>
                    </a:p>
                  </a:txBody>
                  <a:tcPr anchor="ctr">
                    <a:solidFill>
                      <a:schemeClr val="bg2"/>
                    </a:solidFill>
                  </a:tcPr>
                </a:tc>
                <a:tc>
                  <a:txBody>
                    <a:bodyPr/>
                    <a:lstStyle/>
                    <a:p>
                      <a:pPr algn="l"/>
                      <a:r>
                        <a:rPr lang="en-US" sz="1600" dirty="0">
                          <a:latin typeface="Franklin Gothic Book" panose="020B0503020102020204" pitchFamily="34" charset="0"/>
                        </a:rPr>
                        <a:t>Require one person to quantify the relation between both members</a:t>
                      </a:r>
                    </a:p>
                  </a:txBody>
                  <a:tcPr/>
                </a:tc>
                <a:tc>
                  <a:txBody>
                    <a:bodyPr/>
                    <a:lstStyle/>
                    <a:p>
                      <a:pPr algn="l"/>
                      <a:r>
                        <a:rPr lang="en-US" sz="1600" dirty="0">
                          <a:latin typeface="Franklin Gothic Book" panose="020B0503020102020204" pitchFamily="34" charset="0"/>
                        </a:rPr>
                        <a:t>Need the most information. Two reports of the magnitude of dyadic relations.</a:t>
                      </a:r>
                    </a:p>
                  </a:txBody>
                  <a:tcPr/>
                </a:tc>
                <a:extLst>
                  <a:ext uri="{0D108BD9-81ED-4DB2-BD59-A6C34878D82A}">
                    <a16:rowId xmlns:a16="http://schemas.microsoft.com/office/drawing/2014/main" val="2963852423"/>
                  </a:ext>
                </a:extLst>
              </a:tr>
            </a:tbl>
          </a:graphicData>
        </a:graphic>
      </p:graphicFrame>
    </p:spTree>
    <p:extLst>
      <p:ext uri="{BB962C8B-B14F-4D97-AF65-F5344CB8AC3E}">
        <p14:creationId xmlns:p14="http://schemas.microsoft.com/office/powerpoint/2010/main" val="2854915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10515600" cy="1325563"/>
          </a:xfrm>
        </p:spPr>
        <p:txBody>
          <a:bodyPr/>
          <a:lstStyle/>
          <a:p>
            <a:r>
              <a:rPr lang="en-US" dirty="0">
                <a:latin typeface="Franklin Gothic Book" panose="020B0503020102020204" pitchFamily="34" charset="0"/>
              </a:rPr>
              <a:t>2. Relationship Measures</a:t>
            </a:r>
            <a:endParaRPr lang="en-US" sz="3200" b="1" dirty="0">
              <a:latin typeface="Franklin Gothic Book" panose="020B0503020102020204" pitchFamily="34" charset="0"/>
            </a:endParaRPr>
          </a:p>
        </p:txBody>
      </p:sp>
      <p:sp>
        <p:nvSpPr>
          <p:cNvPr id="4" name="직사각형 3">
            <a:extLst>
              <a:ext uri="{FF2B5EF4-FFF2-40B4-BE49-F238E27FC236}">
                <a16:creationId xmlns:a16="http://schemas.microsoft.com/office/drawing/2014/main" id="{5AD62888-7216-4DFD-973F-6EBBEF5B6819}"/>
              </a:ext>
            </a:extLst>
          </p:cNvPr>
          <p:cNvSpPr/>
          <p:nvPr/>
        </p:nvSpPr>
        <p:spPr>
          <a:xfrm>
            <a:off x="254413" y="1243673"/>
            <a:ext cx="3092193" cy="369332"/>
          </a:xfrm>
          <a:prstGeom prst="rect">
            <a:avLst/>
          </a:prstGeom>
        </p:spPr>
        <p:txBody>
          <a:bodyPr wrap="none">
            <a:spAutoFit/>
          </a:bodyPr>
          <a:lstStyle/>
          <a:p>
            <a:r>
              <a:rPr lang="en-US" b="1" dirty="0">
                <a:latin typeface="Franklin Gothic Book" panose="020B0503020102020204" pitchFamily="34" charset="0"/>
              </a:rPr>
              <a:t>Egocentric Network Measures</a:t>
            </a:r>
            <a:endParaRPr lang="en-US" dirty="0"/>
          </a:p>
        </p:txBody>
      </p:sp>
      <p:sp>
        <p:nvSpPr>
          <p:cNvPr id="10" name="직사각형 9">
            <a:extLst>
              <a:ext uri="{FF2B5EF4-FFF2-40B4-BE49-F238E27FC236}">
                <a16:creationId xmlns:a16="http://schemas.microsoft.com/office/drawing/2014/main" id="{A5B435D2-B825-4067-BF41-73AD3C97627D}"/>
              </a:ext>
            </a:extLst>
          </p:cNvPr>
          <p:cNvSpPr/>
          <p:nvPr/>
        </p:nvSpPr>
        <p:spPr>
          <a:xfrm>
            <a:off x="618776" y="1850720"/>
            <a:ext cx="1181734" cy="338554"/>
          </a:xfrm>
          <a:prstGeom prst="rect">
            <a:avLst/>
          </a:prstGeom>
        </p:spPr>
        <p:txBody>
          <a:bodyPr wrap="none">
            <a:spAutoFit/>
          </a:bodyPr>
          <a:lstStyle/>
          <a:p>
            <a:r>
              <a:rPr lang="en-US" sz="1600" b="1" dirty="0">
                <a:latin typeface="Franklin Gothic Book" panose="020B0503020102020204" pitchFamily="34" charset="0"/>
              </a:rPr>
              <a:t>Density (</a:t>
            </a:r>
            <a:r>
              <a:rPr lang="en-US" sz="1600" b="1" i="1" dirty="0">
                <a:latin typeface="Franklin Gothic Book" panose="020B0503020102020204" pitchFamily="34" charset="0"/>
              </a:rPr>
              <a:t>D</a:t>
            </a:r>
            <a:r>
              <a:rPr lang="en-US" sz="1600" b="1" dirty="0">
                <a:latin typeface="Franklin Gothic Book" panose="020B0503020102020204" pitchFamily="34" charset="0"/>
              </a:rPr>
              <a:t>) </a:t>
            </a:r>
            <a:endParaRPr lang="en-US" sz="1600" dirty="0"/>
          </a:p>
        </p:txBody>
      </p:sp>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B89D3E80-6410-4366-88BE-B587C5139614}"/>
                  </a:ext>
                </a:extLst>
              </p:cNvPr>
              <p:cNvSpPr/>
              <p:nvPr/>
            </p:nvSpPr>
            <p:spPr>
              <a:xfrm>
                <a:off x="2014716" y="1838574"/>
                <a:ext cx="4900989" cy="2062103"/>
              </a:xfrm>
              <a:prstGeom prst="rect">
                <a:avLst/>
              </a:prstGeom>
            </p:spPr>
            <p:txBody>
              <a:bodyPr wrap="square">
                <a:spAutoFit/>
              </a:bodyPr>
              <a:lstStyle/>
              <a:p>
                <a:r>
                  <a:rPr lang="en-US" sz="1600" dirty="0">
                    <a:latin typeface="Franklin Gothic Book" panose="020B0503020102020204" pitchFamily="34" charset="0"/>
                  </a:rPr>
                  <a:t>Measures the extent to which the N alters in an egocentric network are connected by dyadic ties (</a:t>
                </a:r>
                <a:r>
                  <a:rPr lang="en-US" sz="1600" i="1" dirty="0">
                    <a:latin typeface="Franklin Gothic Book" panose="020B0503020102020204" pitchFamily="34" charset="0"/>
                  </a:rPr>
                  <a:t>L</a:t>
                </a:r>
                <a:r>
                  <a:rPr lang="en-US" sz="1600" dirty="0">
                    <a:latin typeface="Franklin Gothic Book" panose="020B0503020102020204" pitchFamily="34" charset="0"/>
                  </a:rPr>
                  <a:t> or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𝐿</m:t>
                        </m:r>
                      </m:e>
                      <m:sub>
                        <m:r>
                          <a:rPr lang="en-US" sz="1600" i="1">
                            <a:latin typeface="Cambria Math" panose="02040503050406030204" pitchFamily="18" charset="0"/>
                          </a:rPr>
                          <m:t>𝑤</m:t>
                        </m:r>
                      </m:sub>
                    </m:sSub>
                  </m:oMath>
                </a14:m>
                <a:r>
                  <a:rPr lang="en-US" sz="1600" dirty="0">
                    <a:latin typeface="Franklin Gothic Book" panose="020B0503020102020204" pitchFamily="34" charset="0"/>
                  </a:rPr>
                  <a:t>) among themselves (omitting ego).</a:t>
                </a:r>
              </a:p>
              <a:p>
                <a:endParaRPr lang="en-US" sz="1600" dirty="0">
                  <a:latin typeface="Franklin Gothic Book" panose="020B0503020102020204" pitchFamily="34" charset="0"/>
                </a:endParaRPr>
              </a:p>
              <a:p>
                <a:r>
                  <a:rPr lang="en-US" sz="1600" dirty="0">
                    <a:latin typeface="Franklin Gothic Book" panose="020B0503020102020204" pitchFamily="34" charset="0"/>
                  </a:rPr>
                  <a:t>It ranges between 0 to 1. 0 indicates no alter is connected to any other member of ego’s network, and 1 indicates that all the alters connected to ego is related to every one another.</a:t>
                </a:r>
                <a:endParaRPr lang="en-US" sz="1600" dirty="0"/>
              </a:p>
            </p:txBody>
          </p:sp>
        </mc:Choice>
        <mc:Fallback xmlns="">
          <p:sp>
            <p:nvSpPr>
              <p:cNvPr id="11" name="직사각형 10">
                <a:extLst>
                  <a:ext uri="{FF2B5EF4-FFF2-40B4-BE49-F238E27FC236}">
                    <a16:creationId xmlns:a16="http://schemas.microsoft.com/office/drawing/2014/main" id="{B89D3E80-6410-4366-88BE-B587C5139614}"/>
                  </a:ext>
                </a:extLst>
              </p:cNvPr>
              <p:cNvSpPr>
                <a:spLocks noRot="1" noChangeAspect="1" noMove="1" noResize="1" noEditPoints="1" noAdjustHandles="1" noChangeArrowheads="1" noChangeShapeType="1" noTextEdit="1"/>
              </p:cNvSpPr>
              <p:nvPr/>
            </p:nvSpPr>
            <p:spPr>
              <a:xfrm>
                <a:off x="2014716" y="1838574"/>
                <a:ext cx="4900989" cy="2062103"/>
              </a:xfrm>
              <a:prstGeom prst="rect">
                <a:avLst/>
              </a:prstGeom>
              <a:blipFill>
                <a:blip r:embed="rId2"/>
                <a:stretch>
                  <a:fillRect l="-622" t="-888" b="-2663"/>
                </a:stretch>
              </a:blipFill>
            </p:spPr>
            <p:txBody>
              <a:bodyPr/>
              <a:lstStyle/>
              <a:p>
                <a:r>
                  <a:rPr lang="en-US">
                    <a:noFill/>
                  </a:rPr>
                  <a:t> </a:t>
                </a:r>
              </a:p>
            </p:txBody>
          </p:sp>
        </mc:Fallback>
      </mc:AlternateContent>
      <p:grpSp>
        <p:nvGrpSpPr>
          <p:cNvPr id="16" name="그룹 15">
            <a:extLst>
              <a:ext uri="{FF2B5EF4-FFF2-40B4-BE49-F238E27FC236}">
                <a16:creationId xmlns:a16="http://schemas.microsoft.com/office/drawing/2014/main" id="{50C07376-C00E-4615-87B0-1917AF16923B}"/>
              </a:ext>
            </a:extLst>
          </p:cNvPr>
          <p:cNvGrpSpPr/>
          <p:nvPr/>
        </p:nvGrpSpPr>
        <p:grpSpPr>
          <a:xfrm>
            <a:off x="7322655" y="1755145"/>
            <a:ext cx="4662238" cy="1975924"/>
            <a:chOff x="6789998" y="2257767"/>
            <a:chExt cx="4959349" cy="2101843"/>
          </a:xfrm>
        </p:grpSpPr>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E17FB43A-0322-45FD-86B3-3C132E201ECF}"/>
                    </a:ext>
                  </a:extLst>
                </p:cNvPr>
                <p:cNvSpPr/>
                <p:nvPr/>
              </p:nvSpPr>
              <p:spPr>
                <a:xfrm>
                  <a:off x="6789998" y="2257767"/>
                  <a:ext cx="4851787" cy="544219"/>
                </a:xfrm>
                <a:prstGeom prst="rect">
                  <a:avLst/>
                </a:prstGeom>
              </p:spPr>
              <p:txBody>
                <a:bodyPr wrap="none">
                  <a:spAutoFit/>
                </a:bodyPr>
                <a:lstStyle/>
                <a:p>
                  <a:r>
                    <a:rPr lang="en-US" sz="1400" b="1" dirty="0"/>
                    <a:t>If binary nondirected</a:t>
                  </a:r>
                  <a:r>
                    <a:rPr lang="en-US" sz="1600" b="1" dirty="0"/>
                    <a:t>: </a:t>
                  </a:r>
                  <a14:m>
                    <m:oMath xmlns:m="http://schemas.openxmlformats.org/officeDocument/2006/math">
                      <m:r>
                        <a:rPr lang="en-US" sz="1600" b="1" i="1" smtClean="0">
                          <a:latin typeface="Cambria Math" panose="02040503050406030204" pitchFamily="18" charset="0"/>
                        </a:rPr>
                        <m:t>𝑫</m:t>
                      </m:r>
                      <m:r>
                        <a:rPr lang="en-US" sz="1600" b="1" i="1" smtClean="0">
                          <a:latin typeface="Cambria Math" panose="02040503050406030204" pitchFamily="18" charset="0"/>
                        </a:rPr>
                        <m:t>=</m:t>
                      </m:r>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𝑳</m:t>
                          </m:r>
                        </m:num>
                        <m:den>
                          <m:d>
                            <m:dPr>
                              <m:ctrlPr>
                                <a:rPr lang="en-US" sz="1600" b="1" i="1" smtClean="0">
                                  <a:latin typeface="Cambria Math" panose="02040503050406030204" pitchFamily="18" charset="0"/>
                                </a:rPr>
                              </m:ctrlPr>
                            </m:dPr>
                            <m:e>
                              <m:f>
                                <m:fPr>
                                  <m:type m:val="noBar"/>
                                  <m:ctrlPr>
                                    <a:rPr lang="en-US" sz="1600" b="1" i="1" smtClean="0">
                                      <a:latin typeface="Cambria Math" panose="02040503050406030204" pitchFamily="18" charset="0"/>
                                    </a:rPr>
                                  </m:ctrlPr>
                                </m:fPr>
                                <m:num>
                                  <m:r>
                                    <a:rPr lang="en-US" sz="1600" b="1" i="1" smtClean="0">
                                      <a:latin typeface="Cambria Math" panose="02040503050406030204" pitchFamily="18" charset="0"/>
                                    </a:rPr>
                                    <m:t>𝟐</m:t>
                                  </m:r>
                                </m:num>
                                <m:den>
                                  <m:r>
                                    <a:rPr lang="en-US" sz="1600" b="1" i="1" smtClean="0">
                                      <a:latin typeface="Cambria Math" panose="02040503050406030204" pitchFamily="18" charset="0"/>
                                    </a:rPr>
                                    <m:t>𝑵</m:t>
                                  </m:r>
                                </m:den>
                              </m:f>
                            </m:e>
                          </m:d>
                        </m:den>
                      </m:f>
                    </m:oMath>
                  </a14:m>
                  <a:r>
                    <a:rPr lang="en-US" sz="1600" b="1" i="1" dirty="0"/>
                    <a:t>      , </a:t>
                  </a:r>
                  <a:r>
                    <a:rPr lang="en-US" sz="1400" b="1" i="1" dirty="0"/>
                    <a:t>where </a:t>
                  </a:r>
                  <a14:m>
                    <m:oMath xmlns:m="http://schemas.openxmlformats.org/officeDocument/2006/math">
                      <m:d>
                        <m:dPr>
                          <m:ctrlPr>
                            <a:rPr lang="en-US" sz="1400" b="1" i="1">
                              <a:latin typeface="Cambria Math" panose="02040503050406030204" pitchFamily="18" charset="0"/>
                            </a:rPr>
                          </m:ctrlPr>
                        </m:dPr>
                        <m:e>
                          <m:f>
                            <m:fPr>
                              <m:type m:val="noBar"/>
                              <m:ctrlPr>
                                <a:rPr lang="en-US" sz="1400" b="1" i="1">
                                  <a:latin typeface="Cambria Math" panose="02040503050406030204" pitchFamily="18" charset="0"/>
                                </a:rPr>
                              </m:ctrlPr>
                            </m:fPr>
                            <m:num>
                              <m:r>
                                <a:rPr lang="en-US" sz="1400" b="1" i="1">
                                  <a:latin typeface="Cambria Math" panose="02040503050406030204" pitchFamily="18" charset="0"/>
                                </a:rPr>
                                <m:t>𝟐</m:t>
                              </m:r>
                            </m:num>
                            <m:den>
                              <m:r>
                                <a:rPr lang="en-US" sz="1400" b="1" i="1">
                                  <a:latin typeface="Cambria Math" panose="02040503050406030204" pitchFamily="18" charset="0"/>
                                </a:rPr>
                                <m:t>𝑵</m:t>
                              </m:r>
                            </m:den>
                          </m:f>
                        </m:e>
                      </m:d>
                    </m:oMath>
                  </a14:m>
                  <a:r>
                    <a:rPr lang="en-US" sz="1600" b="1" i="1" dirty="0"/>
                    <a:t> = </a:t>
                  </a:r>
                  <a14:m>
                    <m:oMath xmlns:m="http://schemas.openxmlformats.org/officeDocument/2006/math">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𝑵</m:t>
                          </m:r>
                          <m:r>
                            <a:rPr lang="en-US" sz="1600" b="1" i="1" smtClean="0">
                              <a:latin typeface="Cambria Math" panose="02040503050406030204" pitchFamily="18" charset="0"/>
                            </a:rPr>
                            <m:t>!</m:t>
                          </m:r>
                        </m:num>
                        <m:den>
                          <m:r>
                            <a:rPr lang="en-US" sz="1600" b="1" i="1" smtClean="0">
                              <a:latin typeface="Cambria Math" panose="02040503050406030204" pitchFamily="18" charset="0"/>
                            </a:rPr>
                            <m:t>𝟐</m:t>
                          </m:r>
                          <m:r>
                            <a:rPr lang="en-US" sz="1600" b="1" i="1" smtClean="0">
                              <a:latin typeface="Cambria Math" panose="02040503050406030204" pitchFamily="18" charset="0"/>
                            </a:rPr>
                            <m:t>!×</m:t>
                          </m:r>
                          <m:d>
                            <m:dPr>
                              <m:ctrlPr>
                                <a:rPr lang="en-US" sz="1600" b="1" i="1" smtClean="0">
                                  <a:latin typeface="Cambria Math" panose="02040503050406030204" pitchFamily="18" charset="0"/>
                                  <a:ea typeface="Cambria Math" panose="02040503050406030204" pitchFamily="18" charset="0"/>
                                </a:rPr>
                              </m:ctrlPr>
                            </m:dPr>
                            <m:e>
                              <m:r>
                                <a:rPr lang="en-US" sz="1600" b="1" i="1" smtClean="0">
                                  <a:latin typeface="Cambria Math" panose="02040503050406030204" pitchFamily="18" charset="0"/>
                                  <a:ea typeface="Cambria Math" panose="02040503050406030204" pitchFamily="18" charset="0"/>
                                </a:rPr>
                                <m:t>𝑵</m:t>
                              </m:r>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𝟐</m:t>
                              </m:r>
                            </m:e>
                          </m:d>
                          <m:r>
                            <a:rPr lang="en-US" sz="1600" b="1" i="1" smtClean="0">
                              <a:latin typeface="Cambria Math" panose="02040503050406030204" pitchFamily="18" charset="0"/>
                              <a:ea typeface="Cambria Math" panose="02040503050406030204" pitchFamily="18" charset="0"/>
                            </a:rPr>
                            <m:t>!</m:t>
                          </m:r>
                        </m:den>
                      </m:f>
                    </m:oMath>
                  </a14:m>
                  <a:endParaRPr lang="en-US" sz="1600" b="1" i="1" dirty="0"/>
                </a:p>
              </p:txBody>
            </p:sp>
          </mc:Choice>
          <mc:Fallback xmlns="">
            <p:sp>
              <p:nvSpPr>
                <p:cNvPr id="12" name="직사각형 11">
                  <a:extLst>
                    <a:ext uri="{FF2B5EF4-FFF2-40B4-BE49-F238E27FC236}">
                      <a16:creationId xmlns:a16="http://schemas.microsoft.com/office/drawing/2014/main" id="{E17FB43A-0322-45FD-86B3-3C132E201ECF}"/>
                    </a:ext>
                  </a:extLst>
                </p:cNvPr>
                <p:cNvSpPr>
                  <a:spLocks noRot="1" noChangeAspect="1" noMove="1" noResize="1" noEditPoints="1" noAdjustHandles="1" noChangeArrowheads="1" noChangeShapeType="1" noTextEdit="1"/>
                </p:cNvSpPr>
                <p:nvPr/>
              </p:nvSpPr>
              <p:spPr>
                <a:xfrm>
                  <a:off x="6789998" y="2257767"/>
                  <a:ext cx="4851787" cy="544219"/>
                </a:xfrm>
                <a:prstGeom prst="rect">
                  <a:avLst/>
                </a:prstGeom>
                <a:blipFill>
                  <a:blip r:embed="rId3"/>
                  <a:stretch>
                    <a:fillRect l="-4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직사각형 12">
                  <a:extLst>
                    <a:ext uri="{FF2B5EF4-FFF2-40B4-BE49-F238E27FC236}">
                      <a16:creationId xmlns:a16="http://schemas.microsoft.com/office/drawing/2014/main" id="{FCC069C5-B29F-429C-86B8-E8C854CF5818}"/>
                    </a:ext>
                  </a:extLst>
                </p:cNvPr>
                <p:cNvSpPr/>
                <p:nvPr/>
              </p:nvSpPr>
              <p:spPr>
                <a:xfrm>
                  <a:off x="6789998" y="2776975"/>
                  <a:ext cx="4790401" cy="544219"/>
                </a:xfrm>
                <a:prstGeom prst="rect">
                  <a:avLst/>
                </a:prstGeom>
              </p:spPr>
              <p:txBody>
                <a:bodyPr wrap="none">
                  <a:spAutoFit/>
                </a:bodyPr>
                <a:lstStyle/>
                <a:p>
                  <a:r>
                    <a:rPr lang="en-US" sz="1400" b="1" dirty="0"/>
                    <a:t>If binary directed</a:t>
                  </a:r>
                  <a:r>
                    <a:rPr lang="en-US" sz="1600" b="1" dirty="0"/>
                    <a:t>: </a:t>
                  </a:r>
                  <a14:m>
                    <m:oMath xmlns:m="http://schemas.openxmlformats.org/officeDocument/2006/math">
                      <m:r>
                        <a:rPr lang="en-US" sz="1600" b="1" i="1" smtClean="0">
                          <a:latin typeface="Cambria Math" panose="02040503050406030204" pitchFamily="18" charset="0"/>
                        </a:rPr>
                        <m:t>𝑫</m:t>
                      </m:r>
                      <m:r>
                        <a:rPr lang="en-US" sz="1600" b="1" i="1" smtClean="0">
                          <a:latin typeface="Cambria Math" panose="02040503050406030204" pitchFamily="18" charset="0"/>
                        </a:rPr>
                        <m:t>=</m:t>
                      </m:r>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𝑳</m:t>
                          </m:r>
                        </m:num>
                        <m:den>
                          <m:r>
                            <a:rPr lang="en-US" sz="1600" b="1" i="1" smtClean="0">
                              <a:latin typeface="Cambria Math" panose="02040503050406030204" pitchFamily="18" charset="0"/>
                            </a:rPr>
                            <m:t>𝟐</m:t>
                          </m:r>
                          <m:r>
                            <a:rPr lang="en-US" sz="1600" b="1" i="1" smtClean="0">
                              <a:latin typeface="Cambria Math" panose="02040503050406030204" pitchFamily="18" charset="0"/>
                            </a:rPr>
                            <m:t> ×</m:t>
                          </m:r>
                          <m:d>
                            <m:dPr>
                              <m:ctrlPr>
                                <a:rPr lang="en-US" sz="1600" b="1" i="1" smtClean="0">
                                  <a:latin typeface="Cambria Math" panose="02040503050406030204" pitchFamily="18" charset="0"/>
                                </a:rPr>
                              </m:ctrlPr>
                            </m:dPr>
                            <m:e>
                              <m:f>
                                <m:fPr>
                                  <m:type m:val="noBar"/>
                                  <m:ctrlPr>
                                    <a:rPr lang="en-US" sz="1600" b="1" i="1" smtClean="0">
                                      <a:latin typeface="Cambria Math" panose="02040503050406030204" pitchFamily="18" charset="0"/>
                                    </a:rPr>
                                  </m:ctrlPr>
                                </m:fPr>
                                <m:num>
                                  <m:r>
                                    <a:rPr lang="en-US" sz="1600" b="1" i="1" smtClean="0">
                                      <a:latin typeface="Cambria Math" panose="02040503050406030204" pitchFamily="18" charset="0"/>
                                    </a:rPr>
                                    <m:t>𝟐</m:t>
                                  </m:r>
                                </m:num>
                                <m:den>
                                  <m:r>
                                    <a:rPr lang="en-US" sz="1600" b="1" i="1" smtClean="0">
                                      <a:latin typeface="Cambria Math" panose="02040503050406030204" pitchFamily="18" charset="0"/>
                                    </a:rPr>
                                    <m:t>𝑵</m:t>
                                  </m:r>
                                </m:den>
                              </m:f>
                            </m:e>
                          </m:d>
                        </m:den>
                      </m:f>
                    </m:oMath>
                  </a14:m>
                  <a:r>
                    <a:rPr lang="en-US" sz="1600" b="1" i="1" dirty="0"/>
                    <a:t>      , </a:t>
                  </a:r>
                  <a:r>
                    <a:rPr lang="en-US" sz="1400" b="1" i="1" dirty="0"/>
                    <a:t>where </a:t>
                  </a:r>
                  <a14:m>
                    <m:oMath xmlns:m="http://schemas.openxmlformats.org/officeDocument/2006/math">
                      <m:d>
                        <m:dPr>
                          <m:ctrlPr>
                            <a:rPr lang="en-US" sz="1400" b="1" i="1">
                              <a:latin typeface="Cambria Math" panose="02040503050406030204" pitchFamily="18" charset="0"/>
                            </a:rPr>
                          </m:ctrlPr>
                        </m:dPr>
                        <m:e>
                          <m:f>
                            <m:fPr>
                              <m:type m:val="noBar"/>
                              <m:ctrlPr>
                                <a:rPr lang="en-US" sz="1400" b="1" i="1">
                                  <a:latin typeface="Cambria Math" panose="02040503050406030204" pitchFamily="18" charset="0"/>
                                </a:rPr>
                              </m:ctrlPr>
                            </m:fPr>
                            <m:num>
                              <m:r>
                                <a:rPr lang="en-US" sz="1400" b="1" i="1">
                                  <a:latin typeface="Cambria Math" panose="02040503050406030204" pitchFamily="18" charset="0"/>
                                </a:rPr>
                                <m:t>𝟐</m:t>
                              </m:r>
                            </m:num>
                            <m:den>
                              <m:r>
                                <a:rPr lang="en-US" sz="1400" b="1" i="1">
                                  <a:latin typeface="Cambria Math" panose="02040503050406030204" pitchFamily="18" charset="0"/>
                                </a:rPr>
                                <m:t>𝑵</m:t>
                              </m:r>
                            </m:den>
                          </m:f>
                        </m:e>
                      </m:d>
                    </m:oMath>
                  </a14:m>
                  <a:r>
                    <a:rPr lang="en-US" sz="1600" b="1" i="1" dirty="0"/>
                    <a:t> = </a:t>
                  </a:r>
                  <a14:m>
                    <m:oMath xmlns:m="http://schemas.openxmlformats.org/officeDocument/2006/math">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𝑵</m:t>
                          </m:r>
                          <m:r>
                            <a:rPr lang="en-US" sz="1600" b="1" i="1" smtClean="0">
                              <a:latin typeface="Cambria Math" panose="02040503050406030204" pitchFamily="18" charset="0"/>
                            </a:rPr>
                            <m:t>!</m:t>
                          </m:r>
                        </m:num>
                        <m:den>
                          <m:r>
                            <a:rPr lang="en-US" sz="1600" b="1" i="1" smtClean="0">
                              <a:latin typeface="Cambria Math" panose="02040503050406030204" pitchFamily="18" charset="0"/>
                            </a:rPr>
                            <m:t>𝟐</m:t>
                          </m:r>
                          <m:r>
                            <a:rPr lang="en-US" sz="1600" b="1" i="1" smtClean="0">
                              <a:latin typeface="Cambria Math" panose="02040503050406030204" pitchFamily="18" charset="0"/>
                            </a:rPr>
                            <m:t>!×</m:t>
                          </m:r>
                          <m:d>
                            <m:dPr>
                              <m:ctrlPr>
                                <a:rPr lang="en-US" sz="1600" b="1" i="1" smtClean="0">
                                  <a:latin typeface="Cambria Math" panose="02040503050406030204" pitchFamily="18" charset="0"/>
                                  <a:ea typeface="Cambria Math" panose="02040503050406030204" pitchFamily="18" charset="0"/>
                                </a:rPr>
                              </m:ctrlPr>
                            </m:dPr>
                            <m:e>
                              <m:r>
                                <a:rPr lang="en-US" sz="1600" b="1" i="1" smtClean="0">
                                  <a:latin typeface="Cambria Math" panose="02040503050406030204" pitchFamily="18" charset="0"/>
                                  <a:ea typeface="Cambria Math" panose="02040503050406030204" pitchFamily="18" charset="0"/>
                                </a:rPr>
                                <m:t>𝑵</m:t>
                              </m:r>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𝟐</m:t>
                              </m:r>
                            </m:e>
                          </m:d>
                          <m:r>
                            <a:rPr lang="en-US" sz="1600" b="1" i="1" smtClean="0">
                              <a:latin typeface="Cambria Math" panose="02040503050406030204" pitchFamily="18" charset="0"/>
                              <a:ea typeface="Cambria Math" panose="02040503050406030204" pitchFamily="18" charset="0"/>
                            </a:rPr>
                            <m:t>!</m:t>
                          </m:r>
                        </m:den>
                      </m:f>
                    </m:oMath>
                  </a14:m>
                  <a:endParaRPr lang="en-US" sz="1600" b="1" i="1" dirty="0"/>
                </a:p>
              </p:txBody>
            </p:sp>
          </mc:Choice>
          <mc:Fallback xmlns="">
            <p:sp>
              <p:nvSpPr>
                <p:cNvPr id="13" name="직사각형 12">
                  <a:extLst>
                    <a:ext uri="{FF2B5EF4-FFF2-40B4-BE49-F238E27FC236}">
                      <a16:creationId xmlns:a16="http://schemas.microsoft.com/office/drawing/2014/main" id="{FCC069C5-B29F-429C-86B8-E8C854CF5818}"/>
                    </a:ext>
                  </a:extLst>
                </p:cNvPr>
                <p:cNvSpPr>
                  <a:spLocks noRot="1" noChangeAspect="1" noMove="1" noResize="1" noEditPoints="1" noAdjustHandles="1" noChangeArrowheads="1" noChangeShapeType="1" noTextEdit="1"/>
                </p:cNvSpPr>
                <p:nvPr/>
              </p:nvSpPr>
              <p:spPr>
                <a:xfrm>
                  <a:off x="6789998" y="2776975"/>
                  <a:ext cx="4790401" cy="544219"/>
                </a:xfrm>
                <a:prstGeom prst="rect">
                  <a:avLst/>
                </a:prstGeom>
                <a:blipFill>
                  <a:blip r:embed="rId4"/>
                  <a:stretch>
                    <a:fillRect l="-4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직사각형 13">
                  <a:extLst>
                    <a:ext uri="{FF2B5EF4-FFF2-40B4-BE49-F238E27FC236}">
                      <a16:creationId xmlns:a16="http://schemas.microsoft.com/office/drawing/2014/main" id="{00D8E022-49B9-4FAE-83D9-84CB2775A292}"/>
                    </a:ext>
                  </a:extLst>
                </p:cNvPr>
                <p:cNvSpPr/>
                <p:nvPr/>
              </p:nvSpPr>
              <p:spPr>
                <a:xfrm>
                  <a:off x="6789998" y="3815391"/>
                  <a:ext cx="4959349" cy="544219"/>
                </a:xfrm>
                <a:prstGeom prst="rect">
                  <a:avLst/>
                </a:prstGeom>
              </p:spPr>
              <p:txBody>
                <a:bodyPr wrap="square">
                  <a:spAutoFit/>
                </a:bodyPr>
                <a:lstStyle/>
                <a:p>
                  <a:r>
                    <a:rPr lang="en-US" sz="1400" b="1" dirty="0"/>
                    <a:t>If valued directed</a:t>
                  </a:r>
                  <a:r>
                    <a:rPr lang="en-US" sz="1600" b="1" dirty="0"/>
                    <a:t>: </a:t>
                  </a:r>
                  <a14:m>
                    <m:oMath xmlns:m="http://schemas.openxmlformats.org/officeDocument/2006/math">
                      <m:r>
                        <a:rPr lang="en-US" sz="1600" b="1" i="1" smtClean="0">
                          <a:latin typeface="Cambria Math" panose="02040503050406030204" pitchFamily="18" charset="0"/>
                        </a:rPr>
                        <m:t>𝑫</m:t>
                      </m:r>
                      <m:r>
                        <a:rPr lang="en-US" sz="1600" b="1" i="1" smtClean="0">
                          <a:latin typeface="Cambria Math" panose="02040503050406030204" pitchFamily="18" charset="0"/>
                        </a:rPr>
                        <m:t>=</m:t>
                      </m:r>
                      <m:f>
                        <m:fPr>
                          <m:ctrlPr>
                            <a:rPr lang="en-US" sz="1600" b="1" i="1" smtClean="0">
                              <a:latin typeface="Cambria Math" panose="02040503050406030204" pitchFamily="18" charset="0"/>
                            </a:rPr>
                          </m:ctrlPr>
                        </m:fPr>
                        <m:num>
                          <m:sSub>
                            <m:sSubPr>
                              <m:ctrlPr>
                                <a:rPr lang="en-US" sz="1600" b="1" i="1">
                                  <a:latin typeface="Cambria Math" panose="02040503050406030204" pitchFamily="18" charset="0"/>
                                </a:rPr>
                              </m:ctrlPr>
                            </m:sSubPr>
                            <m:e>
                              <m:r>
                                <a:rPr lang="en-US" sz="1600" b="1" i="1">
                                  <a:latin typeface="Cambria Math" panose="02040503050406030204" pitchFamily="18" charset="0"/>
                                </a:rPr>
                                <m:t>𝑳</m:t>
                              </m:r>
                            </m:e>
                            <m:sub>
                              <m:r>
                                <a:rPr lang="en-US" sz="1600" b="1" i="1">
                                  <a:latin typeface="Cambria Math" panose="02040503050406030204" pitchFamily="18" charset="0"/>
                                </a:rPr>
                                <m:t>𝒘</m:t>
                              </m:r>
                            </m:sub>
                          </m:sSub>
                        </m:num>
                        <m:den>
                          <m:r>
                            <a:rPr lang="en-US" sz="1600" b="1" i="1" smtClean="0">
                              <a:latin typeface="Cambria Math" panose="02040503050406030204" pitchFamily="18" charset="0"/>
                            </a:rPr>
                            <m:t>𝟐</m:t>
                          </m:r>
                          <m:r>
                            <a:rPr lang="en-US" sz="1600" b="1" i="1" smtClean="0">
                              <a:latin typeface="Cambria Math" panose="02040503050406030204" pitchFamily="18" charset="0"/>
                            </a:rPr>
                            <m:t> ×</m:t>
                          </m:r>
                          <m:d>
                            <m:dPr>
                              <m:ctrlPr>
                                <a:rPr lang="en-US" sz="1600" b="1" i="1" smtClean="0">
                                  <a:latin typeface="Cambria Math" panose="02040503050406030204" pitchFamily="18" charset="0"/>
                                </a:rPr>
                              </m:ctrlPr>
                            </m:dPr>
                            <m:e>
                              <m:f>
                                <m:fPr>
                                  <m:type m:val="noBar"/>
                                  <m:ctrlPr>
                                    <a:rPr lang="en-US" sz="1600" b="1" i="1" smtClean="0">
                                      <a:latin typeface="Cambria Math" panose="02040503050406030204" pitchFamily="18" charset="0"/>
                                    </a:rPr>
                                  </m:ctrlPr>
                                </m:fPr>
                                <m:num>
                                  <m:r>
                                    <a:rPr lang="en-US" sz="1600" b="1" i="1" smtClean="0">
                                      <a:latin typeface="Cambria Math" panose="02040503050406030204" pitchFamily="18" charset="0"/>
                                    </a:rPr>
                                    <m:t>𝟐</m:t>
                                  </m:r>
                                </m:num>
                                <m:den>
                                  <m:r>
                                    <a:rPr lang="en-US" sz="1600" b="1" i="1" smtClean="0">
                                      <a:latin typeface="Cambria Math" panose="02040503050406030204" pitchFamily="18" charset="0"/>
                                    </a:rPr>
                                    <m:t>𝑵</m:t>
                                  </m:r>
                                </m:den>
                              </m:f>
                            </m:e>
                          </m:d>
                        </m:den>
                      </m:f>
                    </m:oMath>
                  </a14:m>
                  <a:r>
                    <a:rPr lang="en-US" sz="1600" b="1" i="1" dirty="0"/>
                    <a:t>      , </a:t>
                  </a:r>
                  <a:r>
                    <a:rPr lang="en-US" sz="1400" b="1" i="1" dirty="0"/>
                    <a:t>where </a:t>
                  </a:r>
                  <a14:m>
                    <m:oMath xmlns:m="http://schemas.openxmlformats.org/officeDocument/2006/math">
                      <m:d>
                        <m:dPr>
                          <m:ctrlPr>
                            <a:rPr lang="en-US" sz="1400" b="1" i="1">
                              <a:latin typeface="Cambria Math" panose="02040503050406030204" pitchFamily="18" charset="0"/>
                            </a:rPr>
                          </m:ctrlPr>
                        </m:dPr>
                        <m:e>
                          <m:f>
                            <m:fPr>
                              <m:type m:val="noBar"/>
                              <m:ctrlPr>
                                <a:rPr lang="en-US" sz="1400" b="1" i="1">
                                  <a:latin typeface="Cambria Math" panose="02040503050406030204" pitchFamily="18" charset="0"/>
                                </a:rPr>
                              </m:ctrlPr>
                            </m:fPr>
                            <m:num>
                              <m:r>
                                <a:rPr lang="en-US" sz="1400" b="1" i="1">
                                  <a:latin typeface="Cambria Math" panose="02040503050406030204" pitchFamily="18" charset="0"/>
                                </a:rPr>
                                <m:t>𝟐</m:t>
                              </m:r>
                            </m:num>
                            <m:den>
                              <m:r>
                                <a:rPr lang="en-US" sz="1400" b="1" i="1">
                                  <a:latin typeface="Cambria Math" panose="02040503050406030204" pitchFamily="18" charset="0"/>
                                </a:rPr>
                                <m:t>𝑵</m:t>
                              </m:r>
                            </m:den>
                          </m:f>
                        </m:e>
                      </m:d>
                    </m:oMath>
                  </a14:m>
                  <a:r>
                    <a:rPr lang="en-US" sz="1600" b="1" i="1" dirty="0"/>
                    <a:t> = </a:t>
                  </a:r>
                  <a14:m>
                    <m:oMath xmlns:m="http://schemas.openxmlformats.org/officeDocument/2006/math">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𝑵</m:t>
                          </m:r>
                          <m:r>
                            <a:rPr lang="en-US" sz="1600" b="1" i="1" smtClean="0">
                              <a:latin typeface="Cambria Math" panose="02040503050406030204" pitchFamily="18" charset="0"/>
                            </a:rPr>
                            <m:t>!</m:t>
                          </m:r>
                        </m:num>
                        <m:den>
                          <m:r>
                            <a:rPr lang="en-US" sz="1600" b="1" i="1" smtClean="0">
                              <a:latin typeface="Cambria Math" panose="02040503050406030204" pitchFamily="18" charset="0"/>
                            </a:rPr>
                            <m:t>𝟐</m:t>
                          </m:r>
                          <m:r>
                            <a:rPr lang="en-US" sz="1600" b="1" i="1" smtClean="0">
                              <a:latin typeface="Cambria Math" panose="02040503050406030204" pitchFamily="18" charset="0"/>
                            </a:rPr>
                            <m:t>!×</m:t>
                          </m:r>
                          <m:d>
                            <m:dPr>
                              <m:ctrlPr>
                                <a:rPr lang="en-US" sz="1600" b="1" i="1" smtClean="0">
                                  <a:latin typeface="Cambria Math" panose="02040503050406030204" pitchFamily="18" charset="0"/>
                                  <a:ea typeface="Cambria Math" panose="02040503050406030204" pitchFamily="18" charset="0"/>
                                </a:rPr>
                              </m:ctrlPr>
                            </m:dPr>
                            <m:e>
                              <m:r>
                                <a:rPr lang="en-US" sz="1600" b="1" i="1" smtClean="0">
                                  <a:latin typeface="Cambria Math" panose="02040503050406030204" pitchFamily="18" charset="0"/>
                                  <a:ea typeface="Cambria Math" panose="02040503050406030204" pitchFamily="18" charset="0"/>
                                </a:rPr>
                                <m:t>𝑵</m:t>
                              </m:r>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𝟐</m:t>
                              </m:r>
                            </m:e>
                          </m:d>
                          <m:r>
                            <a:rPr lang="en-US" sz="1600" b="1" i="1" smtClean="0">
                              <a:latin typeface="Cambria Math" panose="02040503050406030204" pitchFamily="18" charset="0"/>
                              <a:ea typeface="Cambria Math" panose="02040503050406030204" pitchFamily="18" charset="0"/>
                            </a:rPr>
                            <m:t>!</m:t>
                          </m:r>
                        </m:den>
                      </m:f>
                    </m:oMath>
                  </a14:m>
                  <a:endParaRPr lang="en-US" sz="1600" b="1" i="1" dirty="0"/>
                </a:p>
              </p:txBody>
            </p:sp>
          </mc:Choice>
          <mc:Fallback xmlns="">
            <p:sp>
              <p:nvSpPr>
                <p:cNvPr id="14" name="직사각형 13">
                  <a:extLst>
                    <a:ext uri="{FF2B5EF4-FFF2-40B4-BE49-F238E27FC236}">
                      <a16:creationId xmlns:a16="http://schemas.microsoft.com/office/drawing/2014/main" id="{00D8E022-49B9-4FAE-83D9-84CB2775A292}"/>
                    </a:ext>
                  </a:extLst>
                </p:cNvPr>
                <p:cNvSpPr>
                  <a:spLocks noRot="1" noChangeAspect="1" noMove="1" noResize="1" noEditPoints="1" noAdjustHandles="1" noChangeArrowheads="1" noChangeShapeType="1" noTextEdit="1"/>
                </p:cNvSpPr>
                <p:nvPr/>
              </p:nvSpPr>
              <p:spPr>
                <a:xfrm>
                  <a:off x="6789998" y="3815391"/>
                  <a:ext cx="4959349" cy="544219"/>
                </a:xfrm>
                <a:prstGeom prst="rect">
                  <a:avLst/>
                </a:prstGeom>
                <a:blipFill>
                  <a:blip r:embed="rId5"/>
                  <a:stretch>
                    <a:fillRect l="-3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직사각형 14">
                  <a:extLst>
                    <a:ext uri="{FF2B5EF4-FFF2-40B4-BE49-F238E27FC236}">
                      <a16:creationId xmlns:a16="http://schemas.microsoft.com/office/drawing/2014/main" id="{D5C91D53-6691-4E44-AF1D-4CF98FA12AE8}"/>
                    </a:ext>
                  </a:extLst>
                </p:cNvPr>
                <p:cNvSpPr/>
                <p:nvPr/>
              </p:nvSpPr>
              <p:spPr>
                <a:xfrm>
                  <a:off x="6789998" y="3296184"/>
                  <a:ext cx="4875456" cy="544219"/>
                </a:xfrm>
                <a:prstGeom prst="rect">
                  <a:avLst/>
                </a:prstGeom>
              </p:spPr>
              <p:txBody>
                <a:bodyPr wrap="none">
                  <a:spAutoFit/>
                </a:bodyPr>
                <a:lstStyle/>
                <a:p>
                  <a:r>
                    <a:rPr lang="en-US" sz="1400" b="1" dirty="0"/>
                    <a:t>If valued nondirected</a:t>
                  </a:r>
                  <a:r>
                    <a:rPr lang="en-US" sz="1600" b="1" dirty="0"/>
                    <a:t>: </a:t>
                  </a:r>
                  <a14:m>
                    <m:oMath xmlns:m="http://schemas.openxmlformats.org/officeDocument/2006/math">
                      <m:r>
                        <a:rPr lang="en-US" sz="1600" b="1" i="1" smtClean="0">
                          <a:latin typeface="Cambria Math" panose="02040503050406030204" pitchFamily="18" charset="0"/>
                        </a:rPr>
                        <m:t>𝑫</m:t>
                      </m:r>
                      <m:r>
                        <a:rPr lang="en-US" sz="1600" b="1" i="1" smtClean="0">
                          <a:latin typeface="Cambria Math" panose="02040503050406030204" pitchFamily="18" charset="0"/>
                        </a:rPr>
                        <m:t>=</m:t>
                      </m:r>
                      <m:f>
                        <m:fPr>
                          <m:ctrlPr>
                            <a:rPr lang="en-US" sz="1600" b="1" i="1" smtClean="0">
                              <a:latin typeface="Cambria Math" panose="02040503050406030204" pitchFamily="18" charset="0"/>
                            </a:rPr>
                          </m:ctrlPr>
                        </m:fPr>
                        <m:num>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𝑳</m:t>
                              </m:r>
                            </m:e>
                            <m:sub>
                              <m:r>
                                <a:rPr lang="en-US" sz="1600" b="1" i="1" smtClean="0">
                                  <a:latin typeface="Cambria Math" panose="02040503050406030204" pitchFamily="18" charset="0"/>
                                </a:rPr>
                                <m:t>𝒘</m:t>
                              </m:r>
                            </m:sub>
                          </m:sSub>
                        </m:num>
                        <m:den>
                          <m:d>
                            <m:dPr>
                              <m:ctrlPr>
                                <a:rPr lang="en-US" sz="1600" b="1" i="1" smtClean="0">
                                  <a:latin typeface="Cambria Math" panose="02040503050406030204" pitchFamily="18" charset="0"/>
                                </a:rPr>
                              </m:ctrlPr>
                            </m:dPr>
                            <m:e>
                              <m:f>
                                <m:fPr>
                                  <m:type m:val="noBar"/>
                                  <m:ctrlPr>
                                    <a:rPr lang="en-US" sz="1600" b="1" i="1" smtClean="0">
                                      <a:latin typeface="Cambria Math" panose="02040503050406030204" pitchFamily="18" charset="0"/>
                                    </a:rPr>
                                  </m:ctrlPr>
                                </m:fPr>
                                <m:num>
                                  <m:r>
                                    <a:rPr lang="en-US" sz="1600" b="1" i="1" smtClean="0">
                                      <a:latin typeface="Cambria Math" panose="02040503050406030204" pitchFamily="18" charset="0"/>
                                    </a:rPr>
                                    <m:t>𝟐</m:t>
                                  </m:r>
                                </m:num>
                                <m:den>
                                  <m:r>
                                    <a:rPr lang="en-US" sz="1600" b="1" i="1" smtClean="0">
                                      <a:latin typeface="Cambria Math" panose="02040503050406030204" pitchFamily="18" charset="0"/>
                                    </a:rPr>
                                    <m:t>𝑵</m:t>
                                  </m:r>
                                </m:den>
                              </m:f>
                            </m:e>
                          </m:d>
                        </m:den>
                      </m:f>
                    </m:oMath>
                  </a14:m>
                  <a:r>
                    <a:rPr lang="en-US" sz="1600" b="1" i="1" dirty="0"/>
                    <a:t>      , </a:t>
                  </a:r>
                  <a:r>
                    <a:rPr lang="en-US" sz="1400" b="1" i="1" dirty="0"/>
                    <a:t>where </a:t>
                  </a:r>
                  <a14:m>
                    <m:oMath xmlns:m="http://schemas.openxmlformats.org/officeDocument/2006/math">
                      <m:d>
                        <m:dPr>
                          <m:ctrlPr>
                            <a:rPr lang="en-US" sz="1400" b="1" i="1">
                              <a:latin typeface="Cambria Math" panose="02040503050406030204" pitchFamily="18" charset="0"/>
                            </a:rPr>
                          </m:ctrlPr>
                        </m:dPr>
                        <m:e>
                          <m:f>
                            <m:fPr>
                              <m:type m:val="noBar"/>
                              <m:ctrlPr>
                                <a:rPr lang="en-US" sz="1400" b="1" i="1">
                                  <a:latin typeface="Cambria Math" panose="02040503050406030204" pitchFamily="18" charset="0"/>
                                </a:rPr>
                              </m:ctrlPr>
                            </m:fPr>
                            <m:num>
                              <m:r>
                                <a:rPr lang="en-US" sz="1400" b="1" i="1">
                                  <a:latin typeface="Cambria Math" panose="02040503050406030204" pitchFamily="18" charset="0"/>
                                </a:rPr>
                                <m:t>𝟐</m:t>
                              </m:r>
                            </m:num>
                            <m:den>
                              <m:r>
                                <a:rPr lang="en-US" sz="1400" b="1" i="1">
                                  <a:latin typeface="Cambria Math" panose="02040503050406030204" pitchFamily="18" charset="0"/>
                                </a:rPr>
                                <m:t>𝑵</m:t>
                              </m:r>
                            </m:den>
                          </m:f>
                        </m:e>
                      </m:d>
                    </m:oMath>
                  </a14:m>
                  <a:r>
                    <a:rPr lang="en-US" sz="1600" b="1" i="1" dirty="0"/>
                    <a:t> = </a:t>
                  </a:r>
                  <a14:m>
                    <m:oMath xmlns:m="http://schemas.openxmlformats.org/officeDocument/2006/math">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𝑵</m:t>
                          </m:r>
                          <m:r>
                            <a:rPr lang="en-US" sz="1600" b="1" i="1" smtClean="0">
                              <a:latin typeface="Cambria Math" panose="02040503050406030204" pitchFamily="18" charset="0"/>
                            </a:rPr>
                            <m:t>!</m:t>
                          </m:r>
                        </m:num>
                        <m:den>
                          <m:r>
                            <a:rPr lang="en-US" sz="1600" b="1" i="1" smtClean="0">
                              <a:latin typeface="Cambria Math" panose="02040503050406030204" pitchFamily="18" charset="0"/>
                            </a:rPr>
                            <m:t>𝟐</m:t>
                          </m:r>
                          <m:r>
                            <a:rPr lang="en-US" sz="1600" b="1" i="1" smtClean="0">
                              <a:latin typeface="Cambria Math" panose="02040503050406030204" pitchFamily="18" charset="0"/>
                            </a:rPr>
                            <m:t>!×</m:t>
                          </m:r>
                          <m:d>
                            <m:dPr>
                              <m:ctrlPr>
                                <a:rPr lang="en-US" sz="1600" b="1" i="1" smtClean="0">
                                  <a:latin typeface="Cambria Math" panose="02040503050406030204" pitchFamily="18" charset="0"/>
                                  <a:ea typeface="Cambria Math" panose="02040503050406030204" pitchFamily="18" charset="0"/>
                                </a:rPr>
                              </m:ctrlPr>
                            </m:dPr>
                            <m:e>
                              <m:r>
                                <a:rPr lang="en-US" sz="1600" b="1" i="1" smtClean="0">
                                  <a:latin typeface="Cambria Math" panose="02040503050406030204" pitchFamily="18" charset="0"/>
                                  <a:ea typeface="Cambria Math" panose="02040503050406030204" pitchFamily="18" charset="0"/>
                                </a:rPr>
                                <m:t>𝑵</m:t>
                              </m:r>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𝟐</m:t>
                              </m:r>
                            </m:e>
                          </m:d>
                          <m:r>
                            <a:rPr lang="en-US" sz="1600" b="1" i="1" smtClean="0">
                              <a:latin typeface="Cambria Math" panose="02040503050406030204" pitchFamily="18" charset="0"/>
                              <a:ea typeface="Cambria Math" panose="02040503050406030204" pitchFamily="18" charset="0"/>
                            </a:rPr>
                            <m:t>!</m:t>
                          </m:r>
                        </m:den>
                      </m:f>
                    </m:oMath>
                  </a14:m>
                  <a:endParaRPr lang="en-US" sz="1600" b="1" i="1" dirty="0"/>
                </a:p>
              </p:txBody>
            </p:sp>
          </mc:Choice>
          <mc:Fallback xmlns="">
            <p:sp>
              <p:nvSpPr>
                <p:cNvPr id="15" name="직사각형 14">
                  <a:extLst>
                    <a:ext uri="{FF2B5EF4-FFF2-40B4-BE49-F238E27FC236}">
                      <a16:creationId xmlns:a16="http://schemas.microsoft.com/office/drawing/2014/main" id="{D5C91D53-6691-4E44-AF1D-4CF98FA12AE8}"/>
                    </a:ext>
                  </a:extLst>
                </p:cNvPr>
                <p:cNvSpPr>
                  <a:spLocks noRot="1" noChangeAspect="1" noMove="1" noResize="1" noEditPoints="1" noAdjustHandles="1" noChangeArrowheads="1" noChangeShapeType="1" noTextEdit="1"/>
                </p:cNvSpPr>
                <p:nvPr/>
              </p:nvSpPr>
              <p:spPr>
                <a:xfrm>
                  <a:off x="6789998" y="3296184"/>
                  <a:ext cx="4875456" cy="544219"/>
                </a:xfrm>
                <a:prstGeom prst="rect">
                  <a:avLst/>
                </a:prstGeom>
                <a:blipFill>
                  <a:blip r:embed="rId6"/>
                  <a:stretch>
                    <a:fillRect l="-399"/>
                  </a:stretch>
                </a:blipFill>
              </p:spPr>
              <p:txBody>
                <a:bodyPr/>
                <a:lstStyle/>
                <a:p>
                  <a:r>
                    <a:rPr lang="en-US">
                      <a:noFill/>
                    </a:rPr>
                    <a:t> </a:t>
                  </a:r>
                </a:p>
              </p:txBody>
            </p:sp>
          </mc:Fallback>
        </mc:AlternateContent>
      </p:grpSp>
      <p:sp>
        <p:nvSpPr>
          <p:cNvPr id="17" name="직사각형 16">
            <a:extLst>
              <a:ext uri="{FF2B5EF4-FFF2-40B4-BE49-F238E27FC236}">
                <a16:creationId xmlns:a16="http://schemas.microsoft.com/office/drawing/2014/main" id="{9D66AC47-628E-40DE-9DA7-4357AB42928F}"/>
              </a:ext>
            </a:extLst>
          </p:cNvPr>
          <p:cNvSpPr/>
          <p:nvPr/>
        </p:nvSpPr>
        <p:spPr>
          <a:xfrm>
            <a:off x="659465" y="4680873"/>
            <a:ext cx="1504194" cy="338554"/>
          </a:xfrm>
          <a:prstGeom prst="rect">
            <a:avLst/>
          </a:prstGeom>
        </p:spPr>
        <p:txBody>
          <a:bodyPr wrap="none">
            <a:spAutoFit/>
          </a:bodyPr>
          <a:lstStyle/>
          <a:p>
            <a:r>
              <a:rPr lang="en-US" sz="1600" b="1" dirty="0">
                <a:latin typeface="Franklin Gothic Book" panose="020B0503020102020204" pitchFamily="34" charset="0"/>
              </a:rPr>
              <a:t>Network Range</a:t>
            </a:r>
            <a:endParaRPr lang="en-US" sz="1600" dirty="0"/>
          </a:p>
        </p:txBody>
      </p:sp>
      <p:sp>
        <p:nvSpPr>
          <p:cNvPr id="18" name="직사각형 17">
            <a:extLst>
              <a:ext uri="{FF2B5EF4-FFF2-40B4-BE49-F238E27FC236}">
                <a16:creationId xmlns:a16="http://schemas.microsoft.com/office/drawing/2014/main" id="{030000D2-E460-4D5F-9E0C-64FAB33AE707}"/>
              </a:ext>
            </a:extLst>
          </p:cNvPr>
          <p:cNvSpPr/>
          <p:nvPr/>
        </p:nvSpPr>
        <p:spPr>
          <a:xfrm>
            <a:off x="2163659" y="4564246"/>
            <a:ext cx="4814190" cy="2062103"/>
          </a:xfrm>
          <a:prstGeom prst="rect">
            <a:avLst/>
          </a:prstGeom>
        </p:spPr>
        <p:txBody>
          <a:bodyPr wrap="square">
            <a:spAutoFit/>
          </a:bodyPr>
          <a:lstStyle/>
          <a:p>
            <a:r>
              <a:rPr lang="en-US" sz="1600" dirty="0">
                <a:latin typeface="Franklin Gothic Book" panose="020B0503020102020204" pitchFamily="34" charset="0"/>
              </a:rPr>
              <a:t>The extent to which an actor’s network links it to diverse other actors, Several empirical indicators such as network size, density, network diversity is used to measure network range. </a:t>
            </a:r>
          </a:p>
          <a:p>
            <a:endParaRPr lang="en-US" sz="1600" dirty="0">
              <a:latin typeface="Franklin Gothic Book" panose="020B0503020102020204" pitchFamily="34" charset="0"/>
            </a:endParaRPr>
          </a:p>
          <a:p>
            <a:r>
              <a:rPr lang="en-US" sz="1600" dirty="0">
                <a:latin typeface="Franklin Gothic Book" panose="020B0503020102020204" pitchFamily="34" charset="0"/>
              </a:rPr>
              <a:t>In egocentric network, network diversity measures the extent of heterogeneity of social characteristics of the alters in an ego’s network.</a:t>
            </a:r>
          </a:p>
        </p:txBody>
      </p:sp>
      <p:sp>
        <p:nvSpPr>
          <p:cNvPr id="19" name="직사각형 18">
            <a:extLst>
              <a:ext uri="{FF2B5EF4-FFF2-40B4-BE49-F238E27FC236}">
                <a16:creationId xmlns:a16="http://schemas.microsoft.com/office/drawing/2014/main" id="{BC19BE9C-9863-47A3-9409-C38C4F6774DD}"/>
              </a:ext>
            </a:extLst>
          </p:cNvPr>
          <p:cNvSpPr/>
          <p:nvPr/>
        </p:nvSpPr>
        <p:spPr>
          <a:xfrm>
            <a:off x="7093824" y="4383470"/>
            <a:ext cx="3586013" cy="769441"/>
          </a:xfrm>
          <a:prstGeom prst="rect">
            <a:avLst/>
          </a:prstGeom>
        </p:spPr>
        <p:txBody>
          <a:bodyPr wrap="square">
            <a:spAutoFit/>
          </a:bodyPr>
          <a:lstStyle/>
          <a:p>
            <a:r>
              <a:rPr lang="en-US" sz="1400" dirty="0"/>
              <a:t>If alter characteristic is </a:t>
            </a:r>
            <a:r>
              <a:rPr lang="en-US" sz="1400" b="1" dirty="0"/>
              <a:t>continuous</a:t>
            </a:r>
            <a:r>
              <a:rPr lang="en-US" sz="1600" b="1" dirty="0"/>
              <a:t>:</a:t>
            </a:r>
            <a:br>
              <a:rPr lang="en-US" sz="1600" b="1" dirty="0"/>
            </a:br>
            <a:endParaRPr lang="en-US" sz="1400" b="1" i="1" dirty="0"/>
          </a:p>
          <a:p>
            <a:r>
              <a:rPr lang="en-US" sz="1400" b="1" i="1" dirty="0"/>
              <a:t>Standard Deviation</a:t>
            </a:r>
          </a:p>
        </p:txBody>
      </p:sp>
      <p:sp>
        <p:nvSpPr>
          <p:cNvPr id="20" name="직사각형 19">
            <a:extLst>
              <a:ext uri="{FF2B5EF4-FFF2-40B4-BE49-F238E27FC236}">
                <a16:creationId xmlns:a16="http://schemas.microsoft.com/office/drawing/2014/main" id="{7C931E95-286D-4F86-ADE8-AA7044FAFEB3}"/>
              </a:ext>
            </a:extLst>
          </p:cNvPr>
          <p:cNvSpPr/>
          <p:nvPr/>
        </p:nvSpPr>
        <p:spPr>
          <a:xfrm>
            <a:off x="7221537" y="5643098"/>
            <a:ext cx="3458300" cy="800219"/>
          </a:xfrm>
          <a:prstGeom prst="rect">
            <a:avLst/>
          </a:prstGeom>
        </p:spPr>
        <p:txBody>
          <a:bodyPr wrap="square">
            <a:spAutoFit/>
          </a:bodyPr>
          <a:lstStyle/>
          <a:p>
            <a:r>
              <a:rPr lang="en-US" sz="1400" dirty="0"/>
              <a:t>If alter characteristic is </a:t>
            </a:r>
            <a:r>
              <a:rPr lang="en-US" sz="1400" b="1" dirty="0"/>
              <a:t>categorical</a:t>
            </a:r>
            <a:r>
              <a:rPr lang="en-US" sz="1600" b="1" dirty="0"/>
              <a:t>:</a:t>
            </a:r>
          </a:p>
          <a:p>
            <a:endParaRPr lang="en-US" sz="1600" b="1" i="1" dirty="0"/>
          </a:p>
          <a:p>
            <a:r>
              <a:rPr lang="en-US" sz="1400" b="1" i="1" dirty="0"/>
              <a:t>Index of qualitative variation</a:t>
            </a:r>
            <a:endParaRPr lang="en-US" sz="1600" b="1" i="1"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1A28CAE-8EEC-4644-ACBD-942ED9CE80F5}"/>
                  </a:ext>
                </a:extLst>
              </p:cNvPr>
              <p:cNvSpPr txBox="1"/>
              <p:nvPr/>
            </p:nvSpPr>
            <p:spPr>
              <a:xfrm>
                <a:off x="9505125" y="4610244"/>
                <a:ext cx="2403928" cy="8183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en-US" b="0" i="1" smtClean="0">
                              <a:latin typeface="Cambria Math" panose="02040503050406030204" pitchFamily="18" charset="0"/>
                            </a:rPr>
                            <m:t>𝑆</m:t>
                          </m:r>
                        </m:e>
                        <m:sub>
                          <m:sSub>
                            <m:sSubPr>
                              <m:ctrlPr>
                                <a:rPr lang="pt-BR"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𝐽</m:t>
                                  </m:r>
                                  <m:r>
                                    <a:rPr lang="en-US" b="0" i="1" smtClean="0">
                                      <a:latin typeface="Cambria Math" panose="02040503050406030204" pitchFamily="18" charset="0"/>
                                    </a:rPr>
                                    <m:t>=1</m:t>
                                  </m:r>
                                </m:sub>
                                <m:sup>
                                  <m:r>
                                    <a:rPr lang="en-US" b="0" i="1" smtClean="0">
                                      <a:latin typeface="Cambria Math" panose="02040503050406030204" pitchFamily="18" charset="0"/>
                                    </a:rPr>
                                    <m:t>𝑁</m:t>
                                  </m:r>
                                </m:sup>
                                <m:e>
                                  <m:sSup>
                                    <m:sSupPr>
                                      <m:ctrlPr>
                                        <a:rPr lang="en-US" b="0" i="1" smtClean="0">
                                          <a:latin typeface="Cambria Math" panose="02040503050406030204" pitchFamily="18" charset="0"/>
                                        </a:rPr>
                                      </m:ctrlPr>
                                    </m:sSupPr>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𝑖𝑗</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𝑋</m:t>
                                          </m:r>
                                        </m:e>
                                      </m:acc>
                                      <m:r>
                                        <a:rPr lang="en-US" i="1">
                                          <a:latin typeface="Cambria Math" panose="02040503050406030204" pitchFamily="18" charset="0"/>
                                        </a:rPr>
                                        <m:t>)</m:t>
                                      </m:r>
                                    </m:e>
                                    <m:sup>
                                      <m:r>
                                        <a:rPr lang="en-US" b="0" i="1" smtClean="0">
                                          <a:latin typeface="Cambria Math" panose="02040503050406030204" pitchFamily="18" charset="0"/>
                                        </a:rPr>
                                        <m:t>2</m:t>
                                      </m:r>
                                    </m:sup>
                                  </m:sSup>
                                </m:e>
                              </m:nary>
                            </m:num>
                            <m:den>
                              <m:r>
                                <a:rPr lang="en-US" b="0" i="1" smtClean="0">
                                  <a:latin typeface="Cambria Math" panose="02040503050406030204" pitchFamily="18" charset="0"/>
                                </a:rPr>
                                <m:t>𝑁</m:t>
                              </m:r>
                              <m:r>
                                <a:rPr lang="en-US" b="0" i="1" smtClean="0">
                                  <a:latin typeface="Cambria Math" panose="02040503050406030204" pitchFamily="18" charset="0"/>
                                </a:rPr>
                                <m:t>−1</m:t>
                              </m:r>
                            </m:den>
                          </m:f>
                          <m:r>
                            <m:rPr>
                              <m:nor/>
                            </m:rPr>
                            <a:rPr lang="en-US" dirty="0"/>
                            <m:t> </m:t>
                          </m:r>
                        </m:e>
                      </m:rad>
                    </m:oMath>
                  </m:oMathPara>
                </a14:m>
                <a:endParaRPr lang="en-US" dirty="0"/>
              </a:p>
            </p:txBody>
          </p:sp>
        </mc:Choice>
        <mc:Fallback xmlns="">
          <p:sp>
            <p:nvSpPr>
              <p:cNvPr id="21" name="TextBox 20">
                <a:extLst>
                  <a:ext uri="{FF2B5EF4-FFF2-40B4-BE49-F238E27FC236}">
                    <a16:creationId xmlns:a16="http://schemas.microsoft.com/office/drawing/2014/main" id="{71A28CAE-8EEC-4644-ACBD-942ED9CE80F5}"/>
                  </a:ext>
                </a:extLst>
              </p:cNvPr>
              <p:cNvSpPr txBox="1">
                <a:spLocks noRot="1" noChangeAspect="1" noMove="1" noResize="1" noEditPoints="1" noAdjustHandles="1" noChangeArrowheads="1" noChangeShapeType="1" noTextEdit="1"/>
              </p:cNvSpPr>
              <p:nvPr/>
            </p:nvSpPr>
            <p:spPr>
              <a:xfrm>
                <a:off x="9505125" y="4610244"/>
                <a:ext cx="2403928" cy="818366"/>
              </a:xfrm>
              <a:prstGeom prst="rect">
                <a:avLst/>
              </a:prstGeom>
              <a:blipFill>
                <a:blip r:embed="rId7"/>
                <a:stretch>
                  <a:fillRect b="-7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89D03C9-2CFD-4479-8C23-25972C59B0F8}"/>
                  </a:ext>
                </a:extLst>
              </p:cNvPr>
              <p:cNvSpPr txBox="1"/>
              <p:nvPr/>
            </p:nvSpPr>
            <p:spPr>
              <a:xfrm>
                <a:off x="9726163" y="5980275"/>
                <a:ext cx="2026517" cy="6460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en-US" b="0" i="1" smtClean="0">
                              <a:latin typeface="Cambria Math" panose="02040503050406030204" pitchFamily="18" charset="0"/>
                            </a:rPr>
                            <m:t>𝐼𝑄𝑉</m:t>
                          </m:r>
                        </m:e>
                        <m:sub>
                          <m:r>
                            <a:rPr lang="en-US" i="1">
                              <a:latin typeface="Cambria Math" panose="02040503050406030204" pitchFamily="18" charset="0"/>
                            </a:rPr>
                            <m:t>𝑖</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𝐾</m:t>
                              </m:r>
                            </m:sup>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𝑗</m:t>
                                  </m:r>
                                </m:sub>
                                <m:sup>
                                  <m:r>
                                    <a:rPr lang="en-US" b="0" i="1" smtClean="0">
                                      <a:latin typeface="Cambria Math" panose="02040503050406030204" pitchFamily="18" charset="0"/>
                                    </a:rPr>
                                    <m:t>2</m:t>
                                  </m:r>
                                </m:sup>
                              </m:sSubSup>
                            </m:e>
                          </m:nary>
                        </m:num>
                        <m:den>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r>
                            <a:rPr lang="en-US" b="0" i="1" smtClean="0">
                              <a:latin typeface="Cambria Math" panose="02040503050406030204" pitchFamily="18" charset="0"/>
                            </a:rPr>
                            <m:t>𝐾</m:t>
                          </m:r>
                        </m:den>
                      </m:f>
                    </m:oMath>
                  </m:oMathPara>
                </a14:m>
                <a:endParaRPr lang="en-US" dirty="0"/>
              </a:p>
            </p:txBody>
          </p:sp>
        </mc:Choice>
        <mc:Fallback xmlns="">
          <p:sp>
            <p:nvSpPr>
              <p:cNvPr id="22" name="TextBox 21">
                <a:extLst>
                  <a:ext uri="{FF2B5EF4-FFF2-40B4-BE49-F238E27FC236}">
                    <a16:creationId xmlns:a16="http://schemas.microsoft.com/office/drawing/2014/main" id="{789D03C9-2CFD-4479-8C23-25972C59B0F8}"/>
                  </a:ext>
                </a:extLst>
              </p:cNvPr>
              <p:cNvSpPr txBox="1">
                <a:spLocks noRot="1" noChangeAspect="1" noMove="1" noResize="1" noEditPoints="1" noAdjustHandles="1" noChangeArrowheads="1" noChangeShapeType="1" noTextEdit="1"/>
              </p:cNvSpPr>
              <p:nvPr/>
            </p:nvSpPr>
            <p:spPr>
              <a:xfrm>
                <a:off x="9726163" y="5980275"/>
                <a:ext cx="2026517" cy="646074"/>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07992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6383337" cy="1325563"/>
          </a:xfrm>
        </p:spPr>
        <p:txBody>
          <a:bodyPr/>
          <a:lstStyle/>
          <a:p>
            <a:r>
              <a:rPr lang="en-US" dirty="0">
                <a:latin typeface="Franklin Gothic Book" panose="020B0503020102020204" pitchFamily="34" charset="0"/>
              </a:rPr>
              <a:t>2. Relationship Measures</a:t>
            </a:r>
            <a:endParaRPr lang="en-US" sz="3200" b="1" dirty="0">
              <a:latin typeface="Franklin Gothic Book" panose="020B0503020102020204" pitchFamily="34" charset="0"/>
            </a:endParaRPr>
          </a:p>
        </p:txBody>
      </p:sp>
      <p:sp>
        <p:nvSpPr>
          <p:cNvPr id="4" name="직사각형 3">
            <a:extLst>
              <a:ext uri="{FF2B5EF4-FFF2-40B4-BE49-F238E27FC236}">
                <a16:creationId xmlns:a16="http://schemas.microsoft.com/office/drawing/2014/main" id="{5AD62888-7216-4DFD-973F-6EBBEF5B6819}"/>
              </a:ext>
            </a:extLst>
          </p:cNvPr>
          <p:cNvSpPr/>
          <p:nvPr/>
        </p:nvSpPr>
        <p:spPr>
          <a:xfrm>
            <a:off x="254413" y="1243673"/>
            <a:ext cx="2992038" cy="369332"/>
          </a:xfrm>
          <a:prstGeom prst="rect">
            <a:avLst/>
          </a:prstGeom>
        </p:spPr>
        <p:txBody>
          <a:bodyPr wrap="none">
            <a:spAutoFit/>
          </a:bodyPr>
          <a:lstStyle/>
          <a:p>
            <a:r>
              <a:rPr lang="en-US" b="1" dirty="0">
                <a:latin typeface="Franklin Gothic Book" panose="020B0503020102020204" pitchFamily="34" charset="0"/>
              </a:rPr>
              <a:t>Complete Network Measures</a:t>
            </a:r>
            <a:endParaRPr lang="en-US" dirty="0"/>
          </a:p>
        </p:txBody>
      </p:sp>
      <p:sp>
        <p:nvSpPr>
          <p:cNvPr id="10" name="직사각형 9">
            <a:extLst>
              <a:ext uri="{FF2B5EF4-FFF2-40B4-BE49-F238E27FC236}">
                <a16:creationId xmlns:a16="http://schemas.microsoft.com/office/drawing/2014/main" id="{A5B435D2-B825-4067-BF41-73AD3C97627D}"/>
              </a:ext>
            </a:extLst>
          </p:cNvPr>
          <p:cNvSpPr/>
          <p:nvPr/>
        </p:nvSpPr>
        <p:spPr>
          <a:xfrm>
            <a:off x="653081" y="1732018"/>
            <a:ext cx="1181734" cy="338554"/>
          </a:xfrm>
          <a:prstGeom prst="rect">
            <a:avLst/>
          </a:prstGeom>
        </p:spPr>
        <p:txBody>
          <a:bodyPr wrap="none">
            <a:spAutoFit/>
          </a:bodyPr>
          <a:lstStyle/>
          <a:p>
            <a:r>
              <a:rPr lang="en-US" sz="1600" b="1" dirty="0">
                <a:latin typeface="Franklin Gothic Book" panose="020B0503020102020204" pitchFamily="34" charset="0"/>
              </a:rPr>
              <a:t>Density (</a:t>
            </a:r>
            <a:r>
              <a:rPr lang="en-US" sz="1600" b="1" i="1" dirty="0">
                <a:latin typeface="Franklin Gothic Book" panose="020B0503020102020204" pitchFamily="34" charset="0"/>
              </a:rPr>
              <a:t>D</a:t>
            </a:r>
            <a:r>
              <a:rPr lang="en-US" sz="1600" b="1" dirty="0">
                <a:latin typeface="Franklin Gothic Book" panose="020B0503020102020204" pitchFamily="34" charset="0"/>
              </a:rPr>
              <a:t>) </a:t>
            </a:r>
            <a:endParaRPr lang="en-US" sz="1600" dirty="0"/>
          </a:p>
        </p:txBody>
      </p:sp>
      <p:sp>
        <p:nvSpPr>
          <p:cNvPr id="5" name="직사각형 4">
            <a:extLst>
              <a:ext uri="{FF2B5EF4-FFF2-40B4-BE49-F238E27FC236}">
                <a16:creationId xmlns:a16="http://schemas.microsoft.com/office/drawing/2014/main" id="{B0C88819-5049-4308-8DB2-669E3F5F433C}"/>
              </a:ext>
            </a:extLst>
          </p:cNvPr>
          <p:cNvSpPr/>
          <p:nvPr/>
        </p:nvSpPr>
        <p:spPr>
          <a:xfrm>
            <a:off x="2116453" y="2048754"/>
            <a:ext cx="4900989" cy="1323439"/>
          </a:xfrm>
          <a:prstGeom prst="rect">
            <a:avLst/>
          </a:prstGeom>
        </p:spPr>
        <p:txBody>
          <a:bodyPr wrap="square">
            <a:spAutoFit/>
          </a:bodyPr>
          <a:lstStyle/>
          <a:p>
            <a:r>
              <a:rPr lang="en-US" sz="1600" dirty="0">
                <a:latin typeface="Franklin Gothic Book" panose="020B0503020102020204" pitchFamily="34" charset="0"/>
              </a:rPr>
              <a:t>In contrast to ego-centric network, where respective actors yield their own density values, in a complete network, there is only one single density value for the whole group. For N actors in a network, the density calculation follows:</a:t>
            </a:r>
            <a:endParaRPr lang="en-US" sz="1600" dirty="0"/>
          </a:p>
        </p:txBody>
      </p:sp>
      <p:grpSp>
        <p:nvGrpSpPr>
          <p:cNvPr id="6" name="그룹 5">
            <a:extLst>
              <a:ext uri="{FF2B5EF4-FFF2-40B4-BE49-F238E27FC236}">
                <a16:creationId xmlns:a16="http://schemas.microsoft.com/office/drawing/2014/main" id="{0BBB0E02-F2E2-428D-A37D-1FC93E85A46E}"/>
              </a:ext>
            </a:extLst>
          </p:cNvPr>
          <p:cNvGrpSpPr/>
          <p:nvPr/>
        </p:nvGrpSpPr>
        <p:grpSpPr>
          <a:xfrm>
            <a:off x="7322655" y="1710756"/>
            <a:ext cx="4662238" cy="1975924"/>
            <a:chOff x="6789998" y="2257767"/>
            <a:chExt cx="4959349" cy="2101843"/>
          </a:xfrm>
        </p:grpSpPr>
        <mc:AlternateContent xmlns:mc="http://schemas.openxmlformats.org/markup-compatibility/2006" xmlns:a14="http://schemas.microsoft.com/office/drawing/2010/main">
          <mc:Choice Requires="a14">
            <p:sp>
              <p:nvSpPr>
                <p:cNvPr id="7" name="직사각형 6">
                  <a:extLst>
                    <a:ext uri="{FF2B5EF4-FFF2-40B4-BE49-F238E27FC236}">
                      <a16:creationId xmlns:a16="http://schemas.microsoft.com/office/drawing/2014/main" id="{EFAF3BB8-21FA-4E31-9873-5964841CDEE9}"/>
                    </a:ext>
                  </a:extLst>
                </p:cNvPr>
                <p:cNvSpPr/>
                <p:nvPr/>
              </p:nvSpPr>
              <p:spPr>
                <a:xfrm>
                  <a:off x="6789998" y="2257767"/>
                  <a:ext cx="4851787" cy="544219"/>
                </a:xfrm>
                <a:prstGeom prst="rect">
                  <a:avLst/>
                </a:prstGeom>
              </p:spPr>
              <p:txBody>
                <a:bodyPr wrap="none">
                  <a:spAutoFit/>
                </a:bodyPr>
                <a:lstStyle/>
                <a:p>
                  <a:r>
                    <a:rPr lang="en-US" sz="1400" b="1" dirty="0"/>
                    <a:t>If binary nondirected</a:t>
                  </a:r>
                  <a:r>
                    <a:rPr lang="en-US" sz="1600" b="1" dirty="0"/>
                    <a:t>: </a:t>
                  </a:r>
                  <a14:m>
                    <m:oMath xmlns:m="http://schemas.openxmlformats.org/officeDocument/2006/math">
                      <m:r>
                        <a:rPr lang="en-US" sz="1600" b="1" i="1" smtClean="0">
                          <a:latin typeface="Cambria Math" panose="02040503050406030204" pitchFamily="18" charset="0"/>
                        </a:rPr>
                        <m:t>𝑫</m:t>
                      </m:r>
                      <m:r>
                        <a:rPr lang="en-US" sz="1600" b="1" i="1" smtClean="0">
                          <a:latin typeface="Cambria Math" panose="02040503050406030204" pitchFamily="18" charset="0"/>
                        </a:rPr>
                        <m:t>=</m:t>
                      </m:r>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𝑳</m:t>
                          </m:r>
                        </m:num>
                        <m:den>
                          <m:d>
                            <m:dPr>
                              <m:ctrlPr>
                                <a:rPr lang="en-US" sz="1600" b="1" i="1" smtClean="0">
                                  <a:latin typeface="Cambria Math" panose="02040503050406030204" pitchFamily="18" charset="0"/>
                                </a:rPr>
                              </m:ctrlPr>
                            </m:dPr>
                            <m:e>
                              <m:f>
                                <m:fPr>
                                  <m:type m:val="noBar"/>
                                  <m:ctrlPr>
                                    <a:rPr lang="en-US" sz="1600" b="1" i="1" smtClean="0">
                                      <a:latin typeface="Cambria Math" panose="02040503050406030204" pitchFamily="18" charset="0"/>
                                    </a:rPr>
                                  </m:ctrlPr>
                                </m:fPr>
                                <m:num>
                                  <m:r>
                                    <a:rPr lang="en-US" sz="1600" b="1" i="1" smtClean="0">
                                      <a:latin typeface="Cambria Math" panose="02040503050406030204" pitchFamily="18" charset="0"/>
                                    </a:rPr>
                                    <m:t>𝟐</m:t>
                                  </m:r>
                                </m:num>
                                <m:den>
                                  <m:r>
                                    <a:rPr lang="en-US" sz="1600" b="1" i="1" smtClean="0">
                                      <a:latin typeface="Cambria Math" panose="02040503050406030204" pitchFamily="18" charset="0"/>
                                    </a:rPr>
                                    <m:t>𝑵</m:t>
                                  </m:r>
                                </m:den>
                              </m:f>
                            </m:e>
                          </m:d>
                        </m:den>
                      </m:f>
                    </m:oMath>
                  </a14:m>
                  <a:r>
                    <a:rPr lang="en-US" sz="1600" b="1" i="1" dirty="0"/>
                    <a:t>      , </a:t>
                  </a:r>
                  <a:r>
                    <a:rPr lang="en-US" sz="1400" b="1" i="1" dirty="0"/>
                    <a:t>where </a:t>
                  </a:r>
                  <a14:m>
                    <m:oMath xmlns:m="http://schemas.openxmlformats.org/officeDocument/2006/math">
                      <m:d>
                        <m:dPr>
                          <m:ctrlPr>
                            <a:rPr lang="en-US" sz="1400" b="1" i="1">
                              <a:latin typeface="Cambria Math" panose="02040503050406030204" pitchFamily="18" charset="0"/>
                            </a:rPr>
                          </m:ctrlPr>
                        </m:dPr>
                        <m:e>
                          <m:f>
                            <m:fPr>
                              <m:type m:val="noBar"/>
                              <m:ctrlPr>
                                <a:rPr lang="en-US" sz="1400" b="1" i="1">
                                  <a:latin typeface="Cambria Math" panose="02040503050406030204" pitchFamily="18" charset="0"/>
                                </a:rPr>
                              </m:ctrlPr>
                            </m:fPr>
                            <m:num>
                              <m:r>
                                <a:rPr lang="en-US" sz="1400" b="1" i="1">
                                  <a:latin typeface="Cambria Math" panose="02040503050406030204" pitchFamily="18" charset="0"/>
                                </a:rPr>
                                <m:t>𝟐</m:t>
                              </m:r>
                            </m:num>
                            <m:den>
                              <m:r>
                                <a:rPr lang="en-US" sz="1400" b="1" i="1">
                                  <a:latin typeface="Cambria Math" panose="02040503050406030204" pitchFamily="18" charset="0"/>
                                </a:rPr>
                                <m:t>𝑵</m:t>
                              </m:r>
                            </m:den>
                          </m:f>
                        </m:e>
                      </m:d>
                    </m:oMath>
                  </a14:m>
                  <a:r>
                    <a:rPr lang="en-US" sz="1600" b="1" i="1" dirty="0"/>
                    <a:t> = </a:t>
                  </a:r>
                  <a14:m>
                    <m:oMath xmlns:m="http://schemas.openxmlformats.org/officeDocument/2006/math">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𝑵</m:t>
                          </m:r>
                          <m:r>
                            <a:rPr lang="en-US" sz="1600" b="1" i="1" smtClean="0">
                              <a:latin typeface="Cambria Math" panose="02040503050406030204" pitchFamily="18" charset="0"/>
                            </a:rPr>
                            <m:t>!</m:t>
                          </m:r>
                        </m:num>
                        <m:den>
                          <m:r>
                            <a:rPr lang="en-US" sz="1600" b="1" i="1" smtClean="0">
                              <a:latin typeface="Cambria Math" panose="02040503050406030204" pitchFamily="18" charset="0"/>
                            </a:rPr>
                            <m:t>𝟐</m:t>
                          </m:r>
                          <m:r>
                            <a:rPr lang="en-US" sz="1600" b="1" i="1" smtClean="0">
                              <a:latin typeface="Cambria Math" panose="02040503050406030204" pitchFamily="18" charset="0"/>
                            </a:rPr>
                            <m:t>!×</m:t>
                          </m:r>
                          <m:d>
                            <m:dPr>
                              <m:ctrlPr>
                                <a:rPr lang="en-US" sz="1600" b="1" i="1" smtClean="0">
                                  <a:latin typeface="Cambria Math" panose="02040503050406030204" pitchFamily="18" charset="0"/>
                                  <a:ea typeface="Cambria Math" panose="02040503050406030204" pitchFamily="18" charset="0"/>
                                </a:rPr>
                              </m:ctrlPr>
                            </m:dPr>
                            <m:e>
                              <m:r>
                                <a:rPr lang="en-US" sz="1600" b="1" i="1" smtClean="0">
                                  <a:latin typeface="Cambria Math" panose="02040503050406030204" pitchFamily="18" charset="0"/>
                                  <a:ea typeface="Cambria Math" panose="02040503050406030204" pitchFamily="18" charset="0"/>
                                </a:rPr>
                                <m:t>𝑵</m:t>
                              </m:r>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𝟐</m:t>
                              </m:r>
                            </m:e>
                          </m:d>
                          <m:r>
                            <a:rPr lang="en-US" sz="1600" b="1" i="1" smtClean="0">
                              <a:latin typeface="Cambria Math" panose="02040503050406030204" pitchFamily="18" charset="0"/>
                              <a:ea typeface="Cambria Math" panose="02040503050406030204" pitchFamily="18" charset="0"/>
                            </a:rPr>
                            <m:t>!</m:t>
                          </m:r>
                        </m:den>
                      </m:f>
                    </m:oMath>
                  </a14:m>
                  <a:endParaRPr lang="en-US" sz="1600" b="1" i="1" dirty="0"/>
                </a:p>
              </p:txBody>
            </p:sp>
          </mc:Choice>
          <mc:Fallback xmlns="">
            <p:sp>
              <p:nvSpPr>
                <p:cNvPr id="12" name="직사각형 11">
                  <a:extLst>
                    <a:ext uri="{FF2B5EF4-FFF2-40B4-BE49-F238E27FC236}">
                      <a16:creationId xmlns:a16="http://schemas.microsoft.com/office/drawing/2014/main" id="{E17FB43A-0322-45FD-86B3-3C132E201ECF}"/>
                    </a:ext>
                  </a:extLst>
                </p:cNvPr>
                <p:cNvSpPr>
                  <a:spLocks noRot="1" noChangeAspect="1" noMove="1" noResize="1" noEditPoints="1" noAdjustHandles="1" noChangeArrowheads="1" noChangeShapeType="1" noTextEdit="1"/>
                </p:cNvSpPr>
                <p:nvPr/>
              </p:nvSpPr>
              <p:spPr>
                <a:xfrm>
                  <a:off x="6789998" y="2257767"/>
                  <a:ext cx="4851787" cy="544219"/>
                </a:xfrm>
                <a:prstGeom prst="rect">
                  <a:avLst/>
                </a:prstGeom>
                <a:blipFill>
                  <a:blip r:embed="rId3"/>
                  <a:stretch>
                    <a:fillRect l="-4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직사각형 7">
                  <a:extLst>
                    <a:ext uri="{FF2B5EF4-FFF2-40B4-BE49-F238E27FC236}">
                      <a16:creationId xmlns:a16="http://schemas.microsoft.com/office/drawing/2014/main" id="{46D41624-C61A-4802-95D7-004861B79305}"/>
                    </a:ext>
                  </a:extLst>
                </p:cNvPr>
                <p:cNvSpPr/>
                <p:nvPr/>
              </p:nvSpPr>
              <p:spPr>
                <a:xfrm>
                  <a:off x="6789998" y="2776975"/>
                  <a:ext cx="4790401" cy="544219"/>
                </a:xfrm>
                <a:prstGeom prst="rect">
                  <a:avLst/>
                </a:prstGeom>
              </p:spPr>
              <p:txBody>
                <a:bodyPr wrap="none">
                  <a:spAutoFit/>
                </a:bodyPr>
                <a:lstStyle/>
                <a:p>
                  <a:r>
                    <a:rPr lang="en-US" sz="1400" b="1" dirty="0"/>
                    <a:t>If binary directed</a:t>
                  </a:r>
                  <a:r>
                    <a:rPr lang="en-US" sz="1600" b="1" dirty="0"/>
                    <a:t>: </a:t>
                  </a:r>
                  <a14:m>
                    <m:oMath xmlns:m="http://schemas.openxmlformats.org/officeDocument/2006/math">
                      <m:r>
                        <a:rPr lang="en-US" sz="1600" b="1" i="1" smtClean="0">
                          <a:latin typeface="Cambria Math" panose="02040503050406030204" pitchFamily="18" charset="0"/>
                        </a:rPr>
                        <m:t>𝑫</m:t>
                      </m:r>
                      <m:r>
                        <a:rPr lang="en-US" sz="1600" b="1" i="1" smtClean="0">
                          <a:latin typeface="Cambria Math" panose="02040503050406030204" pitchFamily="18" charset="0"/>
                        </a:rPr>
                        <m:t>=</m:t>
                      </m:r>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𝑳</m:t>
                          </m:r>
                        </m:num>
                        <m:den>
                          <m:r>
                            <a:rPr lang="en-US" sz="1600" b="1" i="1" smtClean="0">
                              <a:latin typeface="Cambria Math" panose="02040503050406030204" pitchFamily="18" charset="0"/>
                            </a:rPr>
                            <m:t>𝟐</m:t>
                          </m:r>
                          <m:r>
                            <a:rPr lang="en-US" sz="1600" b="1" i="1" smtClean="0">
                              <a:latin typeface="Cambria Math" panose="02040503050406030204" pitchFamily="18" charset="0"/>
                            </a:rPr>
                            <m:t> ×</m:t>
                          </m:r>
                          <m:d>
                            <m:dPr>
                              <m:ctrlPr>
                                <a:rPr lang="en-US" sz="1600" b="1" i="1" smtClean="0">
                                  <a:latin typeface="Cambria Math" panose="02040503050406030204" pitchFamily="18" charset="0"/>
                                </a:rPr>
                              </m:ctrlPr>
                            </m:dPr>
                            <m:e>
                              <m:f>
                                <m:fPr>
                                  <m:type m:val="noBar"/>
                                  <m:ctrlPr>
                                    <a:rPr lang="en-US" sz="1600" b="1" i="1" smtClean="0">
                                      <a:latin typeface="Cambria Math" panose="02040503050406030204" pitchFamily="18" charset="0"/>
                                    </a:rPr>
                                  </m:ctrlPr>
                                </m:fPr>
                                <m:num>
                                  <m:r>
                                    <a:rPr lang="en-US" sz="1600" b="1" i="1" smtClean="0">
                                      <a:latin typeface="Cambria Math" panose="02040503050406030204" pitchFamily="18" charset="0"/>
                                    </a:rPr>
                                    <m:t>𝟐</m:t>
                                  </m:r>
                                </m:num>
                                <m:den>
                                  <m:r>
                                    <a:rPr lang="en-US" sz="1600" b="1" i="1" smtClean="0">
                                      <a:latin typeface="Cambria Math" panose="02040503050406030204" pitchFamily="18" charset="0"/>
                                    </a:rPr>
                                    <m:t>𝑵</m:t>
                                  </m:r>
                                </m:den>
                              </m:f>
                            </m:e>
                          </m:d>
                        </m:den>
                      </m:f>
                    </m:oMath>
                  </a14:m>
                  <a:r>
                    <a:rPr lang="en-US" sz="1600" b="1" i="1" dirty="0"/>
                    <a:t>      , </a:t>
                  </a:r>
                  <a:r>
                    <a:rPr lang="en-US" sz="1400" b="1" i="1" dirty="0"/>
                    <a:t>where </a:t>
                  </a:r>
                  <a14:m>
                    <m:oMath xmlns:m="http://schemas.openxmlformats.org/officeDocument/2006/math">
                      <m:d>
                        <m:dPr>
                          <m:ctrlPr>
                            <a:rPr lang="en-US" sz="1400" b="1" i="1">
                              <a:latin typeface="Cambria Math" panose="02040503050406030204" pitchFamily="18" charset="0"/>
                            </a:rPr>
                          </m:ctrlPr>
                        </m:dPr>
                        <m:e>
                          <m:f>
                            <m:fPr>
                              <m:type m:val="noBar"/>
                              <m:ctrlPr>
                                <a:rPr lang="en-US" sz="1400" b="1" i="1">
                                  <a:latin typeface="Cambria Math" panose="02040503050406030204" pitchFamily="18" charset="0"/>
                                </a:rPr>
                              </m:ctrlPr>
                            </m:fPr>
                            <m:num>
                              <m:r>
                                <a:rPr lang="en-US" sz="1400" b="1" i="1">
                                  <a:latin typeface="Cambria Math" panose="02040503050406030204" pitchFamily="18" charset="0"/>
                                </a:rPr>
                                <m:t>𝟐</m:t>
                              </m:r>
                            </m:num>
                            <m:den>
                              <m:r>
                                <a:rPr lang="en-US" sz="1400" b="1" i="1">
                                  <a:latin typeface="Cambria Math" panose="02040503050406030204" pitchFamily="18" charset="0"/>
                                </a:rPr>
                                <m:t>𝑵</m:t>
                              </m:r>
                            </m:den>
                          </m:f>
                        </m:e>
                      </m:d>
                    </m:oMath>
                  </a14:m>
                  <a:r>
                    <a:rPr lang="en-US" sz="1600" b="1" i="1" dirty="0"/>
                    <a:t> = </a:t>
                  </a:r>
                  <a14:m>
                    <m:oMath xmlns:m="http://schemas.openxmlformats.org/officeDocument/2006/math">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𝑵</m:t>
                          </m:r>
                          <m:r>
                            <a:rPr lang="en-US" sz="1600" b="1" i="1" smtClean="0">
                              <a:latin typeface="Cambria Math" panose="02040503050406030204" pitchFamily="18" charset="0"/>
                            </a:rPr>
                            <m:t>!</m:t>
                          </m:r>
                        </m:num>
                        <m:den>
                          <m:r>
                            <a:rPr lang="en-US" sz="1600" b="1" i="1" smtClean="0">
                              <a:latin typeface="Cambria Math" panose="02040503050406030204" pitchFamily="18" charset="0"/>
                            </a:rPr>
                            <m:t>𝟐</m:t>
                          </m:r>
                          <m:r>
                            <a:rPr lang="en-US" sz="1600" b="1" i="1" smtClean="0">
                              <a:latin typeface="Cambria Math" panose="02040503050406030204" pitchFamily="18" charset="0"/>
                            </a:rPr>
                            <m:t>!×</m:t>
                          </m:r>
                          <m:d>
                            <m:dPr>
                              <m:ctrlPr>
                                <a:rPr lang="en-US" sz="1600" b="1" i="1" smtClean="0">
                                  <a:latin typeface="Cambria Math" panose="02040503050406030204" pitchFamily="18" charset="0"/>
                                  <a:ea typeface="Cambria Math" panose="02040503050406030204" pitchFamily="18" charset="0"/>
                                </a:rPr>
                              </m:ctrlPr>
                            </m:dPr>
                            <m:e>
                              <m:r>
                                <a:rPr lang="en-US" sz="1600" b="1" i="1" smtClean="0">
                                  <a:latin typeface="Cambria Math" panose="02040503050406030204" pitchFamily="18" charset="0"/>
                                  <a:ea typeface="Cambria Math" panose="02040503050406030204" pitchFamily="18" charset="0"/>
                                </a:rPr>
                                <m:t>𝑵</m:t>
                              </m:r>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𝟐</m:t>
                              </m:r>
                            </m:e>
                          </m:d>
                          <m:r>
                            <a:rPr lang="en-US" sz="1600" b="1" i="1" smtClean="0">
                              <a:latin typeface="Cambria Math" panose="02040503050406030204" pitchFamily="18" charset="0"/>
                              <a:ea typeface="Cambria Math" panose="02040503050406030204" pitchFamily="18" charset="0"/>
                            </a:rPr>
                            <m:t>!</m:t>
                          </m:r>
                        </m:den>
                      </m:f>
                    </m:oMath>
                  </a14:m>
                  <a:endParaRPr lang="en-US" sz="1600" b="1" i="1" dirty="0"/>
                </a:p>
              </p:txBody>
            </p:sp>
          </mc:Choice>
          <mc:Fallback xmlns="">
            <p:sp>
              <p:nvSpPr>
                <p:cNvPr id="13" name="직사각형 12">
                  <a:extLst>
                    <a:ext uri="{FF2B5EF4-FFF2-40B4-BE49-F238E27FC236}">
                      <a16:creationId xmlns:a16="http://schemas.microsoft.com/office/drawing/2014/main" id="{FCC069C5-B29F-429C-86B8-E8C854CF5818}"/>
                    </a:ext>
                  </a:extLst>
                </p:cNvPr>
                <p:cNvSpPr>
                  <a:spLocks noRot="1" noChangeAspect="1" noMove="1" noResize="1" noEditPoints="1" noAdjustHandles="1" noChangeArrowheads="1" noChangeShapeType="1" noTextEdit="1"/>
                </p:cNvSpPr>
                <p:nvPr/>
              </p:nvSpPr>
              <p:spPr>
                <a:xfrm>
                  <a:off x="6789998" y="2776975"/>
                  <a:ext cx="4790401" cy="544219"/>
                </a:xfrm>
                <a:prstGeom prst="rect">
                  <a:avLst/>
                </a:prstGeom>
                <a:blipFill>
                  <a:blip r:embed="rId4"/>
                  <a:stretch>
                    <a:fillRect l="-4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직사각형 8">
                  <a:extLst>
                    <a:ext uri="{FF2B5EF4-FFF2-40B4-BE49-F238E27FC236}">
                      <a16:creationId xmlns:a16="http://schemas.microsoft.com/office/drawing/2014/main" id="{CB6768BE-4019-4168-8A5C-376DA61C74BF}"/>
                    </a:ext>
                  </a:extLst>
                </p:cNvPr>
                <p:cNvSpPr/>
                <p:nvPr/>
              </p:nvSpPr>
              <p:spPr>
                <a:xfrm>
                  <a:off x="6789998" y="3815391"/>
                  <a:ext cx="4959349" cy="544219"/>
                </a:xfrm>
                <a:prstGeom prst="rect">
                  <a:avLst/>
                </a:prstGeom>
              </p:spPr>
              <p:txBody>
                <a:bodyPr wrap="square">
                  <a:spAutoFit/>
                </a:bodyPr>
                <a:lstStyle/>
                <a:p>
                  <a:r>
                    <a:rPr lang="en-US" sz="1400" b="1" dirty="0"/>
                    <a:t>If valued directed</a:t>
                  </a:r>
                  <a:r>
                    <a:rPr lang="en-US" sz="1600" b="1" dirty="0"/>
                    <a:t>: </a:t>
                  </a:r>
                  <a14:m>
                    <m:oMath xmlns:m="http://schemas.openxmlformats.org/officeDocument/2006/math">
                      <m:r>
                        <a:rPr lang="en-US" sz="1600" b="1" i="1" smtClean="0">
                          <a:latin typeface="Cambria Math" panose="02040503050406030204" pitchFamily="18" charset="0"/>
                        </a:rPr>
                        <m:t>𝑫</m:t>
                      </m:r>
                      <m:r>
                        <a:rPr lang="en-US" sz="1600" b="1" i="1" smtClean="0">
                          <a:latin typeface="Cambria Math" panose="02040503050406030204" pitchFamily="18" charset="0"/>
                        </a:rPr>
                        <m:t>=</m:t>
                      </m:r>
                      <m:f>
                        <m:fPr>
                          <m:ctrlPr>
                            <a:rPr lang="en-US" sz="1600" b="1" i="1" smtClean="0">
                              <a:latin typeface="Cambria Math" panose="02040503050406030204" pitchFamily="18" charset="0"/>
                            </a:rPr>
                          </m:ctrlPr>
                        </m:fPr>
                        <m:num>
                          <m:sSub>
                            <m:sSubPr>
                              <m:ctrlPr>
                                <a:rPr lang="en-US" sz="1600" b="1" i="1">
                                  <a:latin typeface="Cambria Math" panose="02040503050406030204" pitchFamily="18" charset="0"/>
                                </a:rPr>
                              </m:ctrlPr>
                            </m:sSubPr>
                            <m:e>
                              <m:r>
                                <a:rPr lang="en-US" sz="1600" b="1" i="1">
                                  <a:latin typeface="Cambria Math" panose="02040503050406030204" pitchFamily="18" charset="0"/>
                                </a:rPr>
                                <m:t>𝑳</m:t>
                              </m:r>
                            </m:e>
                            <m:sub>
                              <m:r>
                                <a:rPr lang="en-US" sz="1600" b="1" i="1">
                                  <a:latin typeface="Cambria Math" panose="02040503050406030204" pitchFamily="18" charset="0"/>
                                </a:rPr>
                                <m:t>𝒘</m:t>
                              </m:r>
                            </m:sub>
                          </m:sSub>
                        </m:num>
                        <m:den>
                          <m:r>
                            <a:rPr lang="en-US" sz="1600" b="1" i="1" smtClean="0">
                              <a:latin typeface="Cambria Math" panose="02040503050406030204" pitchFamily="18" charset="0"/>
                            </a:rPr>
                            <m:t>𝟐</m:t>
                          </m:r>
                          <m:r>
                            <a:rPr lang="en-US" sz="1600" b="1" i="1" smtClean="0">
                              <a:latin typeface="Cambria Math" panose="02040503050406030204" pitchFamily="18" charset="0"/>
                            </a:rPr>
                            <m:t> ×</m:t>
                          </m:r>
                          <m:d>
                            <m:dPr>
                              <m:ctrlPr>
                                <a:rPr lang="en-US" sz="1600" b="1" i="1" smtClean="0">
                                  <a:latin typeface="Cambria Math" panose="02040503050406030204" pitchFamily="18" charset="0"/>
                                </a:rPr>
                              </m:ctrlPr>
                            </m:dPr>
                            <m:e>
                              <m:f>
                                <m:fPr>
                                  <m:type m:val="noBar"/>
                                  <m:ctrlPr>
                                    <a:rPr lang="en-US" sz="1600" b="1" i="1" smtClean="0">
                                      <a:latin typeface="Cambria Math" panose="02040503050406030204" pitchFamily="18" charset="0"/>
                                    </a:rPr>
                                  </m:ctrlPr>
                                </m:fPr>
                                <m:num>
                                  <m:r>
                                    <a:rPr lang="en-US" sz="1600" b="1" i="1" smtClean="0">
                                      <a:latin typeface="Cambria Math" panose="02040503050406030204" pitchFamily="18" charset="0"/>
                                    </a:rPr>
                                    <m:t>𝟐</m:t>
                                  </m:r>
                                </m:num>
                                <m:den>
                                  <m:r>
                                    <a:rPr lang="en-US" sz="1600" b="1" i="1" smtClean="0">
                                      <a:latin typeface="Cambria Math" panose="02040503050406030204" pitchFamily="18" charset="0"/>
                                    </a:rPr>
                                    <m:t>𝑵</m:t>
                                  </m:r>
                                </m:den>
                              </m:f>
                            </m:e>
                          </m:d>
                        </m:den>
                      </m:f>
                    </m:oMath>
                  </a14:m>
                  <a:r>
                    <a:rPr lang="en-US" sz="1600" b="1" i="1" dirty="0"/>
                    <a:t>      , </a:t>
                  </a:r>
                  <a:r>
                    <a:rPr lang="en-US" sz="1400" b="1" i="1" dirty="0"/>
                    <a:t>where </a:t>
                  </a:r>
                  <a14:m>
                    <m:oMath xmlns:m="http://schemas.openxmlformats.org/officeDocument/2006/math">
                      <m:d>
                        <m:dPr>
                          <m:ctrlPr>
                            <a:rPr lang="en-US" sz="1400" b="1" i="1">
                              <a:latin typeface="Cambria Math" panose="02040503050406030204" pitchFamily="18" charset="0"/>
                            </a:rPr>
                          </m:ctrlPr>
                        </m:dPr>
                        <m:e>
                          <m:f>
                            <m:fPr>
                              <m:type m:val="noBar"/>
                              <m:ctrlPr>
                                <a:rPr lang="en-US" sz="1400" b="1" i="1">
                                  <a:latin typeface="Cambria Math" panose="02040503050406030204" pitchFamily="18" charset="0"/>
                                </a:rPr>
                              </m:ctrlPr>
                            </m:fPr>
                            <m:num>
                              <m:r>
                                <a:rPr lang="en-US" sz="1400" b="1" i="1">
                                  <a:latin typeface="Cambria Math" panose="02040503050406030204" pitchFamily="18" charset="0"/>
                                </a:rPr>
                                <m:t>𝟐</m:t>
                              </m:r>
                            </m:num>
                            <m:den>
                              <m:r>
                                <a:rPr lang="en-US" sz="1400" b="1" i="1">
                                  <a:latin typeface="Cambria Math" panose="02040503050406030204" pitchFamily="18" charset="0"/>
                                </a:rPr>
                                <m:t>𝑵</m:t>
                              </m:r>
                            </m:den>
                          </m:f>
                        </m:e>
                      </m:d>
                    </m:oMath>
                  </a14:m>
                  <a:r>
                    <a:rPr lang="en-US" sz="1600" b="1" i="1" dirty="0"/>
                    <a:t> = </a:t>
                  </a:r>
                  <a14:m>
                    <m:oMath xmlns:m="http://schemas.openxmlformats.org/officeDocument/2006/math">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𝑵</m:t>
                          </m:r>
                          <m:r>
                            <a:rPr lang="en-US" sz="1600" b="1" i="1" smtClean="0">
                              <a:latin typeface="Cambria Math" panose="02040503050406030204" pitchFamily="18" charset="0"/>
                            </a:rPr>
                            <m:t>!</m:t>
                          </m:r>
                        </m:num>
                        <m:den>
                          <m:r>
                            <a:rPr lang="en-US" sz="1600" b="1" i="1" smtClean="0">
                              <a:latin typeface="Cambria Math" panose="02040503050406030204" pitchFamily="18" charset="0"/>
                            </a:rPr>
                            <m:t>𝟐</m:t>
                          </m:r>
                          <m:r>
                            <a:rPr lang="en-US" sz="1600" b="1" i="1" smtClean="0">
                              <a:latin typeface="Cambria Math" panose="02040503050406030204" pitchFamily="18" charset="0"/>
                            </a:rPr>
                            <m:t>!×</m:t>
                          </m:r>
                          <m:d>
                            <m:dPr>
                              <m:ctrlPr>
                                <a:rPr lang="en-US" sz="1600" b="1" i="1" smtClean="0">
                                  <a:latin typeface="Cambria Math" panose="02040503050406030204" pitchFamily="18" charset="0"/>
                                  <a:ea typeface="Cambria Math" panose="02040503050406030204" pitchFamily="18" charset="0"/>
                                </a:rPr>
                              </m:ctrlPr>
                            </m:dPr>
                            <m:e>
                              <m:r>
                                <a:rPr lang="en-US" sz="1600" b="1" i="1" smtClean="0">
                                  <a:latin typeface="Cambria Math" panose="02040503050406030204" pitchFamily="18" charset="0"/>
                                  <a:ea typeface="Cambria Math" panose="02040503050406030204" pitchFamily="18" charset="0"/>
                                </a:rPr>
                                <m:t>𝑵</m:t>
                              </m:r>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𝟐</m:t>
                              </m:r>
                            </m:e>
                          </m:d>
                          <m:r>
                            <a:rPr lang="en-US" sz="1600" b="1" i="1" smtClean="0">
                              <a:latin typeface="Cambria Math" panose="02040503050406030204" pitchFamily="18" charset="0"/>
                              <a:ea typeface="Cambria Math" panose="02040503050406030204" pitchFamily="18" charset="0"/>
                            </a:rPr>
                            <m:t>!</m:t>
                          </m:r>
                        </m:den>
                      </m:f>
                    </m:oMath>
                  </a14:m>
                  <a:endParaRPr lang="en-US" sz="1600" b="1" i="1" dirty="0"/>
                </a:p>
              </p:txBody>
            </p:sp>
          </mc:Choice>
          <mc:Fallback xmlns="">
            <p:sp>
              <p:nvSpPr>
                <p:cNvPr id="14" name="직사각형 13">
                  <a:extLst>
                    <a:ext uri="{FF2B5EF4-FFF2-40B4-BE49-F238E27FC236}">
                      <a16:creationId xmlns:a16="http://schemas.microsoft.com/office/drawing/2014/main" id="{00D8E022-49B9-4FAE-83D9-84CB2775A292}"/>
                    </a:ext>
                  </a:extLst>
                </p:cNvPr>
                <p:cNvSpPr>
                  <a:spLocks noRot="1" noChangeAspect="1" noMove="1" noResize="1" noEditPoints="1" noAdjustHandles="1" noChangeArrowheads="1" noChangeShapeType="1" noTextEdit="1"/>
                </p:cNvSpPr>
                <p:nvPr/>
              </p:nvSpPr>
              <p:spPr>
                <a:xfrm>
                  <a:off x="6789998" y="3815391"/>
                  <a:ext cx="4959349" cy="544219"/>
                </a:xfrm>
                <a:prstGeom prst="rect">
                  <a:avLst/>
                </a:prstGeom>
                <a:blipFill>
                  <a:blip r:embed="rId5"/>
                  <a:stretch>
                    <a:fillRect l="-3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37A146C5-E4FB-43F9-910F-B45C1E5F71F7}"/>
                    </a:ext>
                  </a:extLst>
                </p:cNvPr>
                <p:cNvSpPr/>
                <p:nvPr/>
              </p:nvSpPr>
              <p:spPr>
                <a:xfrm>
                  <a:off x="6789998" y="3296184"/>
                  <a:ext cx="4875456" cy="544219"/>
                </a:xfrm>
                <a:prstGeom prst="rect">
                  <a:avLst/>
                </a:prstGeom>
              </p:spPr>
              <p:txBody>
                <a:bodyPr wrap="none">
                  <a:spAutoFit/>
                </a:bodyPr>
                <a:lstStyle/>
                <a:p>
                  <a:r>
                    <a:rPr lang="en-US" sz="1400" b="1" dirty="0"/>
                    <a:t>If valued nondirected</a:t>
                  </a:r>
                  <a:r>
                    <a:rPr lang="en-US" sz="1600" b="1" dirty="0"/>
                    <a:t>: </a:t>
                  </a:r>
                  <a14:m>
                    <m:oMath xmlns:m="http://schemas.openxmlformats.org/officeDocument/2006/math">
                      <m:r>
                        <a:rPr lang="en-US" sz="1600" b="1" i="1" smtClean="0">
                          <a:latin typeface="Cambria Math" panose="02040503050406030204" pitchFamily="18" charset="0"/>
                        </a:rPr>
                        <m:t>𝑫</m:t>
                      </m:r>
                      <m:r>
                        <a:rPr lang="en-US" sz="1600" b="1" i="1" smtClean="0">
                          <a:latin typeface="Cambria Math" panose="02040503050406030204" pitchFamily="18" charset="0"/>
                        </a:rPr>
                        <m:t>=</m:t>
                      </m:r>
                      <m:f>
                        <m:fPr>
                          <m:ctrlPr>
                            <a:rPr lang="en-US" sz="1600" b="1" i="1" smtClean="0">
                              <a:latin typeface="Cambria Math" panose="02040503050406030204" pitchFamily="18" charset="0"/>
                            </a:rPr>
                          </m:ctrlPr>
                        </m:fPr>
                        <m:num>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𝑳</m:t>
                              </m:r>
                            </m:e>
                            <m:sub>
                              <m:r>
                                <a:rPr lang="en-US" sz="1600" b="1" i="1" smtClean="0">
                                  <a:latin typeface="Cambria Math" panose="02040503050406030204" pitchFamily="18" charset="0"/>
                                </a:rPr>
                                <m:t>𝒘</m:t>
                              </m:r>
                            </m:sub>
                          </m:sSub>
                        </m:num>
                        <m:den>
                          <m:d>
                            <m:dPr>
                              <m:ctrlPr>
                                <a:rPr lang="en-US" sz="1600" b="1" i="1" smtClean="0">
                                  <a:latin typeface="Cambria Math" panose="02040503050406030204" pitchFamily="18" charset="0"/>
                                </a:rPr>
                              </m:ctrlPr>
                            </m:dPr>
                            <m:e>
                              <m:f>
                                <m:fPr>
                                  <m:type m:val="noBar"/>
                                  <m:ctrlPr>
                                    <a:rPr lang="en-US" sz="1600" b="1" i="1" smtClean="0">
                                      <a:latin typeface="Cambria Math" panose="02040503050406030204" pitchFamily="18" charset="0"/>
                                    </a:rPr>
                                  </m:ctrlPr>
                                </m:fPr>
                                <m:num>
                                  <m:r>
                                    <a:rPr lang="en-US" sz="1600" b="1" i="1" smtClean="0">
                                      <a:latin typeface="Cambria Math" panose="02040503050406030204" pitchFamily="18" charset="0"/>
                                    </a:rPr>
                                    <m:t>𝟐</m:t>
                                  </m:r>
                                </m:num>
                                <m:den>
                                  <m:r>
                                    <a:rPr lang="en-US" sz="1600" b="1" i="1" smtClean="0">
                                      <a:latin typeface="Cambria Math" panose="02040503050406030204" pitchFamily="18" charset="0"/>
                                    </a:rPr>
                                    <m:t>𝑵</m:t>
                                  </m:r>
                                </m:den>
                              </m:f>
                            </m:e>
                          </m:d>
                        </m:den>
                      </m:f>
                    </m:oMath>
                  </a14:m>
                  <a:r>
                    <a:rPr lang="en-US" sz="1600" b="1" i="1" dirty="0"/>
                    <a:t>      , </a:t>
                  </a:r>
                  <a:r>
                    <a:rPr lang="en-US" sz="1400" b="1" i="1" dirty="0"/>
                    <a:t>where </a:t>
                  </a:r>
                  <a14:m>
                    <m:oMath xmlns:m="http://schemas.openxmlformats.org/officeDocument/2006/math">
                      <m:d>
                        <m:dPr>
                          <m:ctrlPr>
                            <a:rPr lang="en-US" sz="1400" b="1" i="1">
                              <a:latin typeface="Cambria Math" panose="02040503050406030204" pitchFamily="18" charset="0"/>
                            </a:rPr>
                          </m:ctrlPr>
                        </m:dPr>
                        <m:e>
                          <m:f>
                            <m:fPr>
                              <m:type m:val="noBar"/>
                              <m:ctrlPr>
                                <a:rPr lang="en-US" sz="1400" b="1" i="1">
                                  <a:latin typeface="Cambria Math" panose="02040503050406030204" pitchFamily="18" charset="0"/>
                                </a:rPr>
                              </m:ctrlPr>
                            </m:fPr>
                            <m:num>
                              <m:r>
                                <a:rPr lang="en-US" sz="1400" b="1" i="1">
                                  <a:latin typeface="Cambria Math" panose="02040503050406030204" pitchFamily="18" charset="0"/>
                                </a:rPr>
                                <m:t>𝟐</m:t>
                              </m:r>
                            </m:num>
                            <m:den>
                              <m:r>
                                <a:rPr lang="en-US" sz="1400" b="1" i="1">
                                  <a:latin typeface="Cambria Math" panose="02040503050406030204" pitchFamily="18" charset="0"/>
                                </a:rPr>
                                <m:t>𝑵</m:t>
                              </m:r>
                            </m:den>
                          </m:f>
                        </m:e>
                      </m:d>
                    </m:oMath>
                  </a14:m>
                  <a:r>
                    <a:rPr lang="en-US" sz="1600" b="1" i="1" dirty="0"/>
                    <a:t> = </a:t>
                  </a:r>
                  <a14:m>
                    <m:oMath xmlns:m="http://schemas.openxmlformats.org/officeDocument/2006/math">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𝑵</m:t>
                          </m:r>
                          <m:r>
                            <a:rPr lang="en-US" sz="1600" b="1" i="1" smtClean="0">
                              <a:latin typeface="Cambria Math" panose="02040503050406030204" pitchFamily="18" charset="0"/>
                            </a:rPr>
                            <m:t>!</m:t>
                          </m:r>
                        </m:num>
                        <m:den>
                          <m:r>
                            <a:rPr lang="en-US" sz="1600" b="1" i="1" smtClean="0">
                              <a:latin typeface="Cambria Math" panose="02040503050406030204" pitchFamily="18" charset="0"/>
                            </a:rPr>
                            <m:t>𝟐</m:t>
                          </m:r>
                          <m:r>
                            <a:rPr lang="en-US" sz="1600" b="1" i="1" smtClean="0">
                              <a:latin typeface="Cambria Math" panose="02040503050406030204" pitchFamily="18" charset="0"/>
                            </a:rPr>
                            <m:t>!×</m:t>
                          </m:r>
                          <m:d>
                            <m:dPr>
                              <m:ctrlPr>
                                <a:rPr lang="en-US" sz="1600" b="1" i="1" smtClean="0">
                                  <a:latin typeface="Cambria Math" panose="02040503050406030204" pitchFamily="18" charset="0"/>
                                  <a:ea typeface="Cambria Math" panose="02040503050406030204" pitchFamily="18" charset="0"/>
                                </a:rPr>
                              </m:ctrlPr>
                            </m:dPr>
                            <m:e>
                              <m:r>
                                <a:rPr lang="en-US" sz="1600" b="1" i="1" smtClean="0">
                                  <a:latin typeface="Cambria Math" panose="02040503050406030204" pitchFamily="18" charset="0"/>
                                  <a:ea typeface="Cambria Math" panose="02040503050406030204" pitchFamily="18" charset="0"/>
                                </a:rPr>
                                <m:t>𝑵</m:t>
                              </m:r>
                              <m:r>
                                <a:rPr lang="en-US" sz="1600" b="1" i="1" smtClean="0">
                                  <a:latin typeface="Cambria Math" panose="02040503050406030204" pitchFamily="18" charset="0"/>
                                  <a:ea typeface="Cambria Math" panose="02040503050406030204" pitchFamily="18" charset="0"/>
                                </a:rPr>
                                <m:t>−</m:t>
                              </m:r>
                              <m:r>
                                <a:rPr lang="en-US" sz="1600" b="1" i="1" smtClean="0">
                                  <a:latin typeface="Cambria Math" panose="02040503050406030204" pitchFamily="18" charset="0"/>
                                  <a:ea typeface="Cambria Math" panose="02040503050406030204" pitchFamily="18" charset="0"/>
                                </a:rPr>
                                <m:t>𝟐</m:t>
                              </m:r>
                            </m:e>
                          </m:d>
                          <m:r>
                            <a:rPr lang="en-US" sz="1600" b="1" i="1" smtClean="0">
                              <a:latin typeface="Cambria Math" panose="02040503050406030204" pitchFamily="18" charset="0"/>
                              <a:ea typeface="Cambria Math" panose="02040503050406030204" pitchFamily="18" charset="0"/>
                            </a:rPr>
                            <m:t>!</m:t>
                          </m:r>
                        </m:den>
                      </m:f>
                    </m:oMath>
                  </a14:m>
                  <a:endParaRPr lang="en-US" sz="1600" b="1" i="1" dirty="0"/>
                </a:p>
              </p:txBody>
            </p:sp>
          </mc:Choice>
          <mc:Fallback xmlns="">
            <p:sp>
              <p:nvSpPr>
                <p:cNvPr id="15" name="직사각형 14">
                  <a:extLst>
                    <a:ext uri="{FF2B5EF4-FFF2-40B4-BE49-F238E27FC236}">
                      <a16:creationId xmlns:a16="http://schemas.microsoft.com/office/drawing/2014/main" id="{D5C91D53-6691-4E44-AF1D-4CF98FA12AE8}"/>
                    </a:ext>
                  </a:extLst>
                </p:cNvPr>
                <p:cNvSpPr>
                  <a:spLocks noRot="1" noChangeAspect="1" noMove="1" noResize="1" noEditPoints="1" noAdjustHandles="1" noChangeArrowheads="1" noChangeShapeType="1" noTextEdit="1"/>
                </p:cNvSpPr>
                <p:nvPr/>
              </p:nvSpPr>
              <p:spPr>
                <a:xfrm>
                  <a:off x="6789998" y="3296184"/>
                  <a:ext cx="4875456" cy="544219"/>
                </a:xfrm>
                <a:prstGeom prst="rect">
                  <a:avLst/>
                </a:prstGeom>
                <a:blipFill>
                  <a:blip r:embed="rId6"/>
                  <a:stretch>
                    <a:fillRect l="-39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 name="직사각형 11">
                <a:extLst>
                  <a:ext uri="{FF2B5EF4-FFF2-40B4-BE49-F238E27FC236}">
                    <a16:creationId xmlns:a16="http://schemas.microsoft.com/office/drawing/2014/main" id="{6BFFA155-DCCD-4C08-B348-761B6E050635}"/>
                  </a:ext>
                </a:extLst>
              </p:cNvPr>
              <p:cNvSpPr/>
              <p:nvPr/>
            </p:nvSpPr>
            <p:spPr>
              <a:xfrm>
                <a:off x="629507" y="3517403"/>
                <a:ext cx="2205347" cy="338554"/>
              </a:xfrm>
              <a:prstGeom prst="rect">
                <a:avLst/>
              </a:prstGeom>
            </p:spPr>
            <p:txBody>
              <a:bodyPr wrap="none">
                <a:spAutoFit/>
              </a:bodyPr>
              <a:lstStyle/>
              <a:p>
                <a:r>
                  <a:rPr lang="en-US" sz="1600" b="1" dirty="0">
                    <a:latin typeface="Franklin Gothic Book" panose="020B0503020102020204" pitchFamily="34" charset="0"/>
                  </a:rPr>
                  <a:t>Nodal Degree (</a:t>
                </a:r>
                <a14:m>
                  <m:oMath xmlns:m="http://schemas.openxmlformats.org/officeDocument/2006/math">
                    <m:r>
                      <a:rPr lang="en-US" sz="1400" b="1" i="0" smtClean="0">
                        <a:latin typeface="Cambria Math" panose="02040503050406030204" pitchFamily="18" charset="0"/>
                      </a:rPr>
                      <m:t> </m:t>
                    </m:r>
                    <m:r>
                      <a:rPr lang="en-US" sz="1400" b="1" i="1" smtClean="0">
                        <a:latin typeface="Cambria Math" panose="02040503050406030204" pitchFamily="18" charset="0"/>
                      </a:rPr>
                      <m:t> </m:t>
                    </m:r>
                    <m:r>
                      <a:rPr lang="en-US" sz="1400" b="1" i="1" smtClean="0">
                        <a:latin typeface="Cambria Math" panose="02040503050406030204" pitchFamily="18" charset="0"/>
                      </a:rPr>
                      <m:t>𝒅</m:t>
                    </m:r>
                    <m:d>
                      <m:dPr>
                        <m:ctrlPr>
                          <a:rPr lang="en-US" sz="1400" b="1" i="1" smtClean="0">
                            <a:latin typeface="Cambria Math" panose="02040503050406030204" pitchFamily="18" charset="0"/>
                          </a:rPr>
                        </m:ctrlPr>
                      </m:dPr>
                      <m:e>
                        <m:sSub>
                          <m:sSubPr>
                            <m:ctrlPr>
                              <a:rPr lang="en-US" sz="1400" b="1" i="1" smtClean="0">
                                <a:latin typeface="Cambria Math" panose="02040503050406030204" pitchFamily="18" charset="0"/>
                              </a:rPr>
                            </m:ctrlPr>
                          </m:sSubPr>
                          <m:e>
                            <m:r>
                              <a:rPr lang="en-US" sz="1400" b="1" i="1" smtClean="0">
                                <a:latin typeface="Cambria Math" panose="02040503050406030204" pitchFamily="18" charset="0"/>
                              </a:rPr>
                              <m:t>𝑵</m:t>
                            </m:r>
                          </m:e>
                          <m:sub>
                            <m:r>
                              <a:rPr lang="en-US" sz="1400" b="1" i="1" smtClean="0">
                                <a:latin typeface="Cambria Math" panose="02040503050406030204" pitchFamily="18" charset="0"/>
                              </a:rPr>
                              <m:t>𝒊</m:t>
                            </m:r>
                          </m:sub>
                        </m:sSub>
                      </m:e>
                    </m:d>
                  </m:oMath>
                </a14:m>
                <a:r>
                  <a:rPr lang="en-US" sz="1600" b="1" dirty="0">
                    <a:latin typeface="Franklin Gothic Book" panose="020B0503020102020204" pitchFamily="34" charset="0"/>
                  </a:rPr>
                  <a:t> )</a:t>
                </a:r>
                <a:endParaRPr lang="en-US" sz="1600" dirty="0"/>
              </a:p>
            </p:txBody>
          </p:sp>
        </mc:Choice>
        <mc:Fallback xmlns="">
          <p:sp>
            <p:nvSpPr>
              <p:cNvPr id="12" name="직사각형 11">
                <a:extLst>
                  <a:ext uri="{FF2B5EF4-FFF2-40B4-BE49-F238E27FC236}">
                    <a16:creationId xmlns:a16="http://schemas.microsoft.com/office/drawing/2014/main" id="{6BFFA155-DCCD-4C08-B348-761B6E050635}"/>
                  </a:ext>
                </a:extLst>
              </p:cNvPr>
              <p:cNvSpPr>
                <a:spLocks noRot="1" noChangeAspect="1" noMove="1" noResize="1" noEditPoints="1" noAdjustHandles="1" noChangeArrowheads="1" noChangeShapeType="1" noTextEdit="1"/>
              </p:cNvSpPr>
              <p:nvPr/>
            </p:nvSpPr>
            <p:spPr>
              <a:xfrm>
                <a:off x="629507" y="3517403"/>
                <a:ext cx="2205347" cy="338554"/>
              </a:xfrm>
              <a:prstGeom prst="rect">
                <a:avLst/>
              </a:prstGeom>
              <a:blipFill>
                <a:blip r:embed="rId7"/>
                <a:stretch>
                  <a:fillRect l="-1381" t="-7143" b="-19643"/>
                </a:stretch>
              </a:blipFill>
            </p:spPr>
            <p:txBody>
              <a:bodyPr/>
              <a:lstStyle/>
              <a:p>
                <a:r>
                  <a:rPr lang="en-US">
                    <a:noFill/>
                  </a:rPr>
                  <a:t> </a:t>
                </a:r>
              </a:p>
            </p:txBody>
          </p:sp>
        </mc:Fallback>
      </mc:AlternateContent>
      <p:sp>
        <p:nvSpPr>
          <p:cNvPr id="13" name="직사각형 12">
            <a:extLst>
              <a:ext uri="{FF2B5EF4-FFF2-40B4-BE49-F238E27FC236}">
                <a16:creationId xmlns:a16="http://schemas.microsoft.com/office/drawing/2014/main" id="{08086208-651A-4959-BADA-84006023FE61}"/>
              </a:ext>
            </a:extLst>
          </p:cNvPr>
          <p:cNvSpPr/>
          <p:nvPr/>
        </p:nvSpPr>
        <p:spPr>
          <a:xfrm>
            <a:off x="2116453" y="3993339"/>
            <a:ext cx="4900989" cy="1569660"/>
          </a:xfrm>
          <a:prstGeom prst="rect">
            <a:avLst/>
          </a:prstGeom>
        </p:spPr>
        <p:txBody>
          <a:bodyPr wrap="square">
            <a:spAutoFit/>
          </a:bodyPr>
          <a:lstStyle/>
          <a:p>
            <a:r>
              <a:rPr lang="en-US" sz="1600" dirty="0">
                <a:latin typeface="Franklin Gothic Book" panose="020B0503020102020204" pitchFamily="34" charset="0"/>
              </a:rPr>
              <a:t>Total number of relations of the </a:t>
            </a:r>
            <a:r>
              <a:rPr lang="en-US" sz="1600" dirty="0" err="1">
                <a:latin typeface="Franklin Gothic Book" panose="020B0503020102020204" pitchFamily="34" charset="0"/>
              </a:rPr>
              <a:t>i</a:t>
            </a:r>
            <a:r>
              <a:rPr lang="en-US" sz="1600" baseline="30000" dirty="0" err="1">
                <a:latin typeface="Franklin Gothic Book" panose="020B0503020102020204" pitchFamily="34" charset="0"/>
              </a:rPr>
              <a:t>th</a:t>
            </a:r>
            <a:r>
              <a:rPr lang="en-US" sz="1600" baseline="30000" dirty="0">
                <a:latin typeface="Franklin Gothic Book" panose="020B0503020102020204" pitchFamily="34" charset="0"/>
              </a:rPr>
              <a:t> </a:t>
            </a:r>
            <a:r>
              <a:rPr lang="en-US" sz="1600" dirty="0">
                <a:latin typeface="Franklin Gothic Book" panose="020B0503020102020204" pitchFamily="34" charset="0"/>
              </a:rPr>
              <a:t>actor. In a directed network, The nodal degree is distinguished into indegree and outdegree. Indegree is received relation, while outdegree is relation sent.</a:t>
            </a:r>
          </a:p>
          <a:p>
            <a:endParaRPr lang="en-US" sz="1600" dirty="0">
              <a:latin typeface="Franklin Gothic Book" panose="020B0503020102020204" pitchFamily="34" charset="0"/>
            </a:endParaRPr>
          </a:p>
          <a:p>
            <a:r>
              <a:rPr lang="en-US" sz="1400" dirty="0">
                <a:latin typeface="Franklin Gothic Book" panose="020B0503020102020204" pitchFamily="34" charset="0"/>
              </a:rPr>
              <a:t>ex)</a:t>
            </a:r>
            <a:r>
              <a:rPr lang="en-US" sz="1600" dirty="0">
                <a:latin typeface="Franklin Gothic Book" panose="020B0503020102020204" pitchFamily="34" charset="0"/>
              </a:rPr>
              <a:t> </a:t>
            </a:r>
            <a:r>
              <a:rPr lang="en-US" sz="1400" dirty="0">
                <a:latin typeface="Franklin Gothic Book" panose="020B0503020102020204" pitchFamily="34" charset="0"/>
              </a:rPr>
              <a:t>A’s outdegree = 1, B’s indegree = 2</a:t>
            </a:r>
            <a:endParaRPr lang="en-US" sz="1400" dirty="0"/>
          </a:p>
        </p:txBody>
      </p:sp>
      <p:grpSp>
        <p:nvGrpSpPr>
          <p:cNvPr id="25" name="그룹 24">
            <a:extLst>
              <a:ext uri="{FF2B5EF4-FFF2-40B4-BE49-F238E27FC236}">
                <a16:creationId xmlns:a16="http://schemas.microsoft.com/office/drawing/2014/main" id="{BB5A1391-3260-43A1-8F28-1E7EF8263394}"/>
              </a:ext>
            </a:extLst>
          </p:cNvPr>
          <p:cNvGrpSpPr/>
          <p:nvPr/>
        </p:nvGrpSpPr>
        <p:grpSpPr>
          <a:xfrm>
            <a:off x="8096435" y="4251822"/>
            <a:ext cx="3027285" cy="1869312"/>
            <a:chOff x="8211845" y="4873840"/>
            <a:chExt cx="3027285" cy="1869312"/>
          </a:xfrm>
        </p:grpSpPr>
        <p:sp>
          <p:nvSpPr>
            <p:cNvPr id="3" name="타원 2">
              <a:extLst>
                <a:ext uri="{FF2B5EF4-FFF2-40B4-BE49-F238E27FC236}">
                  <a16:creationId xmlns:a16="http://schemas.microsoft.com/office/drawing/2014/main" id="{46C21329-FFB9-4A61-831C-5E783833DD97}"/>
                </a:ext>
              </a:extLst>
            </p:cNvPr>
            <p:cNvSpPr/>
            <p:nvPr/>
          </p:nvSpPr>
          <p:spPr>
            <a:xfrm>
              <a:off x="8211845" y="4873841"/>
              <a:ext cx="603681" cy="6036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cxnSp>
          <p:nvCxnSpPr>
            <p:cNvPr id="17" name="직선 화살표 연결선 16">
              <a:extLst>
                <a:ext uri="{FF2B5EF4-FFF2-40B4-BE49-F238E27FC236}">
                  <a16:creationId xmlns:a16="http://schemas.microsoft.com/office/drawing/2014/main" id="{28BF0699-D970-402F-BF38-4C4D5428A9C5}"/>
                </a:ext>
              </a:extLst>
            </p:cNvPr>
            <p:cNvCxnSpPr/>
            <p:nvPr/>
          </p:nvCxnSpPr>
          <p:spPr>
            <a:xfrm>
              <a:off x="9037468" y="5147244"/>
              <a:ext cx="14736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타원 17">
              <a:extLst>
                <a:ext uri="{FF2B5EF4-FFF2-40B4-BE49-F238E27FC236}">
                  <a16:creationId xmlns:a16="http://schemas.microsoft.com/office/drawing/2014/main" id="{150F2391-957D-447D-9B8A-ECACBA4086F9}"/>
                </a:ext>
              </a:extLst>
            </p:cNvPr>
            <p:cNvSpPr/>
            <p:nvPr/>
          </p:nvSpPr>
          <p:spPr>
            <a:xfrm>
              <a:off x="10635449" y="4873840"/>
              <a:ext cx="603681" cy="6036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19" name="직선 화살표 연결선 18">
              <a:extLst>
                <a:ext uri="{FF2B5EF4-FFF2-40B4-BE49-F238E27FC236}">
                  <a16:creationId xmlns:a16="http://schemas.microsoft.com/office/drawing/2014/main" id="{C4910EF1-36ED-4B6D-80D4-2728154E52EB}"/>
                </a:ext>
              </a:extLst>
            </p:cNvPr>
            <p:cNvCxnSpPr>
              <a:cxnSpLocks/>
            </p:cNvCxnSpPr>
            <p:nvPr/>
          </p:nvCxnSpPr>
          <p:spPr>
            <a:xfrm flipV="1">
              <a:off x="9241654" y="5477522"/>
              <a:ext cx="1313895" cy="8167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타원 20">
              <a:extLst>
                <a:ext uri="{FF2B5EF4-FFF2-40B4-BE49-F238E27FC236}">
                  <a16:creationId xmlns:a16="http://schemas.microsoft.com/office/drawing/2014/main" id="{7C242BAA-F0D3-474F-B519-7E31A5B3FEF9}"/>
                </a:ext>
              </a:extLst>
            </p:cNvPr>
            <p:cNvSpPr/>
            <p:nvPr/>
          </p:nvSpPr>
          <p:spPr>
            <a:xfrm>
              <a:off x="8433787" y="6139471"/>
              <a:ext cx="603681" cy="60368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cxnSp>
          <p:nvCxnSpPr>
            <p:cNvPr id="26" name="직선 화살표 연결선 25">
              <a:extLst>
                <a:ext uri="{FF2B5EF4-FFF2-40B4-BE49-F238E27FC236}">
                  <a16:creationId xmlns:a16="http://schemas.microsoft.com/office/drawing/2014/main" id="{4BC8E70A-6DCA-4622-95BE-3313F4DCEC64}"/>
                </a:ext>
              </a:extLst>
            </p:cNvPr>
            <p:cNvCxnSpPr>
              <a:cxnSpLocks/>
            </p:cNvCxnSpPr>
            <p:nvPr/>
          </p:nvCxnSpPr>
          <p:spPr>
            <a:xfrm flipH="1" flipV="1">
              <a:off x="8593584" y="5544934"/>
              <a:ext cx="88776" cy="497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3" name="직사각형 22">
            <a:extLst>
              <a:ext uri="{FF2B5EF4-FFF2-40B4-BE49-F238E27FC236}">
                <a16:creationId xmlns:a16="http://schemas.microsoft.com/office/drawing/2014/main" id="{A79923BA-C3A1-4464-85D2-635AE8B02B25}"/>
              </a:ext>
            </a:extLst>
          </p:cNvPr>
          <p:cNvSpPr/>
          <p:nvPr/>
        </p:nvSpPr>
        <p:spPr>
          <a:xfrm>
            <a:off x="653080" y="5650017"/>
            <a:ext cx="1798890" cy="338554"/>
          </a:xfrm>
          <a:prstGeom prst="rect">
            <a:avLst/>
          </a:prstGeom>
        </p:spPr>
        <p:txBody>
          <a:bodyPr wrap="none">
            <a:spAutoFit/>
          </a:bodyPr>
          <a:lstStyle/>
          <a:p>
            <a:r>
              <a:rPr lang="en-US" sz="1600" b="1" dirty="0">
                <a:latin typeface="Franklin Gothic Book" panose="020B0503020102020204" pitchFamily="34" charset="0"/>
              </a:rPr>
              <a:t>Geodesic Distance</a:t>
            </a:r>
            <a:endParaRPr lang="en-US" sz="1600" dirty="0"/>
          </a:p>
        </p:txBody>
      </p:sp>
      <p:sp>
        <p:nvSpPr>
          <p:cNvPr id="24" name="직사각형 23">
            <a:extLst>
              <a:ext uri="{FF2B5EF4-FFF2-40B4-BE49-F238E27FC236}">
                <a16:creationId xmlns:a16="http://schemas.microsoft.com/office/drawing/2014/main" id="{CD67A0CA-AC43-4DCE-9C38-ACF40514A393}"/>
              </a:ext>
            </a:extLst>
          </p:cNvPr>
          <p:cNvSpPr/>
          <p:nvPr/>
        </p:nvSpPr>
        <p:spPr>
          <a:xfrm>
            <a:off x="2116452" y="5966753"/>
            <a:ext cx="4900989" cy="830997"/>
          </a:xfrm>
          <a:prstGeom prst="rect">
            <a:avLst/>
          </a:prstGeom>
        </p:spPr>
        <p:txBody>
          <a:bodyPr wrap="square">
            <a:spAutoFit/>
          </a:bodyPr>
          <a:lstStyle/>
          <a:p>
            <a:r>
              <a:rPr lang="en-US" sz="1600" dirty="0">
                <a:latin typeface="Franklin Gothic Book" panose="020B0503020102020204" pitchFamily="34" charset="0"/>
              </a:rPr>
              <a:t>Length of the shortest path between two actors. It is used to map the communication routes among a set of actors, or observe the flow of information</a:t>
            </a:r>
            <a:endParaRPr lang="en-US" sz="1600" dirty="0"/>
          </a:p>
        </p:txBody>
      </p:sp>
    </p:spTree>
    <p:extLst>
      <p:ext uri="{BB962C8B-B14F-4D97-AF65-F5344CB8AC3E}">
        <p14:creationId xmlns:p14="http://schemas.microsoft.com/office/powerpoint/2010/main" val="1958201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6383337" cy="1325563"/>
          </a:xfrm>
        </p:spPr>
        <p:txBody>
          <a:bodyPr/>
          <a:lstStyle/>
          <a:p>
            <a:r>
              <a:rPr lang="en-US" dirty="0">
                <a:latin typeface="Franklin Gothic Book" panose="020B0503020102020204" pitchFamily="34" charset="0"/>
              </a:rPr>
              <a:t>3. Centrality and Prestige</a:t>
            </a:r>
            <a:endParaRPr lang="en-US" sz="3200" b="1" dirty="0">
              <a:latin typeface="Franklin Gothic Book" panose="020B0503020102020204" pitchFamily="34" charset="0"/>
            </a:endParaRPr>
          </a:p>
        </p:txBody>
      </p:sp>
      <p:sp>
        <p:nvSpPr>
          <p:cNvPr id="4" name="직사각형 3">
            <a:extLst>
              <a:ext uri="{FF2B5EF4-FFF2-40B4-BE49-F238E27FC236}">
                <a16:creationId xmlns:a16="http://schemas.microsoft.com/office/drawing/2014/main" id="{5AD62888-7216-4DFD-973F-6EBBEF5B6819}"/>
              </a:ext>
            </a:extLst>
          </p:cNvPr>
          <p:cNvSpPr/>
          <p:nvPr/>
        </p:nvSpPr>
        <p:spPr>
          <a:xfrm>
            <a:off x="494110" y="1172651"/>
            <a:ext cx="7944226" cy="523220"/>
          </a:xfrm>
          <a:prstGeom prst="rect">
            <a:avLst/>
          </a:prstGeom>
        </p:spPr>
        <p:txBody>
          <a:bodyPr wrap="none">
            <a:spAutoFit/>
          </a:bodyPr>
          <a:lstStyle/>
          <a:p>
            <a:r>
              <a:rPr lang="en-US" sz="1400" dirty="0">
                <a:latin typeface="Franklin Gothic Book" panose="020B0503020102020204" pitchFamily="34" charset="0"/>
              </a:rPr>
              <a:t>The concepts that will be introduced are used to quantify graph theoretic ideas about </a:t>
            </a:r>
          </a:p>
          <a:p>
            <a:r>
              <a:rPr lang="en-US" sz="1400" b="1" dirty="0">
                <a:latin typeface="Franklin Gothic Book" panose="020B0503020102020204" pitchFamily="34" charset="0"/>
              </a:rPr>
              <a:t>an actor’s prominence </a:t>
            </a:r>
            <a:r>
              <a:rPr lang="en-US" sz="1400" dirty="0">
                <a:latin typeface="Franklin Gothic Book" panose="020B0503020102020204" pitchFamily="34" charset="0"/>
              </a:rPr>
              <a:t>within a </a:t>
            </a:r>
            <a:r>
              <a:rPr lang="en-US" sz="1400" b="1" dirty="0">
                <a:latin typeface="Franklin Gothic Book" panose="020B0503020102020204" pitchFamily="34" charset="0"/>
              </a:rPr>
              <a:t>complete network</a:t>
            </a:r>
            <a:r>
              <a:rPr lang="en-US" sz="1400" dirty="0">
                <a:latin typeface="Franklin Gothic Book" panose="020B0503020102020204" pitchFamily="34" charset="0"/>
              </a:rPr>
              <a:t> by summarizing structural relations among all nodes.</a:t>
            </a:r>
            <a:endParaRPr lang="en-US" sz="1400" dirty="0"/>
          </a:p>
        </p:txBody>
      </p:sp>
      <p:sp>
        <p:nvSpPr>
          <p:cNvPr id="20" name="직사각형 19">
            <a:extLst>
              <a:ext uri="{FF2B5EF4-FFF2-40B4-BE49-F238E27FC236}">
                <a16:creationId xmlns:a16="http://schemas.microsoft.com/office/drawing/2014/main" id="{86A46F49-E44A-44A9-AA20-8A7A753FE754}"/>
              </a:ext>
            </a:extLst>
          </p:cNvPr>
          <p:cNvSpPr/>
          <p:nvPr/>
        </p:nvSpPr>
        <p:spPr>
          <a:xfrm>
            <a:off x="494110" y="2024981"/>
            <a:ext cx="3041345" cy="338554"/>
          </a:xfrm>
          <a:prstGeom prst="rect">
            <a:avLst/>
          </a:prstGeom>
        </p:spPr>
        <p:txBody>
          <a:bodyPr wrap="none">
            <a:spAutoFit/>
          </a:bodyPr>
          <a:lstStyle/>
          <a:p>
            <a:r>
              <a:rPr lang="en-US" sz="1600" dirty="0">
                <a:latin typeface="Franklin Gothic Book" panose="020B0503020102020204" pitchFamily="34" charset="0"/>
              </a:rPr>
              <a:t>(actor)</a:t>
            </a:r>
            <a:r>
              <a:rPr lang="en-US" sz="1600" b="1" dirty="0">
                <a:latin typeface="Franklin Gothic Book" panose="020B0503020102020204" pitchFamily="34" charset="0"/>
              </a:rPr>
              <a:t> Degree Centrality : </a:t>
            </a:r>
            <a:r>
              <a:rPr lang="en-US" sz="1600" b="1" i="1" dirty="0">
                <a:latin typeface="Franklin Gothic Book" panose="020B0503020102020204" pitchFamily="34" charset="0"/>
              </a:rPr>
              <a:t>C</a:t>
            </a:r>
            <a:r>
              <a:rPr lang="en-US" sz="1600" b="1" i="1" baseline="-25000" dirty="0">
                <a:latin typeface="Franklin Gothic Book" panose="020B0503020102020204" pitchFamily="34" charset="0"/>
              </a:rPr>
              <a:t>D</a:t>
            </a:r>
            <a:r>
              <a:rPr lang="en-US" sz="1600" b="1" i="1" dirty="0">
                <a:latin typeface="Franklin Gothic Book" panose="020B0503020102020204" pitchFamily="34" charset="0"/>
              </a:rPr>
              <a:t>(N</a:t>
            </a:r>
            <a:r>
              <a:rPr lang="en-US" sz="1600" b="1" i="1" baseline="-25000" dirty="0">
                <a:latin typeface="Franklin Gothic Book" panose="020B0503020102020204" pitchFamily="34" charset="0"/>
              </a:rPr>
              <a:t>i</a:t>
            </a:r>
            <a:r>
              <a:rPr lang="en-US" sz="1600" b="1" i="1" dirty="0">
                <a:latin typeface="Franklin Gothic Book" panose="020B0503020102020204" pitchFamily="34" charset="0"/>
              </a:rPr>
              <a:t>)</a:t>
            </a:r>
            <a:r>
              <a:rPr lang="en-US" sz="1600" b="1" dirty="0">
                <a:latin typeface="Franklin Gothic Book" panose="020B0503020102020204" pitchFamily="34" charset="0"/>
              </a:rPr>
              <a:t> </a:t>
            </a:r>
            <a:endParaRPr lang="en-US" sz="1600" dirty="0"/>
          </a:p>
        </p:txBody>
      </p:sp>
      <p:sp>
        <p:nvSpPr>
          <p:cNvPr id="22" name="직사각형 21">
            <a:extLst>
              <a:ext uri="{FF2B5EF4-FFF2-40B4-BE49-F238E27FC236}">
                <a16:creationId xmlns:a16="http://schemas.microsoft.com/office/drawing/2014/main" id="{BFF1A87F-8E39-41AB-B894-FE5E1A16FD19}"/>
              </a:ext>
            </a:extLst>
          </p:cNvPr>
          <p:cNvSpPr/>
          <p:nvPr/>
        </p:nvSpPr>
        <p:spPr>
          <a:xfrm>
            <a:off x="838200" y="2356597"/>
            <a:ext cx="6609182" cy="338554"/>
          </a:xfrm>
          <a:prstGeom prst="rect">
            <a:avLst/>
          </a:prstGeom>
        </p:spPr>
        <p:txBody>
          <a:bodyPr wrap="none">
            <a:spAutoFit/>
          </a:bodyPr>
          <a:lstStyle/>
          <a:p>
            <a:r>
              <a:rPr lang="en-US" sz="1600" dirty="0">
                <a:latin typeface="Franklin Gothic Book" panose="020B0503020102020204" pitchFamily="34" charset="0"/>
              </a:rPr>
              <a:t>The extent to which a node connects to all other nodes in a social network.</a:t>
            </a:r>
            <a:endParaRPr lang="en-US" sz="1600" dirty="0"/>
          </a:p>
        </p:txBody>
      </p:sp>
      <p:sp>
        <p:nvSpPr>
          <p:cNvPr id="23" name="직사각형 22">
            <a:extLst>
              <a:ext uri="{FF2B5EF4-FFF2-40B4-BE49-F238E27FC236}">
                <a16:creationId xmlns:a16="http://schemas.microsoft.com/office/drawing/2014/main" id="{CF5E2097-5364-4FEF-91CB-6FE290B1DD62}"/>
              </a:ext>
            </a:extLst>
          </p:cNvPr>
          <p:cNvSpPr/>
          <p:nvPr/>
        </p:nvSpPr>
        <p:spPr>
          <a:xfrm>
            <a:off x="494110" y="2935046"/>
            <a:ext cx="4128181" cy="338554"/>
          </a:xfrm>
          <a:prstGeom prst="rect">
            <a:avLst/>
          </a:prstGeom>
        </p:spPr>
        <p:txBody>
          <a:bodyPr wrap="none">
            <a:spAutoFit/>
          </a:bodyPr>
          <a:lstStyle/>
          <a:p>
            <a:r>
              <a:rPr lang="en-US" sz="1600" b="1" dirty="0">
                <a:latin typeface="Franklin Gothic Book" panose="020B0503020102020204" pitchFamily="34" charset="0"/>
              </a:rPr>
              <a:t>Normalized </a:t>
            </a:r>
            <a:r>
              <a:rPr lang="en-US" sz="1600" dirty="0">
                <a:latin typeface="Franklin Gothic Book" panose="020B0503020102020204" pitchFamily="34" charset="0"/>
              </a:rPr>
              <a:t>(actor)</a:t>
            </a:r>
            <a:r>
              <a:rPr lang="en-US" sz="1600" b="1" dirty="0">
                <a:latin typeface="Franklin Gothic Book" panose="020B0503020102020204" pitchFamily="34" charset="0"/>
              </a:rPr>
              <a:t> Degree Centrality:   </a:t>
            </a:r>
            <a:r>
              <a:rPr lang="en-US" sz="1600" b="1" i="1" dirty="0">
                <a:latin typeface="Franklin Gothic Book" panose="020B0503020102020204" pitchFamily="34" charset="0"/>
              </a:rPr>
              <a:t>C</a:t>
            </a:r>
            <a:r>
              <a:rPr lang="el-GR" sz="1600" b="1" i="1" dirty="0">
                <a:latin typeface="Franklin Gothic Book" panose="020B0503020102020204" pitchFamily="34" charset="0"/>
              </a:rPr>
              <a:t></a:t>
            </a:r>
            <a:r>
              <a:rPr lang="en-US" sz="1600" b="1" i="1" baseline="-25000" dirty="0">
                <a:latin typeface="Franklin Gothic Book" panose="020B0503020102020204" pitchFamily="34" charset="0"/>
              </a:rPr>
              <a:t>D</a:t>
            </a:r>
            <a:r>
              <a:rPr lang="en-US" sz="1600" b="1" i="1" dirty="0">
                <a:latin typeface="Franklin Gothic Book" panose="020B0503020102020204" pitchFamily="34" charset="0"/>
              </a:rPr>
              <a:t>(N</a:t>
            </a:r>
            <a:r>
              <a:rPr lang="en-US" sz="1600" b="1" i="1" baseline="-25000" dirty="0">
                <a:latin typeface="Franklin Gothic Book" panose="020B0503020102020204" pitchFamily="34" charset="0"/>
              </a:rPr>
              <a:t>i</a:t>
            </a:r>
            <a:r>
              <a:rPr lang="en-US" sz="1600" b="1" i="1" dirty="0">
                <a:latin typeface="Franklin Gothic Book" panose="020B0503020102020204" pitchFamily="34" charset="0"/>
              </a:rPr>
              <a:t>)</a:t>
            </a:r>
            <a:endParaRPr lang="en-US" sz="1600" dirty="0"/>
          </a:p>
        </p:txBody>
      </p:sp>
      <p:sp>
        <p:nvSpPr>
          <p:cNvPr id="24" name="직사각형 23">
            <a:extLst>
              <a:ext uri="{FF2B5EF4-FFF2-40B4-BE49-F238E27FC236}">
                <a16:creationId xmlns:a16="http://schemas.microsoft.com/office/drawing/2014/main" id="{FFC7EC0C-D811-462E-A8F5-FB78FCC59616}"/>
              </a:ext>
            </a:extLst>
          </p:cNvPr>
          <p:cNvSpPr/>
          <p:nvPr/>
        </p:nvSpPr>
        <p:spPr>
          <a:xfrm>
            <a:off x="838200" y="3259723"/>
            <a:ext cx="11017760" cy="584775"/>
          </a:xfrm>
          <a:prstGeom prst="rect">
            <a:avLst/>
          </a:prstGeom>
        </p:spPr>
        <p:txBody>
          <a:bodyPr wrap="none">
            <a:spAutoFit/>
          </a:bodyPr>
          <a:lstStyle/>
          <a:p>
            <a:r>
              <a:rPr lang="en-US" sz="1600" dirty="0">
                <a:latin typeface="Franklin Gothic Book" panose="020B0503020102020204" pitchFamily="34" charset="0"/>
              </a:rPr>
              <a:t>Eliminate the effect of variation in network size on degree centrality by normalizing it. It divides degree centrality by maximum </a:t>
            </a:r>
          </a:p>
          <a:p>
            <a:r>
              <a:rPr lang="en-US" sz="1600" dirty="0">
                <a:latin typeface="Franklin Gothic Book" panose="020B0503020102020204" pitchFamily="34" charset="0"/>
              </a:rPr>
              <a:t>number of connections. Closer it approaches to 1, the greater the actor’s involvement in that network.</a:t>
            </a:r>
            <a:endParaRPr lang="en-US" sz="1600" dirty="0"/>
          </a:p>
        </p:txBody>
      </p:sp>
      <p:sp>
        <p:nvSpPr>
          <p:cNvPr id="25" name="직사각형 24">
            <a:extLst>
              <a:ext uri="{FF2B5EF4-FFF2-40B4-BE49-F238E27FC236}">
                <a16:creationId xmlns:a16="http://schemas.microsoft.com/office/drawing/2014/main" id="{95A6840F-4C15-4831-A755-5C1216D28071}"/>
              </a:ext>
            </a:extLst>
          </p:cNvPr>
          <p:cNvSpPr/>
          <p:nvPr/>
        </p:nvSpPr>
        <p:spPr>
          <a:xfrm>
            <a:off x="494110" y="4089726"/>
            <a:ext cx="2753767" cy="338554"/>
          </a:xfrm>
          <a:prstGeom prst="rect">
            <a:avLst/>
          </a:prstGeom>
        </p:spPr>
        <p:txBody>
          <a:bodyPr wrap="none">
            <a:spAutoFit/>
          </a:bodyPr>
          <a:lstStyle/>
          <a:p>
            <a:r>
              <a:rPr lang="en-US" sz="1600" dirty="0">
                <a:latin typeface="Franklin Gothic Book" panose="020B0503020102020204" pitchFamily="34" charset="0"/>
              </a:rPr>
              <a:t>(group)</a:t>
            </a:r>
            <a:r>
              <a:rPr lang="en-US" sz="1600" b="1" dirty="0">
                <a:latin typeface="Franklin Gothic Book" panose="020B0503020102020204" pitchFamily="34" charset="0"/>
              </a:rPr>
              <a:t> Degree Centrality : </a:t>
            </a:r>
            <a:r>
              <a:rPr lang="en-US" sz="1600" b="1" i="1" dirty="0">
                <a:latin typeface="Franklin Gothic Book" panose="020B0503020102020204" pitchFamily="34" charset="0"/>
              </a:rPr>
              <a:t>C</a:t>
            </a:r>
            <a:r>
              <a:rPr lang="en-US" sz="1600" b="1" i="1" baseline="-25000" dirty="0">
                <a:latin typeface="Franklin Gothic Book" panose="020B0503020102020204" pitchFamily="34" charset="0"/>
              </a:rPr>
              <a:t>D</a:t>
            </a:r>
            <a:r>
              <a:rPr lang="en-US" sz="1600" b="1" dirty="0">
                <a:latin typeface="Franklin Gothic Book" panose="020B0503020102020204" pitchFamily="34" charset="0"/>
              </a:rPr>
              <a:t> </a:t>
            </a:r>
            <a:endParaRPr lang="en-US" sz="1600" dirty="0"/>
          </a:p>
        </p:txBody>
      </p:sp>
      <p:sp>
        <p:nvSpPr>
          <p:cNvPr id="26" name="직사각형 25">
            <a:extLst>
              <a:ext uri="{FF2B5EF4-FFF2-40B4-BE49-F238E27FC236}">
                <a16:creationId xmlns:a16="http://schemas.microsoft.com/office/drawing/2014/main" id="{9CC98E34-C3EC-49CB-892F-9B9A6B2C6229}"/>
              </a:ext>
            </a:extLst>
          </p:cNvPr>
          <p:cNvSpPr/>
          <p:nvPr/>
        </p:nvSpPr>
        <p:spPr>
          <a:xfrm>
            <a:off x="838200" y="4409070"/>
            <a:ext cx="9684831" cy="338554"/>
          </a:xfrm>
          <a:prstGeom prst="rect">
            <a:avLst/>
          </a:prstGeom>
        </p:spPr>
        <p:txBody>
          <a:bodyPr wrap="none">
            <a:spAutoFit/>
          </a:bodyPr>
          <a:lstStyle/>
          <a:p>
            <a:r>
              <a:rPr lang="en-US" sz="1600" dirty="0">
                <a:latin typeface="Franklin Gothic Book" panose="020B0503020102020204" pitchFamily="34" charset="0"/>
              </a:rPr>
              <a:t>The extent to which the actors in a social network differ from one another in their individual degree centralities.</a:t>
            </a:r>
            <a:endParaRPr lang="en-US" sz="1600" dirty="0"/>
          </a:p>
        </p:txBody>
      </p:sp>
      <p:sp>
        <p:nvSpPr>
          <p:cNvPr id="11" name="직사각형 10">
            <a:extLst>
              <a:ext uri="{FF2B5EF4-FFF2-40B4-BE49-F238E27FC236}">
                <a16:creationId xmlns:a16="http://schemas.microsoft.com/office/drawing/2014/main" id="{4C12E939-73A1-423A-B5F7-0F5CB5B0A201}"/>
              </a:ext>
            </a:extLst>
          </p:cNvPr>
          <p:cNvSpPr/>
          <p:nvPr/>
        </p:nvSpPr>
        <p:spPr>
          <a:xfrm>
            <a:off x="838200" y="4823575"/>
            <a:ext cx="10242356" cy="584775"/>
          </a:xfrm>
          <a:prstGeom prst="rect">
            <a:avLst/>
          </a:prstGeom>
        </p:spPr>
        <p:txBody>
          <a:bodyPr wrap="none">
            <a:spAutoFit/>
          </a:bodyPr>
          <a:lstStyle/>
          <a:p>
            <a:r>
              <a:rPr lang="en-US" sz="1600" dirty="0">
                <a:latin typeface="Franklin Gothic Book" panose="020B0503020102020204" pitchFamily="34" charset="0"/>
              </a:rPr>
              <a:t>The sum of the observed differences in degree centralities between actor with largest centrality and the other nodes,</a:t>
            </a:r>
          </a:p>
          <a:p>
            <a:r>
              <a:rPr lang="en-US" sz="1600" dirty="0">
                <a:latin typeface="Franklin Gothic Book" panose="020B0503020102020204" pitchFamily="34" charset="0"/>
              </a:rPr>
              <a:t>divided by the maximum possible sum of differences</a:t>
            </a:r>
            <a:endParaRPr lang="en-US" sz="1600" dirty="0"/>
          </a:p>
        </p:txBody>
      </p:sp>
    </p:spTree>
    <p:extLst>
      <p:ext uri="{BB962C8B-B14F-4D97-AF65-F5344CB8AC3E}">
        <p14:creationId xmlns:p14="http://schemas.microsoft.com/office/powerpoint/2010/main" val="3337276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6383337" cy="1325563"/>
          </a:xfrm>
        </p:spPr>
        <p:txBody>
          <a:bodyPr/>
          <a:lstStyle/>
          <a:p>
            <a:r>
              <a:rPr lang="en-US" dirty="0">
                <a:latin typeface="Franklin Gothic Book" panose="020B0503020102020204" pitchFamily="34" charset="0"/>
              </a:rPr>
              <a:t>3. Centrality and Prestige</a:t>
            </a:r>
            <a:endParaRPr lang="en-US" sz="3200" b="1" dirty="0">
              <a:latin typeface="Franklin Gothic Book" panose="020B0503020102020204" pitchFamily="34" charset="0"/>
            </a:endParaRPr>
          </a:p>
        </p:txBody>
      </p:sp>
      <p:sp>
        <p:nvSpPr>
          <p:cNvPr id="4" name="직사각형 3">
            <a:extLst>
              <a:ext uri="{FF2B5EF4-FFF2-40B4-BE49-F238E27FC236}">
                <a16:creationId xmlns:a16="http://schemas.microsoft.com/office/drawing/2014/main" id="{5AD62888-7216-4DFD-973F-6EBBEF5B6819}"/>
              </a:ext>
            </a:extLst>
          </p:cNvPr>
          <p:cNvSpPr/>
          <p:nvPr/>
        </p:nvSpPr>
        <p:spPr>
          <a:xfrm>
            <a:off x="494110" y="1172651"/>
            <a:ext cx="7944226" cy="523220"/>
          </a:xfrm>
          <a:prstGeom prst="rect">
            <a:avLst/>
          </a:prstGeom>
        </p:spPr>
        <p:txBody>
          <a:bodyPr wrap="none">
            <a:spAutoFit/>
          </a:bodyPr>
          <a:lstStyle/>
          <a:p>
            <a:r>
              <a:rPr lang="en-US" sz="1400" dirty="0">
                <a:latin typeface="Franklin Gothic Book" panose="020B0503020102020204" pitchFamily="34" charset="0"/>
              </a:rPr>
              <a:t>The concepts that will be introduced are used to quantify graph theoretic ideas about </a:t>
            </a:r>
          </a:p>
          <a:p>
            <a:r>
              <a:rPr lang="en-US" sz="1400" b="1" dirty="0">
                <a:latin typeface="Franklin Gothic Book" panose="020B0503020102020204" pitchFamily="34" charset="0"/>
              </a:rPr>
              <a:t>an actor’s prominence </a:t>
            </a:r>
            <a:r>
              <a:rPr lang="en-US" sz="1400" dirty="0">
                <a:latin typeface="Franklin Gothic Book" panose="020B0503020102020204" pitchFamily="34" charset="0"/>
              </a:rPr>
              <a:t>within a </a:t>
            </a:r>
            <a:r>
              <a:rPr lang="en-US" sz="1400" b="1" dirty="0">
                <a:latin typeface="Franklin Gothic Book" panose="020B0503020102020204" pitchFamily="34" charset="0"/>
              </a:rPr>
              <a:t>complete network</a:t>
            </a:r>
            <a:r>
              <a:rPr lang="en-US" sz="1400" dirty="0">
                <a:latin typeface="Franklin Gothic Book" panose="020B0503020102020204" pitchFamily="34" charset="0"/>
              </a:rPr>
              <a:t> by summarizing structural relations among all nodes.</a:t>
            </a:r>
            <a:endParaRPr lang="en-US" sz="1400" dirty="0"/>
          </a:p>
        </p:txBody>
      </p:sp>
      <p:sp>
        <p:nvSpPr>
          <p:cNvPr id="20" name="직사각형 19">
            <a:extLst>
              <a:ext uri="{FF2B5EF4-FFF2-40B4-BE49-F238E27FC236}">
                <a16:creationId xmlns:a16="http://schemas.microsoft.com/office/drawing/2014/main" id="{86A46F49-E44A-44A9-AA20-8A7A753FE754}"/>
              </a:ext>
            </a:extLst>
          </p:cNvPr>
          <p:cNvSpPr/>
          <p:nvPr/>
        </p:nvSpPr>
        <p:spPr>
          <a:xfrm>
            <a:off x="494110" y="2024981"/>
            <a:ext cx="3188630" cy="338554"/>
          </a:xfrm>
          <a:prstGeom prst="rect">
            <a:avLst/>
          </a:prstGeom>
        </p:spPr>
        <p:txBody>
          <a:bodyPr wrap="none">
            <a:spAutoFit/>
          </a:bodyPr>
          <a:lstStyle/>
          <a:p>
            <a:r>
              <a:rPr lang="en-US" sz="1600" dirty="0">
                <a:latin typeface="Franklin Gothic Book" panose="020B0503020102020204" pitchFamily="34" charset="0"/>
              </a:rPr>
              <a:t>(actor)</a:t>
            </a:r>
            <a:r>
              <a:rPr lang="en-US" sz="1600" b="1" dirty="0">
                <a:latin typeface="Franklin Gothic Book" panose="020B0503020102020204" pitchFamily="34" charset="0"/>
              </a:rPr>
              <a:t> Closeness Centrality: </a:t>
            </a:r>
            <a:r>
              <a:rPr lang="en-US" sz="1600" b="1" i="1" dirty="0">
                <a:latin typeface="Franklin Gothic Book" panose="020B0503020102020204" pitchFamily="34" charset="0"/>
              </a:rPr>
              <a:t>C</a:t>
            </a:r>
            <a:r>
              <a:rPr lang="en-US" sz="1600" b="1" i="1" baseline="-25000" dirty="0">
                <a:latin typeface="Franklin Gothic Book" panose="020B0503020102020204" pitchFamily="34" charset="0"/>
              </a:rPr>
              <a:t>C</a:t>
            </a:r>
            <a:r>
              <a:rPr lang="en-US" sz="1600" b="1" i="1" dirty="0">
                <a:latin typeface="Franklin Gothic Book" panose="020B0503020102020204" pitchFamily="34" charset="0"/>
              </a:rPr>
              <a:t>(N</a:t>
            </a:r>
            <a:r>
              <a:rPr lang="en-US" sz="1600" b="1" i="1" baseline="-25000" dirty="0">
                <a:latin typeface="Franklin Gothic Book" panose="020B0503020102020204" pitchFamily="34" charset="0"/>
              </a:rPr>
              <a:t>i</a:t>
            </a:r>
            <a:r>
              <a:rPr lang="en-US" sz="1600" b="1" i="1" dirty="0">
                <a:latin typeface="Franklin Gothic Book" panose="020B0503020102020204" pitchFamily="34" charset="0"/>
              </a:rPr>
              <a:t>)</a:t>
            </a:r>
            <a:r>
              <a:rPr lang="en-US" sz="1600" b="1" dirty="0">
                <a:latin typeface="Franklin Gothic Book" panose="020B0503020102020204" pitchFamily="34" charset="0"/>
              </a:rPr>
              <a:t> </a:t>
            </a:r>
            <a:endParaRPr lang="en-US" sz="1600" b="1" dirty="0"/>
          </a:p>
        </p:txBody>
      </p:sp>
      <p:sp>
        <p:nvSpPr>
          <p:cNvPr id="22" name="직사각형 21">
            <a:extLst>
              <a:ext uri="{FF2B5EF4-FFF2-40B4-BE49-F238E27FC236}">
                <a16:creationId xmlns:a16="http://schemas.microsoft.com/office/drawing/2014/main" id="{BFF1A87F-8E39-41AB-B894-FE5E1A16FD19}"/>
              </a:ext>
            </a:extLst>
          </p:cNvPr>
          <p:cNvSpPr/>
          <p:nvPr/>
        </p:nvSpPr>
        <p:spPr>
          <a:xfrm>
            <a:off x="838200" y="2356597"/>
            <a:ext cx="10344755" cy="830997"/>
          </a:xfrm>
          <a:prstGeom prst="rect">
            <a:avLst/>
          </a:prstGeom>
        </p:spPr>
        <p:txBody>
          <a:bodyPr wrap="none">
            <a:spAutoFit/>
          </a:bodyPr>
          <a:lstStyle/>
          <a:p>
            <a:r>
              <a:rPr lang="en-US" sz="1600" dirty="0">
                <a:latin typeface="Franklin Gothic Book" panose="020B0503020102020204" pitchFamily="34" charset="0"/>
              </a:rPr>
              <a:t>How near a node is to other nodes in a social network. It is computed as the inverse of the sum of geodesic distances </a:t>
            </a:r>
          </a:p>
          <a:p>
            <a:r>
              <a:rPr lang="en-US" sz="1600" dirty="0">
                <a:latin typeface="Franklin Gothic Book" panose="020B0503020102020204" pitchFamily="34" charset="0"/>
              </a:rPr>
              <a:t>between actor </a:t>
            </a:r>
            <a:r>
              <a:rPr lang="en-US" sz="1600" dirty="0" err="1">
                <a:latin typeface="Franklin Gothic Book" panose="020B0503020102020204" pitchFamily="34" charset="0"/>
              </a:rPr>
              <a:t>i</a:t>
            </a:r>
            <a:r>
              <a:rPr lang="en-US" sz="1600" dirty="0">
                <a:latin typeface="Franklin Gothic Book" panose="020B0503020102020204" pitchFamily="34" charset="0"/>
              </a:rPr>
              <a:t> and all other nodes. </a:t>
            </a:r>
            <a:r>
              <a:rPr lang="en-US" sz="1600" b="1" dirty="0">
                <a:latin typeface="Franklin Gothic Book" panose="020B0503020102020204" pitchFamily="34" charset="0"/>
              </a:rPr>
              <a:t>The closeness centrality cannot be measured for an isolated nodes </a:t>
            </a:r>
          </a:p>
          <a:p>
            <a:r>
              <a:rPr lang="en-US" sz="1600" dirty="0">
                <a:latin typeface="Franklin Gothic Book" panose="020B0503020102020204" pitchFamily="34" charset="0"/>
              </a:rPr>
              <a:t>since the denominator cannot be 0. Thus, the graph should be connected.</a:t>
            </a:r>
            <a:endParaRPr lang="en-US" sz="1600" dirty="0"/>
          </a:p>
        </p:txBody>
      </p:sp>
      <p:sp>
        <p:nvSpPr>
          <p:cNvPr id="11" name="직사각형 10">
            <a:extLst>
              <a:ext uri="{FF2B5EF4-FFF2-40B4-BE49-F238E27FC236}">
                <a16:creationId xmlns:a16="http://schemas.microsoft.com/office/drawing/2014/main" id="{6FF9A93B-8F6E-4945-A268-65A4C7244B6C}"/>
              </a:ext>
            </a:extLst>
          </p:cNvPr>
          <p:cNvSpPr/>
          <p:nvPr/>
        </p:nvSpPr>
        <p:spPr>
          <a:xfrm>
            <a:off x="494110" y="3349933"/>
            <a:ext cx="4429546" cy="338554"/>
          </a:xfrm>
          <a:prstGeom prst="rect">
            <a:avLst/>
          </a:prstGeom>
        </p:spPr>
        <p:txBody>
          <a:bodyPr wrap="none">
            <a:spAutoFit/>
          </a:bodyPr>
          <a:lstStyle/>
          <a:p>
            <a:r>
              <a:rPr lang="en-US" sz="1600" b="1" dirty="0">
                <a:latin typeface="Franklin Gothic Book" panose="020B0503020102020204" pitchFamily="34" charset="0"/>
              </a:rPr>
              <a:t>Normalized </a:t>
            </a:r>
            <a:r>
              <a:rPr lang="en-US" sz="1600" dirty="0">
                <a:latin typeface="Franklin Gothic Book" panose="020B0503020102020204" pitchFamily="34" charset="0"/>
              </a:rPr>
              <a:t>(actor)</a:t>
            </a:r>
            <a:r>
              <a:rPr lang="en-US" sz="1600" b="1" dirty="0">
                <a:latin typeface="Franklin Gothic Book" panose="020B0503020102020204" pitchFamily="34" charset="0"/>
              </a:rPr>
              <a:t> Closeness Centrality: </a:t>
            </a:r>
            <a:r>
              <a:rPr lang="en-US" sz="1600" b="1" i="1" dirty="0">
                <a:latin typeface="Franklin Gothic Book" panose="020B0503020102020204" pitchFamily="34" charset="0"/>
              </a:rPr>
              <a:t>C</a:t>
            </a:r>
            <a:r>
              <a:rPr lang="el-GR" sz="1600" b="1" i="1" dirty="0">
                <a:latin typeface="Franklin Gothic Book" panose="020B0503020102020204" pitchFamily="34" charset="0"/>
              </a:rPr>
              <a:t></a:t>
            </a:r>
            <a:r>
              <a:rPr lang="en-US" sz="1600" b="1" i="1" baseline="-25000" dirty="0">
                <a:latin typeface="Franklin Gothic Book" panose="020B0503020102020204" pitchFamily="34" charset="0"/>
              </a:rPr>
              <a:t>C</a:t>
            </a:r>
            <a:r>
              <a:rPr lang="en-US" sz="1600" b="1" i="1" dirty="0">
                <a:latin typeface="Franklin Gothic Book" panose="020B0503020102020204" pitchFamily="34" charset="0"/>
              </a:rPr>
              <a:t>(N</a:t>
            </a:r>
            <a:r>
              <a:rPr lang="en-US" sz="1600" b="1" i="1" baseline="-25000" dirty="0">
                <a:latin typeface="Franklin Gothic Book" panose="020B0503020102020204" pitchFamily="34" charset="0"/>
              </a:rPr>
              <a:t>i</a:t>
            </a:r>
            <a:r>
              <a:rPr lang="en-US" sz="1600" b="1" i="1" dirty="0">
                <a:latin typeface="Franklin Gothic Book" panose="020B0503020102020204" pitchFamily="34" charset="0"/>
              </a:rPr>
              <a:t>)</a:t>
            </a:r>
            <a:r>
              <a:rPr lang="en-US" sz="1600" b="1" dirty="0">
                <a:latin typeface="Franklin Gothic Book" panose="020B0503020102020204" pitchFamily="34" charset="0"/>
              </a:rPr>
              <a:t> </a:t>
            </a:r>
            <a:endParaRPr lang="en-US" sz="1600" b="1" dirty="0"/>
          </a:p>
        </p:txBody>
      </p:sp>
      <p:sp>
        <p:nvSpPr>
          <p:cNvPr id="12" name="직사각형 11">
            <a:extLst>
              <a:ext uri="{FF2B5EF4-FFF2-40B4-BE49-F238E27FC236}">
                <a16:creationId xmlns:a16="http://schemas.microsoft.com/office/drawing/2014/main" id="{F04C44BE-9C91-47BC-BFA4-8E488A29D16E}"/>
              </a:ext>
            </a:extLst>
          </p:cNvPr>
          <p:cNvSpPr/>
          <p:nvPr/>
        </p:nvSpPr>
        <p:spPr>
          <a:xfrm>
            <a:off x="838200" y="3706753"/>
            <a:ext cx="8800743" cy="584775"/>
          </a:xfrm>
          <a:prstGeom prst="rect">
            <a:avLst/>
          </a:prstGeom>
        </p:spPr>
        <p:txBody>
          <a:bodyPr wrap="none">
            <a:spAutoFit/>
          </a:bodyPr>
          <a:lstStyle/>
          <a:p>
            <a:r>
              <a:rPr lang="en-US" sz="1600" b="1" dirty="0">
                <a:latin typeface="Franklin Gothic Book" panose="020B0503020102020204" pitchFamily="34" charset="0"/>
              </a:rPr>
              <a:t>Multiplies</a:t>
            </a:r>
            <a:r>
              <a:rPr lang="en-US" sz="1600" dirty="0">
                <a:latin typeface="Franklin Gothic Book" panose="020B0503020102020204" pitchFamily="34" charset="0"/>
              </a:rPr>
              <a:t> the Closeness Centrality by </a:t>
            </a:r>
            <a:r>
              <a:rPr lang="en-US" sz="1600" b="1" dirty="0">
                <a:latin typeface="Franklin Gothic Book" panose="020B0503020102020204" pitchFamily="34" charset="0"/>
              </a:rPr>
              <a:t>(total number of nodes – 1) </a:t>
            </a:r>
            <a:r>
              <a:rPr lang="en-US" sz="1600" dirty="0">
                <a:latin typeface="Franklin Gothic Book" panose="020B0503020102020204" pitchFamily="34" charset="0"/>
              </a:rPr>
              <a:t>to control the size of the network. </a:t>
            </a:r>
          </a:p>
          <a:p>
            <a:r>
              <a:rPr lang="en-US" sz="1600" dirty="0">
                <a:latin typeface="Franklin Gothic Book" panose="020B0503020102020204" pitchFamily="34" charset="0"/>
              </a:rPr>
              <a:t>This enables comparison of actors across different networks</a:t>
            </a:r>
            <a:endParaRPr lang="en-US" sz="1600" dirty="0"/>
          </a:p>
        </p:txBody>
      </p:sp>
      <p:sp>
        <p:nvSpPr>
          <p:cNvPr id="13" name="직사각형 12">
            <a:extLst>
              <a:ext uri="{FF2B5EF4-FFF2-40B4-BE49-F238E27FC236}">
                <a16:creationId xmlns:a16="http://schemas.microsoft.com/office/drawing/2014/main" id="{DABF9F69-2F3F-45A0-AB76-B3DBD289C5CC}"/>
              </a:ext>
            </a:extLst>
          </p:cNvPr>
          <p:cNvSpPr/>
          <p:nvPr/>
        </p:nvSpPr>
        <p:spPr>
          <a:xfrm>
            <a:off x="494110" y="4472133"/>
            <a:ext cx="2952540" cy="338554"/>
          </a:xfrm>
          <a:prstGeom prst="rect">
            <a:avLst/>
          </a:prstGeom>
        </p:spPr>
        <p:txBody>
          <a:bodyPr wrap="none">
            <a:spAutoFit/>
          </a:bodyPr>
          <a:lstStyle/>
          <a:p>
            <a:r>
              <a:rPr lang="en-US" sz="1600" dirty="0">
                <a:latin typeface="Franklin Gothic Book" panose="020B0503020102020204" pitchFamily="34" charset="0"/>
              </a:rPr>
              <a:t>(group)</a:t>
            </a:r>
            <a:r>
              <a:rPr lang="en-US" sz="1600" b="1" dirty="0">
                <a:latin typeface="Franklin Gothic Book" panose="020B0503020102020204" pitchFamily="34" charset="0"/>
              </a:rPr>
              <a:t> Closeness Centrality: </a:t>
            </a:r>
            <a:r>
              <a:rPr lang="en-US" sz="1600" b="1" i="1" dirty="0">
                <a:latin typeface="Franklin Gothic Book" panose="020B0503020102020204" pitchFamily="34" charset="0"/>
              </a:rPr>
              <a:t>C</a:t>
            </a:r>
            <a:r>
              <a:rPr lang="en-US" sz="1600" b="1" i="1" baseline="-25000" dirty="0">
                <a:latin typeface="Franklin Gothic Book" panose="020B0503020102020204" pitchFamily="34" charset="0"/>
              </a:rPr>
              <a:t>C</a:t>
            </a:r>
            <a:r>
              <a:rPr lang="en-US" sz="1600" b="1" dirty="0">
                <a:latin typeface="Franklin Gothic Book" panose="020B0503020102020204" pitchFamily="34" charset="0"/>
              </a:rPr>
              <a:t> </a:t>
            </a:r>
            <a:endParaRPr lang="en-US" sz="1600" b="1" dirty="0"/>
          </a:p>
        </p:txBody>
      </p:sp>
      <p:sp>
        <p:nvSpPr>
          <p:cNvPr id="10" name="직사각형 9">
            <a:extLst>
              <a:ext uri="{FF2B5EF4-FFF2-40B4-BE49-F238E27FC236}">
                <a16:creationId xmlns:a16="http://schemas.microsoft.com/office/drawing/2014/main" id="{E1A4A08A-ED3F-40BE-B0D4-9D58DA17BAA1}"/>
              </a:ext>
            </a:extLst>
          </p:cNvPr>
          <p:cNvSpPr/>
          <p:nvPr/>
        </p:nvSpPr>
        <p:spPr>
          <a:xfrm>
            <a:off x="838200" y="5100574"/>
            <a:ext cx="7819833" cy="338554"/>
          </a:xfrm>
          <a:prstGeom prst="rect">
            <a:avLst/>
          </a:prstGeom>
        </p:spPr>
        <p:txBody>
          <a:bodyPr wrap="none">
            <a:spAutoFit/>
          </a:bodyPr>
          <a:lstStyle/>
          <a:p>
            <a:r>
              <a:rPr lang="en-US" sz="1600" dirty="0">
                <a:latin typeface="Franklin Gothic Book" panose="020B0503020102020204" pitchFamily="34" charset="0"/>
              </a:rPr>
              <a:t>The closer it gets to 1, the more uneven the distribution of actors closeness centrality is. </a:t>
            </a:r>
            <a:endParaRPr lang="en-US" sz="1600" dirty="0"/>
          </a:p>
        </p:txBody>
      </p:sp>
      <p:sp>
        <p:nvSpPr>
          <p:cNvPr id="15" name="직사각형 14">
            <a:extLst>
              <a:ext uri="{FF2B5EF4-FFF2-40B4-BE49-F238E27FC236}">
                <a16:creationId xmlns:a16="http://schemas.microsoft.com/office/drawing/2014/main" id="{2D18BBF2-D9BA-4541-A2B1-ED4F917D1501}"/>
              </a:ext>
            </a:extLst>
          </p:cNvPr>
          <p:cNvSpPr/>
          <p:nvPr/>
        </p:nvSpPr>
        <p:spPr>
          <a:xfrm>
            <a:off x="838200" y="4870992"/>
            <a:ext cx="8440516" cy="338554"/>
          </a:xfrm>
          <a:prstGeom prst="rect">
            <a:avLst/>
          </a:prstGeom>
        </p:spPr>
        <p:txBody>
          <a:bodyPr wrap="none">
            <a:spAutoFit/>
          </a:bodyPr>
          <a:lstStyle/>
          <a:p>
            <a:r>
              <a:rPr lang="en-US" sz="1600" dirty="0">
                <a:latin typeface="Franklin Gothic Book" panose="020B0503020102020204" pitchFamily="34" charset="0"/>
              </a:rPr>
              <a:t>Measures the dispersion that indicates the hierarchy of closeness centrality within the network. </a:t>
            </a:r>
            <a:endParaRPr lang="en-US" sz="1600" dirty="0"/>
          </a:p>
        </p:txBody>
      </p:sp>
    </p:spTree>
    <p:extLst>
      <p:ext uri="{BB962C8B-B14F-4D97-AF65-F5344CB8AC3E}">
        <p14:creationId xmlns:p14="http://schemas.microsoft.com/office/powerpoint/2010/main" val="943888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6383337" cy="1325563"/>
          </a:xfrm>
        </p:spPr>
        <p:txBody>
          <a:bodyPr/>
          <a:lstStyle/>
          <a:p>
            <a:r>
              <a:rPr lang="en-US" dirty="0">
                <a:latin typeface="Franklin Gothic Book" panose="020B0503020102020204" pitchFamily="34" charset="0"/>
              </a:rPr>
              <a:t>3. Centrality and Prestige</a:t>
            </a:r>
            <a:endParaRPr lang="en-US" sz="3200" b="1" dirty="0">
              <a:latin typeface="Franklin Gothic Book" panose="020B0503020102020204" pitchFamily="34" charset="0"/>
            </a:endParaRPr>
          </a:p>
        </p:txBody>
      </p:sp>
      <p:sp>
        <p:nvSpPr>
          <p:cNvPr id="4" name="직사각형 3">
            <a:extLst>
              <a:ext uri="{FF2B5EF4-FFF2-40B4-BE49-F238E27FC236}">
                <a16:creationId xmlns:a16="http://schemas.microsoft.com/office/drawing/2014/main" id="{5AD62888-7216-4DFD-973F-6EBBEF5B6819}"/>
              </a:ext>
            </a:extLst>
          </p:cNvPr>
          <p:cNvSpPr/>
          <p:nvPr/>
        </p:nvSpPr>
        <p:spPr>
          <a:xfrm>
            <a:off x="494110" y="1172651"/>
            <a:ext cx="7944226" cy="523220"/>
          </a:xfrm>
          <a:prstGeom prst="rect">
            <a:avLst/>
          </a:prstGeom>
        </p:spPr>
        <p:txBody>
          <a:bodyPr wrap="none">
            <a:spAutoFit/>
          </a:bodyPr>
          <a:lstStyle/>
          <a:p>
            <a:r>
              <a:rPr lang="en-US" sz="1400" dirty="0">
                <a:latin typeface="Franklin Gothic Book" panose="020B0503020102020204" pitchFamily="34" charset="0"/>
              </a:rPr>
              <a:t>The concepts that will be introduced are used to quantify graph theoretic ideas about </a:t>
            </a:r>
          </a:p>
          <a:p>
            <a:r>
              <a:rPr lang="en-US" sz="1400" b="1" dirty="0">
                <a:latin typeface="Franklin Gothic Book" panose="020B0503020102020204" pitchFamily="34" charset="0"/>
              </a:rPr>
              <a:t>an actor’s prominence </a:t>
            </a:r>
            <a:r>
              <a:rPr lang="en-US" sz="1400" dirty="0">
                <a:latin typeface="Franklin Gothic Book" panose="020B0503020102020204" pitchFamily="34" charset="0"/>
              </a:rPr>
              <a:t>within a </a:t>
            </a:r>
            <a:r>
              <a:rPr lang="en-US" sz="1400" b="1" dirty="0">
                <a:latin typeface="Franklin Gothic Book" panose="020B0503020102020204" pitchFamily="34" charset="0"/>
              </a:rPr>
              <a:t>complete network</a:t>
            </a:r>
            <a:r>
              <a:rPr lang="en-US" sz="1400" dirty="0">
                <a:latin typeface="Franklin Gothic Book" panose="020B0503020102020204" pitchFamily="34" charset="0"/>
              </a:rPr>
              <a:t> by summarizing structural relations among all nodes.</a:t>
            </a:r>
            <a:endParaRPr lang="en-US" sz="1400" dirty="0"/>
          </a:p>
        </p:txBody>
      </p:sp>
      <p:sp>
        <p:nvSpPr>
          <p:cNvPr id="20" name="직사각형 19">
            <a:extLst>
              <a:ext uri="{FF2B5EF4-FFF2-40B4-BE49-F238E27FC236}">
                <a16:creationId xmlns:a16="http://schemas.microsoft.com/office/drawing/2014/main" id="{86A46F49-E44A-44A9-AA20-8A7A753FE754}"/>
              </a:ext>
            </a:extLst>
          </p:cNvPr>
          <p:cNvSpPr/>
          <p:nvPr/>
        </p:nvSpPr>
        <p:spPr>
          <a:xfrm>
            <a:off x="494110" y="2024981"/>
            <a:ext cx="3468835" cy="338554"/>
          </a:xfrm>
          <a:prstGeom prst="rect">
            <a:avLst/>
          </a:prstGeom>
        </p:spPr>
        <p:txBody>
          <a:bodyPr wrap="none">
            <a:spAutoFit/>
          </a:bodyPr>
          <a:lstStyle/>
          <a:p>
            <a:r>
              <a:rPr lang="en-US" sz="1600" dirty="0">
                <a:latin typeface="Franklin Gothic Book" panose="020B0503020102020204" pitchFamily="34" charset="0"/>
              </a:rPr>
              <a:t>(actor)</a:t>
            </a:r>
            <a:r>
              <a:rPr lang="en-US" sz="1600" b="1" dirty="0">
                <a:latin typeface="Franklin Gothic Book" panose="020B0503020102020204" pitchFamily="34" charset="0"/>
              </a:rPr>
              <a:t> Betweenness Centrality: </a:t>
            </a:r>
            <a:r>
              <a:rPr lang="en-US" sz="1600" b="1" i="1" dirty="0">
                <a:latin typeface="Franklin Gothic Book" panose="020B0503020102020204" pitchFamily="34" charset="0"/>
              </a:rPr>
              <a:t>C</a:t>
            </a:r>
            <a:r>
              <a:rPr lang="en-US" sz="1600" b="1" i="1" baseline="-25000" dirty="0">
                <a:latin typeface="Franklin Gothic Book" panose="020B0503020102020204" pitchFamily="34" charset="0"/>
              </a:rPr>
              <a:t>B</a:t>
            </a:r>
            <a:r>
              <a:rPr lang="en-US" sz="1600" b="1" i="1" dirty="0">
                <a:latin typeface="Franklin Gothic Book" panose="020B0503020102020204" pitchFamily="34" charset="0"/>
              </a:rPr>
              <a:t>(N</a:t>
            </a:r>
            <a:r>
              <a:rPr lang="en-US" sz="1600" b="1" i="1" baseline="-25000" dirty="0">
                <a:latin typeface="Franklin Gothic Book" panose="020B0503020102020204" pitchFamily="34" charset="0"/>
              </a:rPr>
              <a:t>i</a:t>
            </a:r>
            <a:r>
              <a:rPr lang="en-US" sz="1600" b="1" i="1" dirty="0">
                <a:latin typeface="Franklin Gothic Book" panose="020B0503020102020204" pitchFamily="34" charset="0"/>
              </a:rPr>
              <a:t>)</a:t>
            </a:r>
            <a:r>
              <a:rPr lang="en-US" sz="1600" b="1" dirty="0">
                <a:latin typeface="Franklin Gothic Book" panose="020B0503020102020204" pitchFamily="34" charset="0"/>
              </a:rPr>
              <a:t> </a:t>
            </a:r>
            <a:endParaRPr lang="en-US" sz="1600" b="1" dirty="0"/>
          </a:p>
        </p:txBody>
      </p:sp>
      <p:sp>
        <p:nvSpPr>
          <p:cNvPr id="22" name="직사각형 21">
            <a:extLst>
              <a:ext uri="{FF2B5EF4-FFF2-40B4-BE49-F238E27FC236}">
                <a16:creationId xmlns:a16="http://schemas.microsoft.com/office/drawing/2014/main" id="{BFF1A87F-8E39-41AB-B894-FE5E1A16FD19}"/>
              </a:ext>
            </a:extLst>
          </p:cNvPr>
          <p:cNvSpPr/>
          <p:nvPr/>
        </p:nvSpPr>
        <p:spPr>
          <a:xfrm>
            <a:off x="838200" y="2356597"/>
            <a:ext cx="10989675" cy="830997"/>
          </a:xfrm>
          <a:prstGeom prst="rect">
            <a:avLst/>
          </a:prstGeom>
        </p:spPr>
        <p:txBody>
          <a:bodyPr wrap="none">
            <a:spAutoFit/>
          </a:bodyPr>
          <a:lstStyle/>
          <a:p>
            <a:r>
              <a:rPr lang="en-US" sz="1600" dirty="0"/>
              <a:t>How other actors control of mediate the relations between dyads that are not directly connected. It measures the extent to which</a:t>
            </a:r>
          </a:p>
          <a:p>
            <a:r>
              <a:rPr lang="en-US" sz="1600" dirty="0"/>
              <a:t>other actors lie on geodesic path (shortest distance) between pairs of actors in the network. It is an important indicator of control</a:t>
            </a:r>
          </a:p>
          <a:p>
            <a:r>
              <a:rPr lang="en-US" sz="1600" dirty="0"/>
              <a:t>over information exchange or resource.</a:t>
            </a:r>
          </a:p>
        </p:txBody>
      </p:sp>
      <p:sp>
        <p:nvSpPr>
          <p:cNvPr id="11" name="직사각형 10">
            <a:extLst>
              <a:ext uri="{FF2B5EF4-FFF2-40B4-BE49-F238E27FC236}">
                <a16:creationId xmlns:a16="http://schemas.microsoft.com/office/drawing/2014/main" id="{6FF9A93B-8F6E-4945-A268-65A4C7244B6C}"/>
              </a:ext>
            </a:extLst>
          </p:cNvPr>
          <p:cNvSpPr/>
          <p:nvPr/>
        </p:nvSpPr>
        <p:spPr>
          <a:xfrm>
            <a:off x="494110" y="3349933"/>
            <a:ext cx="4709559" cy="338554"/>
          </a:xfrm>
          <a:prstGeom prst="rect">
            <a:avLst/>
          </a:prstGeom>
        </p:spPr>
        <p:txBody>
          <a:bodyPr wrap="none">
            <a:spAutoFit/>
          </a:bodyPr>
          <a:lstStyle/>
          <a:p>
            <a:r>
              <a:rPr lang="en-US" sz="1600" b="1" dirty="0">
                <a:latin typeface="Franklin Gothic Book" panose="020B0503020102020204" pitchFamily="34" charset="0"/>
              </a:rPr>
              <a:t>Normalized </a:t>
            </a:r>
            <a:r>
              <a:rPr lang="en-US" sz="1600" dirty="0">
                <a:latin typeface="Franklin Gothic Book" panose="020B0503020102020204" pitchFamily="34" charset="0"/>
              </a:rPr>
              <a:t>(actor)</a:t>
            </a:r>
            <a:r>
              <a:rPr lang="en-US" sz="1600" b="1" dirty="0">
                <a:latin typeface="Franklin Gothic Book" panose="020B0503020102020204" pitchFamily="34" charset="0"/>
              </a:rPr>
              <a:t> Betweenness Centrality: </a:t>
            </a:r>
            <a:r>
              <a:rPr lang="en-US" sz="1600" b="1" i="1" dirty="0">
                <a:latin typeface="Franklin Gothic Book" panose="020B0503020102020204" pitchFamily="34" charset="0"/>
              </a:rPr>
              <a:t>C</a:t>
            </a:r>
            <a:r>
              <a:rPr lang="el-GR" sz="1600" b="1" i="1" dirty="0">
                <a:latin typeface="Franklin Gothic Book" panose="020B0503020102020204" pitchFamily="34" charset="0"/>
              </a:rPr>
              <a:t></a:t>
            </a:r>
            <a:r>
              <a:rPr lang="en-US" sz="1600" b="1" i="1" baseline="-25000" dirty="0">
                <a:latin typeface="Franklin Gothic Book" panose="020B0503020102020204" pitchFamily="34" charset="0"/>
              </a:rPr>
              <a:t>B</a:t>
            </a:r>
            <a:r>
              <a:rPr lang="en-US" sz="1600" b="1" i="1" dirty="0">
                <a:latin typeface="Franklin Gothic Book" panose="020B0503020102020204" pitchFamily="34" charset="0"/>
              </a:rPr>
              <a:t>(N</a:t>
            </a:r>
            <a:r>
              <a:rPr lang="en-US" sz="1600" b="1" i="1" baseline="-25000" dirty="0">
                <a:latin typeface="Franklin Gothic Book" panose="020B0503020102020204" pitchFamily="34" charset="0"/>
              </a:rPr>
              <a:t>i</a:t>
            </a:r>
            <a:r>
              <a:rPr lang="en-US" sz="1600" b="1" i="1" dirty="0">
                <a:latin typeface="Franklin Gothic Book" panose="020B0503020102020204" pitchFamily="34" charset="0"/>
              </a:rPr>
              <a:t>)</a:t>
            </a:r>
            <a:r>
              <a:rPr lang="en-US" sz="1600" b="1" dirty="0">
                <a:latin typeface="Franklin Gothic Book" panose="020B0503020102020204" pitchFamily="34" charset="0"/>
              </a:rPr>
              <a:t> </a:t>
            </a:r>
            <a:endParaRPr lang="en-US" sz="1600" b="1" dirty="0"/>
          </a:p>
        </p:txBody>
      </p:sp>
      <p:sp>
        <p:nvSpPr>
          <p:cNvPr id="12" name="직사각형 11">
            <a:extLst>
              <a:ext uri="{FF2B5EF4-FFF2-40B4-BE49-F238E27FC236}">
                <a16:creationId xmlns:a16="http://schemas.microsoft.com/office/drawing/2014/main" id="{F04C44BE-9C91-47BC-BFA4-8E488A29D16E}"/>
              </a:ext>
            </a:extLst>
          </p:cNvPr>
          <p:cNvSpPr/>
          <p:nvPr/>
        </p:nvSpPr>
        <p:spPr>
          <a:xfrm>
            <a:off x="838200" y="3706753"/>
            <a:ext cx="9954520" cy="338554"/>
          </a:xfrm>
          <a:prstGeom prst="rect">
            <a:avLst/>
          </a:prstGeom>
        </p:spPr>
        <p:txBody>
          <a:bodyPr wrap="none">
            <a:spAutoFit/>
          </a:bodyPr>
          <a:lstStyle/>
          <a:p>
            <a:r>
              <a:rPr lang="en-US" sz="1600" b="1" dirty="0">
                <a:latin typeface="Franklin Gothic Book" panose="020B0503020102020204" pitchFamily="34" charset="0"/>
              </a:rPr>
              <a:t>Divides </a:t>
            </a:r>
            <a:r>
              <a:rPr lang="en-US" sz="1600" dirty="0">
                <a:latin typeface="Franklin Gothic Book" panose="020B0503020102020204" pitchFamily="34" charset="0"/>
              </a:rPr>
              <a:t>the Betweenness Centrality by its maximum theoretical value, which is the total number of pairs of nodes. </a:t>
            </a:r>
            <a:endParaRPr lang="en-US" sz="1600" dirty="0"/>
          </a:p>
        </p:txBody>
      </p:sp>
      <p:sp>
        <p:nvSpPr>
          <p:cNvPr id="8" name="직사각형 7">
            <a:extLst>
              <a:ext uri="{FF2B5EF4-FFF2-40B4-BE49-F238E27FC236}">
                <a16:creationId xmlns:a16="http://schemas.microsoft.com/office/drawing/2014/main" id="{15961950-A0A2-44B5-A042-8EC9C55DBD74}"/>
              </a:ext>
            </a:extLst>
          </p:cNvPr>
          <p:cNvSpPr/>
          <p:nvPr/>
        </p:nvSpPr>
        <p:spPr>
          <a:xfrm>
            <a:off x="494110" y="4670022"/>
            <a:ext cx="3521092" cy="338554"/>
          </a:xfrm>
          <a:prstGeom prst="rect">
            <a:avLst/>
          </a:prstGeom>
        </p:spPr>
        <p:txBody>
          <a:bodyPr wrap="none">
            <a:spAutoFit/>
          </a:bodyPr>
          <a:lstStyle/>
          <a:p>
            <a:r>
              <a:rPr lang="en-US" sz="1600" dirty="0">
                <a:latin typeface="Franklin Gothic Book" panose="020B0503020102020204" pitchFamily="34" charset="0"/>
              </a:rPr>
              <a:t>(group)</a:t>
            </a:r>
            <a:r>
              <a:rPr lang="en-US" sz="1600" b="1" dirty="0">
                <a:latin typeface="Franklin Gothic Book" panose="020B0503020102020204" pitchFamily="34" charset="0"/>
              </a:rPr>
              <a:t> Betweenness Centrality: </a:t>
            </a:r>
            <a:r>
              <a:rPr lang="en-US" sz="1600" b="1" i="1" dirty="0">
                <a:latin typeface="Franklin Gothic Book" panose="020B0503020102020204" pitchFamily="34" charset="0"/>
              </a:rPr>
              <a:t>C</a:t>
            </a:r>
            <a:r>
              <a:rPr lang="en-US" sz="1600" b="1" i="1" baseline="-25000" dirty="0">
                <a:latin typeface="Franklin Gothic Book" panose="020B0503020102020204" pitchFamily="34" charset="0"/>
              </a:rPr>
              <a:t>B</a:t>
            </a:r>
            <a:r>
              <a:rPr lang="en-US" sz="1600" b="1" i="1" dirty="0">
                <a:latin typeface="Franklin Gothic Book" panose="020B0503020102020204" pitchFamily="34" charset="0"/>
              </a:rPr>
              <a:t>(N</a:t>
            </a:r>
            <a:r>
              <a:rPr lang="en-US" sz="1600" b="1" i="1" baseline="-25000" dirty="0">
                <a:latin typeface="Franklin Gothic Book" panose="020B0503020102020204" pitchFamily="34" charset="0"/>
              </a:rPr>
              <a:t>i</a:t>
            </a:r>
            <a:r>
              <a:rPr lang="en-US" sz="1600" b="1" i="1" dirty="0">
                <a:latin typeface="Franklin Gothic Book" panose="020B0503020102020204" pitchFamily="34" charset="0"/>
              </a:rPr>
              <a:t>)</a:t>
            </a:r>
            <a:r>
              <a:rPr lang="en-US" sz="1600" b="1" dirty="0">
                <a:latin typeface="Franklin Gothic Book" panose="020B0503020102020204" pitchFamily="34" charset="0"/>
              </a:rPr>
              <a:t> </a:t>
            </a:r>
            <a:endParaRPr lang="en-US" sz="1600" b="1" dirty="0"/>
          </a:p>
        </p:txBody>
      </p:sp>
      <p:sp>
        <p:nvSpPr>
          <p:cNvPr id="9" name="직사각형 8">
            <a:extLst>
              <a:ext uri="{FF2B5EF4-FFF2-40B4-BE49-F238E27FC236}">
                <a16:creationId xmlns:a16="http://schemas.microsoft.com/office/drawing/2014/main" id="{D107A976-E0C7-4586-9822-18AF1540A927}"/>
              </a:ext>
            </a:extLst>
          </p:cNvPr>
          <p:cNvSpPr/>
          <p:nvPr/>
        </p:nvSpPr>
        <p:spPr>
          <a:xfrm>
            <a:off x="838200" y="5044272"/>
            <a:ext cx="11264046" cy="1323439"/>
          </a:xfrm>
          <a:prstGeom prst="rect">
            <a:avLst/>
          </a:prstGeom>
        </p:spPr>
        <p:txBody>
          <a:bodyPr wrap="none">
            <a:spAutoFit/>
          </a:bodyPr>
          <a:lstStyle/>
          <a:p>
            <a:r>
              <a:rPr lang="en-US" sz="1600" dirty="0"/>
              <a:t>Sum of the differences in betweenness centrality scores for the actor with the highest value and every other actor, </a:t>
            </a:r>
          </a:p>
          <a:p>
            <a:r>
              <a:rPr lang="en-US" sz="1600" dirty="0"/>
              <a:t>divided by maximum possible value of betweenness centrality for all nodes in a network. </a:t>
            </a:r>
          </a:p>
          <a:p>
            <a:endParaRPr lang="en-US" sz="1600" dirty="0"/>
          </a:p>
          <a:p>
            <a:r>
              <a:rPr lang="en-US" sz="1600" dirty="0"/>
              <a:t>In a network where every node has the same betweenness centrality, the value will be 0. If there is a single dominant actor sitting on </a:t>
            </a:r>
          </a:p>
          <a:p>
            <a:r>
              <a:rPr lang="en-US" sz="1600" dirty="0"/>
              <a:t>all geodesic paths, the value will reach 1</a:t>
            </a:r>
          </a:p>
        </p:txBody>
      </p:sp>
    </p:spTree>
    <p:extLst>
      <p:ext uri="{BB962C8B-B14F-4D97-AF65-F5344CB8AC3E}">
        <p14:creationId xmlns:p14="http://schemas.microsoft.com/office/powerpoint/2010/main" val="2656798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6383337" cy="1325563"/>
          </a:xfrm>
        </p:spPr>
        <p:txBody>
          <a:bodyPr/>
          <a:lstStyle/>
          <a:p>
            <a:r>
              <a:rPr lang="en-US" dirty="0">
                <a:latin typeface="Franklin Gothic Book" panose="020B0503020102020204" pitchFamily="34" charset="0"/>
              </a:rPr>
              <a:t>3. Centrality and Prestige</a:t>
            </a:r>
            <a:endParaRPr lang="en-US" sz="3200" b="1" dirty="0">
              <a:latin typeface="Franklin Gothic Book" panose="020B0503020102020204" pitchFamily="34" charset="0"/>
            </a:endParaRPr>
          </a:p>
        </p:txBody>
      </p:sp>
      <p:sp>
        <p:nvSpPr>
          <p:cNvPr id="4" name="직사각형 3">
            <a:extLst>
              <a:ext uri="{FF2B5EF4-FFF2-40B4-BE49-F238E27FC236}">
                <a16:creationId xmlns:a16="http://schemas.microsoft.com/office/drawing/2014/main" id="{5AD62888-7216-4DFD-973F-6EBBEF5B6819}"/>
              </a:ext>
            </a:extLst>
          </p:cNvPr>
          <p:cNvSpPr/>
          <p:nvPr/>
        </p:nvSpPr>
        <p:spPr>
          <a:xfrm>
            <a:off x="494110" y="1172651"/>
            <a:ext cx="7944226" cy="523220"/>
          </a:xfrm>
          <a:prstGeom prst="rect">
            <a:avLst/>
          </a:prstGeom>
        </p:spPr>
        <p:txBody>
          <a:bodyPr wrap="none">
            <a:spAutoFit/>
          </a:bodyPr>
          <a:lstStyle/>
          <a:p>
            <a:r>
              <a:rPr lang="en-US" sz="1400" dirty="0">
                <a:latin typeface="Franklin Gothic Book" panose="020B0503020102020204" pitchFamily="34" charset="0"/>
              </a:rPr>
              <a:t>The concepts that will be introduced are used to quantify graph theoretic ideas about </a:t>
            </a:r>
          </a:p>
          <a:p>
            <a:r>
              <a:rPr lang="en-US" sz="1400" b="1" dirty="0">
                <a:latin typeface="Franklin Gothic Book" panose="020B0503020102020204" pitchFamily="34" charset="0"/>
              </a:rPr>
              <a:t>an actor’s prominence </a:t>
            </a:r>
            <a:r>
              <a:rPr lang="en-US" sz="1400" dirty="0">
                <a:latin typeface="Franklin Gothic Book" panose="020B0503020102020204" pitchFamily="34" charset="0"/>
              </a:rPr>
              <a:t>within a </a:t>
            </a:r>
            <a:r>
              <a:rPr lang="en-US" sz="1400" b="1" dirty="0">
                <a:latin typeface="Franklin Gothic Book" panose="020B0503020102020204" pitchFamily="34" charset="0"/>
              </a:rPr>
              <a:t>complete network</a:t>
            </a:r>
            <a:r>
              <a:rPr lang="en-US" sz="1400" dirty="0">
                <a:latin typeface="Franklin Gothic Book" panose="020B0503020102020204" pitchFamily="34" charset="0"/>
              </a:rPr>
              <a:t> by summarizing structural relations among all nodes.</a:t>
            </a:r>
            <a:endParaRPr lang="en-US" sz="1400" dirty="0"/>
          </a:p>
        </p:txBody>
      </p:sp>
      <p:sp>
        <p:nvSpPr>
          <p:cNvPr id="20" name="직사각형 19">
            <a:extLst>
              <a:ext uri="{FF2B5EF4-FFF2-40B4-BE49-F238E27FC236}">
                <a16:creationId xmlns:a16="http://schemas.microsoft.com/office/drawing/2014/main" id="{86A46F49-E44A-44A9-AA20-8A7A753FE754}"/>
              </a:ext>
            </a:extLst>
          </p:cNvPr>
          <p:cNvSpPr/>
          <p:nvPr/>
        </p:nvSpPr>
        <p:spPr>
          <a:xfrm>
            <a:off x="494110" y="2024981"/>
            <a:ext cx="886781" cy="338554"/>
          </a:xfrm>
          <a:prstGeom prst="rect">
            <a:avLst/>
          </a:prstGeom>
        </p:spPr>
        <p:txBody>
          <a:bodyPr wrap="none">
            <a:spAutoFit/>
          </a:bodyPr>
          <a:lstStyle/>
          <a:p>
            <a:r>
              <a:rPr lang="en-US" sz="1600" b="1" dirty="0">
                <a:latin typeface="Franklin Gothic Book" panose="020B0503020102020204" pitchFamily="34" charset="0"/>
              </a:rPr>
              <a:t>Prestige</a:t>
            </a:r>
            <a:endParaRPr lang="en-US" sz="1600" b="1" dirty="0"/>
          </a:p>
        </p:txBody>
      </p:sp>
      <p:sp>
        <p:nvSpPr>
          <p:cNvPr id="22" name="직사각형 21">
            <a:extLst>
              <a:ext uri="{FF2B5EF4-FFF2-40B4-BE49-F238E27FC236}">
                <a16:creationId xmlns:a16="http://schemas.microsoft.com/office/drawing/2014/main" id="{BFF1A87F-8E39-41AB-B894-FE5E1A16FD19}"/>
              </a:ext>
            </a:extLst>
          </p:cNvPr>
          <p:cNvSpPr/>
          <p:nvPr/>
        </p:nvSpPr>
        <p:spPr>
          <a:xfrm>
            <a:off x="838201" y="2356597"/>
            <a:ext cx="10622872" cy="830997"/>
          </a:xfrm>
          <a:prstGeom prst="rect">
            <a:avLst/>
          </a:prstGeom>
        </p:spPr>
        <p:txBody>
          <a:bodyPr wrap="square">
            <a:spAutoFit/>
          </a:bodyPr>
          <a:lstStyle/>
          <a:p>
            <a:r>
              <a:rPr lang="en-US" sz="1600" dirty="0"/>
              <a:t>Prestige is defined as the extent to which a social actor in a network “receives” or “serves as the object” of relations sent by others in the network. It can be measured by counting the number of directed ties that an actor receives from the other network actors for a specified relation. </a:t>
            </a:r>
          </a:p>
        </p:txBody>
      </p:sp>
      <p:sp>
        <p:nvSpPr>
          <p:cNvPr id="10" name="직사각형 9">
            <a:extLst>
              <a:ext uri="{FF2B5EF4-FFF2-40B4-BE49-F238E27FC236}">
                <a16:creationId xmlns:a16="http://schemas.microsoft.com/office/drawing/2014/main" id="{DC55BB9F-75C5-44B7-B59C-432611868E2C}"/>
              </a:ext>
            </a:extLst>
          </p:cNvPr>
          <p:cNvSpPr/>
          <p:nvPr/>
        </p:nvSpPr>
        <p:spPr>
          <a:xfrm>
            <a:off x="494110" y="3407110"/>
            <a:ext cx="2103396" cy="338554"/>
          </a:xfrm>
          <a:prstGeom prst="rect">
            <a:avLst/>
          </a:prstGeom>
        </p:spPr>
        <p:txBody>
          <a:bodyPr wrap="none">
            <a:spAutoFit/>
          </a:bodyPr>
          <a:lstStyle/>
          <a:p>
            <a:r>
              <a:rPr lang="en-US" sz="1600" b="1" dirty="0">
                <a:latin typeface="Franklin Gothic Book" panose="020B0503020102020204" pitchFamily="34" charset="0"/>
              </a:rPr>
              <a:t>Actor Degree Prestige:</a:t>
            </a:r>
            <a:endParaRPr lang="en-US" sz="1600" b="1" dirty="0"/>
          </a:p>
        </p:txBody>
      </p:sp>
      <p:sp>
        <p:nvSpPr>
          <p:cNvPr id="3" name="직사각형 2">
            <a:extLst>
              <a:ext uri="{FF2B5EF4-FFF2-40B4-BE49-F238E27FC236}">
                <a16:creationId xmlns:a16="http://schemas.microsoft.com/office/drawing/2014/main" id="{3B789A60-37A1-4667-BD99-8FABD24C1C62}"/>
              </a:ext>
            </a:extLst>
          </p:cNvPr>
          <p:cNvSpPr/>
          <p:nvPr/>
        </p:nvSpPr>
        <p:spPr>
          <a:xfrm>
            <a:off x="2597506" y="3376332"/>
            <a:ext cx="790601" cy="369332"/>
          </a:xfrm>
          <a:prstGeom prst="rect">
            <a:avLst/>
          </a:prstGeom>
        </p:spPr>
        <p:txBody>
          <a:bodyPr wrap="none">
            <a:spAutoFit/>
          </a:bodyPr>
          <a:lstStyle/>
          <a:p>
            <a:r>
              <a:rPr lang="en-US" b="1" i="1" dirty="0">
                <a:latin typeface="Franklin Gothic Book" panose="020B0503020102020204" pitchFamily="34" charset="0"/>
              </a:rPr>
              <a:t>P</a:t>
            </a:r>
            <a:r>
              <a:rPr lang="en-US" b="1" i="1" baseline="-25000" dirty="0">
                <a:latin typeface="Franklin Gothic Book" panose="020B0503020102020204" pitchFamily="34" charset="0"/>
              </a:rPr>
              <a:t>D</a:t>
            </a:r>
            <a:r>
              <a:rPr lang="en-US" b="1" i="1" dirty="0">
                <a:latin typeface="Franklin Gothic Book" panose="020B0503020102020204" pitchFamily="34" charset="0"/>
              </a:rPr>
              <a:t>(N</a:t>
            </a:r>
            <a:r>
              <a:rPr lang="en-US" b="1" i="1" baseline="-25000" dirty="0">
                <a:latin typeface="Franklin Gothic Book" panose="020B0503020102020204" pitchFamily="34" charset="0"/>
              </a:rPr>
              <a:t>i</a:t>
            </a:r>
            <a:r>
              <a:rPr lang="en-US" b="1" i="1" dirty="0">
                <a:latin typeface="Franklin Gothic Book" panose="020B0503020102020204" pitchFamily="34" charset="0"/>
              </a:rPr>
              <a:t>)</a:t>
            </a:r>
            <a:r>
              <a:rPr lang="en-US" b="1" dirty="0">
                <a:latin typeface="Franklin Gothic Book" panose="020B0503020102020204" pitchFamily="34" charset="0"/>
              </a:rPr>
              <a:t> </a:t>
            </a:r>
            <a:endParaRPr lang="en-US" dirty="0"/>
          </a:p>
        </p:txBody>
      </p:sp>
      <p:sp>
        <p:nvSpPr>
          <p:cNvPr id="13" name="직사각형 12">
            <a:extLst>
              <a:ext uri="{FF2B5EF4-FFF2-40B4-BE49-F238E27FC236}">
                <a16:creationId xmlns:a16="http://schemas.microsoft.com/office/drawing/2014/main" id="{3C857DDA-19D2-4DB5-BA21-98E366D15377}"/>
              </a:ext>
            </a:extLst>
          </p:cNvPr>
          <p:cNvSpPr/>
          <p:nvPr/>
        </p:nvSpPr>
        <p:spPr>
          <a:xfrm>
            <a:off x="838201" y="3745664"/>
            <a:ext cx="10622872" cy="338554"/>
          </a:xfrm>
          <a:prstGeom prst="rect">
            <a:avLst/>
          </a:prstGeom>
        </p:spPr>
        <p:txBody>
          <a:bodyPr wrap="square">
            <a:spAutoFit/>
          </a:bodyPr>
          <a:lstStyle/>
          <a:p>
            <a:r>
              <a:rPr lang="en-US" sz="1600" dirty="0"/>
              <a:t>Calculated as the indegrees of a digraph. </a:t>
            </a:r>
          </a:p>
        </p:txBody>
      </p:sp>
      <p:sp>
        <p:nvSpPr>
          <p:cNvPr id="14" name="직사각형 13">
            <a:extLst>
              <a:ext uri="{FF2B5EF4-FFF2-40B4-BE49-F238E27FC236}">
                <a16:creationId xmlns:a16="http://schemas.microsoft.com/office/drawing/2014/main" id="{A6B256DB-E2C2-4D6A-9088-C62F3DA62CFB}"/>
              </a:ext>
            </a:extLst>
          </p:cNvPr>
          <p:cNvSpPr/>
          <p:nvPr/>
        </p:nvSpPr>
        <p:spPr>
          <a:xfrm>
            <a:off x="494110" y="4231169"/>
            <a:ext cx="3299108" cy="338554"/>
          </a:xfrm>
          <a:prstGeom prst="rect">
            <a:avLst/>
          </a:prstGeom>
        </p:spPr>
        <p:txBody>
          <a:bodyPr wrap="none">
            <a:spAutoFit/>
          </a:bodyPr>
          <a:lstStyle/>
          <a:p>
            <a:r>
              <a:rPr lang="en-US" sz="1600" b="1" dirty="0">
                <a:latin typeface="Franklin Gothic Book" panose="020B0503020102020204" pitchFamily="34" charset="0"/>
              </a:rPr>
              <a:t>Standardized Actor Degree Prestige:</a:t>
            </a:r>
            <a:endParaRPr lang="en-US" sz="1600" b="1" dirty="0"/>
          </a:p>
        </p:txBody>
      </p:sp>
      <p:sp>
        <p:nvSpPr>
          <p:cNvPr id="15" name="직사각형 14">
            <a:extLst>
              <a:ext uri="{FF2B5EF4-FFF2-40B4-BE49-F238E27FC236}">
                <a16:creationId xmlns:a16="http://schemas.microsoft.com/office/drawing/2014/main" id="{B1DAAB4F-32DD-4514-8422-2ACD61BF12E9}"/>
              </a:ext>
            </a:extLst>
          </p:cNvPr>
          <p:cNvSpPr/>
          <p:nvPr/>
        </p:nvSpPr>
        <p:spPr>
          <a:xfrm>
            <a:off x="3675622" y="4200391"/>
            <a:ext cx="906017" cy="369332"/>
          </a:xfrm>
          <a:prstGeom prst="rect">
            <a:avLst/>
          </a:prstGeom>
        </p:spPr>
        <p:txBody>
          <a:bodyPr wrap="none">
            <a:spAutoFit/>
          </a:bodyPr>
          <a:lstStyle/>
          <a:p>
            <a:r>
              <a:rPr lang="en-US" b="1" i="1" dirty="0">
                <a:latin typeface="Franklin Gothic Book" panose="020B0503020102020204" pitchFamily="34" charset="0"/>
              </a:rPr>
              <a:t>P</a:t>
            </a:r>
            <a:r>
              <a:rPr lang="el-GR" b="1" i="1" dirty="0">
                <a:latin typeface="Franklin Gothic Book" panose="020B0503020102020204" pitchFamily="34" charset="0"/>
              </a:rPr>
              <a:t></a:t>
            </a:r>
            <a:r>
              <a:rPr lang="en-US" b="1" i="1" baseline="-25000" dirty="0">
                <a:latin typeface="Franklin Gothic Book" panose="020B0503020102020204" pitchFamily="34" charset="0"/>
              </a:rPr>
              <a:t>D</a:t>
            </a:r>
            <a:r>
              <a:rPr lang="en-US" b="1" i="1" dirty="0">
                <a:latin typeface="Franklin Gothic Book" panose="020B0503020102020204" pitchFamily="34" charset="0"/>
              </a:rPr>
              <a:t>(N</a:t>
            </a:r>
            <a:r>
              <a:rPr lang="en-US" b="1" i="1" baseline="-25000" dirty="0">
                <a:latin typeface="Franklin Gothic Book" panose="020B0503020102020204" pitchFamily="34" charset="0"/>
              </a:rPr>
              <a:t>i</a:t>
            </a:r>
            <a:r>
              <a:rPr lang="en-US" b="1" i="1" dirty="0">
                <a:latin typeface="Franklin Gothic Book" panose="020B0503020102020204" pitchFamily="34" charset="0"/>
              </a:rPr>
              <a:t>)</a:t>
            </a:r>
            <a:r>
              <a:rPr lang="en-US" b="1" dirty="0">
                <a:latin typeface="Franklin Gothic Book" panose="020B0503020102020204" pitchFamily="34" charset="0"/>
              </a:rPr>
              <a:t> </a:t>
            </a:r>
            <a:endParaRPr lang="en-US" dirty="0"/>
          </a:p>
        </p:txBody>
      </p:sp>
      <p:sp>
        <p:nvSpPr>
          <p:cNvPr id="16" name="직사각형 15">
            <a:extLst>
              <a:ext uri="{FF2B5EF4-FFF2-40B4-BE49-F238E27FC236}">
                <a16:creationId xmlns:a16="http://schemas.microsoft.com/office/drawing/2014/main" id="{07F5C80B-127C-435F-9E6D-33D9D027DA7D}"/>
              </a:ext>
            </a:extLst>
          </p:cNvPr>
          <p:cNvSpPr/>
          <p:nvPr/>
        </p:nvSpPr>
        <p:spPr>
          <a:xfrm>
            <a:off x="838201" y="4534375"/>
            <a:ext cx="10622872" cy="584775"/>
          </a:xfrm>
          <a:prstGeom prst="rect">
            <a:avLst/>
          </a:prstGeom>
        </p:spPr>
        <p:txBody>
          <a:bodyPr wrap="square">
            <a:spAutoFit/>
          </a:bodyPr>
          <a:lstStyle/>
          <a:p>
            <a:r>
              <a:rPr lang="en-US" sz="1600" dirty="0"/>
              <a:t>Actor degree prestige divided by the maximum value of indegree. If the value reaches 1, it indicates all the other actors nominate actor </a:t>
            </a:r>
            <a:r>
              <a:rPr lang="en-US" sz="1600" dirty="0" err="1"/>
              <a:t>i</a:t>
            </a:r>
            <a:r>
              <a:rPr lang="en-US" sz="1600" dirty="0"/>
              <a:t>. If 0, no one nominates actor </a:t>
            </a:r>
            <a:r>
              <a:rPr lang="en-US" sz="1600" dirty="0" err="1"/>
              <a:t>i</a:t>
            </a:r>
            <a:r>
              <a:rPr lang="en-US" sz="1600" dirty="0"/>
              <a:t>. </a:t>
            </a:r>
          </a:p>
        </p:txBody>
      </p:sp>
    </p:spTree>
    <p:extLst>
      <p:ext uri="{BB962C8B-B14F-4D97-AF65-F5344CB8AC3E}">
        <p14:creationId xmlns:p14="http://schemas.microsoft.com/office/powerpoint/2010/main" val="4270269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6383337" cy="1325563"/>
          </a:xfrm>
        </p:spPr>
        <p:txBody>
          <a:bodyPr/>
          <a:lstStyle/>
          <a:p>
            <a:r>
              <a:rPr lang="en-US" dirty="0">
                <a:latin typeface="Franklin Gothic Book" panose="020B0503020102020204" pitchFamily="34" charset="0"/>
              </a:rPr>
              <a:t>3. Centrality and Prestige</a:t>
            </a:r>
            <a:endParaRPr lang="en-US" sz="3200" b="1" dirty="0">
              <a:latin typeface="Franklin Gothic Book" panose="020B0503020102020204" pitchFamily="34" charset="0"/>
            </a:endParaRPr>
          </a:p>
        </p:txBody>
      </p:sp>
      <p:sp>
        <p:nvSpPr>
          <p:cNvPr id="4" name="직사각형 3">
            <a:extLst>
              <a:ext uri="{FF2B5EF4-FFF2-40B4-BE49-F238E27FC236}">
                <a16:creationId xmlns:a16="http://schemas.microsoft.com/office/drawing/2014/main" id="{5AD62888-7216-4DFD-973F-6EBBEF5B6819}"/>
              </a:ext>
            </a:extLst>
          </p:cNvPr>
          <p:cNvSpPr/>
          <p:nvPr/>
        </p:nvSpPr>
        <p:spPr>
          <a:xfrm>
            <a:off x="494110" y="1385813"/>
            <a:ext cx="3630802" cy="369332"/>
          </a:xfrm>
          <a:prstGeom prst="rect">
            <a:avLst/>
          </a:prstGeom>
        </p:spPr>
        <p:txBody>
          <a:bodyPr wrap="none">
            <a:spAutoFit/>
          </a:bodyPr>
          <a:lstStyle/>
          <a:p>
            <a:r>
              <a:rPr lang="en-US" b="1" dirty="0">
                <a:latin typeface="Franklin Gothic Book" panose="020B0503020102020204" pitchFamily="34" charset="0"/>
              </a:rPr>
              <a:t>Centralities in Ego-centric Networks</a:t>
            </a:r>
            <a:endParaRPr lang="en-US" b="1" dirty="0"/>
          </a:p>
        </p:txBody>
      </p:sp>
      <p:sp>
        <p:nvSpPr>
          <p:cNvPr id="12" name="직사각형 11">
            <a:extLst>
              <a:ext uri="{FF2B5EF4-FFF2-40B4-BE49-F238E27FC236}">
                <a16:creationId xmlns:a16="http://schemas.microsoft.com/office/drawing/2014/main" id="{5DE77DEB-5314-4266-A81C-6ABE8009B2A0}"/>
              </a:ext>
            </a:extLst>
          </p:cNvPr>
          <p:cNvSpPr/>
          <p:nvPr/>
        </p:nvSpPr>
        <p:spPr>
          <a:xfrm>
            <a:off x="787758" y="2326772"/>
            <a:ext cx="1728358" cy="338554"/>
          </a:xfrm>
          <a:prstGeom prst="rect">
            <a:avLst/>
          </a:prstGeom>
        </p:spPr>
        <p:txBody>
          <a:bodyPr wrap="none">
            <a:spAutoFit/>
          </a:bodyPr>
          <a:lstStyle/>
          <a:p>
            <a:r>
              <a:rPr lang="en-US" sz="1600" b="1" dirty="0">
                <a:latin typeface="Franklin Gothic Book" panose="020B0503020102020204" pitchFamily="34" charset="0"/>
              </a:rPr>
              <a:t>Degree Centrality:</a:t>
            </a:r>
          </a:p>
        </p:txBody>
      </p:sp>
      <p:sp>
        <p:nvSpPr>
          <p:cNvPr id="17" name="직사각형 16">
            <a:extLst>
              <a:ext uri="{FF2B5EF4-FFF2-40B4-BE49-F238E27FC236}">
                <a16:creationId xmlns:a16="http://schemas.microsoft.com/office/drawing/2014/main" id="{135212F8-13FB-4445-B23A-1EA7B5D4B46B}"/>
              </a:ext>
            </a:extLst>
          </p:cNvPr>
          <p:cNvSpPr/>
          <p:nvPr/>
        </p:nvSpPr>
        <p:spPr>
          <a:xfrm>
            <a:off x="778880" y="2774798"/>
            <a:ext cx="1988045" cy="338554"/>
          </a:xfrm>
          <a:prstGeom prst="rect">
            <a:avLst/>
          </a:prstGeom>
        </p:spPr>
        <p:txBody>
          <a:bodyPr wrap="none">
            <a:spAutoFit/>
          </a:bodyPr>
          <a:lstStyle/>
          <a:p>
            <a:r>
              <a:rPr lang="en-US" sz="1600" b="1" dirty="0">
                <a:latin typeface="Franklin Gothic Book" panose="020B0503020102020204" pitchFamily="34" charset="0"/>
              </a:rPr>
              <a:t>Closeness Centrality:</a:t>
            </a:r>
          </a:p>
        </p:txBody>
      </p:sp>
      <p:sp>
        <p:nvSpPr>
          <p:cNvPr id="18" name="직사각형 17">
            <a:extLst>
              <a:ext uri="{FF2B5EF4-FFF2-40B4-BE49-F238E27FC236}">
                <a16:creationId xmlns:a16="http://schemas.microsoft.com/office/drawing/2014/main" id="{7196F7EB-00F8-4B65-BEC5-0B8AA0200328}"/>
              </a:ext>
            </a:extLst>
          </p:cNvPr>
          <p:cNvSpPr/>
          <p:nvPr/>
        </p:nvSpPr>
        <p:spPr>
          <a:xfrm>
            <a:off x="778880" y="3525794"/>
            <a:ext cx="2263248" cy="338554"/>
          </a:xfrm>
          <a:prstGeom prst="rect">
            <a:avLst/>
          </a:prstGeom>
        </p:spPr>
        <p:txBody>
          <a:bodyPr wrap="none">
            <a:spAutoFit/>
          </a:bodyPr>
          <a:lstStyle/>
          <a:p>
            <a:r>
              <a:rPr lang="en-US" sz="1600" b="1" dirty="0">
                <a:latin typeface="Franklin Gothic Book" panose="020B0503020102020204" pitchFamily="34" charset="0"/>
              </a:rPr>
              <a:t>Betweenness Centrality:</a:t>
            </a:r>
          </a:p>
        </p:txBody>
      </p:sp>
      <p:sp>
        <p:nvSpPr>
          <p:cNvPr id="19" name="직사각형 18">
            <a:extLst>
              <a:ext uri="{FF2B5EF4-FFF2-40B4-BE49-F238E27FC236}">
                <a16:creationId xmlns:a16="http://schemas.microsoft.com/office/drawing/2014/main" id="{AF1034B0-430A-4455-A400-88959A9EDC36}"/>
              </a:ext>
            </a:extLst>
          </p:cNvPr>
          <p:cNvSpPr/>
          <p:nvPr/>
        </p:nvSpPr>
        <p:spPr>
          <a:xfrm>
            <a:off x="3051006" y="2362355"/>
            <a:ext cx="4003788" cy="338554"/>
          </a:xfrm>
          <a:prstGeom prst="rect">
            <a:avLst/>
          </a:prstGeom>
        </p:spPr>
        <p:txBody>
          <a:bodyPr wrap="none">
            <a:spAutoFit/>
          </a:bodyPr>
          <a:lstStyle/>
          <a:p>
            <a:r>
              <a:rPr lang="en-US" sz="1600" dirty="0">
                <a:latin typeface="Franklin Gothic Book" panose="020B0503020102020204" pitchFamily="34" charset="0"/>
              </a:rPr>
              <a:t>Number of alters. If standardized, it will be 1</a:t>
            </a:r>
            <a:endParaRPr lang="en-US" sz="1600" dirty="0"/>
          </a:p>
        </p:txBody>
      </p:sp>
      <p:sp>
        <p:nvSpPr>
          <p:cNvPr id="21" name="직사각형 20">
            <a:extLst>
              <a:ext uri="{FF2B5EF4-FFF2-40B4-BE49-F238E27FC236}">
                <a16:creationId xmlns:a16="http://schemas.microsoft.com/office/drawing/2014/main" id="{DB0F6E47-8759-4ABB-A817-2FACE72B70BC}"/>
              </a:ext>
            </a:extLst>
          </p:cNvPr>
          <p:cNvSpPr/>
          <p:nvPr/>
        </p:nvSpPr>
        <p:spPr>
          <a:xfrm>
            <a:off x="3051006" y="2788800"/>
            <a:ext cx="5209311" cy="338554"/>
          </a:xfrm>
          <a:prstGeom prst="rect">
            <a:avLst/>
          </a:prstGeom>
        </p:spPr>
        <p:txBody>
          <a:bodyPr wrap="none">
            <a:spAutoFit/>
          </a:bodyPr>
          <a:lstStyle/>
          <a:p>
            <a:r>
              <a:rPr lang="en-US" sz="1600" dirty="0">
                <a:latin typeface="Franklin Gothic Book" panose="020B0503020102020204" pitchFamily="34" charset="0"/>
              </a:rPr>
              <a:t>Inverse of the number of alters. If standardized, it will be 1</a:t>
            </a:r>
            <a:endParaRPr lang="en-US" sz="1600" dirty="0"/>
          </a:p>
        </p:txBody>
      </p:sp>
      <p:sp>
        <p:nvSpPr>
          <p:cNvPr id="23" name="직사각형 22">
            <a:extLst>
              <a:ext uri="{FF2B5EF4-FFF2-40B4-BE49-F238E27FC236}">
                <a16:creationId xmlns:a16="http://schemas.microsoft.com/office/drawing/2014/main" id="{C8F478C8-01E6-48D4-A911-C0492AA69082}"/>
              </a:ext>
            </a:extLst>
          </p:cNvPr>
          <p:cNvSpPr/>
          <p:nvPr/>
        </p:nvSpPr>
        <p:spPr>
          <a:xfrm>
            <a:off x="3101448" y="3525794"/>
            <a:ext cx="8847896" cy="830997"/>
          </a:xfrm>
          <a:prstGeom prst="rect">
            <a:avLst/>
          </a:prstGeom>
        </p:spPr>
        <p:txBody>
          <a:bodyPr wrap="square">
            <a:spAutoFit/>
          </a:bodyPr>
          <a:lstStyle/>
          <a:p>
            <a:r>
              <a:rPr lang="en-US" sz="1600" dirty="0">
                <a:latin typeface="Franklin Gothic Book" panose="020B0503020102020204" pitchFamily="34" charset="0"/>
              </a:rPr>
              <a:t>Egocentric betweenness centrality can exaggerate ego node’s betweenness centrality because it might overlook another node outside the egocentric network. However, if information of the complete network is difficult to obtain, Egocentric betweenness centrality can be a reliable substitute.  </a:t>
            </a:r>
            <a:endParaRPr lang="en-US" sz="1600" dirty="0"/>
          </a:p>
        </p:txBody>
      </p:sp>
    </p:spTree>
    <p:extLst>
      <p:ext uri="{BB962C8B-B14F-4D97-AF65-F5344CB8AC3E}">
        <p14:creationId xmlns:p14="http://schemas.microsoft.com/office/powerpoint/2010/main" val="1486049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6383337" cy="1325563"/>
          </a:xfrm>
        </p:spPr>
        <p:txBody>
          <a:bodyPr/>
          <a:lstStyle/>
          <a:p>
            <a:r>
              <a:rPr lang="en-US" dirty="0">
                <a:latin typeface="Franklin Gothic Book" panose="020B0503020102020204" pitchFamily="34" charset="0"/>
              </a:rPr>
              <a:t>4. Cliques</a:t>
            </a:r>
            <a:endParaRPr lang="en-US" sz="3200" b="1" dirty="0">
              <a:latin typeface="Franklin Gothic Book" panose="020B0503020102020204" pitchFamily="34" charset="0"/>
            </a:endParaRPr>
          </a:p>
        </p:txBody>
      </p:sp>
      <p:sp>
        <p:nvSpPr>
          <p:cNvPr id="4" name="직사각형 3">
            <a:extLst>
              <a:ext uri="{FF2B5EF4-FFF2-40B4-BE49-F238E27FC236}">
                <a16:creationId xmlns:a16="http://schemas.microsoft.com/office/drawing/2014/main" id="{5AD62888-7216-4DFD-973F-6EBBEF5B6819}"/>
              </a:ext>
            </a:extLst>
          </p:cNvPr>
          <p:cNvSpPr/>
          <p:nvPr/>
        </p:nvSpPr>
        <p:spPr>
          <a:xfrm>
            <a:off x="494110" y="1385813"/>
            <a:ext cx="1088760" cy="369332"/>
          </a:xfrm>
          <a:prstGeom prst="rect">
            <a:avLst/>
          </a:prstGeom>
        </p:spPr>
        <p:txBody>
          <a:bodyPr wrap="none">
            <a:spAutoFit/>
          </a:bodyPr>
          <a:lstStyle/>
          <a:p>
            <a:r>
              <a:rPr lang="en-US" b="1" dirty="0">
                <a:latin typeface="Franklin Gothic Book" panose="020B0503020102020204" pitchFamily="34" charset="0"/>
              </a:rPr>
              <a:t>Cohesion</a:t>
            </a:r>
            <a:endParaRPr lang="en-US" b="1" dirty="0"/>
          </a:p>
        </p:txBody>
      </p:sp>
      <p:sp>
        <p:nvSpPr>
          <p:cNvPr id="23" name="직사각형 22">
            <a:extLst>
              <a:ext uri="{FF2B5EF4-FFF2-40B4-BE49-F238E27FC236}">
                <a16:creationId xmlns:a16="http://schemas.microsoft.com/office/drawing/2014/main" id="{C8F478C8-01E6-48D4-A911-C0492AA69082}"/>
              </a:ext>
            </a:extLst>
          </p:cNvPr>
          <p:cNvSpPr/>
          <p:nvPr/>
        </p:nvSpPr>
        <p:spPr>
          <a:xfrm>
            <a:off x="494110" y="1880379"/>
            <a:ext cx="8847896" cy="830997"/>
          </a:xfrm>
          <a:prstGeom prst="rect">
            <a:avLst/>
          </a:prstGeom>
        </p:spPr>
        <p:txBody>
          <a:bodyPr wrap="square">
            <a:spAutoFit/>
          </a:bodyPr>
          <a:lstStyle/>
          <a:p>
            <a:r>
              <a:rPr lang="en-US" sz="1600" dirty="0">
                <a:latin typeface="Franklin Gothic Book" panose="020B0503020102020204" pitchFamily="34" charset="0"/>
              </a:rPr>
              <a:t>Cohesion refers to the strength of density or intimate relations among members embedded in a social group or closed social circle. </a:t>
            </a:r>
            <a:r>
              <a:rPr lang="en-US" sz="1600" b="1" dirty="0">
                <a:latin typeface="Franklin Gothic Book" panose="020B0503020102020204" pitchFamily="34" charset="0"/>
              </a:rPr>
              <a:t>Cohesive subgroup </a:t>
            </a:r>
            <a:r>
              <a:rPr lang="en-US" sz="1600" dirty="0">
                <a:latin typeface="Franklin Gothic Book" panose="020B0503020102020204" pitchFamily="34" charset="0"/>
              </a:rPr>
              <a:t>consists of actors connected through many directed, reciprocated choice relations with few or no ties to outsiders. </a:t>
            </a:r>
            <a:endParaRPr lang="en-US" sz="1600" b="1" dirty="0"/>
          </a:p>
        </p:txBody>
      </p:sp>
      <p:sp>
        <p:nvSpPr>
          <p:cNvPr id="10" name="직사각형 9">
            <a:extLst>
              <a:ext uri="{FF2B5EF4-FFF2-40B4-BE49-F238E27FC236}">
                <a16:creationId xmlns:a16="http://schemas.microsoft.com/office/drawing/2014/main" id="{12F6EA60-DB14-44A9-B2E5-6B5A95C7AB25}"/>
              </a:ext>
            </a:extLst>
          </p:cNvPr>
          <p:cNvSpPr/>
          <p:nvPr/>
        </p:nvSpPr>
        <p:spPr>
          <a:xfrm>
            <a:off x="494110" y="3021276"/>
            <a:ext cx="4495846" cy="369332"/>
          </a:xfrm>
          <a:prstGeom prst="rect">
            <a:avLst/>
          </a:prstGeom>
        </p:spPr>
        <p:txBody>
          <a:bodyPr wrap="none">
            <a:spAutoFit/>
          </a:bodyPr>
          <a:lstStyle/>
          <a:p>
            <a:r>
              <a:rPr lang="en-US" b="1" dirty="0">
                <a:latin typeface="Franklin Gothic Book" panose="020B0503020102020204" pitchFamily="34" charset="0"/>
              </a:rPr>
              <a:t>4 General properties in cohesive subgroups:</a:t>
            </a:r>
            <a:endParaRPr lang="en-US" b="1" dirty="0"/>
          </a:p>
        </p:txBody>
      </p:sp>
      <p:sp>
        <p:nvSpPr>
          <p:cNvPr id="11" name="직사각형 10">
            <a:extLst>
              <a:ext uri="{FF2B5EF4-FFF2-40B4-BE49-F238E27FC236}">
                <a16:creationId xmlns:a16="http://schemas.microsoft.com/office/drawing/2014/main" id="{19C05E90-6F5D-480D-B674-E271318A33C3}"/>
              </a:ext>
            </a:extLst>
          </p:cNvPr>
          <p:cNvSpPr/>
          <p:nvPr/>
        </p:nvSpPr>
        <p:spPr>
          <a:xfrm>
            <a:off x="911360" y="3479957"/>
            <a:ext cx="8847896" cy="1077218"/>
          </a:xfrm>
          <a:prstGeom prst="rect">
            <a:avLst/>
          </a:prstGeom>
        </p:spPr>
        <p:txBody>
          <a:bodyPr wrap="square">
            <a:spAutoFit/>
          </a:bodyPr>
          <a:lstStyle/>
          <a:p>
            <a:pPr marL="285750" indent="-285750">
              <a:buFontTx/>
              <a:buChar char="-"/>
            </a:pPr>
            <a:r>
              <a:rPr lang="en-US" sz="1600" dirty="0">
                <a:latin typeface="Franklin Gothic Book" panose="020B0503020102020204" pitchFamily="34" charset="0"/>
              </a:rPr>
              <a:t>Mutuality of ties</a:t>
            </a:r>
          </a:p>
          <a:p>
            <a:pPr marL="285750" indent="-285750">
              <a:buFontTx/>
              <a:buChar char="-"/>
            </a:pPr>
            <a:r>
              <a:rPr lang="en-US" sz="1600" dirty="0">
                <a:latin typeface="Franklin Gothic Book" panose="020B0503020102020204" pitchFamily="34" charset="0"/>
              </a:rPr>
              <a:t>Reachability of subgroup members</a:t>
            </a:r>
          </a:p>
          <a:p>
            <a:pPr marL="285750" indent="-285750">
              <a:buFontTx/>
              <a:buChar char="-"/>
            </a:pPr>
            <a:r>
              <a:rPr lang="en-US" sz="1600" dirty="0">
                <a:latin typeface="Franklin Gothic Book" panose="020B0503020102020204" pitchFamily="34" charset="0"/>
              </a:rPr>
              <a:t>Frequency of ties among members</a:t>
            </a:r>
          </a:p>
          <a:p>
            <a:pPr marL="285750" indent="-285750">
              <a:buFontTx/>
              <a:buChar char="-"/>
            </a:pPr>
            <a:r>
              <a:rPr lang="en-US" sz="1600" dirty="0">
                <a:latin typeface="Franklin Gothic Book" panose="020B0503020102020204" pitchFamily="34" charset="0"/>
              </a:rPr>
              <a:t>Relative frequency of ties among subgroup members in comparison to non-members</a:t>
            </a:r>
            <a:endParaRPr lang="en-US" sz="1600" dirty="0"/>
          </a:p>
        </p:txBody>
      </p:sp>
      <p:pic>
        <p:nvPicPr>
          <p:cNvPr id="1026" name="Picture 2" descr="cohesive groupsì ëí ì´ë¯¸ì§ ê²ìê²°ê³¼">
            <a:extLst>
              <a:ext uri="{FF2B5EF4-FFF2-40B4-BE49-F238E27FC236}">
                <a16:creationId xmlns:a16="http://schemas.microsoft.com/office/drawing/2014/main" id="{FEC596A2-4B9A-47CD-A761-84FF819B41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3644" y="4557175"/>
            <a:ext cx="2650369" cy="1717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068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6383337" cy="1325563"/>
          </a:xfrm>
        </p:spPr>
        <p:txBody>
          <a:bodyPr/>
          <a:lstStyle/>
          <a:p>
            <a:r>
              <a:rPr lang="en-US" dirty="0">
                <a:latin typeface="Franklin Gothic Book" panose="020B0503020102020204" pitchFamily="34" charset="0"/>
              </a:rPr>
              <a:t>4. Cliques</a:t>
            </a:r>
            <a:endParaRPr lang="en-US" sz="3200" b="1" dirty="0">
              <a:latin typeface="Franklin Gothic Book" panose="020B0503020102020204" pitchFamily="34" charset="0"/>
            </a:endParaRPr>
          </a:p>
        </p:txBody>
      </p:sp>
      <p:sp>
        <p:nvSpPr>
          <p:cNvPr id="4" name="직사각형 3">
            <a:extLst>
              <a:ext uri="{FF2B5EF4-FFF2-40B4-BE49-F238E27FC236}">
                <a16:creationId xmlns:a16="http://schemas.microsoft.com/office/drawing/2014/main" id="{5AD62888-7216-4DFD-973F-6EBBEF5B6819}"/>
              </a:ext>
            </a:extLst>
          </p:cNvPr>
          <p:cNvSpPr/>
          <p:nvPr/>
        </p:nvSpPr>
        <p:spPr>
          <a:xfrm>
            <a:off x="494110" y="1385813"/>
            <a:ext cx="897362" cy="369332"/>
          </a:xfrm>
          <a:prstGeom prst="rect">
            <a:avLst/>
          </a:prstGeom>
        </p:spPr>
        <p:txBody>
          <a:bodyPr wrap="none">
            <a:spAutoFit/>
          </a:bodyPr>
          <a:lstStyle/>
          <a:p>
            <a:r>
              <a:rPr lang="en-US" b="1" dirty="0">
                <a:latin typeface="Franklin Gothic Book" panose="020B0503020102020204" pitchFamily="34" charset="0"/>
              </a:rPr>
              <a:t>Cliques</a:t>
            </a:r>
            <a:endParaRPr lang="en-US" b="1" dirty="0"/>
          </a:p>
        </p:txBody>
      </p:sp>
      <p:sp>
        <p:nvSpPr>
          <p:cNvPr id="8" name="직사각형 7">
            <a:extLst>
              <a:ext uri="{FF2B5EF4-FFF2-40B4-BE49-F238E27FC236}">
                <a16:creationId xmlns:a16="http://schemas.microsoft.com/office/drawing/2014/main" id="{A8FFB567-4A14-435C-B122-8E606B740D00}"/>
              </a:ext>
            </a:extLst>
          </p:cNvPr>
          <p:cNvSpPr/>
          <p:nvPr/>
        </p:nvSpPr>
        <p:spPr>
          <a:xfrm>
            <a:off x="733934" y="1755145"/>
            <a:ext cx="6590560" cy="2308324"/>
          </a:xfrm>
          <a:prstGeom prst="rect">
            <a:avLst/>
          </a:prstGeom>
        </p:spPr>
        <p:txBody>
          <a:bodyPr wrap="square">
            <a:spAutoFit/>
          </a:bodyPr>
          <a:lstStyle/>
          <a:p>
            <a:r>
              <a:rPr lang="en-US" sz="1600" dirty="0">
                <a:latin typeface="Franklin Gothic Book" panose="020B0503020102020204" pitchFamily="34" charset="0"/>
              </a:rPr>
              <a:t>Clique is </a:t>
            </a:r>
            <a:r>
              <a:rPr lang="en-US" sz="1600" b="1" dirty="0">
                <a:latin typeface="Franklin Gothic Book" panose="020B0503020102020204" pitchFamily="34" charset="0"/>
              </a:rPr>
              <a:t>a </a:t>
            </a:r>
            <a:r>
              <a:rPr lang="en-US" sz="1600" b="1" u="sng" dirty="0">
                <a:latin typeface="Franklin Gothic Book" panose="020B0503020102020204" pitchFamily="34" charset="0"/>
              </a:rPr>
              <a:t>maximal</a:t>
            </a:r>
            <a:r>
              <a:rPr lang="en-US" sz="1600" b="1" dirty="0">
                <a:latin typeface="Franklin Gothic Book" panose="020B0503020102020204" pitchFamily="34" charset="0"/>
              </a:rPr>
              <a:t> complete subgraph </a:t>
            </a:r>
            <a:r>
              <a:rPr lang="en-US" sz="1600" dirty="0">
                <a:latin typeface="Franklin Gothic Book" panose="020B0503020102020204" pitchFamily="34" charset="0"/>
              </a:rPr>
              <a:t>of three or more nodes, all of which are directly connected to one another.</a:t>
            </a:r>
          </a:p>
          <a:p>
            <a:r>
              <a:rPr lang="en-US" sz="1600" dirty="0">
                <a:latin typeface="Franklin Gothic Book" panose="020B0503020102020204" pitchFamily="34" charset="0"/>
              </a:rPr>
              <a:t>The geodesic distance for every pair of nodes in a  clique is 1. </a:t>
            </a:r>
          </a:p>
          <a:p>
            <a:endParaRPr lang="en-US" sz="1600" dirty="0">
              <a:latin typeface="Franklin Gothic Book" panose="020B0503020102020204" pitchFamily="34" charset="0"/>
            </a:endParaRPr>
          </a:p>
          <a:p>
            <a:r>
              <a:rPr lang="en-US" sz="1600" dirty="0">
                <a:latin typeface="Franklin Gothic Book" panose="020B0503020102020204" pitchFamily="34" charset="0"/>
              </a:rPr>
              <a:t>The clique criteria impose very strict conditions, because even an absence of a tie would prevent a subgraph from being a clique. The difficulty and reliability in data collection makes it even more harder to find cliques in a real world data. </a:t>
            </a:r>
          </a:p>
          <a:p>
            <a:r>
              <a:rPr lang="en-US" sz="1600" dirty="0">
                <a:latin typeface="Franklin Gothic Book" panose="020B0503020102020204" pitchFamily="34" charset="0"/>
              </a:rPr>
              <a:t>		</a:t>
            </a:r>
            <a:endParaRPr lang="en-US" sz="1600" dirty="0"/>
          </a:p>
        </p:txBody>
      </p:sp>
      <p:grpSp>
        <p:nvGrpSpPr>
          <p:cNvPr id="1039" name="그룹 1038">
            <a:extLst>
              <a:ext uri="{FF2B5EF4-FFF2-40B4-BE49-F238E27FC236}">
                <a16:creationId xmlns:a16="http://schemas.microsoft.com/office/drawing/2014/main" id="{52D46959-15E3-4CAA-8698-E493EA3BBEB7}"/>
              </a:ext>
            </a:extLst>
          </p:cNvPr>
          <p:cNvGrpSpPr/>
          <p:nvPr/>
        </p:nvGrpSpPr>
        <p:grpSpPr>
          <a:xfrm>
            <a:off x="7546065" y="1029355"/>
            <a:ext cx="2501282" cy="2178028"/>
            <a:chOff x="6534627" y="2240831"/>
            <a:chExt cx="2501282" cy="2178028"/>
          </a:xfrm>
        </p:grpSpPr>
        <p:sp>
          <p:nvSpPr>
            <p:cNvPr id="3" name="타원 2">
              <a:extLst>
                <a:ext uri="{FF2B5EF4-FFF2-40B4-BE49-F238E27FC236}">
                  <a16:creationId xmlns:a16="http://schemas.microsoft.com/office/drawing/2014/main" id="{1CFE8FAA-5122-42B2-8C96-EEB120A57B54}"/>
                </a:ext>
              </a:extLst>
            </p:cNvPr>
            <p:cNvSpPr/>
            <p:nvPr/>
          </p:nvSpPr>
          <p:spPr>
            <a:xfrm>
              <a:off x="6534627" y="3049480"/>
              <a:ext cx="379520" cy="379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cxnSp>
          <p:nvCxnSpPr>
            <p:cNvPr id="6" name="직선 연결선 5">
              <a:extLst>
                <a:ext uri="{FF2B5EF4-FFF2-40B4-BE49-F238E27FC236}">
                  <a16:creationId xmlns:a16="http://schemas.microsoft.com/office/drawing/2014/main" id="{2C412E92-E407-4815-BE74-0CE74A78E25A}"/>
                </a:ext>
              </a:extLst>
            </p:cNvPr>
            <p:cNvCxnSpPr>
              <a:cxnSpLocks/>
              <a:stCxn id="13" idx="3"/>
              <a:endCxn id="3" idx="7"/>
            </p:cNvCxnSpPr>
            <p:nvPr/>
          </p:nvCxnSpPr>
          <p:spPr>
            <a:xfrm flipH="1">
              <a:off x="6858568" y="2564772"/>
              <a:ext cx="299809" cy="540287"/>
            </a:xfrm>
            <a:prstGeom prst="line">
              <a:avLst/>
            </a:prstGeom>
            <a:ln w="38100"/>
          </p:spPr>
          <p:style>
            <a:lnRef idx="1">
              <a:schemeClr val="dk1"/>
            </a:lnRef>
            <a:fillRef idx="0">
              <a:schemeClr val="dk1"/>
            </a:fillRef>
            <a:effectRef idx="0">
              <a:schemeClr val="dk1"/>
            </a:effectRef>
            <a:fontRef idx="minor">
              <a:schemeClr val="tx1"/>
            </a:fontRef>
          </p:style>
        </p:cxnSp>
        <p:sp>
          <p:nvSpPr>
            <p:cNvPr id="13" name="타원 12">
              <a:extLst>
                <a:ext uri="{FF2B5EF4-FFF2-40B4-BE49-F238E27FC236}">
                  <a16:creationId xmlns:a16="http://schemas.microsoft.com/office/drawing/2014/main" id="{CB6386CE-70BF-4F65-BC19-4F0A8DF38950}"/>
                </a:ext>
              </a:extLst>
            </p:cNvPr>
            <p:cNvSpPr/>
            <p:nvPr/>
          </p:nvSpPr>
          <p:spPr>
            <a:xfrm>
              <a:off x="7102798" y="2240831"/>
              <a:ext cx="379520" cy="379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4" name="타원 13">
              <a:extLst>
                <a:ext uri="{FF2B5EF4-FFF2-40B4-BE49-F238E27FC236}">
                  <a16:creationId xmlns:a16="http://schemas.microsoft.com/office/drawing/2014/main" id="{A92CE944-A651-4D66-9199-B48E19CE3FAF}"/>
                </a:ext>
              </a:extLst>
            </p:cNvPr>
            <p:cNvSpPr/>
            <p:nvPr/>
          </p:nvSpPr>
          <p:spPr>
            <a:xfrm>
              <a:off x="6534627" y="4039339"/>
              <a:ext cx="379520" cy="379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5" name="타원 14">
              <a:extLst>
                <a:ext uri="{FF2B5EF4-FFF2-40B4-BE49-F238E27FC236}">
                  <a16:creationId xmlns:a16="http://schemas.microsoft.com/office/drawing/2014/main" id="{42FFEC82-B667-46C0-8F4F-785A385A12DA}"/>
                </a:ext>
              </a:extLst>
            </p:cNvPr>
            <p:cNvSpPr/>
            <p:nvPr/>
          </p:nvSpPr>
          <p:spPr>
            <a:xfrm>
              <a:off x="7670968" y="4039339"/>
              <a:ext cx="379520" cy="379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6" name="타원 15">
              <a:extLst>
                <a:ext uri="{FF2B5EF4-FFF2-40B4-BE49-F238E27FC236}">
                  <a16:creationId xmlns:a16="http://schemas.microsoft.com/office/drawing/2014/main" id="{1BCB09DB-67FC-4576-BACB-216B19C57A1A}"/>
                </a:ext>
              </a:extLst>
            </p:cNvPr>
            <p:cNvSpPr/>
            <p:nvPr/>
          </p:nvSpPr>
          <p:spPr>
            <a:xfrm>
              <a:off x="7670968" y="3049480"/>
              <a:ext cx="379520" cy="379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7" name="타원 16">
              <a:extLst>
                <a:ext uri="{FF2B5EF4-FFF2-40B4-BE49-F238E27FC236}">
                  <a16:creationId xmlns:a16="http://schemas.microsoft.com/office/drawing/2014/main" id="{60114757-F802-4D26-A0AA-332E17690568}"/>
                </a:ext>
              </a:extLst>
            </p:cNvPr>
            <p:cNvSpPr/>
            <p:nvPr/>
          </p:nvSpPr>
          <p:spPr>
            <a:xfrm>
              <a:off x="8656389" y="3545519"/>
              <a:ext cx="379520" cy="379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22" name="직선 연결선 21">
              <a:extLst>
                <a:ext uri="{FF2B5EF4-FFF2-40B4-BE49-F238E27FC236}">
                  <a16:creationId xmlns:a16="http://schemas.microsoft.com/office/drawing/2014/main" id="{ADBFD8F9-E05B-463D-9625-1DE8C52AAD8E}"/>
                </a:ext>
              </a:extLst>
            </p:cNvPr>
            <p:cNvCxnSpPr>
              <a:cxnSpLocks/>
              <a:stCxn id="3" idx="4"/>
              <a:endCxn id="14" idx="0"/>
            </p:cNvCxnSpPr>
            <p:nvPr/>
          </p:nvCxnSpPr>
          <p:spPr>
            <a:xfrm>
              <a:off x="6724387" y="3429000"/>
              <a:ext cx="0" cy="610339"/>
            </a:xfrm>
            <a:prstGeom prst="line">
              <a:avLst/>
            </a:prstGeom>
            <a:ln w="38100"/>
          </p:spPr>
          <p:style>
            <a:lnRef idx="1">
              <a:schemeClr val="dk1"/>
            </a:lnRef>
            <a:fillRef idx="0">
              <a:schemeClr val="dk1"/>
            </a:fillRef>
            <a:effectRef idx="0">
              <a:schemeClr val="dk1"/>
            </a:effectRef>
            <a:fontRef idx="minor">
              <a:schemeClr val="tx1"/>
            </a:fontRef>
          </p:style>
        </p:cxnSp>
        <p:cxnSp>
          <p:nvCxnSpPr>
            <p:cNvPr id="25" name="직선 연결선 24">
              <a:extLst>
                <a:ext uri="{FF2B5EF4-FFF2-40B4-BE49-F238E27FC236}">
                  <a16:creationId xmlns:a16="http://schemas.microsoft.com/office/drawing/2014/main" id="{7FDD9397-CE02-47ED-B1AC-19ED57B0C76F}"/>
                </a:ext>
              </a:extLst>
            </p:cNvPr>
            <p:cNvCxnSpPr>
              <a:cxnSpLocks/>
              <a:stCxn id="3" idx="6"/>
              <a:endCxn id="16" idx="2"/>
            </p:cNvCxnSpPr>
            <p:nvPr/>
          </p:nvCxnSpPr>
          <p:spPr>
            <a:xfrm>
              <a:off x="6914147" y="3239240"/>
              <a:ext cx="756821"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28" name="직선 연결선 27">
              <a:extLst>
                <a:ext uri="{FF2B5EF4-FFF2-40B4-BE49-F238E27FC236}">
                  <a16:creationId xmlns:a16="http://schemas.microsoft.com/office/drawing/2014/main" id="{0479C696-60C4-49F5-9C65-55CC86D679B8}"/>
                </a:ext>
              </a:extLst>
            </p:cNvPr>
            <p:cNvCxnSpPr>
              <a:cxnSpLocks/>
              <a:stCxn id="16" idx="4"/>
              <a:endCxn id="15" idx="0"/>
            </p:cNvCxnSpPr>
            <p:nvPr/>
          </p:nvCxnSpPr>
          <p:spPr>
            <a:xfrm>
              <a:off x="7860728" y="3429000"/>
              <a:ext cx="0" cy="610339"/>
            </a:xfrm>
            <a:prstGeom prst="line">
              <a:avLst/>
            </a:prstGeom>
            <a:ln w="38100"/>
          </p:spPr>
          <p:style>
            <a:lnRef idx="1">
              <a:schemeClr val="dk1"/>
            </a:lnRef>
            <a:fillRef idx="0">
              <a:schemeClr val="dk1"/>
            </a:fillRef>
            <a:effectRef idx="0">
              <a:schemeClr val="dk1"/>
            </a:effectRef>
            <a:fontRef idx="minor">
              <a:schemeClr val="tx1"/>
            </a:fontRef>
          </p:style>
        </p:cxnSp>
        <p:cxnSp>
          <p:nvCxnSpPr>
            <p:cNvPr id="31" name="직선 연결선 30">
              <a:extLst>
                <a:ext uri="{FF2B5EF4-FFF2-40B4-BE49-F238E27FC236}">
                  <a16:creationId xmlns:a16="http://schemas.microsoft.com/office/drawing/2014/main" id="{86209D56-282B-4517-9005-D12F87606C6B}"/>
                </a:ext>
              </a:extLst>
            </p:cNvPr>
            <p:cNvCxnSpPr>
              <a:cxnSpLocks/>
              <a:stCxn id="14" idx="6"/>
              <a:endCxn id="15" idx="2"/>
            </p:cNvCxnSpPr>
            <p:nvPr/>
          </p:nvCxnSpPr>
          <p:spPr>
            <a:xfrm>
              <a:off x="6914147" y="4229099"/>
              <a:ext cx="756821"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34" name="직선 연결선 33">
              <a:extLst>
                <a:ext uri="{FF2B5EF4-FFF2-40B4-BE49-F238E27FC236}">
                  <a16:creationId xmlns:a16="http://schemas.microsoft.com/office/drawing/2014/main" id="{23E61444-BE87-4B3D-A0E5-16D7F62CD206}"/>
                </a:ext>
              </a:extLst>
            </p:cNvPr>
            <p:cNvCxnSpPr>
              <a:cxnSpLocks/>
              <a:stCxn id="3" idx="5"/>
              <a:endCxn id="15" idx="1"/>
            </p:cNvCxnSpPr>
            <p:nvPr/>
          </p:nvCxnSpPr>
          <p:spPr>
            <a:xfrm>
              <a:off x="6858568" y="3373421"/>
              <a:ext cx="867979" cy="721497"/>
            </a:xfrm>
            <a:prstGeom prst="line">
              <a:avLst/>
            </a:prstGeom>
            <a:ln w="38100"/>
          </p:spPr>
          <p:style>
            <a:lnRef idx="1">
              <a:schemeClr val="dk1"/>
            </a:lnRef>
            <a:fillRef idx="0">
              <a:schemeClr val="dk1"/>
            </a:fillRef>
            <a:effectRef idx="0">
              <a:schemeClr val="dk1"/>
            </a:effectRef>
            <a:fontRef idx="minor">
              <a:schemeClr val="tx1"/>
            </a:fontRef>
          </p:style>
        </p:cxnSp>
        <p:cxnSp>
          <p:nvCxnSpPr>
            <p:cNvPr id="37" name="직선 연결선 36">
              <a:extLst>
                <a:ext uri="{FF2B5EF4-FFF2-40B4-BE49-F238E27FC236}">
                  <a16:creationId xmlns:a16="http://schemas.microsoft.com/office/drawing/2014/main" id="{41519032-73E0-4673-A2AF-43F24550792A}"/>
                </a:ext>
              </a:extLst>
            </p:cNvPr>
            <p:cNvCxnSpPr>
              <a:cxnSpLocks/>
              <a:stCxn id="16" idx="3"/>
              <a:endCxn id="14" idx="7"/>
            </p:cNvCxnSpPr>
            <p:nvPr/>
          </p:nvCxnSpPr>
          <p:spPr>
            <a:xfrm flipH="1">
              <a:off x="6858568" y="3373421"/>
              <a:ext cx="867979" cy="721497"/>
            </a:xfrm>
            <a:prstGeom prst="line">
              <a:avLst/>
            </a:prstGeom>
            <a:ln w="38100"/>
          </p:spPr>
          <p:style>
            <a:lnRef idx="1">
              <a:schemeClr val="dk1"/>
            </a:lnRef>
            <a:fillRef idx="0">
              <a:schemeClr val="dk1"/>
            </a:fillRef>
            <a:effectRef idx="0">
              <a:schemeClr val="dk1"/>
            </a:effectRef>
            <a:fontRef idx="minor">
              <a:schemeClr val="tx1"/>
            </a:fontRef>
          </p:style>
        </p:cxnSp>
        <p:cxnSp>
          <p:nvCxnSpPr>
            <p:cNvPr id="40" name="직선 연결선 39">
              <a:extLst>
                <a:ext uri="{FF2B5EF4-FFF2-40B4-BE49-F238E27FC236}">
                  <a16:creationId xmlns:a16="http://schemas.microsoft.com/office/drawing/2014/main" id="{05D8C222-76AC-4063-B6C8-5E1924F3E7A0}"/>
                </a:ext>
              </a:extLst>
            </p:cNvPr>
            <p:cNvCxnSpPr>
              <a:cxnSpLocks/>
              <a:stCxn id="13" idx="5"/>
              <a:endCxn id="16" idx="1"/>
            </p:cNvCxnSpPr>
            <p:nvPr/>
          </p:nvCxnSpPr>
          <p:spPr>
            <a:xfrm>
              <a:off x="7426739" y="2564772"/>
              <a:ext cx="299808" cy="540287"/>
            </a:xfrm>
            <a:prstGeom prst="line">
              <a:avLst/>
            </a:prstGeom>
            <a:ln w="38100"/>
          </p:spPr>
          <p:style>
            <a:lnRef idx="1">
              <a:schemeClr val="dk1"/>
            </a:lnRef>
            <a:fillRef idx="0">
              <a:schemeClr val="dk1"/>
            </a:fillRef>
            <a:effectRef idx="0">
              <a:schemeClr val="dk1"/>
            </a:effectRef>
            <a:fontRef idx="minor">
              <a:schemeClr val="tx1"/>
            </a:fontRef>
          </p:style>
        </p:cxnSp>
        <p:cxnSp>
          <p:nvCxnSpPr>
            <p:cNvPr id="41" name="직선 연결선 40">
              <a:extLst>
                <a:ext uri="{FF2B5EF4-FFF2-40B4-BE49-F238E27FC236}">
                  <a16:creationId xmlns:a16="http://schemas.microsoft.com/office/drawing/2014/main" id="{F2CE1AD4-F8DB-4E2B-9A93-E7B25FEC96F3}"/>
                </a:ext>
              </a:extLst>
            </p:cNvPr>
            <p:cNvCxnSpPr>
              <a:cxnSpLocks/>
              <a:stCxn id="13" idx="6"/>
              <a:endCxn id="17" idx="1"/>
            </p:cNvCxnSpPr>
            <p:nvPr/>
          </p:nvCxnSpPr>
          <p:spPr>
            <a:xfrm>
              <a:off x="7482318" y="2430591"/>
              <a:ext cx="1229650" cy="1170507"/>
            </a:xfrm>
            <a:prstGeom prst="line">
              <a:avLst/>
            </a:prstGeom>
            <a:ln w="38100"/>
          </p:spPr>
          <p:style>
            <a:lnRef idx="1">
              <a:schemeClr val="dk1"/>
            </a:lnRef>
            <a:fillRef idx="0">
              <a:schemeClr val="dk1"/>
            </a:fillRef>
            <a:effectRef idx="0">
              <a:schemeClr val="dk1"/>
            </a:effectRef>
            <a:fontRef idx="minor">
              <a:schemeClr val="tx1"/>
            </a:fontRef>
          </p:style>
        </p:cxnSp>
        <p:cxnSp>
          <p:nvCxnSpPr>
            <p:cNvPr id="48" name="직선 연결선 47">
              <a:extLst>
                <a:ext uri="{FF2B5EF4-FFF2-40B4-BE49-F238E27FC236}">
                  <a16:creationId xmlns:a16="http://schemas.microsoft.com/office/drawing/2014/main" id="{BF617790-C226-455A-8D4C-960AF3D7254B}"/>
                </a:ext>
              </a:extLst>
            </p:cNvPr>
            <p:cNvCxnSpPr>
              <a:cxnSpLocks/>
              <a:stCxn id="15" idx="6"/>
              <a:endCxn id="17" idx="3"/>
            </p:cNvCxnSpPr>
            <p:nvPr/>
          </p:nvCxnSpPr>
          <p:spPr>
            <a:xfrm flipV="1">
              <a:off x="8050488" y="3869460"/>
              <a:ext cx="661480" cy="359639"/>
            </a:xfrm>
            <a:prstGeom prst="line">
              <a:avLst/>
            </a:prstGeom>
            <a:ln w="38100"/>
          </p:spPr>
          <p:style>
            <a:lnRef idx="1">
              <a:schemeClr val="dk1"/>
            </a:lnRef>
            <a:fillRef idx="0">
              <a:schemeClr val="dk1"/>
            </a:fillRef>
            <a:effectRef idx="0">
              <a:schemeClr val="dk1"/>
            </a:effectRef>
            <a:fontRef idx="minor">
              <a:schemeClr val="tx1"/>
            </a:fontRef>
          </p:style>
        </p:cxnSp>
      </p:grpSp>
      <p:sp>
        <p:nvSpPr>
          <p:cNvPr id="1040" name="직사각형 1039">
            <a:extLst>
              <a:ext uri="{FF2B5EF4-FFF2-40B4-BE49-F238E27FC236}">
                <a16:creationId xmlns:a16="http://schemas.microsoft.com/office/drawing/2014/main" id="{577FDD74-31ED-40A2-909A-632159ACA507}"/>
              </a:ext>
            </a:extLst>
          </p:cNvPr>
          <p:cNvSpPr/>
          <p:nvPr/>
        </p:nvSpPr>
        <p:spPr>
          <a:xfrm>
            <a:off x="7546066" y="3429496"/>
            <a:ext cx="4645934" cy="553998"/>
          </a:xfrm>
          <a:prstGeom prst="rect">
            <a:avLst/>
          </a:prstGeom>
        </p:spPr>
        <p:txBody>
          <a:bodyPr wrap="square">
            <a:spAutoFit/>
          </a:bodyPr>
          <a:lstStyle/>
          <a:p>
            <a:r>
              <a:rPr lang="en-US" sz="1400" dirty="0">
                <a:latin typeface="Franklin Gothic Book" panose="020B0503020102020204" pitchFamily="34" charset="0"/>
              </a:rPr>
              <a:t>ex) ABE and BCDE are cliques. </a:t>
            </a:r>
          </a:p>
          <a:p>
            <a:r>
              <a:rPr lang="en-US" sz="1400" dirty="0">
                <a:latin typeface="Franklin Gothic Book" panose="020B0503020102020204" pitchFamily="34" charset="0"/>
              </a:rPr>
              <a:t>      BCE, BDE, BCD, CDE are </a:t>
            </a:r>
            <a:r>
              <a:rPr lang="en-US" sz="1400" b="1" dirty="0">
                <a:latin typeface="Franklin Gothic Book" panose="020B0503020102020204" pitchFamily="34" charset="0"/>
              </a:rPr>
              <a:t>NOT</a:t>
            </a:r>
            <a:r>
              <a:rPr lang="en-US" sz="1400" dirty="0">
                <a:latin typeface="Franklin Gothic Book" panose="020B0503020102020204" pitchFamily="34" charset="0"/>
              </a:rPr>
              <a:t> cliques (it is not maximal)</a:t>
            </a:r>
            <a:r>
              <a:rPr lang="en-US" sz="1600" dirty="0">
                <a:latin typeface="Franklin Gothic Book" panose="020B0503020102020204" pitchFamily="34" charset="0"/>
              </a:rPr>
              <a:t> </a:t>
            </a:r>
            <a:endParaRPr lang="en-US" sz="1400" dirty="0"/>
          </a:p>
        </p:txBody>
      </p:sp>
      <p:sp>
        <p:nvSpPr>
          <p:cNvPr id="54" name="직사각형 53">
            <a:extLst>
              <a:ext uri="{FF2B5EF4-FFF2-40B4-BE49-F238E27FC236}">
                <a16:creationId xmlns:a16="http://schemas.microsoft.com/office/drawing/2014/main" id="{4BFDA1A7-57F6-4081-88D6-6E548DA102F4}"/>
              </a:ext>
            </a:extLst>
          </p:cNvPr>
          <p:cNvSpPr/>
          <p:nvPr/>
        </p:nvSpPr>
        <p:spPr>
          <a:xfrm>
            <a:off x="494110" y="4063469"/>
            <a:ext cx="1169872" cy="369332"/>
          </a:xfrm>
          <a:prstGeom prst="rect">
            <a:avLst/>
          </a:prstGeom>
        </p:spPr>
        <p:txBody>
          <a:bodyPr wrap="none">
            <a:spAutoFit/>
          </a:bodyPr>
          <a:lstStyle/>
          <a:p>
            <a:r>
              <a:rPr lang="en-US" b="1" i="1" dirty="0">
                <a:latin typeface="Franklin Gothic Book" panose="020B0503020102020204" pitchFamily="34" charset="0"/>
              </a:rPr>
              <a:t>n</a:t>
            </a:r>
            <a:r>
              <a:rPr lang="en-US" b="1" dirty="0">
                <a:latin typeface="Franklin Gothic Book" panose="020B0503020102020204" pitchFamily="34" charset="0"/>
              </a:rPr>
              <a:t> - cliques</a:t>
            </a:r>
            <a:endParaRPr lang="en-US" b="1" dirty="0"/>
          </a:p>
        </p:txBody>
      </p:sp>
      <p:sp>
        <p:nvSpPr>
          <p:cNvPr id="55" name="직사각형 54">
            <a:extLst>
              <a:ext uri="{FF2B5EF4-FFF2-40B4-BE49-F238E27FC236}">
                <a16:creationId xmlns:a16="http://schemas.microsoft.com/office/drawing/2014/main" id="{26F0E17C-6684-4916-9AF4-EEFBE66E84D0}"/>
              </a:ext>
            </a:extLst>
          </p:cNvPr>
          <p:cNvSpPr/>
          <p:nvPr/>
        </p:nvSpPr>
        <p:spPr>
          <a:xfrm>
            <a:off x="733934" y="4432801"/>
            <a:ext cx="6590560" cy="338554"/>
          </a:xfrm>
          <a:prstGeom prst="rect">
            <a:avLst/>
          </a:prstGeom>
        </p:spPr>
        <p:txBody>
          <a:bodyPr wrap="square">
            <a:spAutoFit/>
          </a:bodyPr>
          <a:lstStyle/>
          <a:p>
            <a:r>
              <a:rPr lang="en-US" sz="1600" dirty="0">
                <a:latin typeface="Franklin Gothic Book" panose="020B0503020102020204" pitchFamily="34" charset="0"/>
              </a:rPr>
              <a:t>In n-clique, </a:t>
            </a:r>
            <a:r>
              <a:rPr lang="en-US" sz="1600" b="1" dirty="0">
                <a:latin typeface="Franklin Gothic Book" panose="020B0503020102020204" pitchFamily="34" charset="0"/>
              </a:rPr>
              <a:t>maximum geodesic distances</a:t>
            </a:r>
            <a:r>
              <a:rPr lang="en-US" sz="1600" dirty="0">
                <a:latin typeface="Franklin Gothic Book" panose="020B0503020102020204" pitchFamily="34" charset="0"/>
              </a:rPr>
              <a:t> between all pairs is path length </a:t>
            </a:r>
            <a:r>
              <a:rPr lang="en-US" sz="1600" i="1" dirty="0">
                <a:latin typeface="Franklin Gothic Book" panose="020B0503020102020204" pitchFamily="34" charset="0"/>
              </a:rPr>
              <a:t>n</a:t>
            </a:r>
            <a:endParaRPr lang="en-US" sz="1600" i="1" dirty="0"/>
          </a:p>
        </p:txBody>
      </p:sp>
      <p:pic>
        <p:nvPicPr>
          <p:cNvPr id="1041" name="그림 1040">
            <a:extLst>
              <a:ext uri="{FF2B5EF4-FFF2-40B4-BE49-F238E27FC236}">
                <a16:creationId xmlns:a16="http://schemas.microsoft.com/office/drawing/2014/main" id="{8CE9DE16-0DD9-4410-A1D5-7B9A5F0987D1}"/>
              </a:ext>
            </a:extLst>
          </p:cNvPr>
          <p:cNvPicPr>
            <a:picLocks noChangeAspect="1"/>
          </p:cNvPicPr>
          <p:nvPr/>
        </p:nvPicPr>
        <p:blipFill>
          <a:blip r:embed="rId2"/>
          <a:stretch>
            <a:fillRect/>
          </a:stretch>
        </p:blipFill>
        <p:spPr>
          <a:xfrm>
            <a:off x="7103060" y="4779402"/>
            <a:ext cx="4876522" cy="1791806"/>
          </a:xfrm>
          <a:prstGeom prst="rect">
            <a:avLst/>
          </a:prstGeom>
        </p:spPr>
      </p:pic>
    </p:spTree>
    <p:extLst>
      <p:ext uri="{BB962C8B-B14F-4D97-AF65-F5344CB8AC3E}">
        <p14:creationId xmlns:p14="http://schemas.microsoft.com/office/powerpoint/2010/main" val="2827598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6383337" cy="1325563"/>
          </a:xfrm>
        </p:spPr>
        <p:txBody>
          <a:bodyPr/>
          <a:lstStyle/>
          <a:p>
            <a:r>
              <a:rPr lang="en-US" dirty="0">
                <a:latin typeface="Franklin Gothic Book" panose="020B0503020102020204" pitchFamily="34" charset="0"/>
              </a:rPr>
              <a:t>4. Cliques</a:t>
            </a:r>
            <a:endParaRPr lang="en-US" sz="3200" b="1" dirty="0">
              <a:latin typeface="Franklin Gothic Book" panose="020B0503020102020204" pitchFamily="34" charset="0"/>
            </a:endParaRPr>
          </a:p>
        </p:txBody>
      </p:sp>
      <p:sp>
        <p:nvSpPr>
          <p:cNvPr id="4" name="직사각형 3">
            <a:extLst>
              <a:ext uri="{FF2B5EF4-FFF2-40B4-BE49-F238E27FC236}">
                <a16:creationId xmlns:a16="http://schemas.microsoft.com/office/drawing/2014/main" id="{5AD62888-7216-4DFD-973F-6EBBEF5B6819}"/>
              </a:ext>
            </a:extLst>
          </p:cNvPr>
          <p:cNvSpPr/>
          <p:nvPr/>
        </p:nvSpPr>
        <p:spPr>
          <a:xfrm>
            <a:off x="494110" y="1385813"/>
            <a:ext cx="1610697" cy="369332"/>
          </a:xfrm>
          <a:prstGeom prst="rect">
            <a:avLst/>
          </a:prstGeom>
        </p:spPr>
        <p:txBody>
          <a:bodyPr wrap="none">
            <a:spAutoFit/>
          </a:bodyPr>
          <a:lstStyle/>
          <a:p>
            <a:r>
              <a:rPr lang="en-US" b="1" dirty="0">
                <a:latin typeface="Franklin Gothic Book" panose="020B0503020102020204" pitchFamily="34" charset="0"/>
              </a:rPr>
              <a:t>Digraph Clique</a:t>
            </a:r>
            <a:endParaRPr lang="en-US" b="1" dirty="0"/>
          </a:p>
        </p:txBody>
      </p:sp>
      <p:sp>
        <p:nvSpPr>
          <p:cNvPr id="8" name="직사각형 7">
            <a:extLst>
              <a:ext uri="{FF2B5EF4-FFF2-40B4-BE49-F238E27FC236}">
                <a16:creationId xmlns:a16="http://schemas.microsoft.com/office/drawing/2014/main" id="{A8FFB567-4A14-435C-B122-8E606B740D00}"/>
              </a:ext>
            </a:extLst>
          </p:cNvPr>
          <p:cNvSpPr/>
          <p:nvPr/>
        </p:nvSpPr>
        <p:spPr>
          <a:xfrm>
            <a:off x="733933" y="1884629"/>
            <a:ext cx="7309235" cy="584775"/>
          </a:xfrm>
          <a:prstGeom prst="rect">
            <a:avLst/>
          </a:prstGeom>
        </p:spPr>
        <p:txBody>
          <a:bodyPr wrap="square">
            <a:spAutoFit/>
          </a:bodyPr>
          <a:lstStyle/>
          <a:p>
            <a:r>
              <a:rPr lang="en-US" sz="1600" dirty="0">
                <a:latin typeface="Franklin Gothic Book" panose="020B0503020102020204" pitchFamily="34" charset="0"/>
              </a:rPr>
              <a:t>In a directed network, reciprocity of dyadic ties is required to fit the definition of clique. In short, all pairs of nodes should be connected reciprocally (mutually).</a:t>
            </a:r>
            <a:endParaRPr lang="en-US" sz="1600" dirty="0"/>
          </a:p>
        </p:txBody>
      </p:sp>
      <p:grpSp>
        <p:nvGrpSpPr>
          <p:cNvPr id="26" name="그룹 25">
            <a:extLst>
              <a:ext uri="{FF2B5EF4-FFF2-40B4-BE49-F238E27FC236}">
                <a16:creationId xmlns:a16="http://schemas.microsoft.com/office/drawing/2014/main" id="{51A86BA5-2057-4C46-B78E-4BF0B426F764}"/>
              </a:ext>
            </a:extLst>
          </p:cNvPr>
          <p:cNvGrpSpPr/>
          <p:nvPr/>
        </p:nvGrpSpPr>
        <p:grpSpPr>
          <a:xfrm>
            <a:off x="8387258" y="1162520"/>
            <a:ext cx="2501282" cy="2178028"/>
            <a:chOff x="6534627" y="2240831"/>
            <a:chExt cx="2501282" cy="2178028"/>
          </a:xfrm>
        </p:grpSpPr>
        <p:sp>
          <p:nvSpPr>
            <p:cNvPr id="27" name="타원 26">
              <a:extLst>
                <a:ext uri="{FF2B5EF4-FFF2-40B4-BE49-F238E27FC236}">
                  <a16:creationId xmlns:a16="http://schemas.microsoft.com/office/drawing/2014/main" id="{3177518A-163D-478D-B207-9BD139C997A6}"/>
                </a:ext>
              </a:extLst>
            </p:cNvPr>
            <p:cNvSpPr/>
            <p:nvPr/>
          </p:nvSpPr>
          <p:spPr>
            <a:xfrm>
              <a:off x="6534627" y="3049480"/>
              <a:ext cx="379520" cy="379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cxnSp>
          <p:nvCxnSpPr>
            <p:cNvPr id="29" name="직선 연결선 28">
              <a:extLst>
                <a:ext uri="{FF2B5EF4-FFF2-40B4-BE49-F238E27FC236}">
                  <a16:creationId xmlns:a16="http://schemas.microsoft.com/office/drawing/2014/main" id="{D1015585-90A6-45A6-89D0-B7A6C346626E}"/>
                </a:ext>
              </a:extLst>
            </p:cNvPr>
            <p:cNvCxnSpPr>
              <a:cxnSpLocks/>
              <a:stCxn id="30" idx="3"/>
              <a:endCxn id="27" idx="7"/>
            </p:cNvCxnSpPr>
            <p:nvPr/>
          </p:nvCxnSpPr>
          <p:spPr>
            <a:xfrm flipH="1">
              <a:off x="6858568" y="2564772"/>
              <a:ext cx="299809" cy="540287"/>
            </a:xfrm>
            <a:prstGeom prst="line">
              <a:avLst/>
            </a:prstGeom>
            <a:ln w="28575">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30" name="타원 29">
              <a:extLst>
                <a:ext uri="{FF2B5EF4-FFF2-40B4-BE49-F238E27FC236}">
                  <a16:creationId xmlns:a16="http://schemas.microsoft.com/office/drawing/2014/main" id="{2DC19B8D-A5E9-40BB-B921-882B9C85AD6A}"/>
                </a:ext>
              </a:extLst>
            </p:cNvPr>
            <p:cNvSpPr/>
            <p:nvPr/>
          </p:nvSpPr>
          <p:spPr>
            <a:xfrm>
              <a:off x="7102798" y="2240831"/>
              <a:ext cx="379520" cy="379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2" name="타원 31">
              <a:extLst>
                <a:ext uri="{FF2B5EF4-FFF2-40B4-BE49-F238E27FC236}">
                  <a16:creationId xmlns:a16="http://schemas.microsoft.com/office/drawing/2014/main" id="{2909843D-BF6B-443B-B25A-961FF2742808}"/>
                </a:ext>
              </a:extLst>
            </p:cNvPr>
            <p:cNvSpPr/>
            <p:nvPr/>
          </p:nvSpPr>
          <p:spPr>
            <a:xfrm>
              <a:off x="6534627" y="4039339"/>
              <a:ext cx="379520" cy="379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3" name="타원 32">
              <a:extLst>
                <a:ext uri="{FF2B5EF4-FFF2-40B4-BE49-F238E27FC236}">
                  <a16:creationId xmlns:a16="http://schemas.microsoft.com/office/drawing/2014/main" id="{ED0DE451-BDD2-4F3D-B10C-EE49D2F19A33}"/>
                </a:ext>
              </a:extLst>
            </p:cNvPr>
            <p:cNvSpPr/>
            <p:nvPr/>
          </p:nvSpPr>
          <p:spPr>
            <a:xfrm>
              <a:off x="7670968" y="4039339"/>
              <a:ext cx="379520" cy="379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5" name="타원 34">
              <a:extLst>
                <a:ext uri="{FF2B5EF4-FFF2-40B4-BE49-F238E27FC236}">
                  <a16:creationId xmlns:a16="http://schemas.microsoft.com/office/drawing/2014/main" id="{4DC032B6-D973-4A01-AB34-5713287390A9}"/>
                </a:ext>
              </a:extLst>
            </p:cNvPr>
            <p:cNvSpPr/>
            <p:nvPr/>
          </p:nvSpPr>
          <p:spPr>
            <a:xfrm>
              <a:off x="7670968" y="3049480"/>
              <a:ext cx="379520" cy="379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타원 35">
              <a:extLst>
                <a:ext uri="{FF2B5EF4-FFF2-40B4-BE49-F238E27FC236}">
                  <a16:creationId xmlns:a16="http://schemas.microsoft.com/office/drawing/2014/main" id="{FF18A395-BB00-44F7-9948-CAD57496B709}"/>
                </a:ext>
              </a:extLst>
            </p:cNvPr>
            <p:cNvSpPr/>
            <p:nvPr/>
          </p:nvSpPr>
          <p:spPr>
            <a:xfrm>
              <a:off x="8656389" y="3545519"/>
              <a:ext cx="379520" cy="37952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cxnSp>
          <p:nvCxnSpPr>
            <p:cNvPr id="38" name="직선 연결선 37">
              <a:extLst>
                <a:ext uri="{FF2B5EF4-FFF2-40B4-BE49-F238E27FC236}">
                  <a16:creationId xmlns:a16="http://schemas.microsoft.com/office/drawing/2014/main" id="{D90B3C5F-C031-4488-9C3A-1D09C5FB4C96}"/>
                </a:ext>
              </a:extLst>
            </p:cNvPr>
            <p:cNvCxnSpPr>
              <a:cxnSpLocks/>
              <a:stCxn id="27" idx="4"/>
              <a:endCxn id="32" idx="0"/>
            </p:cNvCxnSpPr>
            <p:nvPr/>
          </p:nvCxnSpPr>
          <p:spPr>
            <a:xfrm>
              <a:off x="6724387" y="3429000"/>
              <a:ext cx="0" cy="610339"/>
            </a:xfrm>
            <a:prstGeom prst="line">
              <a:avLst/>
            </a:prstGeom>
            <a:ln w="28575">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39" name="직선 연결선 38">
              <a:extLst>
                <a:ext uri="{FF2B5EF4-FFF2-40B4-BE49-F238E27FC236}">
                  <a16:creationId xmlns:a16="http://schemas.microsoft.com/office/drawing/2014/main" id="{D4FCCE1F-5137-4FE5-B931-025FA634B444}"/>
                </a:ext>
              </a:extLst>
            </p:cNvPr>
            <p:cNvCxnSpPr>
              <a:cxnSpLocks/>
              <a:stCxn id="27" idx="6"/>
              <a:endCxn id="35" idx="2"/>
            </p:cNvCxnSpPr>
            <p:nvPr/>
          </p:nvCxnSpPr>
          <p:spPr>
            <a:xfrm>
              <a:off x="6914147" y="3239240"/>
              <a:ext cx="756821" cy="0"/>
            </a:xfrm>
            <a:prstGeom prst="line">
              <a:avLst/>
            </a:prstGeom>
            <a:ln w="28575">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42" name="직선 연결선 41">
              <a:extLst>
                <a:ext uri="{FF2B5EF4-FFF2-40B4-BE49-F238E27FC236}">
                  <a16:creationId xmlns:a16="http://schemas.microsoft.com/office/drawing/2014/main" id="{2CE162BF-C47B-4A38-9D4D-9A51D3FE3845}"/>
                </a:ext>
              </a:extLst>
            </p:cNvPr>
            <p:cNvCxnSpPr>
              <a:cxnSpLocks/>
              <a:stCxn id="35" idx="4"/>
              <a:endCxn id="33" idx="0"/>
            </p:cNvCxnSpPr>
            <p:nvPr/>
          </p:nvCxnSpPr>
          <p:spPr>
            <a:xfrm>
              <a:off x="7860728" y="3429000"/>
              <a:ext cx="0" cy="610339"/>
            </a:xfrm>
            <a:prstGeom prst="line">
              <a:avLst/>
            </a:prstGeom>
            <a:ln w="28575">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43" name="직선 연결선 42">
              <a:extLst>
                <a:ext uri="{FF2B5EF4-FFF2-40B4-BE49-F238E27FC236}">
                  <a16:creationId xmlns:a16="http://schemas.microsoft.com/office/drawing/2014/main" id="{0C1FD133-6453-46CC-8D4B-F9D74C174976}"/>
                </a:ext>
              </a:extLst>
            </p:cNvPr>
            <p:cNvCxnSpPr>
              <a:cxnSpLocks/>
              <a:stCxn id="32" idx="6"/>
              <a:endCxn id="33" idx="2"/>
            </p:cNvCxnSpPr>
            <p:nvPr/>
          </p:nvCxnSpPr>
          <p:spPr>
            <a:xfrm>
              <a:off x="6914147" y="4229099"/>
              <a:ext cx="756821" cy="0"/>
            </a:xfrm>
            <a:prstGeom prst="line">
              <a:avLst/>
            </a:prstGeom>
            <a:ln w="28575">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44" name="직선 연결선 43">
              <a:extLst>
                <a:ext uri="{FF2B5EF4-FFF2-40B4-BE49-F238E27FC236}">
                  <a16:creationId xmlns:a16="http://schemas.microsoft.com/office/drawing/2014/main" id="{4027E043-8E39-41C4-8DF6-10C19F27BC52}"/>
                </a:ext>
              </a:extLst>
            </p:cNvPr>
            <p:cNvCxnSpPr>
              <a:cxnSpLocks/>
              <a:stCxn id="27" idx="5"/>
              <a:endCxn id="33" idx="1"/>
            </p:cNvCxnSpPr>
            <p:nvPr/>
          </p:nvCxnSpPr>
          <p:spPr>
            <a:xfrm>
              <a:off x="6858568" y="3373421"/>
              <a:ext cx="867979" cy="721497"/>
            </a:xfrm>
            <a:prstGeom prst="line">
              <a:avLst/>
            </a:prstGeom>
            <a:ln w="28575">
              <a:solidFill>
                <a:srgbClr val="FF0000"/>
              </a:solidFill>
              <a:headEnd type="none" w="med" len="med"/>
              <a:tailEnd type="triangle" w="med" len="med"/>
            </a:ln>
          </p:spPr>
          <p:style>
            <a:lnRef idx="1">
              <a:schemeClr val="dk1"/>
            </a:lnRef>
            <a:fillRef idx="0">
              <a:schemeClr val="dk1"/>
            </a:fillRef>
            <a:effectRef idx="0">
              <a:schemeClr val="dk1"/>
            </a:effectRef>
            <a:fontRef idx="minor">
              <a:schemeClr val="tx1"/>
            </a:fontRef>
          </p:style>
        </p:cxnSp>
        <p:cxnSp>
          <p:nvCxnSpPr>
            <p:cNvPr id="45" name="직선 연결선 44">
              <a:extLst>
                <a:ext uri="{FF2B5EF4-FFF2-40B4-BE49-F238E27FC236}">
                  <a16:creationId xmlns:a16="http://schemas.microsoft.com/office/drawing/2014/main" id="{5234C166-9739-49F8-85BD-2516C7B2DD85}"/>
                </a:ext>
              </a:extLst>
            </p:cNvPr>
            <p:cNvCxnSpPr>
              <a:cxnSpLocks/>
              <a:stCxn id="35" idx="3"/>
              <a:endCxn id="32" idx="7"/>
            </p:cNvCxnSpPr>
            <p:nvPr/>
          </p:nvCxnSpPr>
          <p:spPr>
            <a:xfrm flipH="1">
              <a:off x="6858568" y="3373421"/>
              <a:ext cx="867979" cy="721497"/>
            </a:xfrm>
            <a:prstGeom prst="line">
              <a:avLst/>
            </a:prstGeom>
            <a:ln w="28575">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46" name="직선 연결선 45">
              <a:extLst>
                <a:ext uri="{FF2B5EF4-FFF2-40B4-BE49-F238E27FC236}">
                  <a16:creationId xmlns:a16="http://schemas.microsoft.com/office/drawing/2014/main" id="{4DA23341-8DF6-4C0B-BC69-B5719223B91C}"/>
                </a:ext>
              </a:extLst>
            </p:cNvPr>
            <p:cNvCxnSpPr>
              <a:cxnSpLocks/>
              <a:stCxn id="30" idx="5"/>
              <a:endCxn id="35" idx="1"/>
            </p:cNvCxnSpPr>
            <p:nvPr/>
          </p:nvCxnSpPr>
          <p:spPr>
            <a:xfrm>
              <a:off x="7426739" y="2564772"/>
              <a:ext cx="299808" cy="540287"/>
            </a:xfrm>
            <a:prstGeom prst="line">
              <a:avLst/>
            </a:prstGeom>
            <a:ln w="28575">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47" name="직선 연결선 46">
              <a:extLst>
                <a:ext uri="{FF2B5EF4-FFF2-40B4-BE49-F238E27FC236}">
                  <a16:creationId xmlns:a16="http://schemas.microsoft.com/office/drawing/2014/main" id="{16082BCD-F12B-4523-8762-C2314874328C}"/>
                </a:ext>
              </a:extLst>
            </p:cNvPr>
            <p:cNvCxnSpPr>
              <a:cxnSpLocks/>
              <a:stCxn id="30" idx="6"/>
              <a:endCxn id="36" idx="1"/>
            </p:cNvCxnSpPr>
            <p:nvPr/>
          </p:nvCxnSpPr>
          <p:spPr>
            <a:xfrm>
              <a:off x="7482318" y="2430591"/>
              <a:ext cx="1229650" cy="1170507"/>
            </a:xfrm>
            <a:prstGeom prst="line">
              <a:avLst/>
            </a:prstGeom>
            <a:ln w="28575">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49" name="직선 연결선 48">
              <a:extLst>
                <a:ext uri="{FF2B5EF4-FFF2-40B4-BE49-F238E27FC236}">
                  <a16:creationId xmlns:a16="http://schemas.microsoft.com/office/drawing/2014/main" id="{E2FD422D-40C7-46BE-A25F-A171B203EFE2}"/>
                </a:ext>
              </a:extLst>
            </p:cNvPr>
            <p:cNvCxnSpPr>
              <a:cxnSpLocks/>
              <a:stCxn id="33" idx="6"/>
              <a:endCxn id="36" idx="3"/>
            </p:cNvCxnSpPr>
            <p:nvPr/>
          </p:nvCxnSpPr>
          <p:spPr>
            <a:xfrm flipV="1">
              <a:off x="8050488" y="3869460"/>
              <a:ext cx="661480" cy="359639"/>
            </a:xfrm>
            <a:prstGeom prst="line">
              <a:avLst/>
            </a:prstGeom>
            <a:ln w="28575">
              <a:headEnd type="triangle" w="med" len="med"/>
              <a:tailEnd type="triangle" w="med" len="med"/>
            </a:ln>
          </p:spPr>
          <p:style>
            <a:lnRef idx="1">
              <a:schemeClr val="dk1"/>
            </a:lnRef>
            <a:fillRef idx="0">
              <a:schemeClr val="dk1"/>
            </a:fillRef>
            <a:effectRef idx="0">
              <a:schemeClr val="dk1"/>
            </a:effectRef>
            <a:fontRef idx="minor">
              <a:schemeClr val="tx1"/>
            </a:fontRef>
          </p:style>
        </p:cxnSp>
      </p:grpSp>
      <p:sp>
        <p:nvSpPr>
          <p:cNvPr id="50" name="직사각형 49">
            <a:extLst>
              <a:ext uri="{FF2B5EF4-FFF2-40B4-BE49-F238E27FC236}">
                <a16:creationId xmlns:a16="http://schemas.microsoft.com/office/drawing/2014/main" id="{BF22A0B1-30C3-4C57-9B38-8D5089F44007}"/>
              </a:ext>
            </a:extLst>
          </p:cNvPr>
          <p:cNvSpPr/>
          <p:nvPr/>
        </p:nvSpPr>
        <p:spPr>
          <a:xfrm>
            <a:off x="7546066" y="3429496"/>
            <a:ext cx="4645934" cy="523220"/>
          </a:xfrm>
          <a:prstGeom prst="rect">
            <a:avLst/>
          </a:prstGeom>
        </p:spPr>
        <p:txBody>
          <a:bodyPr wrap="square">
            <a:spAutoFit/>
          </a:bodyPr>
          <a:lstStyle/>
          <a:p>
            <a:r>
              <a:rPr lang="en-US" sz="1400" dirty="0">
                <a:latin typeface="Franklin Gothic Book" panose="020B0503020102020204" pitchFamily="34" charset="0"/>
              </a:rPr>
              <a:t>ex) Only ABE, BDE, BCD are cliques. </a:t>
            </a:r>
          </a:p>
          <a:p>
            <a:r>
              <a:rPr lang="en-US" sz="1400" dirty="0">
                <a:latin typeface="Franklin Gothic Book" panose="020B0503020102020204" pitchFamily="34" charset="0"/>
              </a:rPr>
              <a:t>      BCDE is </a:t>
            </a:r>
            <a:r>
              <a:rPr lang="en-US" sz="1400" b="1" dirty="0">
                <a:latin typeface="Franklin Gothic Book" panose="020B0503020102020204" pitchFamily="34" charset="0"/>
              </a:rPr>
              <a:t>NOT</a:t>
            </a:r>
            <a:r>
              <a:rPr lang="en-US" sz="1400" dirty="0">
                <a:latin typeface="Franklin Gothic Book" panose="020B0503020102020204" pitchFamily="34" charset="0"/>
              </a:rPr>
              <a:t> a clique (E,C are not mutually connected)</a:t>
            </a:r>
            <a:endParaRPr lang="en-US" sz="1400" dirty="0"/>
          </a:p>
        </p:txBody>
      </p:sp>
      <p:sp>
        <p:nvSpPr>
          <p:cNvPr id="51" name="직사각형 50">
            <a:extLst>
              <a:ext uri="{FF2B5EF4-FFF2-40B4-BE49-F238E27FC236}">
                <a16:creationId xmlns:a16="http://schemas.microsoft.com/office/drawing/2014/main" id="{A78551D6-E7C5-4FCD-92F7-370C046D5540}"/>
              </a:ext>
            </a:extLst>
          </p:cNvPr>
          <p:cNvSpPr/>
          <p:nvPr/>
        </p:nvSpPr>
        <p:spPr>
          <a:xfrm>
            <a:off x="494110" y="3183665"/>
            <a:ext cx="1992212" cy="369332"/>
          </a:xfrm>
          <a:prstGeom prst="rect">
            <a:avLst/>
          </a:prstGeom>
        </p:spPr>
        <p:txBody>
          <a:bodyPr wrap="none">
            <a:spAutoFit/>
          </a:bodyPr>
          <a:lstStyle/>
          <a:p>
            <a:r>
              <a:rPr lang="en-US" b="1" dirty="0">
                <a:latin typeface="Franklin Gothic Book" panose="020B0503020102020204" pitchFamily="34" charset="0"/>
              </a:rPr>
              <a:t>Digraph </a:t>
            </a:r>
            <a:r>
              <a:rPr lang="en-US" b="1" i="1" dirty="0">
                <a:latin typeface="Franklin Gothic Book" panose="020B0503020102020204" pitchFamily="34" charset="0"/>
              </a:rPr>
              <a:t>n</a:t>
            </a:r>
            <a:r>
              <a:rPr lang="en-US" b="1" dirty="0">
                <a:latin typeface="Franklin Gothic Book" panose="020B0503020102020204" pitchFamily="34" charset="0"/>
              </a:rPr>
              <a:t> - cliques</a:t>
            </a:r>
            <a:endParaRPr lang="en-US" b="1" dirty="0"/>
          </a:p>
        </p:txBody>
      </p:sp>
      <p:sp>
        <p:nvSpPr>
          <p:cNvPr id="52" name="직사각형 51">
            <a:extLst>
              <a:ext uri="{FF2B5EF4-FFF2-40B4-BE49-F238E27FC236}">
                <a16:creationId xmlns:a16="http://schemas.microsoft.com/office/drawing/2014/main" id="{DF2BF2CA-7F9C-4EC3-8B49-934C761FAF8A}"/>
              </a:ext>
            </a:extLst>
          </p:cNvPr>
          <p:cNvSpPr/>
          <p:nvPr/>
        </p:nvSpPr>
        <p:spPr>
          <a:xfrm>
            <a:off x="733934" y="3614162"/>
            <a:ext cx="6590560" cy="338554"/>
          </a:xfrm>
          <a:prstGeom prst="rect">
            <a:avLst/>
          </a:prstGeom>
        </p:spPr>
        <p:txBody>
          <a:bodyPr wrap="square">
            <a:spAutoFit/>
          </a:bodyPr>
          <a:lstStyle/>
          <a:p>
            <a:r>
              <a:rPr lang="en-US" sz="1600" dirty="0">
                <a:latin typeface="Franklin Gothic Book" panose="020B0503020102020204" pitchFamily="34" charset="0"/>
              </a:rPr>
              <a:t>In digraph, there are four types of </a:t>
            </a:r>
            <a:r>
              <a:rPr lang="en-US" sz="1600" i="1" dirty="0">
                <a:latin typeface="Franklin Gothic Book" panose="020B0503020102020204" pitchFamily="34" charset="0"/>
              </a:rPr>
              <a:t>n</a:t>
            </a:r>
            <a:r>
              <a:rPr lang="en-US" sz="1600" dirty="0">
                <a:latin typeface="Franklin Gothic Book" panose="020B0503020102020204" pitchFamily="34" charset="0"/>
              </a:rPr>
              <a:t>-cliques:</a:t>
            </a:r>
            <a:endParaRPr lang="en-US" sz="1600" i="1" dirty="0"/>
          </a:p>
        </p:txBody>
      </p:sp>
      <p:sp>
        <p:nvSpPr>
          <p:cNvPr id="53" name="직사각형 52">
            <a:extLst>
              <a:ext uri="{FF2B5EF4-FFF2-40B4-BE49-F238E27FC236}">
                <a16:creationId xmlns:a16="http://schemas.microsoft.com/office/drawing/2014/main" id="{E4985CD4-BEBB-4C42-B791-12854143B291}"/>
              </a:ext>
            </a:extLst>
          </p:cNvPr>
          <p:cNvSpPr/>
          <p:nvPr/>
        </p:nvSpPr>
        <p:spPr>
          <a:xfrm>
            <a:off x="733934" y="3962768"/>
            <a:ext cx="12023278" cy="1077218"/>
          </a:xfrm>
          <a:prstGeom prst="rect">
            <a:avLst/>
          </a:prstGeom>
        </p:spPr>
        <p:txBody>
          <a:bodyPr wrap="square">
            <a:spAutoFit/>
          </a:bodyPr>
          <a:lstStyle/>
          <a:p>
            <a:pPr marL="285750" indent="-285750">
              <a:buFontTx/>
              <a:buChar char="-"/>
            </a:pPr>
            <a:r>
              <a:rPr lang="en-US" sz="1600" dirty="0">
                <a:latin typeface="Franklin Gothic Book" panose="020B0503020102020204" pitchFamily="34" charset="0"/>
              </a:rPr>
              <a:t>Weakly n-connected </a:t>
            </a:r>
          </a:p>
          <a:p>
            <a:pPr marL="285750" indent="-285750">
              <a:buFontTx/>
              <a:buChar char="-"/>
            </a:pPr>
            <a:r>
              <a:rPr lang="en-US" sz="1600" dirty="0">
                <a:latin typeface="Franklin Gothic Book" panose="020B0503020102020204" pitchFamily="34" charset="0"/>
              </a:rPr>
              <a:t>Unilaterally n-connected</a:t>
            </a:r>
          </a:p>
          <a:p>
            <a:pPr marL="285750" indent="-285750">
              <a:buFontTx/>
              <a:buChar char="-"/>
            </a:pPr>
            <a:r>
              <a:rPr lang="en-US" sz="1600" dirty="0">
                <a:latin typeface="Franklin Gothic Book" panose="020B0503020102020204" pitchFamily="34" charset="0"/>
              </a:rPr>
              <a:t>Strongly n-connected</a:t>
            </a:r>
          </a:p>
          <a:p>
            <a:pPr marL="285750" indent="-285750">
              <a:buFontTx/>
              <a:buChar char="-"/>
            </a:pPr>
            <a:r>
              <a:rPr lang="en-US" sz="1600" dirty="0">
                <a:latin typeface="Franklin Gothic Book" panose="020B0503020102020204" pitchFamily="34" charset="0"/>
              </a:rPr>
              <a:t>Recursively n-connected</a:t>
            </a:r>
            <a:endParaRPr lang="en-US" sz="1600" dirty="0"/>
          </a:p>
        </p:txBody>
      </p:sp>
      <p:sp>
        <p:nvSpPr>
          <p:cNvPr id="56" name="직사각형 55">
            <a:extLst>
              <a:ext uri="{FF2B5EF4-FFF2-40B4-BE49-F238E27FC236}">
                <a16:creationId xmlns:a16="http://schemas.microsoft.com/office/drawing/2014/main" id="{7634CD77-4C8F-4E20-BA7D-E9125B5D3909}"/>
              </a:ext>
            </a:extLst>
          </p:cNvPr>
          <p:cNvSpPr/>
          <p:nvPr/>
        </p:nvSpPr>
        <p:spPr>
          <a:xfrm>
            <a:off x="733934" y="5093096"/>
            <a:ext cx="6590560" cy="338554"/>
          </a:xfrm>
          <a:prstGeom prst="rect">
            <a:avLst/>
          </a:prstGeom>
        </p:spPr>
        <p:txBody>
          <a:bodyPr wrap="square">
            <a:spAutoFit/>
          </a:bodyPr>
          <a:lstStyle/>
          <a:p>
            <a:endParaRPr lang="en-US" sz="1600" i="1" dirty="0"/>
          </a:p>
        </p:txBody>
      </p:sp>
      <p:sp>
        <p:nvSpPr>
          <p:cNvPr id="7" name="직사각형 6">
            <a:extLst>
              <a:ext uri="{FF2B5EF4-FFF2-40B4-BE49-F238E27FC236}">
                <a16:creationId xmlns:a16="http://schemas.microsoft.com/office/drawing/2014/main" id="{FA3766D8-ADC1-4C77-88E0-6000089F326C}"/>
              </a:ext>
            </a:extLst>
          </p:cNvPr>
          <p:cNvSpPr/>
          <p:nvPr/>
        </p:nvSpPr>
        <p:spPr>
          <a:xfrm>
            <a:off x="3333274" y="4723764"/>
            <a:ext cx="6096000" cy="738664"/>
          </a:xfrm>
          <a:prstGeom prst="rect">
            <a:avLst/>
          </a:prstGeom>
        </p:spPr>
        <p:txBody>
          <a:bodyPr>
            <a:spAutoFit/>
          </a:bodyPr>
          <a:lstStyle/>
          <a:p>
            <a:r>
              <a:rPr lang="en-US" sz="1400" dirty="0">
                <a:latin typeface="Franklin Gothic Book" panose="020B0503020102020204" pitchFamily="34" charset="0"/>
              </a:rPr>
              <a:t>when the path from node </a:t>
            </a:r>
            <a:r>
              <a:rPr lang="en-US" sz="1400" b="1" i="1" dirty="0" err="1">
                <a:latin typeface="Franklin Gothic Book" panose="020B0503020102020204" pitchFamily="34" charset="0"/>
              </a:rPr>
              <a:t>i</a:t>
            </a:r>
            <a:r>
              <a:rPr lang="en-US" sz="1400" dirty="0">
                <a:latin typeface="Franklin Gothic Book" panose="020B0503020102020204" pitchFamily="34" charset="0"/>
              </a:rPr>
              <a:t> to </a:t>
            </a:r>
            <a:r>
              <a:rPr lang="en-US" sz="1400" b="1" i="1" dirty="0">
                <a:latin typeface="Franklin Gothic Book" panose="020B0503020102020204" pitchFamily="34" charset="0"/>
              </a:rPr>
              <a:t>j</a:t>
            </a:r>
            <a:r>
              <a:rPr lang="en-US" sz="1400" dirty="0">
                <a:latin typeface="Franklin Gothic Book" panose="020B0503020102020204" pitchFamily="34" charset="0"/>
              </a:rPr>
              <a:t> uses the same nodes and edges as the path from </a:t>
            </a:r>
            <a:r>
              <a:rPr lang="en-US" sz="1400" b="1" i="1" dirty="0">
                <a:latin typeface="Franklin Gothic Book" panose="020B0503020102020204" pitchFamily="34" charset="0"/>
              </a:rPr>
              <a:t>j</a:t>
            </a:r>
            <a:r>
              <a:rPr lang="en-US" sz="1400" dirty="0">
                <a:latin typeface="Franklin Gothic Book" panose="020B0503020102020204" pitchFamily="34" charset="0"/>
              </a:rPr>
              <a:t> to </a:t>
            </a:r>
            <a:r>
              <a:rPr lang="en-US" sz="1400" b="1" i="1" dirty="0" err="1">
                <a:latin typeface="Franklin Gothic Book" panose="020B0503020102020204" pitchFamily="34" charset="0"/>
              </a:rPr>
              <a:t>i</a:t>
            </a:r>
            <a:r>
              <a:rPr lang="en-US" sz="1400" dirty="0">
                <a:latin typeface="Franklin Gothic Book" panose="020B0503020102020204" pitchFamily="34" charset="0"/>
              </a:rPr>
              <a:t> in reverse order</a:t>
            </a:r>
          </a:p>
          <a:p>
            <a:pPr marL="285750" indent="-285750">
              <a:buFontTx/>
              <a:buChar char="-"/>
            </a:pPr>
            <a:endParaRPr lang="en-US" sz="1400" dirty="0">
              <a:latin typeface="Franklin Gothic Book" panose="020B0503020102020204" pitchFamily="34" charset="0"/>
            </a:endParaRPr>
          </a:p>
        </p:txBody>
      </p:sp>
    </p:spTree>
    <p:extLst>
      <p:ext uri="{BB962C8B-B14F-4D97-AF65-F5344CB8AC3E}">
        <p14:creationId xmlns:p14="http://schemas.microsoft.com/office/powerpoint/2010/main" val="4105098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6383337" cy="1325563"/>
          </a:xfrm>
        </p:spPr>
        <p:txBody>
          <a:bodyPr/>
          <a:lstStyle/>
          <a:p>
            <a:r>
              <a:rPr lang="en-US" dirty="0">
                <a:latin typeface="Franklin Gothic Book" panose="020B0503020102020204" pitchFamily="34" charset="0"/>
              </a:rPr>
              <a:t>5. Structural Equivalence</a:t>
            </a:r>
            <a:endParaRPr lang="en-US" sz="3200" b="1" dirty="0">
              <a:latin typeface="Franklin Gothic Book" panose="020B0503020102020204" pitchFamily="34" charset="0"/>
            </a:endParaRPr>
          </a:p>
        </p:txBody>
      </p:sp>
      <p:sp>
        <p:nvSpPr>
          <p:cNvPr id="3" name="직사각형 2">
            <a:extLst>
              <a:ext uri="{FF2B5EF4-FFF2-40B4-BE49-F238E27FC236}">
                <a16:creationId xmlns:a16="http://schemas.microsoft.com/office/drawing/2014/main" id="{41C2ADCA-3C0A-4586-BD67-6C749FDF84E4}"/>
              </a:ext>
            </a:extLst>
          </p:cNvPr>
          <p:cNvSpPr/>
          <p:nvPr/>
        </p:nvSpPr>
        <p:spPr>
          <a:xfrm>
            <a:off x="494110" y="1385813"/>
            <a:ext cx="2376292" cy="369332"/>
          </a:xfrm>
          <a:prstGeom prst="rect">
            <a:avLst/>
          </a:prstGeom>
        </p:spPr>
        <p:txBody>
          <a:bodyPr wrap="none">
            <a:spAutoFit/>
          </a:bodyPr>
          <a:lstStyle/>
          <a:p>
            <a:r>
              <a:rPr lang="en-US" b="1" dirty="0">
                <a:latin typeface="Franklin Gothic Book" panose="020B0503020102020204" pitchFamily="34" charset="0"/>
              </a:rPr>
              <a:t>Structural Equivalence</a:t>
            </a:r>
            <a:endParaRPr lang="en-US" b="1" dirty="0"/>
          </a:p>
        </p:txBody>
      </p:sp>
      <p:sp>
        <p:nvSpPr>
          <p:cNvPr id="4" name="직사각형 3">
            <a:extLst>
              <a:ext uri="{FF2B5EF4-FFF2-40B4-BE49-F238E27FC236}">
                <a16:creationId xmlns:a16="http://schemas.microsoft.com/office/drawing/2014/main" id="{2D545C4E-AD98-4C61-8384-3E34430A7DD6}"/>
              </a:ext>
            </a:extLst>
          </p:cNvPr>
          <p:cNvSpPr/>
          <p:nvPr/>
        </p:nvSpPr>
        <p:spPr>
          <a:xfrm>
            <a:off x="494110" y="1880379"/>
            <a:ext cx="8847896" cy="1323439"/>
          </a:xfrm>
          <a:prstGeom prst="rect">
            <a:avLst/>
          </a:prstGeom>
        </p:spPr>
        <p:txBody>
          <a:bodyPr wrap="square">
            <a:spAutoFit/>
          </a:bodyPr>
          <a:lstStyle/>
          <a:p>
            <a:pPr marL="285750" indent="-285750">
              <a:buFont typeface="Arial" panose="020B0604020202020204" pitchFamily="34" charset="0"/>
              <a:buChar char="•"/>
            </a:pPr>
            <a:r>
              <a:rPr lang="en-US" sz="1600" dirty="0">
                <a:latin typeface="Franklin Gothic Book" panose="020B0503020102020204" pitchFamily="34" charset="0"/>
              </a:rPr>
              <a:t>Structural equivalence method are used to understand competitive relations. In a directed graph </a:t>
            </a:r>
          </a:p>
          <a:p>
            <a:pPr marL="285750" indent="-285750">
              <a:buFont typeface="Arial" panose="020B0604020202020204" pitchFamily="34" charset="0"/>
              <a:buChar char="•"/>
            </a:pPr>
            <a:r>
              <a:rPr lang="en-US" sz="1600" dirty="0">
                <a:latin typeface="Franklin Gothic Book" panose="020B0503020102020204" pitchFamily="34" charset="0"/>
              </a:rPr>
              <a:t>Structurally equivalent is defined as having exactly identical patterns of ties sent to, and received from all the other network actors. </a:t>
            </a:r>
          </a:p>
          <a:p>
            <a:pPr marL="285750" indent="-285750">
              <a:buFont typeface="Arial" panose="020B0604020202020204" pitchFamily="34" charset="0"/>
              <a:buChar char="•"/>
            </a:pPr>
            <a:r>
              <a:rPr lang="en-US" sz="1600" dirty="0">
                <a:latin typeface="Franklin Gothic Book" panose="020B0503020102020204" pitchFamily="34" charset="0"/>
              </a:rPr>
              <a:t>When determining the structural equivalence of two nodes, the presence of relation between them are irrelevant</a:t>
            </a:r>
          </a:p>
        </p:txBody>
      </p:sp>
      <p:sp>
        <p:nvSpPr>
          <p:cNvPr id="5" name="직사각형 4">
            <a:extLst>
              <a:ext uri="{FF2B5EF4-FFF2-40B4-BE49-F238E27FC236}">
                <a16:creationId xmlns:a16="http://schemas.microsoft.com/office/drawing/2014/main" id="{D123D075-92DA-4CBC-8765-397F500B9AD6}"/>
              </a:ext>
            </a:extLst>
          </p:cNvPr>
          <p:cNvSpPr/>
          <p:nvPr/>
        </p:nvSpPr>
        <p:spPr>
          <a:xfrm>
            <a:off x="494110" y="3329052"/>
            <a:ext cx="7937622" cy="338554"/>
          </a:xfrm>
          <a:prstGeom prst="rect">
            <a:avLst/>
          </a:prstGeom>
        </p:spPr>
        <p:txBody>
          <a:bodyPr wrap="none">
            <a:spAutoFit/>
          </a:bodyPr>
          <a:lstStyle/>
          <a:p>
            <a:r>
              <a:rPr lang="en-US" sz="1600" b="1" dirty="0">
                <a:latin typeface="Franklin Gothic Book" panose="020B0503020102020204" pitchFamily="34" charset="0"/>
              </a:rPr>
              <a:t>Calculation of Structural Equivalence (based on relational similarity in Euclidean distance)</a:t>
            </a:r>
            <a:endParaRPr lang="en-US" sz="1600" b="1" dirty="0"/>
          </a:p>
        </p:txBody>
      </p:sp>
      <mc:AlternateContent xmlns:mc="http://schemas.openxmlformats.org/markup-compatibility/2006" xmlns:a14="http://schemas.microsoft.com/office/drawing/2010/main">
        <mc:Choice Requires="a14">
          <p:sp>
            <p:nvSpPr>
              <p:cNvPr id="6" name="직사각형 5">
                <a:extLst>
                  <a:ext uri="{FF2B5EF4-FFF2-40B4-BE49-F238E27FC236}">
                    <a16:creationId xmlns:a16="http://schemas.microsoft.com/office/drawing/2014/main" id="{762717ED-93E5-49F9-96D7-0A3B490696ED}"/>
                  </a:ext>
                </a:extLst>
              </p:cNvPr>
              <p:cNvSpPr/>
              <p:nvPr/>
            </p:nvSpPr>
            <p:spPr>
              <a:xfrm>
                <a:off x="6096000" y="3792840"/>
                <a:ext cx="5329641" cy="105028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𝑑</m:t>
                          </m:r>
                        </m:e>
                        <m:sub>
                          <m:r>
                            <a:rPr lang="en-US" sz="1600" b="0" i="1" smtClean="0">
                              <a:latin typeface="Cambria Math" panose="02040503050406030204" pitchFamily="18" charset="0"/>
                            </a:rPr>
                            <m:t>𝑖𝑗</m:t>
                          </m:r>
                        </m:sub>
                      </m:sSub>
                      <m:r>
                        <a:rPr lang="en-US" sz="1600" b="0" i="0"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nary>
                            <m:naryPr>
                              <m:chr m:val="∑"/>
                              <m:ctrlPr>
                                <a:rPr lang="en-US" sz="1600" b="0" i="1" smtClean="0">
                                  <a:latin typeface="Cambria Math" panose="02040503050406030204" pitchFamily="18" charset="0"/>
                                </a:rPr>
                              </m:ctrlPr>
                            </m:naryPr>
                            <m:sub>
                              <m:r>
                                <m:rPr>
                                  <m:brk m:alnAt="23"/>
                                </m:rPr>
                                <a:rPr lang="en-US" sz="1600" b="0" i="1" smtClean="0">
                                  <a:latin typeface="Cambria Math" panose="02040503050406030204" pitchFamily="18" charset="0"/>
                                </a:rPr>
                                <m:t>𝑘</m:t>
                              </m:r>
                              <m:r>
                                <a:rPr lang="en-US" sz="1600" b="0" i="1" smtClean="0">
                                  <a:latin typeface="Cambria Math" panose="02040503050406030204" pitchFamily="18" charset="0"/>
                                </a:rPr>
                                <m:t>=1</m:t>
                              </m:r>
                            </m:sub>
                            <m:sup>
                              <m:r>
                                <a:rPr lang="en-US" sz="1600" b="0" i="1" smtClean="0">
                                  <a:latin typeface="Cambria Math" panose="02040503050406030204" pitchFamily="18" charset="0"/>
                                </a:rPr>
                                <m:t>𝑔</m:t>
                              </m:r>
                            </m:sup>
                            <m:e>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𝑖𝑘</m:t>
                                          </m:r>
                                        </m:sub>
                                      </m:sSub>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b="0" i="1" smtClean="0">
                                              <a:latin typeface="Cambria Math" panose="02040503050406030204" pitchFamily="18" charset="0"/>
                                            </a:rPr>
                                            <m:t>𝑗</m:t>
                                          </m:r>
                                          <m:r>
                                            <a:rPr lang="en-US" sz="1600" i="1">
                                              <a:latin typeface="Cambria Math" panose="02040503050406030204" pitchFamily="18" charset="0"/>
                                            </a:rPr>
                                            <m:t>𝑘</m:t>
                                          </m:r>
                                        </m:sub>
                                      </m:sSub>
                                    </m:e>
                                  </m:d>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d>
                                    <m:dPr>
                                      <m:ctrlPr>
                                        <a:rPr lang="en-US" sz="1600" b="0" i="1" smtClean="0">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𝑘</m:t>
                                          </m:r>
                                          <m:r>
                                            <a:rPr lang="en-US" sz="1600" b="0" i="1" smtClean="0">
                                              <a:latin typeface="Cambria Math" panose="02040503050406030204" pitchFamily="18" charset="0"/>
                                            </a:rPr>
                                            <m:t>𝑖</m:t>
                                          </m:r>
                                        </m:sub>
                                      </m:sSub>
                                      <m:r>
                                        <a:rPr lang="en-US" sz="1600" b="0" i="1" smtClean="0">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𝑘</m:t>
                                          </m:r>
                                          <m:r>
                                            <a:rPr lang="en-US" sz="1600" b="0" i="1" smtClean="0">
                                              <a:latin typeface="Cambria Math" panose="02040503050406030204" pitchFamily="18" charset="0"/>
                                            </a:rPr>
                                            <m:t>𝑗</m:t>
                                          </m:r>
                                        </m:sub>
                                      </m:sSub>
                                    </m:e>
                                  </m:d>
                                </m:e>
                                <m:sup>
                                  <m:r>
                                    <a:rPr lang="en-US" sz="1600" b="0" i="1" smtClean="0">
                                      <a:latin typeface="Cambria Math" panose="02040503050406030204" pitchFamily="18" charset="0"/>
                                    </a:rPr>
                                    <m:t>2</m:t>
                                  </m:r>
                                </m:sup>
                              </m:sSup>
                              <m:r>
                                <a:rPr lang="en-US" sz="1600" b="0" i="1" smtClean="0">
                                  <a:latin typeface="Cambria Math" panose="02040503050406030204" pitchFamily="18" charset="0"/>
                                </a:rPr>
                                <m:t>]</m:t>
                              </m:r>
                            </m:e>
                          </m:nary>
                          <m:r>
                            <a:rPr lang="en-US" sz="1600" b="0" i="1" smtClean="0">
                              <a:latin typeface="Cambria Math" panose="02040503050406030204" pitchFamily="18" charset="0"/>
                            </a:rPr>
                            <m:t> </m:t>
                          </m:r>
                        </m:e>
                      </m:rad>
                      <m:r>
                        <a:rPr lang="en-US" sz="1600" b="0" i="1" smtClean="0">
                          <a:latin typeface="Cambria Math" panose="02040503050406030204" pitchFamily="18" charset="0"/>
                        </a:rPr>
                        <m:t>      (</m:t>
                      </m:r>
                      <m:r>
                        <a:rPr lang="en-US" sz="1600" b="0" i="1" smtClean="0">
                          <a:latin typeface="Cambria Math" panose="02040503050406030204" pitchFamily="18" charset="0"/>
                        </a:rPr>
                        <m:t>𝑖</m:t>
                      </m:r>
                      <m:r>
                        <a:rPr lang="en-US" sz="1600" b="0" i="1" smtClean="0">
                          <a:latin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𝑗</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𝑘</m:t>
                      </m:r>
                      <m:r>
                        <a:rPr lang="en-US" sz="1600" b="0" i="1" smtClean="0">
                          <a:latin typeface="Cambria Math" panose="02040503050406030204" pitchFamily="18" charset="0"/>
                          <a:ea typeface="Cambria Math" panose="02040503050406030204" pitchFamily="18" charset="0"/>
                        </a:rPr>
                        <m:t>)</m:t>
                      </m:r>
                    </m:oMath>
                  </m:oMathPara>
                </a14:m>
                <a:endParaRPr lang="en-US" sz="1600" dirty="0">
                  <a:latin typeface="Franklin Gothic Book" panose="020B0503020102020204" pitchFamily="34" charset="0"/>
                </a:endParaRPr>
              </a:p>
            </p:txBody>
          </p:sp>
        </mc:Choice>
        <mc:Fallback xmlns="">
          <p:sp>
            <p:nvSpPr>
              <p:cNvPr id="6" name="직사각형 5">
                <a:extLst>
                  <a:ext uri="{FF2B5EF4-FFF2-40B4-BE49-F238E27FC236}">
                    <a16:creationId xmlns:a16="http://schemas.microsoft.com/office/drawing/2014/main" id="{762717ED-93E5-49F9-96D7-0A3B490696ED}"/>
                  </a:ext>
                </a:extLst>
              </p:cNvPr>
              <p:cNvSpPr>
                <a:spLocks noRot="1" noChangeAspect="1" noMove="1" noResize="1" noEditPoints="1" noAdjustHandles="1" noChangeArrowheads="1" noChangeShapeType="1" noTextEdit="1"/>
              </p:cNvSpPr>
              <p:nvPr/>
            </p:nvSpPr>
            <p:spPr>
              <a:xfrm>
                <a:off x="6096000" y="3792840"/>
                <a:ext cx="5329641" cy="105028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직사각형 7">
                <a:extLst>
                  <a:ext uri="{FF2B5EF4-FFF2-40B4-BE49-F238E27FC236}">
                    <a16:creationId xmlns:a16="http://schemas.microsoft.com/office/drawing/2014/main" id="{19525724-4EB8-4B35-B812-253D59D8433B}"/>
                  </a:ext>
                </a:extLst>
              </p:cNvPr>
              <p:cNvSpPr/>
              <p:nvPr/>
            </p:nvSpPr>
            <p:spPr>
              <a:xfrm>
                <a:off x="761739" y="5455020"/>
                <a:ext cx="8523295" cy="646331"/>
              </a:xfrm>
              <a:prstGeom prst="rect">
                <a:avLst/>
              </a:prstGeom>
            </p:spPr>
            <p:txBody>
              <a:bodyPr wrap="none">
                <a:spAutoFit/>
              </a:bodyPr>
              <a:lstStyle/>
              <a:p>
                <a:pPr marL="285750" indent="-285750">
                  <a:buFont typeface="Arial" panose="020B0604020202020204" pitchFamily="34" charset="0"/>
                  <a:buChar char="•"/>
                </a:pPr>
                <a14:m>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𝑑</m:t>
                        </m:r>
                      </m:e>
                      <m:sub>
                        <m:r>
                          <a:rPr lang="en-US" sz="1600" i="1">
                            <a:latin typeface="Cambria Math" panose="02040503050406030204" pitchFamily="18" charset="0"/>
                          </a:rPr>
                          <m:t>𝑖𝑗</m:t>
                        </m:r>
                      </m:sub>
                    </m:sSub>
                    <m:r>
                      <a:rPr lang="en-US" sz="1600" b="0" i="1" smtClean="0">
                        <a:latin typeface="Cambria Math" panose="02040503050406030204" pitchFamily="18" charset="0"/>
                      </a:rPr>
                      <m:t> </m:t>
                    </m:r>
                  </m:oMath>
                </a14:m>
                <a:r>
                  <a:rPr lang="en-US" sz="1600" dirty="0"/>
                  <a:t>is the Euclidean distance between actors </a:t>
                </a:r>
                <a14:m>
                  <m:oMath xmlns:m="http://schemas.openxmlformats.org/officeDocument/2006/math">
                    <m:r>
                      <a:rPr lang="en-US" sz="1600" i="1">
                        <a:latin typeface="Cambria Math" panose="02040503050406030204" pitchFamily="18" charset="0"/>
                      </a:rPr>
                      <m:t>𝑖</m:t>
                    </m:r>
                  </m:oMath>
                </a14:m>
                <a:r>
                  <a:rPr lang="en-US" sz="1600" dirty="0"/>
                  <a:t> and </a:t>
                </a:r>
                <a14:m>
                  <m:oMath xmlns:m="http://schemas.openxmlformats.org/officeDocument/2006/math">
                    <m:r>
                      <a:rPr lang="en-US" sz="1600" i="1">
                        <a:latin typeface="Cambria Math" panose="02040503050406030204" pitchFamily="18" charset="0"/>
                        <a:ea typeface="Cambria Math" panose="02040503050406030204" pitchFamily="18" charset="0"/>
                      </a:rPr>
                      <m:t>𝑗</m:t>
                    </m:r>
                  </m:oMath>
                </a14:m>
                <a:r>
                  <a:rPr lang="en-US" sz="1600" dirty="0"/>
                  <a:t> and the </a:t>
                </a:r>
                <a14:m>
                  <m:oMath xmlns:m="http://schemas.openxmlformats.org/officeDocument/2006/math">
                    <m:r>
                      <a:rPr lang="en-US" sz="1600" i="1">
                        <a:latin typeface="Cambria Math" panose="02040503050406030204" pitchFamily="18" charset="0"/>
                      </a:rPr>
                      <m:t>𝑥</m:t>
                    </m:r>
                  </m:oMath>
                </a14:m>
                <a:r>
                  <a:rPr lang="en-US" sz="1600" dirty="0"/>
                  <a:t>’s are the values in the sociomatrix</a:t>
                </a:r>
                <a:r>
                  <a:rPr lang="en-US" dirty="0"/>
                  <a:t> </a:t>
                </a:r>
              </a:p>
              <a:p>
                <a:pPr marL="285750" indent="-285750">
                  <a:buFont typeface="Arial" panose="020B0604020202020204" pitchFamily="34" charset="0"/>
                  <a:buChar char="•"/>
                </a:pPr>
                <a:r>
                  <a:rPr lang="en-US" sz="1600" dirty="0"/>
                  <a:t>If the distance is 0, the actors are perfectly structurally equivalent. </a:t>
                </a:r>
                <a:r>
                  <a:rPr lang="en-US" dirty="0"/>
                  <a:t>   </a:t>
                </a:r>
              </a:p>
            </p:txBody>
          </p:sp>
        </mc:Choice>
        <mc:Fallback xmlns="">
          <p:sp>
            <p:nvSpPr>
              <p:cNvPr id="8" name="직사각형 7">
                <a:extLst>
                  <a:ext uri="{FF2B5EF4-FFF2-40B4-BE49-F238E27FC236}">
                    <a16:creationId xmlns:a16="http://schemas.microsoft.com/office/drawing/2014/main" id="{19525724-4EB8-4B35-B812-253D59D8433B}"/>
                  </a:ext>
                </a:extLst>
              </p:cNvPr>
              <p:cNvSpPr>
                <a:spLocks noRot="1" noChangeAspect="1" noMove="1" noResize="1" noEditPoints="1" noAdjustHandles="1" noChangeArrowheads="1" noChangeShapeType="1" noTextEdit="1"/>
              </p:cNvSpPr>
              <p:nvPr/>
            </p:nvSpPr>
            <p:spPr>
              <a:xfrm>
                <a:off x="761739" y="5455020"/>
                <a:ext cx="8523295" cy="646331"/>
              </a:xfrm>
              <a:prstGeom prst="rect">
                <a:avLst/>
              </a:prstGeom>
              <a:blipFill>
                <a:blip r:embed="rId3"/>
                <a:stretch>
                  <a:fillRect l="-286" b="-10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직사각형 10">
                <a:extLst>
                  <a:ext uri="{FF2B5EF4-FFF2-40B4-BE49-F238E27FC236}">
                    <a16:creationId xmlns:a16="http://schemas.microsoft.com/office/drawing/2014/main" id="{4B82320D-60D4-41D9-B105-966BFA6C3EB4}"/>
                  </a:ext>
                </a:extLst>
              </p:cNvPr>
              <p:cNvSpPr/>
              <p:nvPr/>
            </p:nvSpPr>
            <p:spPr>
              <a:xfrm>
                <a:off x="565212" y="3792840"/>
                <a:ext cx="5329641" cy="105028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b="0" i="1" smtClean="0">
                              <a:latin typeface="Cambria Math" panose="02040503050406030204" pitchFamily="18" charset="0"/>
                            </a:rPr>
                            <m:t>𝑑</m:t>
                          </m:r>
                        </m:e>
                        <m:sub>
                          <m:r>
                            <a:rPr lang="en-US" sz="1600" b="0" i="1" smtClean="0">
                              <a:latin typeface="Cambria Math" panose="02040503050406030204" pitchFamily="18" charset="0"/>
                            </a:rPr>
                            <m:t>𝑖𝑗</m:t>
                          </m:r>
                        </m:sub>
                      </m:sSub>
                      <m:r>
                        <a:rPr lang="en-US" sz="1600" b="0" i="0"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nary>
                            <m:naryPr>
                              <m:chr m:val="∑"/>
                              <m:ctrlPr>
                                <a:rPr lang="en-US" sz="1600" b="0" i="1" smtClean="0">
                                  <a:latin typeface="Cambria Math" panose="02040503050406030204" pitchFamily="18" charset="0"/>
                                </a:rPr>
                              </m:ctrlPr>
                            </m:naryPr>
                            <m:sub>
                              <m:r>
                                <m:rPr>
                                  <m:brk m:alnAt="23"/>
                                </m:rPr>
                                <a:rPr lang="en-US" sz="1600" b="0" i="1" smtClean="0">
                                  <a:latin typeface="Cambria Math" panose="02040503050406030204" pitchFamily="18" charset="0"/>
                                </a:rPr>
                                <m:t>𝑘</m:t>
                              </m:r>
                              <m:r>
                                <a:rPr lang="en-US" sz="1600" b="0" i="1" smtClean="0">
                                  <a:latin typeface="Cambria Math" panose="02040503050406030204" pitchFamily="18" charset="0"/>
                                </a:rPr>
                                <m:t>=1</m:t>
                              </m:r>
                            </m:sub>
                            <m:sup>
                              <m:r>
                                <a:rPr lang="en-US" sz="1600" b="0" i="1" smtClean="0">
                                  <a:latin typeface="Cambria Math" panose="02040503050406030204" pitchFamily="18" charset="0"/>
                                </a:rPr>
                                <m:t>𝑔</m:t>
                              </m:r>
                            </m:sup>
                            <m:e>
                              <m:sSup>
                                <m:sSupPr>
                                  <m:ctrlPr>
                                    <a:rPr lang="en-US" sz="1600" b="0" i="1" smtClean="0">
                                      <a:latin typeface="Cambria Math" panose="02040503050406030204" pitchFamily="18" charset="0"/>
                                    </a:rPr>
                                  </m:ctrlPr>
                                </m:sSupPr>
                                <m:e>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𝑥</m:t>
                                          </m:r>
                                        </m:e>
                                        <m:sub>
                                          <m:r>
                                            <a:rPr lang="en-US" sz="1600" b="0" i="1" smtClean="0">
                                              <a:latin typeface="Cambria Math" panose="02040503050406030204" pitchFamily="18" charset="0"/>
                                            </a:rPr>
                                            <m:t>𝑖𝑘</m:t>
                                          </m:r>
                                        </m:sub>
                                      </m:sSub>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b="0" i="1" smtClean="0">
                                              <a:latin typeface="Cambria Math" panose="02040503050406030204" pitchFamily="18" charset="0"/>
                                            </a:rPr>
                                            <m:t>𝑗</m:t>
                                          </m:r>
                                          <m:r>
                                            <a:rPr lang="en-US" sz="1600" i="1">
                                              <a:latin typeface="Cambria Math" panose="02040503050406030204" pitchFamily="18" charset="0"/>
                                            </a:rPr>
                                            <m:t>𝑘</m:t>
                                          </m:r>
                                        </m:sub>
                                      </m:sSub>
                                    </m:e>
                                  </m:d>
                                </m:e>
                                <m:sup>
                                  <m:r>
                                    <a:rPr lang="en-US" sz="1600" b="0" i="1" smtClean="0">
                                      <a:latin typeface="Cambria Math" panose="02040503050406030204" pitchFamily="18" charset="0"/>
                                    </a:rPr>
                                    <m:t>2</m:t>
                                  </m:r>
                                </m:sup>
                              </m:sSup>
                            </m:e>
                          </m:nary>
                          <m:r>
                            <a:rPr lang="en-US" sz="1600" b="0" i="1" smtClean="0">
                              <a:latin typeface="Cambria Math" panose="02040503050406030204" pitchFamily="18" charset="0"/>
                            </a:rPr>
                            <m:t> </m:t>
                          </m:r>
                        </m:e>
                      </m:rad>
                      <m:r>
                        <a:rPr lang="en-US" sz="1600" b="0" i="1" smtClean="0">
                          <a:latin typeface="Cambria Math" panose="02040503050406030204" pitchFamily="18" charset="0"/>
                        </a:rPr>
                        <m:t>      (</m:t>
                      </m:r>
                      <m:r>
                        <a:rPr lang="en-US" sz="1600" b="0" i="1" smtClean="0">
                          <a:latin typeface="Cambria Math" panose="02040503050406030204" pitchFamily="18" charset="0"/>
                        </a:rPr>
                        <m:t>𝑖</m:t>
                      </m:r>
                      <m:r>
                        <a:rPr lang="en-US" sz="1600" b="0" i="1" smtClean="0">
                          <a:latin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𝑗</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𝑘</m:t>
                      </m:r>
                      <m:r>
                        <a:rPr lang="en-US" sz="1600" b="0" i="1" smtClean="0">
                          <a:latin typeface="Cambria Math" panose="02040503050406030204" pitchFamily="18" charset="0"/>
                          <a:ea typeface="Cambria Math" panose="02040503050406030204" pitchFamily="18" charset="0"/>
                        </a:rPr>
                        <m:t>)</m:t>
                      </m:r>
                    </m:oMath>
                  </m:oMathPara>
                </a14:m>
                <a:endParaRPr lang="en-US" sz="1600" dirty="0">
                  <a:latin typeface="Franklin Gothic Book" panose="020B0503020102020204" pitchFamily="34" charset="0"/>
                </a:endParaRPr>
              </a:p>
            </p:txBody>
          </p:sp>
        </mc:Choice>
        <mc:Fallback xmlns="">
          <p:sp>
            <p:nvSpPr>
              <p:cNvPr id="11" name="직사각형 10">
                <a:extLst>
                  <a:ext uri="{FF2B5EF4-FFF2-40B4-BE49-F238E27FC236}">
                    <a16:creationId xmlns:a16="http://schemas.microsoft.com/office/drawing/2014/main" id="{4B82320D-60D4-41D9-B105-966BFA6C3EB4}"/>
                  </a:ext>
                </a:extLst>
              </p:cNvPr>
              <p:cNvSpPr>
                <a:spLocks noRot="1" noChangeAspect="1" noMove="1" noResize="1" noEditPoints="1" noAdjustHandles="1" noChangeArrowheads="1" noChangeShapeType="1" noTextEdit="1"/>
              </p:cNvSpPr>
              <p:nvPr/>
            </p:nvSpPr>
            <p:spPr>
              <a:xfrm>
                <a:off x="565212" y="3792840"/>
                <a:ext cx="5329641" cy="1050288"/>
              </a:xfrm>
              <a:prstGeom prst="rect">
                <a:avLst/>
              </a:prstGeom>
              <a:blipFill>
                <a:blip r:embed="rId4"/>
                <a:stretch>
                  <a:fillRect/>
                </a:stretch>
              </a:blipFill>
            </p:spPr>
            <p:txBody>
              <a:bodyPr/>
              <a:lstStyle/>
              <a:p>
                <a:r>
                  <a:rPr lang="en-US">
                    <a:noFill/>
                  </a:rPr>
                  <a:t> </a:t>
                </a:r>
              </a:p>
            </p:txBody>
          </p:sp>
        </mc:Fallback>
      </mc:AlternateContent>
      <p:sp>
        <p:nvSpPr>
          <p:cNvPr id="12" name="직사각형 11">
            <a:extLst>
              <a:ext uri="{FF2B5EF4-FFF2-40B4-BE49-F238E27FC236}">
                <a16:creationId xmlns:a16="http://schemas.microsoft.com/office/drawing/2014/main" id="{D5B73607-7712-4353-811D-52276E52AA90}"/>
              </a:ext>
            </a:extLst>
          </p:cNvPr>
          <p:cNvSpPr/>
          <p:nvPr/>
        </p:nvSpPr>
        <p:spPr>
          <a:xfrm>
            <a:off x="2685588" y="4857466"/>
            <a:ext cx="1088888" cy="307777"/>
          </a:xfrm>
          <a:prstGeom prst="rect">
            <a:avLst/>
          </a:prstGeom>
        </p:spPr>
        <p:txBody>
          <a:bodyPr wrap="none">
            <a:spAutoFit/>
          </a:bodyPr>
          <a:lstStyle/>
          <a:p>
            <a:r>
              <a:rPr lang="en-US" sz="1400" b="1" dirty="0">
                <a:latin typeface="Franklin Gothic Book" panose="020B0503020102020204" pitchFamily="34" charset="0"/>
              </a:rPr>
              <a:t>nondirected</a:t>
            </a:r>
            <a:endParaRPr lang="en-US" sz="1400" dirty="0"/>
          </a:p>
        </p:txBody>
      </p:sp>
      <p:sp>
        <p:nvSpPr>
          <p:cNvPr id="13" name="직사각형 12">
            <a:extLst>
              <a:ext uri="{FF2B5EF4-FFF2-40B4-BE49-F238E27FC236}">
                <a16:creationId xmlns:a16="http://schemas.microsoft.com/office/drawing/2014/main" id="{EFA21E70-D154-47BE-B144-8174A8319D54}"/>
              </a:ext>
            </a:extLst>
          </p:cNvPr>
          <p:cNvSpPr/>
          <p:nvPr/>
        </p:nvSpPr>
        <p:spPr>
          <a:xfrm>
            <a:off x="7873082" y="4857466"/>
            <a:ext cx="821187" cy="307777"/>
          </a:xfrm>
          <a:prstGeom prst="rect">
            <a:avLst/>
          </a:prstGeom>
        </p:spPr>
        <p:txBody>
          <a:bodyPr wrap="none">
            <a:spAutoFit/>
          </a:bodyPr>
          <a:lstStyle/>
          <a:p>
            <a:r>
              <a:rPr lang="en-US" sz="1400" b="1" dirty="0">
                <a:latin typeface="Franklin Gothic Book" panose="020B0503020102020204" pitchFamily="34" charset="0"/>
              </a:rPr>
              <a:t>Directed</a:t>
            </a:r>
            <a:endParaRPr lang="en-US" sz="1400" dirty="0"/>
          </a:p>
        </p:txBody>
      </p:sp>
    </p:spTree>
    <p:extLst>
      <p:ext uri="{BB962C8B-B14F-4D97-AF65-F5344CB8AC3E}">
        <p14:creationId xmlns:p14="http://schemas.microsoft.com/office/powerpoint/2010/main" val="3561943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9726227" cy="1325563"/>
          </a:xfrm>
        </p:spPr>
        <p:txBody>
          <a:bodyPr/>
          <a:lstStyle/>
          <a:p>
            <a:r>
              <a:rPr lang="en-US" dirty="0">
                <a:latin typeface="Franklin Gothic Book" panose="020B0503020102020204" pitchFamily="34" charset="0"/>
              </a:rPr>
              <a:t>6. Visual Displays &amp; Block models</a:t>
            </a:r>
            <a:endParaRPr lang="en-US" sz="3200" b="1" dirty="0">
              <a:latin typeface="Franklin Gothic Book" panose="020B0503020102020204" pitchFamily="34" charset="0"/>
            </a:endParaRPr>
          </a:p>
        </p:txBody>
      </p:sp>
      <p:sp>
        <p:nvSpPr>
          <p:cNvPr id="3" name="직사각형 2">
            <a:extLst>
              <a:ext uri="{FF2B5EF4-FFF2-40B4-BE49-F238E27FC236}">
                <a16:creationId xmlns:a16="http://schemas.microsoft.com/office/drawing/2014/main" id="{41C2ADCA-3C0A-4586-BD67-6C749FDF84E4}"/>
              </a:ext>
            </a:extLst>
          </p:cNvPr>
          <p:cNvSpPr/>
          <p:nvPr/>
        </p:nvSpPr>
        <p:spPr>
          <a:xfrm>
            <a:off x="494110" y="1995381"/>
            <a:ext cx="5021696" cy="369332"/>
          </a:xfrm>
          <a:prstGeom prst="rect">
            <a:avLst/>
          </a:prstGeom>
        </p:spPr>
        <p:txBody>
          <a:bodyPr wrap="none">
            <a:spAutoFit/>
          </a:bodyPr>
          <a:lstStyle/>
          <a:p>
            <a:r>
              <a:rPr lang="en-US" b="1" dirty="0">
                <a:latin typeface="Franklin Gothic Book" panose="020B0503020102020204" pitchFamily="34" charset="0"/>
              </a:rPr>
              <a:t>Clustering </a:t>
            </a:r>
            <a:r>
              <a:rPr lang="en-US" sz="1600" i="1" dirty="0">
                <a:latin typeface="Franklin Gothic Book" panose="020B0503020102020204" pitchFamily="34" charset="0"/>
              </a:rPr>
              <a:t>(Hierarchical agglomerative cluster analysis)</a:t>
            </a:r>
            <a:endParaRPr lang="en-US" b="1" i="1" dirty="0"/>
          </a:p>
        </p:txBody>
      </p:sp>
      <p:sp>
        <p:nvSpPr>
          <p:cNvPr id="15" name="직사각형 14">
            <a:extLst>
              <a:ext uri="{FF2B5EF4-FFF2-40B4-BE49-F238E27FC236}">
                <a16:creationId xmlns:a16="http://schemas.microsoft.com/office/drawing/2014/main" id="{97F07270-E669-4473-B4D4-AB91D11E0E09}"/>
              </a:ext>
            </a:extLst>
          </p:cNvPr>
          <p:cNvSpPr/>
          <p:nvPr/>
        </p:nvSpPr>
        <p:spPr>
          <a:xfrm>
            <a:off x="141378" y="1077594"/>
            <a:ext cx="7820127" cy="584775"/>
          </a:xfrm>
          <a:prstGeom prst="rect">
            <a:avLst/>
          </a:prstGeom>
        </p:spPr>
        <p:txBody>
          <a:bodyPr wrap="square">
            <a:spAutoFit/>
          </a:bodyPr>
          <a:lstStyle/>
          <a:p>
            <a:r>
              <a:rPr lang="en-US" sz="1600" dirty="0">
                <a:latin typeface="Franklin Gothic Book" panose="020B0503020102020204" pitchFamily="34" charset="0"/>
              </a:rPr>
              <a:t>The visualized graph can provide structural insights and enables communication of these insights with others. The fundamental tools of visualizing relations in network follows:</a:t>
            </a:r>
            <a:endParaRPr lang="en-US" sz="1600" dirty="0"/>
          </a:p>
        </p:txBody>
      </p:sp>
      <p:sp>
        <p:nvSpPr>
          <p:cNvPr id="16" name="직사각형 15">
            <a:extLst>
              <a:ext uri="{FF2B5EF4-FFF2-40B4-BE49-F238E27FC236}">
                <a16:creationId xmlns:a16="http://schemas.microsoft.com/office/drawing/2014/main" id="{F5355022-D6E6-4335-8EFE-F8BEDCD9BCFC}"/>
              </a:ext>
            </a:extLst>
          </p:cNvPr>
          <p:cNvSpPr/>
          <p:nvPr/>
        </p:nvSpPr>
        <p:spPr>
          <a:xfrm>
            <a:off x="652693" y="2465489"/>
            <a:ext cx="5443308" cy="1569660"/>
          </a:xfrm>
          <a:prstGeom prst="rect">
            <a:avLst/>
          </a:prstGeom>
        </p:spPr>
        <p:txBody>
          <a:bodyPr wrap="square">
            <a:spAutoFit/>
          </a:bodyPr>
          <a:lstStyle/>
          <a:p>
            <a:r>
              <a:rPr lang="en-US" sz="1600" dirty="0">
                <a:latin typeface="Franklin Gothic Book" panose="020B0503020102020204" pitchFamily="34" charset="0"/>
              </a:rPr>
              <a:t>Cluster analysis partitions actors into subgroups whose members are perfectly or approximately structurally equivalent. Each actor is treated as a singleton cluster, and then they are successively joined until all actors merge into a single remaining cluster. This sequence is called tree diagram or dendrogram.</a:t>
            </a:r>
            <a:endParaRPr lang="en-US" sz="1600" dirty="0"/>
          </a:p>
        </p:txBody>
      </p:sp>
      <p:grpSp>
        <p:nvGrpSpPr>
          <p:cNvPr id="1042" name="그룹 1041">
            <a:extLst>
              <a:ext uri="{FF2B5EF4-FFF2-40B4-BE49-F238E27FC236}">
                <a16:creationId xmlns:a16="http://schemas.microsoft.com/office/drawing/2014/main" id="{B44948F5-20EF-49DF-BAD6-1717BC8BA6B8}"/>
              </a:ext>
            </a:extLst>
          </p:cNvPr>
          <p:cNvGrpSpPr/>
          <p:nvPr/>
        </p:nvGrpSpPr>
        <p:grpSpPr>
          <a:xfrm>
            <a:off x="6937782" y="1759887"/>
            <a:ext cx="3626645" cy="3784481"/>
            <a:chOff x="8178934" y="1825182"/>
            <a:chExt cx="3610612" cy="3767750"/>
          </a:xfrm>
        </p:grpSpPr>
        <p:grpSp>
          <p:nvGrpSpPr>
            <p:cNvPr id="1039" name="그룹 1038">
              <a:extLst>
                <a:ext uri="{FF2B5EF4-FFF2-40B4-BE49-F238E27FC236}">
                  <a16:creationId xmlns:a16="http://schemas.microsoft.com/office/drawing/2014/main" id="{7C6A1489-DCD9-4602-9958-6C0B64CF8710}"/>
                </a:ext>
              </a:extLst>
            </p:cNvPr>
            <p:cNvGrpSpPr/>
            <p:nvPr/>
          </p:nvGrpSpPr>
          <p:grpSpPr>
            <a:xfrm>
              <a:off x="8178934" y="1825182"/>
              <a:ext cx="3610612" cy="3440970"/>
              <a:chOff x="8178934" y="1825182"/>
              <a:chExt cx="3610612" cy="3440970"/>
            </a:xfrm>
          </p:grpSpPr>
          <p:sp>
            <p:nvSpPr>
              <p:cNvPr id="4" name="직사각형 3">
                <a:extLst>
                  <a:ext uri="{FF2B5EF4-FFF2-40B4-BE49-F238E27FC236}">
                    <a16:creationId xmlns:a16="http://schemas.microsoft.com/office/drawing/2014/main" id="{7F667DBB-4EF6-44A1-83C8-C25399DC0AEC}"/>
                  </a:ext>
                </a:extLst>
              </p:cNvPr>
              <p:cNvSpPr/>
              <p:nvPr/>
            </p:nvSpPr>
            <p:spPr>
              <a:xfrm>
                <a:off x="8178934" y="2279542"/>
                <a:ext cx="280846" cy="307777"/>
              </a:xfrm>
              <a:prstGeom prst="rect">
                <a:avLst/>
              </a:prstGeom>
            </p:spPr>
            <p:txBody>
              <a:bodyPr wrap="none">
                <a:spAutoFit/>
              </a:bodyPr>
              <a:lstStyle/>
              <a:p>
                <a:r>
                  <a:rPr lang="en-US" sz="1400" b="1" dirty="0">
                    <a:latin typeface="Franklin Gothic Book" panose="020B0503020102020204" pitchFamily="34" charset="0"/>
                  </a:rPr>
                  <a:t>A</a:t>
                </a:r>
                <a:endParaRPr lang="en-US" sz="1400" dirty="0"/>
              </a:p>
            </p:txBody>
          </p:sp>
          <p:sp>
            <p:nvSpPr>
              <p:cNvPr id="10" name="직사각형 9">
                <a:extLst>
                  <a:ext uri="{FF2B5EF4-FFF2-40B4-BE49-F238E27FC236}">
                    <a16:creationId xmlns:a16="http://schemas.microsoft.com/office/drawing/2014/main" id="{A036FFEB-3CCF-4135-B114-69E4C4EA7786}"/>
                  </a:ext>
                </a:extLst>
              </p:cNvPr>
              <p:cNvSpPr/>
              <p:nvPr/>
            </p:nvSpPr>
            <p:spPr>
              <a:xfrm>
                <a:off x="8178934" y="2773162"/>
                <a:ext cx="279244" cy="307777"/>
              </a:xfrm>
              <a:prstGeom prst="rect">
                <a:avLst/>
              </a:prstGeom>
            </p:spPr>
            <p:txBody>
              <a:bodyPr wrap="none">
                <a:spAutoFit/>
              </a:bodyPr>
              <a:lstStyle/>
              <a:p>
                <a:r>
                  <a:rPr lang="en-US" sz="1400" b="1" dirty="0"/>
                  <a:t>C</a:t>
                </a:r>
              </a:p>
            </p:txBody>
          </p:sp>
          <p:sp>
            <p:nvSpPr>
              <p:cNvPr id="11" name="직사각형 10">
                <a:extLst>
                  <a:ext uri="{FF2B5EF4-FFF2-40B4-BE49-F238E27FC236}">
                    <a16:creationId xmlns:a16="http://schemas.microsoft.com/office/drawing/2014/main" id="{E82FC425-A686-4F3A-BFAD-A6E290B63A4E}"/>
                  </a:ext>
                </a:extLst>
              </p:cNvPr>
              <p:cNvSpPr/>
              <p:nvPr/>
            </p:nvSpPr>
            <p:spPr>
              <a:xfrm>
                <a:off x="8178934" y="3429000"/>
                <a:ext cx="308098" cy="307777"/>
              </a:xfrm>
              <a:prstGeom prst="rect">
                <a:avLst/>
              </a:prstGeom>
            </p:spPr>
            <p:txBody>
              <a:bodyPr wrap="square">
                <a:spAutoFit/>
              </a:bodyPr>
              <a:lstStyle/>
              <a:p>
                <a:r>
                  <a:rPr lang="en-US" sz="1400" b="1" dirty="0">
                    <a:latin typeface="Franklin Gothic Book" panose="020B0503020102020204" pitchFamily="34" charset="0"/>
                  </a:rPr>
                  <a:t>B</a:t>
                </a:r>
                <a:endParaRPr lang="en-US" sz="1400" dirty="0"/>
              </a:p>
            </p:txBody>
          </p:sp>
          <p:sp>
            <p:nvSpPr>
              <p:cNvPr id="12" name="직사각형 11">
                <a:extLst>
                  <a:ext uri="{FF2B5EF4-FFF2-40B4-BE49-F238E27FC236}">
                    <a16:creationId xmlns:a16="http://schemas.microsoft.com/office/drawing/2014/main" id="{2DA8FC69-33E8-45A4-B791-24E8AE5118D8}"/>
                  </a:ext>
                </a:extLst>
              </p:cNvPr>
              <p:cNvSpPr/>
              <p:nvPr/>
            </p:nvSpPr>
            <p:spPr>
              <a:xfrm>
                <a:off x="8178934" y="3942712"/>
                <a:ext cx="308098" cy="307777"/>
              </a:xfrm>
              <a:prstGeom prst="rect">
                <a:avLst/>
              </a:prstGeom>
            </p:spPr>
            <p:txBody>
              <a:bodyPr wrap="square">
                <a:spAutoFit/>
              </a:bodyPr>
              <a:lstStyle/>
              <a:p>
                <a:r>
                  <a:rPr lang="en-US" sz="1400" b="1" dirty="0">
                    <a:latin typeface="Franklin Gothic Book" panose="020B0503020102020204" pitchFamily="34" charset="0"/>
                  </a:rPr>
                  <a:t>E</a:t>
                </a:r>
                <a:endParaRPr lang="en-US" sz="1400" dirty="0"/>
              </a:p>
            </p:txBody>
          </p:sp>
          <p:sp>
            <p:nvSpPr>
              <p:cNvPr id="13" name="직사각형 12">
                <a:extLst>
                  <a:ext uri="{FF2B5EF4-FFF2-40B4-BE49-F238E27FC236}">
                    <a16:creationId xmlns:a16="http://schemas.microsoft.com/office/drawing/2014/main" id="{349F4740-328A-4458-924B-D41DBBF7579F}"/>
                  </a:ext>
                </a:extLst>
              </p:cNvPr>
              <p:cNvSpPr/>
              <p:nvPr/>
            </p:nvSpPr>
            <p:spPr>
              <a:xfrm>
                <a:off x="8178934" y="4456424"/>
                <a:ext cx="308098" cy="307777"/>
              </a:xfrm>
              <a:prstGeom prst="rect">
                <a:avLst/>
              </a:prstGeom>
            </p:spPr>
            <p:txBody>
              <a:bodyPr wrap="square">
                <a:spAutoFit/>
              </a:bodyPr>
              <a:lstStyle/>
              <a:p>
                <a:r>
                  <a:rPr lang="en-US" sz="1400" b="1" dirty="0">
                    <a:latin typeface="Franklin Gothic Book" panose="020B0503020102020204" pitchFamily="34" charset="0"/>
                  </a:rPr>
                  <a:t>D</a:t>
                </a:r>
                <a:endParaRPr lang="en-US" sz="1400" dirty="0"/>
              </a:p>
            </p:txBody>
          </p:sp>
          <p:sp>
            <p:nvSpPr>
              <p:cNvPr id="17" name="직사각형 16">
                <a:extLst>
                  <a:ext uri="{FF2B5EF4-FFF2-40B4-BE49-F238E27FC236}">
                    <a16:creationId xmlns:a16="http://schemas.microsoft.com/office/drawing/2014/main" id="{1D1F08A9-16F6-4EDB-9220-AD9C8C8269D9}"/>
                  </a:ext>
                </a:extLst>
              </p:cNvPr>
              <p:cNvSpPr/>
              <p:nvPr/>
            </p:nvSpPr>
            <p:spPr>
              <a:xfrm>
                <a:off x="8178934" y="4958375"/>
                <a:ext cx="308098" cy="307777"/>
              </a:xfrm>
              <a:prstGeom prst="rect">
                <a:avLst/>
              </a:prstGeom>
            </p:spPr>
            <p:txBody>
              <a:bodyPr wrap="square">
                <a:spAutoFit/>
              </a:bodyPr>
              <a:lstStyle/>
              <a:p>
                <a:r>
                  <a:rPr lang="en-US" sz="1400" b="1" dirty="0">
                    <a:latin typeface="Franklin Gothic Book" panose="020B0503020102020204" pitchFamily="34" charset="0"/>
                  </a:rPr>
                  <a:t>F</a:t>
                </a:r>
                <a:endParaRPr lang="en-US" sz="1400" dirty="0"/>
              </a:p>
            </p:txBody>
          </p:sp>
          <p:sp>
            <p:nvSpPr>
              <p:cNvPr id="18" name="직사각형 17">
                <a:extLst>
                  <a:ext uri="{FF2B5EF4-FFF2-40B4-BE49-F238E27FC236}">
                    <a16:creationId xmlns:a16="http://schemas.microsoft.com/office/drawing/2014/main" id="{A7854EEB-F830-4E2B-9BAB-E8328D3E854D}"/>
                  </a:ext>
                </a:extLst>
              </p:cNvPr>
              <p:cNvSpPr/>
              <p:nvPr/>
            </p:nvSpPr>
            <p:spPr>
              <a:xfrm>
                <a:off x="8924659" y="1825182"/>
                <a:ext cx="546945" cy="307777"/>
              </a:xfrm>
              <a:prstGeom prst="rect">
                <a:avLst/>
              </a:prstGeom>
            </p:spPr>
            <p:txBody>
              <a:bodyPr wrap="none">
                <a:spAutoFit/>
              </a:bodyPr>
              <a:lstStyle/>
              <a:p>
                <a:r>
                  <a:rPr lang="en-US" sz="1400" b="1" dirty="0">
                    <a:latin typeface="Franklin Gothic Book" panose="020B0503020102020204" pitchFamily="34" charset="0"/>
                  </a:rPr>
                  <a:t>0.00</a:t>
                </a:r>
                <a:endParaRPr lang="en-US" sz="1400" dirty="0"/>
              </a:p>
            </p:txBody>
          </p:sp>
          <p:sp>
            <p:nvSpPr>
              <p:cNvPr id="19" name="직사각형 18">
                <a:extLst>
                  <a:ext uri="{FF2B5EF4-FFF2-40B4-BE49-F238E27FC236}">
                    <a16:creationId xmlns:a16="http://schemas.microsoft.com/office/drawing/2014/main" id="{1E99ADD0-005D-4ABE-8A9F-33B4E625274E}"/>
                  </a:ext>
                </a:extLst>
              </p:cNvPr>
              <p:cNvSpPr/>
              <p:nvPr/>
            </p:nvSpPr>
            <p:spPr>
              <a:xfrm>
                <a:off x="9780655" y="1825182"/>
                <a:ext cx="545727" cy="307777"/>
              </a:xfrm>
              <a:prstGeom prst="rect">
                <a:avLst/>
              </a:prstGeom>
            </p:spPr>
            <p:txBody>
              <a:bodyPr wrap="none">
                <a:spAutoFit/>
              </a:bodyPr>
              <a:lstStyle/>
              <a:p>
                <a:r>
                  <a:rPr lang="en-US" sz="1400" b="1" dirty="0">
                    <a:latin typeface="Franklin Gothic Book" panose="020B0503020102020204" pitchFamily="34" charset="0"/>
                  </a:rPr>
                  <a:t>1.00</a:t>
                </a:r>
                <a:endParaRPr lang="en-US" sz="1400" dirty="0"/>
              </a:p>
            </p:txBody>
          </p:sp>
          <p:sp>
            <p:nvSpPr>
              <p:cNvPr id="20" name="직사각형 19">
                <a:extLst>
                  <a:ext uri="{FF2B5EF4-FFF2-40B4-BE49-F238E27FC236}">
                    <a16:creationId xmlns:a16="http://schemas.microsoft.com/office/drawing/2014/main" id="{AF9CD19D-D6A6-4971-BCEC-AEEE17AFC862}"/>
                  </a:ext>
                </a:extLst>
              </p:cNvPr>
              <p:cNvSpPr/>
              <p:nvPr/>
            </p:nvSpPr>
            <p:spPr>
              <a:xfrm>
                <a:off x="10414504" y="1825182"/>
                <a:ext cx="545727" cy="307777"/>
              </a:xfrm>
              <a:prstGeom prst="rect">
                <a:avLst/>
              </a:prstGeom>
            </p:spPr>
            <p:txBody>
              <a:bodyPr wrap="none">
                <a:spAutoFit/>
              </a:bodyPr>
              <a:lstStyle/>
              <a:p>
                <a:r>
                  <a:rPr lang="en-US" sz="1400" b="1" dirty="0">
                    <a:latin typeface="Franklin Gothic Book" panose="020B0503020102020204" pitchFamily="34" charset="0"/>
                  </a:rPr>
                  <a:t>1.73</a:t>
                </a:r>
                <a:endParaRPr lang="en-US" sz="1400" dirty="0"/>
              </a:p>
            </p:txBody>
          </p:sp>
          <p:sp>
            <p:nvSpPr>
              <p:cNvPr id="21" name="직사각형 20">
                <a:extLst>
                  <a:ext uri="{FF2B5EF4-FFF2-40B4-BE49-F238E27FC236}">
                    <a16:creationId xmlns:a16="http://schemas.microsoft.com/office/drawing/2014/main" id="{E482339C-6001-4030-B9DC-473E220ECA67}"/>
                  </a:ext>
                </a:extLst>
              </p:cNvPr>
              <p:cNvSpPr/>
              <p:nvPr/>
            </p:nvSpPr>
            <p:spPr>
              <a:xfrm>
                <a:off x="11048353" y="1825182"/>
                <a:ext cx="546945" cy="307777"/>
              </a:xfrm>
              <a:prstGeom prst="rect">
                <a:avLst/>
              </a:prstGeom>
            </p:spPr>
            <p:txBody>
              <a:bodyPr wrap="none">
                <a:spAutoFit/>
              </a:bodyPr>
              <a:lstStyle/>
              <a:p>
                <a:r>
                  <a:rPr lang="en-US" sz="1400" b="1" dirty="0">
                    <a:latin typeface="Franklin Gothic Book" panose="020B0503020102020204" pitchFamily="34" charset="0"/>
                  </a:rPr>
                  <a:t>2.00</a:t>
                </a:r>
                <a:endParaRPr lang="en-US" sz="1400" dirty="0"/>
              </a:p>
            </p:txBody>
          </p:sp>
          <p:cxnSp>
            <p:nvCxnSpPr>
              <p:cNvPr id="6" name="직선 연결선 5">
                <a:extLst>
                  <a:ext uri="{FF2B5EF4-FFF2-40B4-BE49-F238E27FC236}">
                    <a16:creationId xmlns:a16="http://schemas.microsoft.com/office/drawing/2014/main" id="{0CB8C639-4A59-4DE2-82EC-DF86D25CF381}"/>
                  </a:ext>
                </a:extLst>
              </p:cNvPr>
              <p:cNvCxnSpPr/>
              <p:nvPr/>
            </p:nvCxnSpPr>
            <p:spPr>
              <a:xfrm>
                <a:off x="8833282" y="2433430"/>
                <a:ext cx="12517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FBA4C507-1C86-4493-8ACB-DE8932924390}"/>
                  </a:ext>
                </a:extLst>
              </p:cNvPr>
              <p:cNvCxnSpPr/>
              <p:nvPr/>
            </p:nvCxnSpPr>
            <p:spPr>
              <a:xfrm>
                <a:off x="8833282" y="2927050"/>
                <a:ext cx="12517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직선 연결선 22">
                <a:extLst>
                  <a:ext uri="{FF2B5EF4-FFF2-40B4-BE49-F238E27FC236}">
                    <a16:creationId xmlns:a16="http://schemas.microsoft.com/office/drawing/2014/main" id="{7F9BB6A6-FCF5-4D35-AB77-2945C10AB548}"/>
                  </a:ext>
                </a:extLst>
              </p:cNvPr>
              <p:cNvCxnSpPr/>
              <p:nvPr/>
            </p:nvCxnSpPr>
            <p:spPr>
              <a:xfrm>
                <a:off x="8833282" y="4610312"/>
                <a:ext cx="125175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2021DF88-E228-432D-8C6C-A9187BCDFD58}"/>
                  </a:ext>
                </a:extLst>
              </p:cNvPr>
              <p:cNvCxnSpPr>
                <a:cxnSpLocks/>
              </p:cNvCxnSpPr>
              <p:nvPr/>
            </p:nvCxnSpPr>
            <p:spPr>
              <a:xfrm>
                <a:off x="8833282" y="5112263"/>
                <a:ext cx="248854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3BEBAA40-F5F8-4A41-BEFB-7E507EA0C613}"/>
                  </a:ext>
                </a:extLst>
              </p:cNvPr>
              <p:cNvCxnSpPr>
                <a:cxnSpLocks/>
              </p:cNvCxnSpPr>
              <p:nvPr/>
            </p:nvCxnSpPr>
            <p:spPr>
              <a:xfrm>
                <a:off x="11321825" y="3080938"/>
                <a:ext cx="0" cy="20313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직선 연결선 27">
                <a:extLst>
                  <a:ext uri="{FF2B5EF4-FFF2-40B4-BE49-F238E27FC236}">
                    <a16:creationId xmlns:a16="http://schemas.microsoft.com/office/drawing/2014/main" id="{DD1848AC-4423-4A01-8990-B9C60CA524E9}"/>
                  </a:ext>
                </a:extLst>
              </p:cNvPr>
              <p:cNvCxnSpPr>
                <a:cxnSpLocks/>
              </p:cNvCxnSpPr>
              <p:nvPr/>
            </p:nvCxnSpPr>
            <p:spPr>
              <a:xfrm>
                <a:off x="11321825" y="3909009"/>
                <a:ext cx="46772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C9A6E396-87FE-4421-88F1-40ADD7800D32}"/>
                  </a:ext>
                </a:extLst>
              </p:cNvPr>
              <p:cNvCxnSpPr>
                <a:cxnSpLocks/>
              </p:cNvCxnSpPr>
              <p:nvPr/>
            </p:nvCxnSpPr>
            <p:spPr>
              <a:xfrm>
                <a:off x="8851038" y="3582888"/>
                <a:ext cx="36484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직선 연결선 36">
                <a:extLst>
                  <a:ext uri="{FF2B5EF4-FFF2-40B4-BE49-F238E27FC236}">
                    <a16:creationId xmlns:a16="http://schemas.microsoft.com/office/drawing/2014/main" id="{EE488245-B4AB-4400-9DFF-04FB24F756BC}"/>
                  </a:ext>
                </a:extLst>
              </p:cNvPr>
              <p:cNvCxnSpPr>
                <a:cxnSpLocks/>
              </p:cNvCxnSpPr>
              <p:nvPr/>
            </p:nvCxnSpPr>
            <p:spPr>
              <a:xfrm>
                <a:off x="8851038" y="4096600"/>
                <a:ext cx="36484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직선 연결선 37">
                <a:extLst>
                  <a:ext uri="{FF2B5EF4-FFF2-40B4-BE49-F238E27FC236}">
                    <a16:creationId xmlns:a16="http://schemas.microsoft.com/office/drawing/2014/main" id="{C0359E60-DD19-4D75-A17F-93D8DE91F24C}"/>
                  </a:ext>
                </a:extLst>
              </p:cNvPr>
              <p:cNvCxnSpPr>
                <a:cxnSpLocks/>
              </p:cNvCxnSpPr>
              <p:nvPr/>
            </p:nvCxnSpPr>
            <p:spPr>
              <a:xfrm>
                <a:off x="9227559" y="3582888"/>
                <a:ext cx="0" cy="5137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직선 연결선 40">
                <a:extLst>
                  <a:ext uri="{FF2B5EF4-FFF2-40B4-BE49-F238E27FC236}">
                    <a16:creationId xmlns:a16="http://schemas.microsoft.com/office/drawing/2014/main" id="{E47A1098-6575-4A76-A374-E8C12E2F072F}"/>
                  </a:ext>
                </a:extLst>
              </p:cNvPr>
              <p:cNvCxnSpPr>
                <a:cxnSpLocks/>
              </p:cNvCxnSpPr>
              <p:nvPr/>
            </p:nvCxnSpPr>
            <p:spPr>
              <a:xfrm>
                <a:off x="10077553" y="3852942"/>
                <a:ext cx="0" cy="75737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70686560-7C75-451D-84E3-4D1954A03BE8}"/>
                  </a:ext>
                </a:extLst>
              </p:cNvPr>
              <p:cNvCxnSpPr>
                <a:cxnSpLocks/>
              </p:cNvCxnSpPr>
              <p:nvPr/>
            </p:nvCxnSpPr>
            <p:spPr>
              <a:xfrm>
                <a:off x="10077553" y="2413338"/>
                <a:ext cx="0" cy="5137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37864DFC-17A1-4613-B5D7-279D9CFC2F2A}"/>
                  </a:ext>
                </a:extLst>
              </p:cNvPr>
              <p:cNvCxnSpPr>
                <a:cxnSpLocks/>
              </p:cNvCxnSpPr>
              <p:nvPr/>
            </p:nvCxnSpPr>
            <p:spPr>
              <a:xfrm>
                <a:off x="9215887" y="3864654"/>
                <a:ext cx="86166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id="{712569A0-8A28-4E6D-8A77-9580BDDDB521}"/>
                  </a:ext>
                </a:extLst>
              </p:cNvPr>
              <p:cNvCxnSpPr>
                <a:cxnSpLocks/>
              </p:cNvCxnSpPr>
              <p:nvPr/>
            </p:nvCxnSpPr>
            <p:spPr>
              <a:xfrm>
                <a:off x="10700389" y="3080938"/>
                <a:ext cx="621436" cy="32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61F29C08-DF27-4171-930B-E0B5067D89C8}"/>
                  </a:ext>
                </a:extLst>
              </p:cNvPr>
              <p:cNvCxnSpPr>
                <a:cxnSpLocks/>
              </p:cNvCxnSpPr>
              <p:nvPr/>
            </p:nvCxnSpPr>
            <p:spPr>
              <a:xfrm>
                <a:off x="10077553" y="2658031"/>
                <a:ext cx="6228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직선 연결선 49">
                <a:extLst>
                  <a:ext uri="{FF2B5EF4-FFF2-40B4-BE49-F238E27FC236}">
                    <a16:creationId xmlns:a16="http://schemas.microsoft.com/office/drawing/2014/main" id="{1BF62535-B48C-4E98-AB6D-527CF1A60B71}"/>
                  </a:ext>
                </a:extLst>
              </p:cNvPr>
              <p:cNvCxnSpPr>
                <a:cxnSpLocks/>
              </p:cNvCxnSpPr>
              <p:nvPr/>
            </p:nvCxnSpPr>
            <p:spPr>
              <a:xfrm>
                <a:off x="10077553" y="4250489"/>
                <a:ext cx="6228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66BBFC07-9048-4303-AECF-EBC6AE192F6A}"/>
                  </a:ext>
                </a:extLst>
              </p:cNvPr>
              <p:cNvCxnSpPr>
                <a:cxnSpLocks/>
              </p:cNvCxnSpPr>
              <p:nvPr/>
            </p:nvCxnSpPr>
            <p:spPr>
              <a:xfrm>
                <a:off x="10700389" y="2658031"/>
                <a:ext cx="0" cy="159245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7" name="직선 연결선 56">
              <a:extLst>
                <a:ext uri="{FF2B5EF4-FFF2-40B4-BE49-F238E27FC236}">
                  <a16:creationId xmlns:a16="http://schemas.microsoft.com/office/drawing/2014/main" id="{DD342F70-CFC8-4FC9-B03D-B70E425A62E6}"/>
                </a:ext>
              </a:extLst>
            </p:cNvPr>
            <p:cNvCxnSpPr>
              <a:cxnSpLocks/>
            </p:cNvCxnSpPr>
            <p:nvPr/>
          </p:nvCxnSpPr>
          <p:spPr>
            <a:xfrm>
              <a:off x="9215887" y="2107857"/>
              <a:ext cx="0" cy="348507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9BE012C5-4067-4622-8231-EE385D5D7757}"/>
                </a:ext>
              </a:extLst>
            </p:cNvPr>
            <p:cNvCxnSpPr>
              <a:cxnSpLocks/>
            </p:cNvCxnSpPr>
            <p:nvPr/>
          </p:nvCxnSpPr>
          <p:spPr>
            <a:xfrm>
              <a:off x="10077553" y="2107857"/>
              <a:ext cx="0" cy="348507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9927C30D-8342-481D-AC43-BF693CB4059E}"/>
                </a:ext>
              </a:extLst>
            </p:cNvPr>
            <p:cNvCxnSpPr>
              <a:cxnSpLocks/>
            </p:cNvCxnSpPr>
            <p:nvPr/>
          </p:nvCxnSpPr>
          <p:spPr>
            <a:xfrm>
              <a:off x="10700389" y="2107857"/>
              <a:ext cx="0" cy="348507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3C60C8BA-DB43-4062-9B03-B327DE86F257}"/>
                </a:ext>
              </a:extLst>
            </p:cNvPr>
            <p:cNvCxnSpPr>
              <a:cxnSpLocks/>
            </p:cNvCxnSpPr>
            <p:nvPr/>
          </p:nvCxnSpPr>
          <p:spPr>
            <a:xfrm>
              <a:off x="11321825" y="2107857"/>
              <a:ext cx="0" cy="348507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sp>
        <p:nvSpPr>
          <p:cNvPr id="64" name="직사각형 63">
            <a:extLst>
              <a:ext uri="{FF2B5EF4-FFF2-40B4-BE49-F238E27FC236}">
                <a16:creationId xmlns:a16="http://schemas.microsoft.com/office/drawing/2014/main" id="{EE920E41-EC23-48D6-9081-23074E4D8D8F}"/>
              </a:ext>
            </a:extLst>
          </p:cNvPr>
          <p:cNvSpPr/>
          <p:nvPr/>
        </p:nvSpPr>
        <p:spPr>
          <a:xfrm>
            <a:off x="5712031" y="5751217"/>
            <a:ext cx="5899334" cy="1200329"/>
          </a:xfrm>
          <a:prstGeom prst="rect">
            <a:avLst/>
          </a:prstGeom>
        </p:spPr>
        <p:txBody>
          <a:bodyPr wrap="square">
            <a:spAutoFit/>
          </a:bodyPr>
          <a:lstStyle/>
          <a:p>
            <a:pPr marL="285750" indent="-285750">
              <a:buFont typeface="Arial" panose="020B0604020202020204" pitchFamily="34" charset="0"/>
              <a:buChar char="•"/>
            </a:pPr>
            <a:r>
              <a:rPr lang="en-US" sz="1400" dirty="0"/>
              <a:t>The clusters merge when the distance among all their actors was less than the value appeared on the horizontal axis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Euclidean distance of Actor B and E is 0 (a complete structural equivalence)</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3209369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9726227" cy="1325563"/>
          </a:xfrm>
        </p:spPr>
        <p:txBody>
          <a:bodyPr/>
          <a:lstStyle/>
          <a:p>
            <a:r>
              <a:rPr lang="en-US" dirty="0">
                <a:latin typeface="Franklin Gothic Book" panose="020B0503020102020204" pitchFamily="34" charset="0"/>
              </a:rPr>
              <a:t>6. Visual Displays &amp; Block models</a:t>
            </a:r>
            <a:endParaRPr lang="en-US" sz="3200" b="1" dirty="0">
              <a:latin typeface="Franklin Gothic Book" panose="020B0503020102020204" pitchFamily="34" charset="0"/>
            </a:endParaRPr>
          </a:p>
        </p:txBody>
      </p:sp>
      <p:sp>
        <p:nvSpPr>
          <p:cNvPr id="14" name="직사각형 13">
            <a:extLst>
              <a:ext uri="{FF2B5EF4-FFF2-40B4-BE49-F238E27FC236}">
                <a16:creationId xmlns:a16="http://schemas.microsoft.com/office/drawing/2014/main" id="{81E5AF50-BC6D-4951-931A-459AE8E49F72}"/>
              </a:ext>
            </a:extLst>
          </p:cNvPr>
          <p:cNvSpPr/>
          <p:nvPr/>
        </p:nvSpPr>
        <p:spPr>
          <a:xfrm>
            <a:off x="494110" y="2089353"/>
            <a:ext cx="3288080" cy="369332"/>
          </a:xfrm>
          <a:prstGeom prst="rect">
            <a:avLst/>
          </a:prstGeom>
        </p:spPr>
        <p:txBody>
          <a:bodyPr wrap="none">
            <a:spAutoFit/>
          </a:bodyPr>
          <a:lstStyle/>
          <a:p>
            <a:r>
              <a:rPr lang="en-US" b="1" dirty="0">
                <a:latin typeface="Franklin Gothic Book" panose="020B0503020102020204" pitchFamily="34" charset="0"/>
              </a:rPr>
              <a:t>Multidimensional Scaling </a:t>
            </a:r>
            <a:r>
              <a:rPr lang="en-US" sz="1600" i="1" dirty="0">
                <a:latin typeface="Franklin Gothic Book" panose="020B0503020102020204" pitchFamily="34" charset="0"/>
              </a:rPr>
              <a:t>(MDS)</a:t>
            </a:r>
            <a:endParaRPr lang="en-US" i="1" dirty="0"/>
          </a:p>
        </p:txBody>
      </p:sp>
      <p:sp>
        <p:nvSpPr>
          <p:cNvPr id="15" name="직사각형 14">
            <a:extLst>
              <a:ext uri="{FF2B5EF4-FFF2-40B4-BE49-F238E27FC236}">
                <a16:creationId xmlns:a16="http://schemas.microsoft.com/office/drawing/2014/main" id="{97F07270-E669-4473-B4D4-AB91D11E0E09}"/>
              </a:ext>
            </a:extLst>
          </p:cNvPr>
          <p:cNvSpPr/>
          <p:nvPr/>
        </p:nvSpPr>
        <p:spPr>
          <a:xfrm>
            <a:off x="358807" y="1175112"/>
            <a:ext cx="7820127" cy="584775"/>
          </a:xfrm>
          <a:prstGeom prst="rect">
            <a:avLst/>
          </a:prstGeom>
        </p:spPr>
        <p:txBody>
          <a:bodyPr wrap="square">
            <a:spAutoFit/>
          </a:bodyPr>
          <a:lstStyle/>
          <a:p>
            <a:r>
              <a:rPr lang="en-US" sz="1600" dirty="0">
                <a:latin typeface="Franklin Gothic Book" panose="020B0503020102020204" pitchFamily="34" charset="0"/>
              </a:rPr>
              <a:t>The visualized graph can provide structural insights and enables communication of these insights with others. The fundamental tools of visualizing relations in network follows:</a:t>
            </a:r>
            <a:endParaRPr lang="en-US" sz="1600" dirty="0"/>
          </a:p>
        </p:txBody>
      </p:sp>
      <p:sp>
        <p:nvSpPr>
          <p:cNvPr id="8" name="직사각형 7">
            <a:extLst>
              <a:ext uri="{FF2B5EF4-FFF2-40B4-BE49-F238E27FC236}">
                <a16:creationId xmlns:a16="http://schemas.microsoft.com/office/drawing/2014/main" id="{55E8E98E-144C-460F-86AD-6146F73CA341}"/>
              </a:ext>
            </a:extLst>
          </p:cNvPr>
          <p:cNvSpPr/>
          <p:nvPr/>
        </p:nvSpPr>
        <p:spPr>
          <a:xfrm>
            <a:off x="652692" y="2548455"/>
            <a:ext cx="6893327" cy="830997"/>
          </a:xfrm>
          <a:prstGeom prst="rect">
            <a:avLst/>
          </a:prstGeom>
        </p:spPr>
        <p:txBody>
          <a:bodyPr wrap="square">
            <a:spAutoFit/>
          </a:bodyPr>
          <a:lstStyle/>
          <a:p>
            <a:r>
              <a:rPr lang="en-US" sz="1600" dirty="0">
                <a:latin typeface="Franklin Gothic Book" panose="020B0503020102020204" pitchFamily="34" charset="0"/>
              </a:rPr>
              <a:t>The primary purpose of MDS is to detect meaningful underlying dimensions that reflect the similarities or dissimilarities among network actors.  It can represent multiple dimensions.</a:t>
            </a:r>
            <a:endParaRPr lang="en-US" sz="1600" dirty="0"/>
          </a:p>
        </p:txBody>
      </p:sp>
      <p:grpSp>
        <p:nvGrpSpPr>
          <p:cNvPr id="27" name="그룹 26">
            <a:extLst>
              <a:ext uri="{FF2B5EF4-FFF2-40B4-BE49-F238E27FC236}">
                <a16:creationId xmlns:a16="http://schemas.microsoft.com/office/drawing/2014/main" id="{45F9E0B9-0951-4FD1-B4AC-85AF57052264}"/>
              </a:ext>
            </a:extLst>
          </p:cNvPr>
          <p:cNvGrpSpPr/>
          <p:nvPr/>
        </p:nvGrpSpPr>
        <p:grpSpPr>
          <a:xfrm>
            <a:off x="8178934" y="2458685"/>
            <a:ext cx="3016745" cy="2734752"/>
            <a:chOff x="8178934" y="2458685"/>
            <a:chExt cx="3016745" cy="2734752"/>
          </a:xfrm>
        </p:grpSpPr>
        <p:cxnSp>
          <p:nvCxnSpPr>
            <p:cNvPr id="7" name="직선 연결선 6">
              <a:extLst>
                <a:ext uri="{FF2B5EF4-FFF2-40B4-BE49-F238E27FC236}">
                  <a16:creationId xmlns:a16="http://schemas.microsoft.com/office/drawing/2014/main" id="{FE5E2358-0F95-4A4F-AEBC-0201774D4C7A}"/>
                </a:ext>
              </a:extLst>
            </p:cNvPr>
            <p:cNvCxnSpPr/>
            <p:nvPr/>
          </p:nvCxnSpPr>
          <p:spPr>
            <a:xfrm>
              <a:off x="8178934" y="2458685"/>
              <a:ext cx="0" cy="27347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BA696192-08E6-4639-9568-88B89C7AC48D}"/>
                </a:ext>
              </a:extLst>
            </p:cNvPr>
            <p:cNvCxnSpPr>
              <a:cxnSpLocks/>
            </p:cNvCxnSpPr>
            <p:nvPr/>
          </p:nvCxnSpPr>
          <p:spPr>
            <a:xfrm flipH="1">
              <a:off x="8178935" y="5193437"/>
              <a:ext cx="301674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3" name="직선 연결선 52">
            <a:extLst>
              <a:ext uri="{FF2B5EF4-FFF2-40B4-BE49-F238E27FC236}">
                <a16:creationId xmlns:a16="http://schemas.microsoft.com/office/drawing/2014/main" id="{8D69102D-C20B-44D9-8932-778ECD0AD179}"/>
              </a:ext>
            </a:extLst>
          </p:cNvPr>
          <p:cNvCxnSpPr>
            <a:cxnSpLocks/>
          </p:cNvCxnSpPr>
          <p:nvPr/>
        </p:nvCxnSpPr>
        <p:spPr>
          <a:xfrm>
            <a:off x="9689724" y="5191216"/>
            <a:ext cx="0" cy="1102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EFCC62CA-C6E2-4930-8D1E-0988D28CEDC5}"/>
              </a:ext>
            </a:extLst>
          </p:cNvPr>
          <p:cNvCxnSpPr>
            <a:cxnSpLocks/>
          </p:cNvCxnSpPr>
          <p:nvPr/>
        </p:nvCxnSpPr>
        <p:spPr>
          <a:xfrm>
            <a:off x="8546724" y="5198836"/>
            <a:ext cx="0" cy="1102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50B56596-E0C1-4FB1-B6B3-97921631038B}"/>
              </a:ext>
            </a:extLst>
          </p:cNvPr>
          <p:cNvCxnSpPr>
            <a:cxnSpLocks/>
          </p:cNvCxnSpPr>
          <p:nvPr/>
        </p:nvCxnSpPr>
        <p:spPr>
          <a:xfrm>
            <a:off x="10828241" y="5191216"/>
            <a:ext cx="0" cy="1102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ADD27798-A10F-4109-8898-11C5F36BE510}"/>
              </a:ext>
            </a:extLst>
          </p:cNvPr>
          <p:cNvCxnSpPr>
            <a:cxnSpLocks/>
          </p:cNvCxnSpPr>
          <p:nvPr/>
        </p:nvCxnSpPr>
        <p:spPr>
          <a:xfrm flipH="1">
            <a:off x="8025411" y="4848730"/>
            <a:ext cx="1535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직선 연결선 57">
            <a:extLst>
              <a:ext uri="{FF2B5EF4-FFF2-40B4-BE49-F238E27FC236}">
                <a16:creationId xmlns:a16="http://schemas.microsoft.com/office/drawing/2014/main" id="{396A67F2-60A8-408D-A4BE-6241DDAB9F86}"/>
              </a:ext>
            </a:extLst>
          </p:cNvPr>
          <p:cNvCxnSpPr>
            <a:cxnSpLocks/>
          </p:cNvCxnSpPr>
          <p:nvPr/>
        </p:nvCxnSpPr>
        <p:spPr>
          <a:xfrm flipH="1">
            <a:off x="8025411" y="3862612"/>
            <a:ext cx="1535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03E10595-0C78-45C0-909A-4E862A9105F8}"/>
              </a:ext>
            </a:extLst>
          </p:cNvPr>
          <p:cNvCxnSpPr>
            <a:cxnSpLocks/>
          </p:cNvCxnSpPr>
          <p:nvPr/>
        </p:nvCxnSpPr>
        <p:spPr>
          <a:xfrm flipH="1">
            <a:off x="8025411" y="2849600"/>
            <a:ext cx="15352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직사각형 62">
            <a:extLst>
              <a:ext uri="{FF2B5EF4-FFF2-40B4-BE49-F238E27FC236}">
                <a16:creationId xmlns:a16="http://schemas.microsoft.com/office/drawing/2014/main" id="{BAEC832E-213B-476B-A059-6D2D2AE45ED5}"/>
              </a:ext>
            </a:extLst>
          </p:cNvPr>
          <p:cNvSpPr/>
          <p:nvPr/>
        </p:nvSpPr>
        <p:spPr>
          <a:xfrm>
            <a:off x="7512243" y="2687611"/>
            <a:ext cx="546945" cy="307777"/>
          </a:xfrm>
          <a:prstGeom prst="rect">
            <a:avLst/>
          </a:prstGeom>
        </p:spPr>
        <p:txBody>
          <a:bodyPr wrap="none">
            <a:spAutoFit/>
          </a:bodyPr>
          <a:lstStyle/>
          <a:p>
            <a:r>
              <a:rPr lang="en-US" sz="1400" b="1" dirty="0">
                <a:latin typeface="Franklin Gothic Book" panose="020B0503020102020204" pitchFamily="34" charset="0"/>
              </a:rPr>
              <a:t>+0.5</a:t>
            </a:r>
            <a:endParaRPr lang="en-US" sz="1400" dirty="0"/>
          </a:p>
        </p:txBody>
      </p:sp>
      <p:sp>
        <p:nvSpPr>
          <p:cNvPr id="64" name="직사각형 63">
            <a:extLst>
              <a:ext uri="{FF2B5EF4-FFF2-40B4-BE49-F238E27FC236}">
                <a16:creationId xmlns:a16="http://schemas.microsoft.com/office/drawing/2014/main" id="{A18C6DE6-25F4-431F-89D3-D27532B6846A}"/>
              </a:ext>
            </a:extLst>
          </p:cNvPr>
          <p:cNvSpPr/>
          <p:nvPr/>
        </p:nvSpPr>
        <p:spPr>
          <a:xfrm>
            <a:off x="10554768" y="5294555"/>
            <a:ext cx="546945" cy="307777"/>
          </a:xfrm>
          <a:prstGeom prst="rect">
            <a:avLst/>
          </a:prstGeom>
        </p:spPr>
        <p:txBody>
          <a:bodyPr wrap="none">
            <a:spAutoFit/>
          </a:bodyPr>
          <a:lstStyle/>
          <a:p>
            <a:r>
              <a:rPr lang="en-US" sz="1400" b="1" dirty="0">
                <a:latin typeface="Franklin Gothic Book" panose="020B0503020102020204" pitchFamily="34" charset="0"/>
              </a:rPr>
              <a:t>+0.5</a:t>
            </a:r>
            <a:endParaRPr lang="en-US" sz="1400" dirty="0"/>
          </a:p>
        </p:txBody>
      </p:sp>
      <p:sp>
        <p:nvSpPr>
          <p:cNvPr id="65" name="직사각형 64">
            <a:extLst>
              <a:ext uri="{FF2B5EF4-FFF2-40B4-BE49-F238E27FC236}">
                <a16:creationId xmlns:a16="http://schemas.microsoft.com/office/drawing/2014/main" id="{C589D739-A4F8-48B8-B181-97B9E1F10A83}"/>
              </a:ext>
            </a:extLst>
          </p:cNvPr>
          <p:cNvSpPr/>
          <p:nvPr/>
        </p:nvSpPr>
        <p:spPr>
          <a:xfrm>
            <a:off x="8297807" y="5294555"/>
            <a:ext cx="486030" cy="307777"/>
          </a:xfrm>
          <a:prstGeom prst="rect">
            <a:avLst/>
          </a:prstGeom>
        </p:spPr>
        <p:txBody>
          <a:bodyPr wrap="none">
            <a:spAutoFit/>
          </a:bodyPr>
          <a:lstStyle/>
          <a:p>
            <a:r>
              <a:rPr lang="en-US" sz="1400" b="1" dirty="0">
                <a:latin typeface="Franklin Gothic Book" panose="020B0503020102020204" pitchFamily="34" charset="0"/>
              </a:rPr>
              <a:t>-0.5</a:t>
            </a:r>
            <a:endParaRPr lang="en-US" sz="1400" dirty="0"/>
          </a:p>
        </p:txBody>
      </p:sp>
      <p:sp>
        <p:nvSpPr>
          <p:cNvPr id="66" name="직사각형 65">
            <a:extLst>
              <a:ext uri="{FF2B5EF4-FFF2-40B4-BE49-F238E27FC236}">
                <a16:creationId xmlns:a16="http://schemas.microsoft.com/office/drawing/2014/main" id="{871A93C4-453F-47FF-B678-BB4B48799E12}"/>
              </a:ext>
            </a:extLst>
          </p:cNvPr>
          <p:cNvSpPr/>
          <p:nvPr/>
        </p:nvSpPr>
        <p:spPr>
          <a:xfrm>
            <a:off x="7512243" y="4694841"/>
            <a:ext cx="486030" cy="307777"/>
          </a:xfrm>
          <a:prstGeom prst="rect">
            <a:avLst/>
          </a:prstGeom>
        </p:spPr>
        <p:txBody>
          <a:bodyPr wrap="none">
            <a:spAutoFit/>
          </a:bodyPr>
          <a:lstStyle/>
          <a:p>
            <a:r>
              <a:rPr lang="en-US" sz="1400" b="1" dirty="0">
                <a:latin typeface="Franklin Gothic Book" panose="020B0503020102020204" pitchFamily="34" charset="0"/>
              </a:rPr>
              <a:t>-0.5</a:t>
            </a:r>
            <a:endParaRPr lang="en-US" sz="1400" dirty="0"/>
          </a:p>
        </p:txBody>
      </p:sp>
      <p:sp>
        <p:nvSpPr>
          <p:cNvPr id="67" name="직사각형 66">
            <a:extLst>
              <a:ext uri="{FF2B5EF4-FFF2-40B4-BE49-F238E27FC236}">
                <a16:creationId xmlns:a16="http://schemas.microsoft.com/office/drawing/2014/main" id="{90908C5E-CFA4-464E-9D5A-D58E1E7DAE1F}"/>
              </a:ext>
            </a:extLst>
          </p:cNvPr>
          <p:cNvSpPr/>
          <p:nvPr/>
        </p:nvSpPr>
        <p:spPr>
          <a:xfrm>
            <a:off x="7546019" y="3672172"/>
            <a:ext cx="453379" cy="307777"/>
          </a:xfrm>
          <a:prstGeom prst="rect">
            <a:avLst/>
          </a:prstGeom>
        </p:spPr>
        <p:txBody>
          <a:bodyPr wrap="square">
            <a:spAutoFit/>
          </a:bodyPr>
          <a:lstStyle/>
          <a:p>
            <a:r>
              <a:rPr lang="en-US" sz="1400" b="1" dirty="0">
                <a:latin typeface="Franklin Gothic Book" panose="020B0503020102020204" pitchFamily="34" charset="0"/>
              </a:rPr>
              <a:t>0.0</a:t>
            </a:r>
            <a:endParaRPr lang="en-US" sz="1400" dirty="0"/>
          </a:p>
        </p:txBody>
      </p:sp>
      <p:sp>
        <p:nvSpPr>
          <p:cNvPr id="68" name="직사각형 67">
            <a:extLst>
              <a:ext uri="{FF2B5EF4-FFF2-40B4-BE49-F238E27FC236}">
                <a16:creationId xmlns:a16="http://schemas.microsoft.com/office/drawing/2014/main" id="{EFEBE96A-F001-4C2B-AE06-D054B1B70DBC}"/>
              </a:ext>
            </a:extLst>
          </p:cNvPr>
          <p:cNvSpPr/>
          <p:nvPr/>
        </p:nvSpPr>
        <p:spPr>
          <a:xfrm>
            <a:off x="9484857" y="5290987"/>
            <a:ext cx="650169" cy="307777"/>
          </a:xfrm>
          <a:prstGeom prst="rect">
            <a:avLst/>
          </a:prstGeom>
        </p:spPr>
        <p:txBody>
          <a:bodyPr wrap="square">
            <a:spAutoFit/>
          </a:bodyPr>
          <a:lstStyle/>
          <a:p>
            <a:r>
              <a:rPr lang="en-US" sz="1400" b="1" dirty="0">
                <a:latin typeface="Franklin Gothic Book" panose="020B0503020102020204" pitchFamily="34" charset="0"/>
              </a:rPr>
              <a:t>0.0</a:t>
            </a:r>
            <a:endParaRPr lang="en-US" sz="1400" dirty="0"/>
          </a:p>
        </p:txBody>
      </p:sp>
      <p:sp>
        <p:nvSpPr>
          <p:cNvPr id="69" name="타원 68">
            <a:extLst>
              <a:ext uri="{FF2B5EF4-FFF2-40B4-BE49-F238E27FC236}">
                <a16:creationId xmlns:a16="http://schemas.microsoft.com/office/drawing/2014/main" id="{0FE5AD9D-058C-4C20-BF74-8FEEBACF6DE7}"/>
              </a:ext>
            </a:extLst>
          </p:cNvPr>
          <p:cNvSpPr/>
          <p:nvPr/>
        </p:nvSpPr>
        <p:spPr>
          <a:xfrm>
            <a:off x="8886488" y="3046569"/>
            <a:ext cx="141404" cy="141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타원 69">
            <a:extLst>
              <a:ext uri="{FF2B5EF4-FFF2-40B4-BE49-F238E27FC236}">
                <a16:creationId xmlns:a16="http://schemas.microsoft.com/office/drawing/2014/main" id="{D94A6507-FEB8-4987-82AA-4AF2D666E7C7}"/>
              </a:ext>
            </a:extLst>
          </p:cNvPr>
          <p:cNvSpPr/>
          <p:nvPr/>
        </p:nvSpPr>
        <p:spPr>
          <a:xfrm>
            <a:off x="8722222" y="3791910"/>
            <a:ext cx="141404" cy="141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타원 70">
            <a:extLst>
              <a:ext uri="{FF2B5EF4-FFF2-40B4-BE49-F238E27FC236}">
                <a16:creationId xmlns:a16="http://schemas.microsoft.com/office/drawing/2014/main" id="{E3B56348-4FDC-43A6-93FC-FB38703B50E6}"/>
              </a:ext>
            </a:extLst>
          </p:cNvPr>
          <p:cNvSpPr/>
          <p:nvPr/>
        </p:nvSpPr>
        <p:spPr>
          <a:xfrm>
            <a:off x="10686836" y="2686883"/>
            <a:ext cx="141404" cy="141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타원 71">
            <a:extLst>
              <a:ext uri="{FF2B5EF4-FFF2-40B4-BE49-F238E27FC236}">
                <a16:creationId xmlns:a16="http://schemas.microsoft.com/office/drawing/2014/main" id="{EE3E9BC5-CD6E-4C7D-8046-6A1D13A577BD}"/>
              </a:ext>
            </a:extLst>
          </p:cNvPr>
          <p:cNvSpPr/>
          <p:nvPr/>
        </p:nvSpPr>
        <p:spPr>
          <a:xfrm>
            <a:off x="9414155" y="4492674"/>
            <a:ext cx="141404" cy="141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타원 72">
            <a:extLst>
              <a:ext uri="{FF2B5EF4-FFF2-40B4-BE49-F238E27FC236}">
                <a16:creationId xmlns:a16="http://schemas.microsoft.com/office/drawing/2014/main" id="{3C286048-43B5-4EBC-944F-3FD9AB5C0B6D}"/>
              </a:ext>
            </a:extLst>
          </p:cNvPr>
          <p:cNvSpPr/>
          <p:nvPr/>
        </p:nvSpPr>
        <p:spPr>
          <a:xfrm>
            <a:off x="10413364" y="4049301"/>
            <a:ext cx="141404" cy="1414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직사각형 73">
            <a:extLst>
              <a:ext uri="{FF2B5EF4-FFF2-40B4-BE49-F238E27FC236}">
                <a16:creationId xmlns:a16="http://schemas.microsoft.com/office/drawing/2014/main" id="{D705682D-B421-482F-A699-D1D57C425C14}"/>
              </a:ext>
            </a:extLst>
          </p:cNvPr>
          <p:cNvSpPr/>
          <p:nvPr/>
        </p:nvSpPr>
        <p:spPr>
          <a:xfrm>
            <a:off x="9035356" y="2891997"/>
            <a:ext cx="282093" cy="309144"/>
          </a:xfrm>
          <a:prstGeom prst="rect">
            <a:avLst/>
          </a:prstGeom>
        </p:spPr>
        <p:txBody>
          <a:bodyPr wrap="none">
            <a:spAutoFit/>
          </a:bodyPr>
          <a:lstStyle/>
          <a:p>
            <a:r>
              <a:rPr lang="en-US" sz="1400" b="1" dirty="0">
                <a:latin typeface="Franklin Gothic Book" panose="020B0503020102020204" pitchFamily="34" charset="0"/>
              </a:rPr>
              <a:t>A</a:t>
            </a:r>
            <a:endParaRPr lang="en-US" sz="1400" dirty="0"/>
          </a:p>
        </p:txBody>
      </p:sp>
      <p:sp>
        <p:nvSpPr>
          <p:cNvPr id="75" name="직사각형 74">
            <a:extLst>
              <a:ext uri="{FF2B5EF4-FFF2-40B4-BE49-F238E27FC236}">
                <a16:creationId xmlns:a16="http://schemas.microsoft.com/office/drawing/2014/main" id="{4144FF48-A312-4975-87E4-74074607EEC2}"/>
              </a:ext>
            </a:extLst>
          </p:cNvPr>
          <p:cNvSpPr/>
          <p:nvPr/>
        </p:nvSpPr>
        <p:spPr>
          <a:xfrm>
            <a:off x="8855740" y="3658378"/>
            <a:ext cx="280846" cy="307777"/>
          </a:xfrm>
          <a:prstGeom prst="rect">
            <a:avLst/>
          </a:prstGeom>
        </p:spPr>
        <p:txBody>
          <a:bodyPr wrap="none">
            <a:spAutoFit/>
          </a:bodyPr>
          <a:lstStyle/>
          <a:p>
            <a:r>
              <a:rPr lang="en-US" sz="1400" b="1" dirty="0"/>
              <a:t>C</a:t>
            </a:r>
          </a:p>
        </p:txBody>
      </p:sp>
      <p:sp>
        <p:nvSpPr>
          <p:cNvPr id="76" name="직사각형 75">
            <a:extLst>
              <a:ext uri="{FF2B5EF4-FFF2-40B4-BE49-F238E27FC236}">
                <a16:creationId xmlns:a16="http://schemas.microsoft.com/office/drawing/2014/main" id="{92053034-B485-466B-8A7D-62C28907438B}"/>
              </a:ext>
            </a:extLst>
          </p:cNvPr>
          <p:cNvSpPr/>
          <p:nvPr/>
        </p:nvSpPr>
        <p:spPr>
          <a:xfrm>
            <a:off x="10343019" y="3739047"/>
            <a:ext cx="282093" cy="309144"/>
          </a:xfrm>
          <a:prstGeom prst="rect">
            <a:avLst/>
          </a:prstGeom>
        </p:spPr>
        <p:txBody>
          <a:bodyPr wrap="square">
            <a:spAutoFit/>
          </a:bodyPr>
          <a:lstStyle/>
          <a:p>
            <a:r>
              <a:rPr lang="en-US" sz="1400" b="1" dirty="0">
                <a:latin typeface="Franklin Gothic Book" panose="020B0503020102020204" pitchFamily="34" charset="0"/>
              </a:rPr>
              <a:t>B</a:t>
            </a:r>
            <a:endParaRPr lang="en-US" sz="1400" dirty="0"/>
          </a:p>
        </p:txBody>
      </p:sp>
      <p:sp>
        <p:nvSpPr>
          <p:cNvPr id="77" name="직사각형 76">
            <a:extLst>
              <a:ext uri="{FF2B5EF4-FFF2-40B4-BE49-F238E27FC236}">
                <a16:creationId xmlns:a16="http://schemas.microsoft.com/office/drawing/2014/main" id="{FFF1DEEC-3076-4467-AEB3-CEBF486F1E16}"/>
              </a:ext>
            </a:extLst>
          </p:cNvPr>
          <p:cNvSpPr/>
          <p:nvPr/>
        </p:nvSpPr>
        <p:spPr>
          <a:xfrm>
            <a:off x="10564427" y="3965431"/>
            <a:ext cx="282093" cy="309144"/>
          </a:xfrm>
          <a:prstGeom prst="rect">
            <a:avLst/>
          </a:prstGeom>
        </p:spPr>
        <p:txBody>
          <a:bodyPr wrap="square">
            <a:spAutoFit/>
          </a:bodyPr>
          <a:lstStyle/>
          <a:p>
            <a:r>
              <a:rPr lang="en-US" sz="1400" b="1" dirty="0">
                <a:latin typeface="Franklin Gothic Book" panose="020B0503020102020204" pitchFamily="34" charset="0"/>
              </a:rPr>
              <a:t>E</a:t>
            </a:r>
            <a:endParaRPr lang="en-US" sz="1400" dirty="0"/>
          </a:p>
        </p:txBody>
      </p:sp>
      <p:sp>
        <p:nvSpPr>
          <p:cNvPr id="78" name="직사각형 77">
            <a:extLst>
              <a:ext uri="{FF2B5EF4-FFF2-40B4-BE49-F238E27FC236}">
                <a16:creationId xmlns:a16="http://schemas.microsoft.com/office/drawing/2014/main" id="{F9EA55A1-93FC-4D7A-AC7D-3C309EE8FEFB}"/>
              </a:ext>
            </a:extLst>
          </p:cNvPr>
          <p:cNvSpPr/>
          <p:nvPr/>
        </p:nvSpPr>
        <p:spPr>
          <a:xfrm>
            <a:off x="9553238" y="4392051"/>
            <a:ext cx="282093" cy="309144"/>
          </a:xfrm>
          <a:prstGeom prst="rect">
            <a:avLst/>
          </a:prstGeom>
        </p:spPr>
        <p:txBody>
          <a:bodyPr wrap="square">
            <a:spAutoFit/>
          </a:bodyPr>
          <a:lstStyle/>
          <a:p>
            <a:r>
              <a:rPr lang="en-US" sz="1400" b="1" dirty="0">
                <a:latin typeface="Franklin Gothic Book" panose="020B0503020102020204" pitchFamily="34" charset="0"/>
              </a:rPr>
              <a:t>D</a:t>
            </a:r>
            <a:endParaRPr lang="en-US" sz="1400" dirty="0"/>
          </a:p>
        </p:txBody>
      </p:sp>
      <p:sp>
        <p:nvSpPr>
          <p:cNvPr id="79" name="직사각형 78">
            <a:extLst>
              <a:ext uri="{FF2B5EF4-FFF2-40B4-BE49-F238E27FC236}">
                <a16:creationId xmlns:a16="http://schemas.microsoft.com/office/drawing/2014/main" id="{B0C64265-6DFB-4358-86DF-18C6DCC2E8A6}"/>
              </a:ext>
            </a:extLst>
          </p:cNvPr>
          <p:cNvSpPr/>
          <p:nvPr/>
        </p:nvSpPr>
        <p:spPr>
          <a:xfrm>
            <a:off x="10809911" y="2603013"/>
            <a:ext cx="282093" cy="309144"/>
          </a:xfrm>
          <a:prstGeom prst="rect">
            <a:avLst/>
          </a:prstGeom>
        </p:spPr>
        <p:txBody>
          <a:bodyPr wrap="square">
            <a:spAutoFit/>
          </a:bodyPr>
          <a:lstStyle/>
          <a:p>
            <a:r>
              <a:rPr lang="en-US" sz="1400" b="1" dirty="0"/>
              <a:t>F</a:t>
            </a:r>
          </a:p>
        </p:txBody>
      </p:sp>
      <p:sp>
        <p:nvSpPr>
          <p:cNvPr id="34" name="자유형: 도형 33">
            <a:extLst>
              <a:ext uri="{FF2B5EF4-FFF2-40B4-BE49-F238E27FC236}">
                <a16:creationId xmlns:a16="http://schemas.microsoft.com/office/drawing/2014/main" id="{9FF623CD-3D73-4DFF-A172-D99A8C7A4B9D}"/>
              </a:ext>
            </a:extLst>
          </p:cNvPr>
          <p:cNvSpPr/>
          <p:nvPr/>
        </p:nvSpPr>
        <p:spPr>
          <a:xfrm>
            <a:off x="9298374" y="3626298"/>
            <a:ext cx="1724393" cy="1264033"/>
          </a:xfrm>
          <a:custGeom>
            <a:avLst/>
            <a:gdLst>
              <a:gd name="connsiteX0" fmla="*/ 15258 w 1724393"/>
              <a:gd name="connsiteY0" fmla="*/ 1379220 h 1457492"/>
              <a:gd name="connsiteX1" fmla="*/ 15258 w 1724393"/>
              <a:gd name="connsiteY1" fmla="*/ 1379220 h 1457492"/>
              <a:gd name="connsiteX2" fmla="*/ 18 w 1724393"/>
              <a:gd name="connsiteY2" fmla="*/ 1310640 h 1457492"/>
              <a:gd name="connsiteX3" fmla="*/ 30498 w 1724393"/>
              <a:gd name="connsiteY3" fmla="*/ 1005840 h 1457492"/>
              <a:gd name="connsiteX4" fmla="*/ 53358 w 1724393"/>
              <a:gd name="connsiteY4" fmla="*/ 876300 h 1457492"/>
              <a:gd name="connsiteX5" fmla="*/ 76218 w 1724393"/>
              <a:gd name="connsiteY5" fmla="*/ 723900 h 1457492"/>
              <a:gd name="connsiteX6" fmla="*/ 83838 w 1724393"/>
              <a:gd name="connsiteY6" fmla="*/ 685800 h 1457492"/>
              <a:gd name="connsiteX7" fmla="*/ 91458 w 1724393"/>
              <a:gd name="connsiteY7" fmla="*/ 624840 h 1457492"/>
              <a:gd name="connsiteX8" fmla="*/ 137178 w 1724393"/>
              <a:gd name="connsiteY8" fmla="*/ 548640 h 1457492"/>
              <a:gd name="connsiteX9" fmla="*/ 190518 w 1724393"/>
              <a:gd name="connsiteY9" fmla="*/ 449580 h 1457492"/>
              <a:gd name="connsiteX10" fmla="*/ 236238 w 1724393"/>
              <a:gd name="connsiteY10" fmla="*/ 411480 h 1457492"/>
              <a:gd name="connsiteX11" fmla="*/ 304818 w 1724393"/>
              <a:gd name="connsiteY11" fmla="*/ 320040 h 1457492"/>
              <a:gd name="connsiteX12" fmla="*/ 342918 w 1724393"/>
              <a:gd name="connsiteY12" fmla="*/ 297180 h 1457492"/>
              <a:gd name="connsiteX13" fmla="*/ 381018 w 1724393"/>
              <a:gd name="connsiteY13" fmla="*/ 251460 h 1457492"/>
              <a:gd name="connsiteX14" fmla="*/ 457218 w 1724393"/>
              <a:gd name="connsiteY14" fmla="*/ 198120 h 1457492"/>
              <a:gd name="connsiteX15" fmla="*/ 541038 w 1724393"/>
              <a:gd name="connsiteY15" fmla="*/ 121920 h 1457492"/>
              <a:gd name="connsiteX16" fmla="*/ 594378 w 1724393"/>
              <a:gd name="connsiteY16" fmla="*/ 76200 h 1457492"/>
              <a:gd name="connsiteX17" fmla="*/ 624858 w 1724393"/>
              <a:gd name="connsiteY17" fmla="*/ 53340 h 1457492"/>
              <a:gd name="connsiteX18" fmla="*/ 647718 w 1724393"/>
              <a:gd name="connsiteY18" fmla="*/ 45720 h 1457492"/>
              <a:gd name="connsiteX19" fmla="*/ 685818 w 1724393"/>
              <a:gd name="connsiteY19" fmla="*/ 22860 h 1457492"/>
              <a:gd name="connsiteX20" fmla="*/ 769638 w 1724393"/>
              <a:gd name="connsiteY20" fmla="*/ 15240 h 1457492"/>
              <a:gd name="connsiteX21" fmla="*/ 815358 w 1724393"/>
              <a:gd name="connsiteY21" fmla="*/ 0 h 1457492"/>
              <a:gd name="connsiteX22" fmla="*/ 1089678 w 1724393"/>
              <a:gd name="connsiteY22" fmla="*/ 30480 h 1457492"/>
              <a:gd name="connsiteX23" fmla="*/ 1234458 w 1724393"/>
              <a:gd name="connsiteY23" fmla="*/ 68580 h 1457492"/>
              <a:gd name="connsiteX24" fmla="*/ 1325898 w 1724393"/>
              <a:gd name="connsiteY24" fmla="*/ 106680 h 1457492"/>
              <a:gd name="connsiteX25" fmla="*/ 1348758 w 1724393"/>
              <a:gd name="connsiteY25" fmla="*/ 114300 h 1457492"/>
              <a:gd name="connsiteX26" fmla="*/ 1379238 w 1724393"/>
              <a:gd name="connsiteY26" fmla="*/ 129540 h 1457492"/>
              <a:gd name="connsiteX27" fmla="*/ 1478298 w 1724393"/>
              <a:gd name="connsiteY27" fmla="*/ 160020 h 1457492"/>
              <a:gd name="connsiteX28" fmla="*/ 1562118 w 1724393"/>
              <a:gd name="connsiteY28" fmla="*/ 198120 h 1457492"/>
              <a:gd name="connsiteX29" fmla="*/ 1706898 w 1724393"/>
              <a:gd name="connsiteY29" fmla="*/ 274320 h 1457492"/>
              <a:gd name="connsiteX30" fmla="*/ 1699278 w 1724393"/>
              <a:gd name="connsiteY30" fmla="*/ 502920 h 1457492"/>
              <a:gd name="connsiteX31" fmla="*/ 1676418 w 1724393"/>
              <a:gd name="connsiteY31" fmla="*/ 541020 h 1457492"/>
              <a:gd name="connsiteX32" fmla="*/ 1668798 w 1724393"/>
              <a:gd name="connsiteY32" fmla="*/ 594360 h 1457492"/>
              <a:gd name="connsiteX33" fmla="*/ 1630698 w 1724393"/>
              <a:gd name="connsiteY33" fmla="*/ 708660 h 1457492"/>
              <a:gd name="connsiteX34" fmla="*/ 1600218 w 1724393"/>
              <a:gd name="connsiteY34" fmla="*/ 800100 h 1457492"/>
              <a:gd name="connsiteX35" fmla="*/ 1539258 w 1724393"/>
              <a:gd name="connsiteY35" fmla="*/ 883920 h 1457492"/>
              <a:gd name="connsiteX36" fmla="*/ 1485918 w 1724393"/>
              <a:gd name="connsiteY36" fmla="*/ 952500 h 1457492"/>
              <a:gd name="connsiteX37" fmla="*/ 1440198 w 1724393"/>
              <a:gd name="connsiteY37" fmla="*/ 990600 h 1457492"/>
              <a:gd name="connsiteX38" fmla="*/ 1379238 w 1724393"/>
              <a:gd name="connsiteY38" fmla="*/ 1051560 h 1457492"/>
              <a:gd name="connsiteX39" fmla="*/ 1341138 w 1724393"/>
              <a:gd name="connsiteY39" fmla="*/ 1097280 h 1457492"/>
              <a:gd name="connsiteX40" fmla="*/ 1303038 w 1724393"/>
              <a:gd name="connsiteY40" fmla="*/ 1104900 h 1457492"/>
              <a:gd name="connsiteX41" fmla="*/ 1272558 w 1724393"/>
              <a:gd name="connsiteY41" fmla="*/ 1135380 h 1457492"/>
              <a:gd name="connsiteX42" fmla="*/ 1150638 w 1724393"/>
              <a:gd name="connsiteY42" fmla="*/ 1196340 h 1457492"/>
              <a:gd name="connsiteX43" fmla="*/ 1097298 w 1724393"/>
              <a:gd name="connsiteY43" fmla="*/ 1226820 h 1457492"/>
              <a:gd name="connsiteX44" fmla="*/ 1036338 w 1724393"/>
              <a:gd name="connsiteY44" fmla="*/ 1249680 h 1457492"/>
              <a:gd name="connsiteX45" fmla="*/ 982998 w 1724393"/>
              <a:gd name="connsiteY45" fmla="*/ 1280160 h 1457492"/>
              <a:gd name="connsiteX46" fmla="*/ 922038 w 1724393"/>
              <a:gd name="connsiteY46" fmla="*/ 1303020 h 1457492"/>
              <a:gd name="connsiteX47" fmla="*/ 868698 w 1724393"/>
              <a:gd name="connsiteY47" fmla="*/ 1333500 h 1457492"/>
              <a:gd name="connsiteX48" fmla="*/ 769638 w 1724393"/>
              <a:gd name="connsiteY48" fmla="*/ 1363980 h 1457492"/>
              <a:gd name="connsiteX49" fmla="*/ 746778 w 1724393"/>
              <a:gd name="connsiteY49" fmla="*/ 1379220 h 1457492"/>
              <a:gd name="connsiteX50" fmla="*/ 716298 w 1724393"/>
              <a:gd name="connsiteY50" fmla="*/ 1402080 h 1457492"/>
              <a:gd name="connsiteX51" fmla="*/ 678198 w 1724393"/>
              <a:gd name="connsiteY51" fmla="*/ 1409700 h 1457492"/>
              <a:gd name="connsiteX52" fmla="*/ 571518 w 1724393"/>
              <a:gd name="connsiteY52" fmla="*/ 1432560 h 1457492"/>
              <a:gd name="connsiteX53" fmla="*/ 548658 w 1724393"/>
              <a:gd name="connsiteY53" fmla="*/ 1447800 h 1457492"/>
              <a:gd name="connsiteX54" fmla="*/ 129558 w 1724393"/>
              <a:gd name="connsiteY54" fmla="*/ 1440180 h 1457492"/>
              <a:gd name="connsiteX55" fmla="*/ 121938 w 1724393"/>
              <a:gd name="connsiteY55" fmla="*/ 1417320 h 1457492"/>
              <a:gd name="connsiteX56" fmla="*/ 91458 w 1724393"/>
              <a:gd name="connsiteY56" fmla="*/ 1409700 h 1457492"/>
              <a:gd name="connsiteX57" fmla="*/ 60978 w 1724393"/>
              <a:gd name="connsiteY57" fmla="*/ 1394460 h 1457492"/>
              <a:gd name="connsiteX58" fmla="*/ 38118 w 1724393"/>
              <a:gd name="connsiteY58" fmla="*/ 1386840 h 1457492"/>
              <a:gd name="connsiteX59" fmla="*/ 15258 w 1724393"/>
              <a:gd name="connsiteY59" fmla="*/ 1371600 h 1457492"/>
              <a:gd name="connsiteX60" fmla="*/ 15258 w 1724393"/>
              <a:gd name="connsiteY60" fmla="*/ 1379220 h 145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724393" h="1457492">
                <a:moveTo>
                  <a:pt x="15258" y="1379220"/>
                </a:moveTo>
                <a:lnTo>
                  <a:pt x="15258" y="1379220"/>
                </a:lnTo>
                <a:cubicBezTo>
                  <a:pt x="10178" y="1356360"/>
                  <a:pt x="-502" y="1334052"/>
                  <a:pt x="18" y="1310640"/>
                </a:cubicBezTo>
                <a:cubicBezTo>
                  <a:pt x="4648" y="1102282"/>
                  <a:pt x="2804" y="1116618"/>
                  <a:pt x="30498" y="1005840"/>
                </a:cubicBezTo>
                <a:cubicBezTo>
                  <a:pt x="51189" y="819618"/>
                  <a:pt x="22743" y="1047746"/>
                  <a:pt x="53358" y="876300"/>
                </a:cubicBezTo>
                <a:cubicBezTo>
                  <a:pt x="62388" y="825732"/>
                  <a:pt x="66144" y="774271"/>
                  <a:pt x="76218" y="723900"/>
                </a:cubicBezTo>
                <a:cubicBezTo>
                  <a:pt x="78758" y="711200"/>
                  <a:pt x="81869" y="698601"/>
                  <a:pt x="83838" y="685800"/>
                </a:cubicBezTo>
                <a:cubicBezTo>
                  <a:pt x="86952" y="665560"/>
                  <a:pt x="84036" y="643926"/>
                  <a:pt x="91458" y="624840"/>
                </a:cubicBezTo>
                <a:cubicBezTo>
                  <a:pt x="102194" y="597233"/>
                  <a:pt x="123931" y="575134"/>
                  <a:pt x="137178" y="548640"/>
                </a:cubicBezTo>
                <a:cubicBezTo>
                  <a:pt x="146925" y="529147"/>
                  <a:pt x="178351" y="464180"/>
                  <a:pt x="190518" y="449580"/>
                </a:cubicBezTo>
                <a:cubicBezTo>
                  <a:pt x="203218" y="434340"/>
                  <a:pt x="220998" y="424180"/>
                  <a:pt x="236238" y="411480"/>
                </a:cubicBezTo>
                <a:cubicBezTo>
                  <a:pt x="263008" y="364633"/>
                  <a:pt x="263307" y="353249"/>
                  <a:pt x="304818" y="320040"/>
                </a:cubicBezTo>
                <a:cubicBezTo>
                  <a:pt x="316383" y="310788"/>
                  <a:pt x="331909" y="307088"/>
                  <a:pt x="342918" y="297180"/>
                </a:cubicBezTo>
                <a:cubicBezTo>
                  <a:pt x="357663" y="283909"/>
                  <a:pt x="366990" y="265488"/>
                  <a:pt x="381018" y="251460"/>
                </a:cubicBezTo>
                <a:cubicBezTo>
                  <a:pt x="393452" y="239026"/>
                  <a:pt x="448090" y="204758"/>
                  <a:pt x="457218" y="198120"/>
                </a:cubicBezTo>
                <a:cubicBezTo>
                  <a:pt x="508709" y="160672"/>
                  <a:pt x="488375" y="170532"/>
                  <a:pt x="541038" y="121920"/>
                </a:cubicBezTo>
                <a:cubicBezTo>
                  <a:pt x="558245" y="106036"/>
                  <a:pt x="576254" y="91029"/>
                  <a:pt x="594378" y="76200"/>
                </a:cubicBezTo>
                <a:cubicBezTo>
                  <a:pt x="604207" y="68158"/>
                  <a:pt x="613831" y="59641"/>
                  <a:pt x="624858" y="53340"/>
                </a:cubicBezTo>
                <a:cubicBezTo>
                  <a:pt x="631832" y="49355"/>
                  <a:pt x="640534" y="49312"/>
                  <a:pt x="647718" y="45720"/>
                </a:cubicBezTo>
                <a:cubicBezTo>
                  <a:pt x="660965" y="39096"/>
                  <a:pt x="671450" y="26452"/>
                  <a:pt x="685818" y="22860"/>
                </a:cubicBezTo>
                <a:cubicBezTo>
                  <a:pt x="713036" y="16056"/>
                  <a:pt x="741698" y="17780"/>
                  <a:pt x="769638" y="15240"/>
                </a:cubicBezTo>
                <a:cubicBezTo>
                  <a:pt x="784878" y="10160"/>
                  <a:pt x="799294" y="0"/>
                  <a:pt x="815358" y="0"/>
                </a:cubicBezTo>
                <a:cubicBezTo>
                  <a:pt x="872011" y="0"/>
                  <a:pt x="1023868" y="21705"/>
                  <a:pt x="1089678" y="30480"/>
                </a:cubicBezTo>
                <a:cubicBezTo>
                  <a:pt x="1281237" y="115617"/>
                  <a:pt x="1031679" y="13277"/>
                  <a:pt x="1234458" y="68580"/>
                </a:cubicBezTo>
                <a:cubicBezTo>
                  <a:pt x="1266315" y="77268"/>
                  <a:pt x="1294572" y="96238"/>
                  <a:pt x="1325898" y="106680"/>
                </a:cubicBezTo>
                <a:cubicBezTo>
                  <a:pt x="1333518" y="109220"/>
                  <a:pt x="1341375" y="111136"/>
                  <a:pt x="1348758" y="114300"/>
                </a:cubicBezTo>
                <a:cubicBezTo>
                  <a:pt x="1359199" y="118775"/>
                  <a:pt x="1368526" y="125759"/>
                  <a:pt x="1379238" y="129540"/>
                </a:cubicBezTo>
                <a:cubicBezTo>
                  <a:pt x="1411816" y="141038"/>
                  <a:pt x="1446847" y="145724"/>
                  <a:pt x="1478298" y="160020"/>
                </a:cubicBezTo>
                <a:cubicBezTo>
                  <a:pt x="1506238" y="172720"/>
                  <a:pt x="1534465" y="184806"/>
                  <a:pt x="1562118" y="198120"/>
                </a:cubicBezTo>
                <a:cubicBezTo>
                  <a:pt x="1679218" y="254502"/>
                  <a:pt x="1648855" y="235624"/>
                  <a:pt x="1706898" y="274320"/>
                </a:cubicBezTo>
                <a:cubicBezTo>
                  <a:pt x="1734867" y="358228"/>
                  <a:pt x="1727071" y="325047"/>
                  <a:pt x="1699278" y="502920"/>
                </a:cubicBezTo>
                <a:cubicBezTo>
                  <a:pt x="1696992" y="517553"/>
                  <a:pt x="1684038" y="528320"/>
                  <a:pt x="1676418" y="541020"/>
                </a:cubicBezTo>
                <a:cubicBezTo>
                  <a:pt x="1673878" y="558800"/>
                  <a:pt x="1672912" y="576877"/>
                  <a:pt x="1668798" y="594360"/>
                </a:cubicBezTo>
                <a:cubicBezTo>
                  <a:pt x="1647898" y="683185"/>
                  <a:pt x="1652748" y="646184"/>
                  <a:pt x="1630698" y="708660"/>
                </a:cubicBezTo>
                <a:cubicBezTo>
                  <a:pt x="1620005" y="738957"/>
                  <a:pt x="1618040" y="773367"/>
                  <a:pt x="1600218" y="800100"/>
                </a:cubicBezTo>
                <a:cubicBezTo>
                  <a:pt x="1537110" y="894761"/>
                  <a:pt x="1602141" y="800076"/>
                  <a:pt x="1539258" y="883920"/>
                </a:cubicBezTo>
                <a:cubicBezTo>
                  <a:pt x="1499325" y="937164"/>
                  <a:pt x="1559534" y="869682"/>
                  <a:pt x="1485918" y="952500"/>
                </a:cubicBezTo>
                <a:cubicBezTo>
                  <a:pt x="1431517" y="1013701"/>
                  <a:pt x="1493326" y="942302"/>
                  <a:pt x="1440198" y="990600"/>
                </a:cubicBezTo>
                <a:cubicBezTo>
                  <a:pt x="1418934" y="1009930"/>
                  <a:pt x="1397635" y="1029484"/>
                  <a:pt x="1379238" y="1051560"/>
                </a:cubicBezTo>
                <a:cubicBezTo>
                  <a:pt x="1366538" y="1066800"/>
                  <a:pt x="1357390" y="1085904"/>
                  <a:pt x="1341138" y="1097280"/>
                </a:cubicBezTo>
                <a:cubicBezTo>
                  <a:pt x="1330528" y="1104707"/>
                  <a:pt x="1315738" y="1102360"/>
                  <a:pt x="1303038" y="1104900"/>
                </a:cubicBezTo>
                <a:cubicBezTo>
                  <a:pt x="1292878" y="1115060"/>
                  <a:pt x="1284372" y="1127201"/>
                  <a:pt x="1272558" y="1135380"/>
                </a:cubicBezTo>
                <a:cubicBezTo>
                  <a:pt x="1209008" y="1179376"/>
                  <a:pt x="1211785" y="1165766"/>
                  <a:pt x="1150638" y="1196340"/>
                </a:cubicBezTo>
                <a:cubicBezTo>
                  <a:pt x="1132322" y="1205498"/>
                  <a:pt x="1115855" y="1218160"/>
                  <a:pt x="1097298" y="1226820"/>
                </a:cubicBezTo>
                <a:cubicBezTo>
                  <a:pt x="1077632" y="1235997"/>
                  <a:pt x="1056004" y="1240503"/>
                  <a:pt x="1036338" y="1249680"/>
                </a:cubicBezTo>
                <a:cubicBezTo>
                  <a:pt x="1017781" y="1258340"/>
                  <a:pt x="1001555" y="1271500"/>
                  <a:pt x="982998" y="1280160"/>
                </a:cubicBezTo>
                <a:cubicBezTo>
                  <a:pt x="963332" y="1289337"/>
                  <a:pt x="941704" y="1293843"/>
                  <a:pt x="922038" y="1303020"/>
                </a:cubicBezTo>
                <a:cubicBezTo>
                  <a:pt x="903481" y="1311680"/>
                  <a:pt x="887255" y="1324840"/>
                  <a:pt x="868698" y="1333500"/>
                </a:cubicBezTo>
                <a:cubicBezTo>
                  <a:pt x="820735" y="1355883"/>
                  <a:pt x="814025" y="1355103"/>
                  <a:pt x="769638" y="1363980"/>
                </a:cubicBezTo>
                <a:cubicBezTo>
                  <a:pt x="762018" y="1369060"/>
                  <a:pt x="754230" y="1373897"/>
                  <a:pt x="746778" y="1379220"/>
                </a:cubicBezTo>
                <a:cubicBezTo>
                  <a:pt x="736444" y="1386602"/>
                  <a:pt x="727903" y="1396922"/>
                  <a:pt x="716298" y="1402080"/>
                </a:cubicBezTo>
                <a:cubicBezTo>
                  <a:pt x="704463" y="1407340"/>
                  <a:pt x="690763" y="1406559"/>
                  <a:pt x="678198" y="1409700"/>
                </a:cubicBezTo>
                <a:cubicBezTo>
                  <a:pt x="584052" y="1433236"/>
                  <a:pt x="666024" y="1419059"/>
                  <a:pt x="571518" y="1432560"/>
                </a:cubicBezTo>
                <a:cubicBezTo>
                  <a:pt x="563898" y="1437640"/>
                  <a:pt x="557783" y="1447018"/>
                  <a:pt x="548658" y="1447800"/>
                </a:cubicBezTo>
                <a:cubicBezTo>
                  <a:pt x="341606" y="1465547"/>
                  <a:pt x="317038" y="1456483"/>
                  <a:pt x="129558" y="1440180"/>
                </a:cubicBezTo>
                <a:cubicBezTo>
                  <a:pt x="127018" y="1432560"/>
                  <a:pt x="128210" y="1422338"/>
                  <a:pt x="121938" y="1417320"/>
                </a:cubicBezTo>
                <a:cubicBezTo>
                  <a:pt x="113760" y="1410778"/>
                  <a:pt x="101264" y="1413377"/>
                  <a:pt x="91458" y="1409700"/>
                </a:cubicBezTo>
                <a:cubicBezTo>
                  <a:pt x="80822" y="1405712"/>
                  <a:pt x="71419" y="1398935"/>
                  <a:pt x="60978" y="1394460"/>
                </a:cubicBezTo>
                <a:cubicBezTo>
                  <a:pt x="53595" y="1391296"/>
                  <a:pt x="45302" y="1390432"/>
                  <a:pt x="38118" y="1386840"/>
                </a:cubicBezTo>
                <a:cubicBezTo>
                  <a:pt x="29927" y="1382744"/>
                  <a:pt x="23946" y="1374496"/>
                  <a:pt x="15258" y="1371600"/>
                </a:cubicBezTo>
                <a:cubicBezTo>
                  <a:pt x="8029" y="1369190"/>
                  <a:pt x="15258" y="1377950"/>
                  <a:pt x="15258" y="1379220"/>
                </a:cubicBez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자유형: 도형 34">
            <a:extLst>
              <a:ext uri="{FF2B5EF4-FFF2-40B4-BE49-F238E27FC236}">
                <a16:creationId xmlns:a16="http://schemas.microsoft.com/office/drawing/2014/main" id="{E4EA4BA7-7601-482F-93FF-580B7C5B55F2}"/>
              </a:ext>
            </a:extLst>
          </p:cNvPr>
          <p:cNvSpPr/>
          <p:nvPr/>
        </p:nvSpPr>
        <p:spPr>
          <a:xfrm>
            <a:off x="8406330" y="2503476"/>
            <a:ext cx="1104900" cy="1805940"/>
          </a:xfrm>
          <a:custGeom>
            <a:avLst/>
            <a:gdLst>
              <a:gd name="connsiteX0" fmla="*/ 480060 w 1104900"/>
              <a:gd name="connsiteY0" fmla="*/ 1805940 h 1805940"/>
              <a:gd name="connsiteX1" fmla="*/ 480060 w 1104900"/>
              <a:gd name="connsiteY1" fmla="*/ 1805940 h 1805940"/>
              <a:gd name="connsiteX2" fmla="*/ 419100 w 1104900"/>
              <a:gd name="connsiteY2" fmla="*/ 1767840 h 1805940"/>
              <a:gd name="connsiteX3" fmla="*/ 403860 w 1104900"/>
              <a:gd name="connsiteY3" fmla="*/ 1744980 h 1805940"/>
              <a:gd name="connsiteX4" fmla="*/ 358140 w 1104900"/>
              <a:gd name="connsiteY4" fmla="*/ 1722120 h 1805940"/>
              <a:gd name="connsiteX5" fmla="*/ 327660 w 1104900"/>
              <a:gd name="connsiteY5" fmla="*/ 1684020 h 1805940"/>
              <a:gd name="connsiteX6" fmla="*/ 289560 w 1104900"/>
              <a:gd name="connsiteY6" fmla="*/ 1676400 h 1805940"/>
              <a:gd name="connsiteX7" fmla="*/ 281940 w 1104900"/>
              <a:gd name="connsiteY7" fmla="*/ 1653540 h 1805940"/>
              <a:gd name="connsiteX8" fmla="*/ 259080 w 1104900"/>
              <a:gd name="connsiteY8" fmla="*/ 1630680 h 1805940"/>
              <a:gd name="connsiteX9" fmla="*/ 213360 w 1104900"/>
              <a:gd name="connsiteY9" fmla="*/ 1569720 h 1805940"/>
              <a:gd name="connsiteX10" fmla="*/ 205740 w 1104900"/>
              <a:gd name="connsiteY10" fmla="*/ 1539240 h 1805940"/>
              <a:gd name="connsiteX11" fmla="*/ 182880 w 1104900"/>
              <a:gd name="connsiteY11" fmla="*/ 1516380 h 1805940"/>
              <a:gd name="connsiteX12" fmla="*/ 152400 w 1104900"/>
              <a:gd name="connsiteY12" fmla="*/ 1478280 h 1805940"/>
              <a:gd name="connsiteX13" fmla="*/ 129540 w 1104900"/>
              <a:gd name="connsiteY13" fmla="*/ 1440180 h 1805940"/>
              <a:gd name="connsiteX14" fmla="*/ 99060 w 1104900"/>
              <a:gd name="connsiteY14" fmla="*/ 1394460 h 1805940"/>
              <a:gd name="connsiteX15" fmla="*/ 76200 w 1104900"/>
              <a:gd name="connsiteY15" fmla="*/ 1348740 h 1805940"/>
              <a:gd name="connsiteX16" fmla="*/ 45720 w 1104900"/>
              <a:gd name="connsiteY16" fmla="*/ 1310640 h 1805940"/>
              <a:gd name="connsiteX17" fmla="*/ 7620 w 1104900"/>
              <a:gd name="connsiteY17" fmla="*/ 1242060 h 1805940"/>
              <a:gd name="connsiteX18" fmla="*/ 0 w 1104900"/>
              <a:gd name="connsiteY18" fmla="*/ 1219200 h 1805940"/>
              <a:gd name="connsiteX19" fmla="*/ 15240 w 1104900"/>
              <a:gd name="connsiteY19" fmla="*/ 990600 h 1805940"/>
              <a:gd name="connsiteX20" fmla="*/ 30480 w 1104900"/>
              <a:gd name="connsiteY20" fmla="*/ 952500 h 1805940"/>
              <a:gd name="connsiteX21" fmla="*/ 60960 w 1104900"/>
              <a:gd name="connsiteY21" fmla="*/ 838200 h 1805940"/>
              <a:gd name="connsiteX22" fmla="*/ 68580 w 1104900"/>
              <a:gd name="connsiteY22" fmla="*/ 784860 h 1805940"/>
              <a:gd name="connsiteX23" fmla="*/ 91440 w 1104900"/>
              <a:gd name="connsiteY23" fmla="*/ 731520 h 1805940"/>
              <a:gd name="connsiteX24" fmla="*/ 106680 w 1104900"/>
              <a:gd name="connsiteY24" fmla="*/ 678180 h 1805940"/>
              <a:gd name="connsiteX25" fmla="*/ 121920 w 1104900"/>
              <a:gd name="connsiteY25" fmla="*/ 632460 h 1805940"/>
              <a:gd name="connsiteX26" fmla="*/ 160020 w 1104900"/>
              <a:gd name="connsiteY26" fmla="*/ 525780 h 1805940"/>
              <a:gd name="connsiteX27" fmla="*/ 198120 w 1104900"/>
              <a:gd name="connsiteY27" fmla="*/ 434340 h 1805940"/>
              <a:gd name="connsiteX28" fmla="*/ 236220 w 1104900"/>
              <a:gd name="connsiteY28" fmla="*/ 381000 h 1805940"/>
              <a:gd name="connsiteX29" fmla="*/ 274320 w 1104900"/>
              <a:gd name="connsiteY29" fmla="*/ 320040 h 1805940"/>
              <a:gd name="connsiteX30" fmla="*/ 320040 w 1104900"/>
              <a:gd name="connsiteY30" fmla="*/ 266700 h 1805940"/>
              <a:gd name="connsiteX31" fmla="*/ 373380 w 1104900"/>
              <a:gd name="connsiteY31" fmla="*/ 152400 h 1805940"/>
              <a:gd name="connsiteX32" fmla="*/ 464820 w 1104900"/>
              <a:gd name="connsiteY32" fmla="*/ 76200 h 1805940"/>
              <a:gd name="connsiteX33" fmla="*/ 480060 w 1104900"/>
              <a:gd name="connsiteY33" fmla="*/ 45720 h 1805940"/>
              <a:gd name="connsiteX34" fmla="*/ 548640 w 1104900"/>
              <a:gd name="connsiteY34" fmla="*/ 15240 h 1805940"/>
              <a:gd name="connsiteX35" fmla="*/ 571500 w 1104900"/>
              <a:gd name="connsiteY35" fmla="*/ 0 h 1805940"/>
              <a:gd name="connsiteX36" fmla="*/ 746760 w 1104900"/>
              <a:gd name="connsiteY36" fmla="*/ 30480 h 1805940"/>
              <a:gd name="connsiteX37" fmla="*/ 822960 w 1104900"/>
              <a:gd name="connsiteY37" fmla="*/ 68580 h 1805940"/>
              <a:gd name="connsiteX38" fmla="*/ 883920 w 1104900"/>
              <a:gd name="connsiteY38" fmla="*/ 114300 h 1805940"/>
              <a:gd name="connsiteX39" fmla="*/ 929640 w 1104900"/>
              <a:gd name="connsiteY39" fmla="*/ 137160 h 1805940"/>
              <a:gd name="connsiteX40" fmla="*/ 982980 w 1104900"/>
              <a:gd name="connsiteY40" fmla="*/ 160020 h 1805940"/>
              <a:gd name="connsiteX41" fmla="*/ 1013460 w 1104900"/>
              <a:gd name="connsiteY41" fmla="*/ 182880 h 1805940"/>
              <a:gd name="connsiteX42" fmla="*/ 1082040 w 1104900"/>
              <a:gd name="connsiteY42" fmla="*/ 213360 h 1805940"/>
              <a:gd name="connsiteX43" fmla="*/ 1089660 w 1104900"/>
              <a:gd name="connsiteY43" fmla="*/ 236220 h 1805940"/>
              <a:gd name="connsiteX44" fmla="*/ 1104900 w 1104900"/>
              <a:gd name="connsiteY44" fmla="*/ 259080 h 1805940"/>
              <a:gd name="connsiteX45" fmla="*/ 1089660 w 1104900"/>
              <a:gd name="connsiteY45" fmla="*/ 449580 h 1805940"/>
              <a:gd name="connsiteX46" fmla="*/ 1074420 w 1104900"/>
              <a:gd name="connsiteY46" fmla="*/ 495300 h 1805940"/>
              <a:gd name="connsiteX47" fmla="*/ 1066800 w 1104900"/>
              <a:gd name="connsiteY47" fmla="*/ 541020 h 1805940"/>
              <a:gd name="connsiteX48" fmla="*/ 1082040 w 1104900"/>
              <a:gd name="connsiteY48" fmla="*/ 632460 h 1805940"/>
              <a:gd name="connsiteX49" fmla="*/ 1104900 w 1104900"/>
              <a:gd name="connsiteY49" fmla="*/ 739140 h 1805940"/>
              <a:gd name="connsiteX50" fmla="*/ 1089660 w 1104900"/>
              <a:gd name="connsiteY50" fmla="*/ 975360 h 1805940"/>
              <a:gd name="connsiteX51" fmla="*/ 1074420 w 1104900"/>
              <a:gd name="connsiteY51" fmla="*/ 1005840 h 1805940"/>
              <a:gd name="connsiteX52" fmla="*/ 1066800 w 1104900"/>
              <a:gd name="connsiteY52" fmla="*/ 1051560 h 1805940"/>
              <a:gd name="connsiteX53" fmla="*/ 998220 w 1104900"/>
              <a:gd name="connsiteY53" fmla="*/ 1143000 h 1805940"/>
              <a:gd name="connsiteX54" fmla="*/ 929640 w 1104900"/>
              <a:gd name="connsiteY54" fmla="*/ 1242060 h 1805940"/>
              <a:gd name="connsiteX55" fmla="*/ 868680 w 1104900"/>
              <a:gd name="connsiteY55" fmla="*/ 1318260 h 1805940"/>
              <a:gd name="connsiteX56" fmla="*/ 853440 w 1104900"/>
              <a:gd name="connsiteY56" fmla="*/ 1341120 h 1805940"/>
              <a:gd name="connsiteX57" fmla="*/ 792480 w 1104900"/>
              <a:gd name="connsiteY57" fmla="*/ 1394460 h 1805940"/>
              <a:gd name="connsiteX58" fmla="*/ 769620 w 1104900"/>
              <a:gd name="connsiteY58" fmla="*/ 1424940 h 1805940"/>
              <a:gd name="connsiteX59" fmla="*/ 762000 w 1104900"/>
              <a:gd name="connsiteY59" fmla="*/ 1447800 h 1805940"/>
              <a:gd name="connsiteX60" fmla="*/ 723900 w 1104900"/>
              <a:gd name="connsiteY60" fmla="*/ 1493520 h 1805940"/>
              <a:gd name="connsiteX61" fmla="*/ 693420 w 1104900"/>
              <a:gd name="connsiteY61" fmla="*/ 1524000 h 1805940"/>
              <a:gd name="connsiteX62" fmla="*/ 685800 w 1104900"/>
              <a:gd name="connsiteY62" fmla="*/ 1546860 h 1805940"/>
              <a:gd name="connsiteX63" fmla="*/ 647700 w 1104900"/>
              <a:gd name="connsiteY63" fmla="*/ 1577340 h 1805940"/>
              <a:gd name="connsiteX64" fmla="*/ 632460 w 1104900"/>
              <a:gd name="connsiteY64" fmla="*/ 1600200 h 1805940"/>
              <a:gd name="connsiteX65" fmla="*/ 586740 w 1104900"/>
              <a:gd name="connsiteY65" fmla="*/ 1630680 h 1805940"/>
              <a:gd name="connsiteX66" fmla="*/ 556260 w 1104900"/>
              <a:gd name="connsiteY66" fmla="*/ 1676400 h 1805940"/>
              <a:gd name="connsiteX67" fmla="*/ 541020 w 1104900"/>
              <a:gd name="connsiteY67" fmla="*/ 1699260 h 1805940"/>
              <a:gd name="connsiteX68" fmla="*/ 533400 w 1104900"/>
              <a:gd name="connsiteY68" fmla="*/ 1737360 h 1805940"/>
              <a:gd name="connsiteX69" fmla="*/ 518160 w 1104900"/>
              <a:gd name="connsiteY69" fmla="*/ 1760220 h 1805940"/>
              <a:gd name="connsiteX70" fmla="*/ 480060 w 1104900"/>
              <a:gd name="connsiteY70" fmla="*/ 1805940 h 1805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104900" h="1805940">
                <a:moveTo>
                  <a:pt x="480060" y="1805940"/>
                </a:moveTo>
                <a:lnTo>
                  <a:pt x="480060" y="1805940"/>
                </a:lnTo>
                <a:cubicBezTo>
                  <a:pt x="459740" y="1793240"/>
                  <a:pt x="437811" y="1782809"/>
                  <a:pt x="419100" y="1767840"/>
                </a:cubicBezTo>
                <a:cubicBezTo>
                  <a:pt x="411949" y="1762119"/>
                  <a:pt x="410336" y="1751456"/>
                  <a:pt x="403860" y="1744980"/>
                </a:cubicBezTo>
                <a:cubicBezTo>
                  <a:pt x="389088" y="1730208"/>
                  <a:pt x="376733" y="1728318"/>
                  <a:pt x="358140" y="1722120"/>
                </a:cubicBezTo>
                <a:cubicBezTo>
                  <a:pt x="347980" y="1709420"/>
                  <a:pt x="341192" y="1693042"/>
                  <a:pt x="327660" y="1684020"/>
                </a:cubicBezTo>
                <a:cubicBezTo>
                  <a:pt x="316884" y="1676836"/>
                  <a:pt x="300336" y="1683584"/>
                  <a:pt x="289560" y="1676400"/>
                </a:cubicBezTo>
                <a:cubicBezTo>
                  <a:pt x="282877" y="1671945"/>
                  <a:pt x="286395" y="1660223"/>
                  <a:pt x="281940" y="1653540"/>
                </a:cubicBezTo>
                <a:cubicBezTo>
                  <a:pt x="275962" y="1644574"/>
                  <a:pt x="266700" y="1638300"/>
                  <a:pt x="259080" y="1630680"/>
                </a:cubicBezTo>
                <a:cubicBezTo>
                  <a:pt x="242195" y="1546253"/>
                  <a:pt x="269840" y="1635613"/>
                  <a:pt x="213360" y="1569720"/>
                </a:cubicBezTo>
                <a:cubicBezTo>
                  <a:pt x="206544" y="1561769"/>
                  <a:pt x="210936" y="1548333"/>
                  <a:pt x="205740" y="1539240"/>
                </a:cubicBezTo>
                <a:cubicBezTo>
                  <a:pt x="200393" y="1529884"/>
                  <a:pt x="189976" y="1524490"/>
                  <a:pt x="182880" y="1516380"/>
                </a:cubicBezTo>
                <a:cubicBezTo>
                  <a:pt x="172170" y="1504140"/>
                  <a:pt x="161727" y="1491604"/>
                  <a:pt x="152400" y="1478280"/>
                </a:cubicBezTo>
                <a:cubicBezTo>
                  <a:pt x="143907" y="1466147"/>
                  <a:pt x="137491" y="1452675"/>
                  <a:pt x="129540" y="1440180"/>
                </a:cubicBezTo>
                <a:cubicBezTo>
                  <a:pt x="119706" y="1424727"/>
                  <a:pt x="108289" y="1410281"/>
                  <a:pt x="99060" y="1394460"/>
                </a:cubicBezTo>
                <a:cubicBezTo>
                  <a:pt x="90475" y="1379742"/>
                  <a:pt x="85348" y="1363115"/>
                  <a:pt x="76200" y="1348740"/>
                </a:cubicBezTo>
                <a:cubicBezTo>
                  <a:pt x="67468" y="1335019"/>
                  <a:pt x="55047" y="1323964"/>
                  <a:pt x="45720" y="1310640"/>
                </a:cubicBezTo>
                <a:cubicBezTo>
                  <a:pt x="35072" y="1295428"/>
                  <a:pt x="15635" y="1260762"/>
                  <a:pt x="7620" y="1242060"/>
                </a:cubicBezTo>
                <a:cubicBezTo>
                  <a:pt x="4456" y="1234677"/>
                  <a:pt x="2540" y="1226820"/>
                  <a:pt x="0" y="1219200"/>
                </a:cubicBezTo>
                <a:cubicBezTo>
                  <a:pt x="5080" y="1143000"/>
                  <a:pt x="6569" y="1066475"/>
                  <a:pt x="15240" y="990600"/>
                </a:cubicBezTo>
                <a:cubicBezTo>
                  <a:pt x="16793" y="977010"/>
                  <a:pt x="27163" y="965770"/>
                  <a:pt x="30480" y="952500"/>
                </a:cubicBezTo>
                <a:cubicBezTo>
                  <a:pt x="65220" y="813542"/>
                  <a:pt x="2733" y="993471"/>
                  <a:pt x="60960" y="838200"/>
                </a:cubicBezTo>
                <a:cubicBezTo>
                  <a:pt x="63500" y="820420"/>
                  <a:pt x="63646" y="802129"/>
                  <a:pt x="68580" y="784860"/>
                </a:cubicBezTo>
                <a:cubicBezTo>
                  <a:pt x="73894" y="766260"/>
                  <a:pt x="84934" y="749737"/>
                  <a:pt x="91440" y="731520"/>
                </a:cubicBezTo>
                <a:cubicBezTo>
                  <a:pt x="97659" y="714106"/>
                  <a:pt x="101242" y="695854"/>
                  <a:pt x="106680" y="678180"/>
                </a:cubicBezTo>
                <a:cubicBezTo>
                  <a:pt x="111404" y="662826"/>
                  <a:pt x="117196" y="647814"/>
                  <a:pt x="121920" y="632460"/>
                </a:cubicBezTo>
                <a:cubicBezTo>
                  <a:pt x="162201" y="501545"/>
                  <a:pt x="109239" y="657810"/>
                  <a:pt x="160020" y="525780"/>
                </a:cubicBezTo>
                <a:cubicBezTo>
                  <a:pt x="178216" y="478469"/>
                  <a:pt x="170655" y="478971"/>
                  <a:pt x="198120" y="434340"/>
                </a:cubicBezTo>
                <a:cubicBezTo>
                  <a:pt x="209571" y="415731"/>
                  <a:pt x="224489" y="399434"/>
                  <a:pt x="236220" y="381000"/>
                </a:cubicBezTo>
                <a:cubicBezTo>
                  <a:pt x="274368" y="321053"/>
                  <a:pt x="225382" y="379853"/>
                  <a:pt x="274320" y="320040"/>
                </a:cubicBezTo>
                <a:cubicBezTo>
                  <a:pt x="289149" y="301916"/>
                  <a:pt x="307377" y="286398"/>
                  <a:pt x="320040" y="266700"/>
                </a:cubicBezTo>
                <a:cubicBezTo>
                  <a:pt x="382380" y="169727"/>
                  <a:pt x="298392" y="257383"/>
                  <a:pt x="373380" y="152400"/>
                </a:cubicBezTo>
                <a:cubicBezTo>
                  <a:pt x="400049" y="115064"/>
                  <a:pt x="428364" y="100504"/>
                  <a:pt x="464820" y="76200"/>
                </a:cubicBezTo>
                <a:cubicBezTo>
                  <a:pt x="469900" y="66040"/>
                  <a:pt x="472028" y="53752"/>
                  <a:pt x="480060" y="45720"/>
                </a:cubicBezTo>
                <a:cubicBezTo>
                  <a:pt x="502031" y="23749"/>
                  <a:pt x="521547" y="22013"/>
                  <a:pt x="548640" y="15240"/>
                </a:cubicBezTo>
                <a:cubicBezTo>
                  <a:pt x="556260" y="10160"/>
                  <a:pt x="562342" y="0"/>
                  <a:pt x="571500" y="0"/>
                </a:cubicBezTo>
                <a:cubicBezTo>
                  <a:pt x="665643" y="0"/>
                  <a:pt x="678767" y="7816"/>
                  <a:pt x="746760" y="30480"/>
                </a:cubicBezTo>
                <a:cubicBezTo>
                  <a:pt x="850985" y="108648"/>
                  <a:pt x="688167" y="-8444"/>
                  <a:pt x="822960" y="68580"/>
                </a:cubicBezTo>
                <a:cubicBezTo>
                  <a:pt x="845013" y="81182"/>
                  <a:pt x="861202" y="102941"/>
                  <a:pt x="883920" y="114300"/>
                </a:cubicBezTo>
                <a:cubicBezTo>
                  <a:pt x="899160" y="121920"/>
                  <a:pt x="914169" y="130020"/>
                  <a:pt x="929640" y="137160"/>
                </a:cubicBezTo>
                <a:cubicBezTo>
                  <a:pt x="947204" y="145266"/>
                  <a:pt x="965998" y="150757"/>
                  <a:pt x="982980" y="160020"/>
                </a:cubicBezTo>
                <a:cubicBezTo>
                  <a:pt x="994129" y="166101"/>
                  <a:pt x="1002101" y="177200"/>
                  <a:pt x="1013460" y="182880"/>
                </a:cubicBezTo>
                <a:cubicBezTo>
                  <a:pt x="1122276" y="237288"/>
                  <a:pt x="1014796" y="168531"/>
                  <a:pt x="1082040" y="213360"/>
                </a:cubicBezTo>
                <a:cubicBezTo>
                  <a:pt x="1084580" y="220980"/>
                  <a:pt x="1086068" y="229036"/>
                  <a:pt x="1089660" y="236220"/>
                </a:cubicBezTo>
                <a:cubicBezTo>
                  <a:pt x="1093756" y="244411"/>
                  <a:pt x="1104900" y="249922"/>
                  <a:pt x="1104900" y="259080"/>
                </a:cubicBezTo>
                <a:cubicBezTo>
                  <a:pt x="1104900" y="322783"/>
                  <a:pt x="1097812" y="386401"/>
                  <a:pt x="1089660" y="449580"/>
                </a:cubicBezTo>
                <a:cubicBezTo>
                  <a:pt x="1087604" y="465512"/>
                  <a:pt x="1078316" y="479715"/>
                  <a:pt x="1074420" y="495300"/>
                </a:cubicBezTo>
                <a:cubicBezTo>
                  <a:pt x="1070673" y="510289"/>
                  <a:pt x="1069340" y="525780"/>
                  <a:pt x="1066800" y="541020"/>
                </a:cubicBezTo>
                <a:cubicBezTo>
                  <a:pt x="1071880" y="571500"/>
                  <a:pt x="1076205" y="602116"/>
                  <a:pt x="1082040" y="632460"/>
                </a:cubicBezTo>
                <a:cubicBezTo>
                  <a:pt x="1088908" y="668173"/>
                  <a:pt x="1104900" y="739140"/>
                  <a:pt x="1104900" y="739140"/>
                </a:cubicBezTo>
                <a:cubicBezTo>
                  <a:pt x="1099820" y="817880"/>
                  <a:pt x="1098619" y="896967"/>
                  <a:pt x="1089660" y="975360"/>
                </a:cubicBezTo>
                <a:cubicBezTo>
                  <a:pt x="1088370" y="986646"/>
                  <a:pt x="1077684" y="994960"/>
                  <a:pt x="1074420" y="1005840"/>
                </a:cubicBezTo>
                <a:cubicBezTo>
                  <a:pt x="1069980" y="1020639"/>
                  <a:pt x="1071686" y="1036903"/>
                  <a:pt x="1066800" y="1051560"/>
                </a:cubicBezTo>
                <a:cubicBezTo>
                  <a:pt x="1048820" y="1105500"/>
                  <a:pt x="1037623" y="1099218"/>
                  <a:pt x="998220" y="1143000"/>
                </a:cubicBezTo>
                <a:cubicBezTo>
                  <a:pt x="974919" y="1168890"/>
                  <a:pt x="947697" y="1220391"/>
                  <a:pt x="929640" y="1242060"/>
                </a:cubicBezTo>
                <a:cubicBezTo>
                  <a:pt x="901510" y="1275816"/>
                  <a:pt x="891855" y="1285815"/>
                  <a:pt x="868680" y="1318260"/>
                </a:cubicBezTo>
                <a:cubicBezTo>
                  <a:pt x="863357" y="1325712"/>
                  <a:pt x="859400" y="1334167"/>
                  <a:pt x="853440" y="1341120"/>
                </a:cubicBezTo>
                <a:cubicBezTo>
                  <a:pt x="782207" y="1424226"/>
                  <a:pt x="862539" y="1324401"/>
                  <a:pt x="792480" y="1394460"/>
                </a:cubicBezTo>
                <a:cubicBezTo>
                  <a:pt x="783500" y="1403440"/>
                  <a:pt x="777240" y="1414780"/>
                  <a:pt x="769620" y="1424940"/>
                </a:cubicBezTo>
                <a:cubicBezTo>
                  <a:pt x="767080" y="1432560"/>
                  <a:pt x="765592" y="1440616"/>
                  <a:pt x="762000" y="1447800"/>
                </a:cubicBezTo>
                <a:cubicBezTo>
                  <a:pt x="751391" y="1469018"/>
                  <a:pt x="740752" y="1476668"/>
                  <a:pt x="723900" y="1493520"/>
                </a:cubicBezTo>
                <a:cubicBezTo>
                  <a:pt x="703580" y="1554480"/>
                  <a:pt x="734060" y="1483360"/>
                  <a:pt x="693420" y="1524000"/>
                </a:cubicBezTo>
                <a:cubicBezTo>
                  <a:pt x="687740" y="1529680"/>
                  <a:pt x="689392" y="1539676"/>
                  <a:pt x="685800" y="1546860"/>
                </a:cubicBezTo>
                <a:cubicBezTo>
                  <a:pt x="672013" y="1574434"/>
                  <a:pt x="674066" y="1568551"/>
                  <a:pt x="647700" y="1577340"/>
                </a:cubicBezTo>
                <a:cubicBezTo>
                  <a:pt x="642620" y="1584960"/>
                  <a:pt x="639611" y="1594479"/>
                  <a:pt x="632460" y="1600200"/>
                </a:cubicBezTo>
                <a:cubicBezTo>
                  <a:pt x="580104" y="1642085"/>
                  <a:pt x="641137" y="1560741"/>
                  <a:pt x="586740" y="1630680"/>
                </a:cubicBezTo>
                <a:cubicBezTo>
                  <a:pt x="575495" y="1645138"/>
                  <a:pt x="566420" y="1661160"/>
                  <a:pt x="556260" y="1676400"/>
                </a:cubicBezTo>
                <a:lnTo>
                  <a:pt x="541020" y="1699260"/>
                </a:lnTo>
                <a:cubicBezTo>
                  <a:pt x="538480" y="1711960"/>
                  <a:pt x="537948" y="1725233"/>
                  <a:pt x="533400" y="1737360"/>
                </a:cubicBezTo>
                <a:cubicBezTo>
                  <a:pt x="530184" y="1745935"/>
                  <a:pt x="522872" y="1752367"/>
                  <a:pt x="518160" y="1760220"/>
                </a:cubicBezTo>
                <a:cubicBezTo>
                  <a:pt x="515238" y="1765090"/>
                  <a:pt x="486410" y="1798320"/>
                  <a:pt x="480060" y="1805940"/>
                </a:cubicBezTo>
                <a:close/>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9737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A649AB-62F0-4D13-A249-AB6A8987FAFE}"/>
              </a:ext>
            </a:extLst>
          </p:cNvPr>
          <p:cNvSpPr>
            <a:spLocks noGrp="1"/>
          </p:cNvSpPr>
          <p:nvPr>
            <p:ph type="title"/>
          </p:nvPr>
        </p:nvSpPr>
        <p:spPr>
          <a:xfrm>
            <a:off x="838200" y="60250"/>
            <a:ext cx="9726227" cy="1325563"/>
          </a:xfrm>
        </p:spPr>
        <p:txBody>
          <a:bodyPr/>
          <a:lstStyle/>
          <a:p>
            <a:r>
              <a:rPr lang="en-US" dirty="0">
                <a:latin typeface="Franklin Gothic Book" panose="020B0503020102020204" pitchFamily="34" charset="0"/>
              </a:rPr>
              <a:t>6. Visual Displays &amp; Block models</a:t>
            </a:r>
            <a:endParaRPr lang="en-US" sz="3200" b="1" dirty="0">
              <a:latin typeface="Franklin Gothic Book" panose="020B0503020102020204" pitchFamily="34" charset="0"/>
            </a:endParaRPr>
          </a:p>
        </p:txBody>
      </p:sp>
      <p:sp>
        <p:nvSpPr>
          <p:cNvPr id="36" name="직사각형 35">
            <a:extLst>
              <a:ext uri="{FF2B5EF4-FFF2-40B4-BE49-F238E27FC236}">
                <a16:creationId xmlns:a16="http://schemas.microsoft.com/office/drawing/2014/main" id="{7FFF23ED-2B21-4068-919C-6826595F5A57}"/>
              </a:ext>
            </a:extLst>
          </p:cNvPr>
          <p:cNvSpPr/>
          <p:nvPr/>
        </p:nvSpPr>
        <p:spPr>
          <a:xfrm>
            <a:off x="494110" y="1296873"/>
            <a:ext cx="1675459" cy="369332"/>
          </a:xfrm>
          <a:prstGeom prst="rect">
            <a:avLst/>
          </a:prstGeom>
        </p:spPr>
        <p:txBody>
          <a:bodyPr wrap="none">
            <a:spAutoFit/>
          </a:bodyPr>
          <a:lstStyle/>
          <a:p>
            <a:r>
              <a:rPr lang="en-US" b="1" dirty="0">
                <a:latin typeface="Franklin Gothic Book" panose="020B0503020102020204" pitchFamily="34" charset="0"/>
              </a:rPr>
              <a:t>Block Modeling</a:t>
            </a:r>
            <a:endParaRPr lang="en-US" i="1" dirty="0"/>
          </a:p>
        </p:txBody>
      </p:sp>
      <p:sp>
        <p:nvSpPr>
          <p:cNvPr id="37" name="직사각형 36">
            <a:extLst>
              <a:ext uri="{FF2B5EF4-FFF2-40B4-BE49-F238E27FC236}">
                <a16:creationId xmlns:a16="http://schemas.microsoft.com/office/drawing/2014/main" id="{3E0F9544-6557-425F-B1CA-D13E06B85803}"/>
              </a:ext>
            </a:extLst>
          </p:cNvPr>
          <p:cNvSpPr/>
          <p:nvPr/>
        </p:nvSpPr>
        <p:spPr>
          <a:xfrm>
            <a:off x="838200" y="1666205"/>
            <a:ext cx="8075031" cy="307777"/>
          </a:xfrm>
          <a:prstGeom prst="rect">
            <a:avLst/>
          </a:prstGeom>
        </p:spPr>
        <p:txBody>
          <a:bodyPr wrap="none">
            <a:spAutoFit/>
          </a:bodyPr>
          <a:lstStyle/>
          <a:p>
            <a:r>
              <a:rPr lang="en-US" sz="1400" dirty="0">
                <a:latin typeface="Franklin Gothic Book" panose="020B0503020102020204" pitchFamily="34" charset="0"/>
              </a:rPr>
              <a:t>Matrix algebraic method for </a:t>
            </a:r>
            <a:r>
              <a:rPr lang="en-US" sz="1400" b="1" dirty="0">
                <a:latin typeface="Franklin Gothic Book" panose="020B0503020102020204" pitchFamily="34" charset="0"/>
              </a:rPr>
              <a:t>sorting network actors</a:t>
            </a:r>
            <a:r>
              <a:rPr lang="en-US" sz="1400" dirty="0">
                <a:latin typeface="Franklin Gothic Book" panose="020B0503020102020204" pitchFamily="34" charset="0"/>
              </a:rPr>
              <a:t> into jointly occupied, structurally equivalent positions</a:t>
            </a:r>
          </a:p>
        </p:txBody>
      </p:sp>
      <p:sp>
        <p:nvSpPr>
          <p:cNvPr id="38" name="직사각형 37">
            <a:extLst>
              <a:ext uri="{FF2B5EF4-FFF2-40B4-BE49-F238E27FC236}">
                <a16:creationId xmlns:a16="http://schemas.microsoft.com/office/drawing/2014/main" id="{0F4F9874-9A26-4EC7-9CCE-6984663D81A9}"/>
              </a:ext>
            </a:extLst>
          </p:cNvPr>
          <p:cNvSpPr/>
          <p:nvPr/>
        </p:nvSpPr>
        <p:spPr>
          <a:xfrm>
            <a:off x="638890" y="1978730"/>
            <a:ext cx="1058303" cy="307777"/>
          </a:xfrm>
          <a:prstGeom prst="rect">
            <a:avLst/>
          </a:prstGeom>
        </p:spPr>
        <p:txBody>
          <a:bodyPr wrap="none">
            <a:spAutoFit/>
          </a:bodyPr>
          <a:lstStyle/>
          <a:p>
            <a:r>
              <a:rPr lang="en-US" sz="1400" b="1" dirty="0">
                <a:latin typeface="Franklin Gothic Book" panose="020B0503020102020204" pitchFamily="34" charset="0"/>
              </a:rPr>
              <a:t>blockmodel</a:t>
            </a:r>
            <a:endParaRPr lang="en-US" sz="1400" dirty="0"/>
          </a:p>
        </p:txBody>
      </p:sp>
      <p:sp>
        <p:nvSpPr>
          <p:cNvPr id="39" name="직사각형 38">
            <a:extLst>
              <a:ext uri="{FF2B5EF4-FFF2-40B4-BE49-F238E27FC236}">
                <a16:creationId xmlns:a16="http://schemas.microsoft.com/office/drawing/2014/main" id="{9633FB78-2062-4881-A6A0-86D696D51FD3}"/>
              </a:ext>
            </a:extLst>
          </p:cNvPr>
          <p:cNvSpPr/>
          <p:nvPr/>
        </p:nvSpPr>
        <p:spPr>
          <a:xfrm>
            <a:off x="838200" y="2245608"/>
            <a:ext cx="8801100" cy="954107"/>
          </a:xfrm>
          <a:prstGeom prst="rect">
            <a:avLst/>
          </a:prstGeom>
        </p:spPr>
        <p:txBody>
          <a:bodyPr wrap="square">
            <a:spAutoFit/>
          </a:bodyPr>
          <a:lstStyle/>
          <a:p>
            <a:pPr marL="285750" indent="-285750">
              <a:buFont typeface="Arial" panose="020B0604020202020204" pitchFamily="34" charset="0"/>
              <a:buChar char="•"/>
            </a:pPr>
            <a:r>
              <a:rPr lang="en-US" sz="1400" dirty="0">
                <a:latin typeface="Franklin Gothic Book" panose="020B0503020102020204" pitchFamily="34" charset="0"/>
              </a:rPr>
              <a:t>Partition of a sociomatrix of g actors into two or more discrete subgroups or positions called blocks (</a:t>
            </a:r>
            <a:r>
              <a:rPr lang="en-US" sz="1400" b="1" i="1" dirty="0">
                <a:latin typeface="Franklin Gothic Book" panose="020B0503020102020204" pitchFamily="34" charset="0"/>
              </a:rPr>
              <a:t>B</a:t>
            </a:r>
            <a:r>
              <a:rPr lang="en-US" sz="1400" dirty="0">
                <a:latin typeface="Franklin Gothic Book" panose="020B0503020102020204" pitchFamily="34" charset="0"/>
              </a:rPr>
              <a:t>).</a:t>
            </a:r>
          </a:p>
          <a:p>
            <a:pPr marL="285750" indent="-285750">
              <a:buFont typeface="Arial" panose="020B0604020202020204" pitchFamily="34" charset="0"/>
              <a:buChar char="•"/>
            </a:pPr>
            <a:r>
              <a:rPr lang="en-US" sz="1400" dirty="0">
                <a:latin typeface="Franklin Gothic Book" panose="020B0503020102020204" pitchFamily="34" charset="0"/>
              </a:rPr>
              <a:t>Block refers to a square submatrix of structurally equivalent actors that have very similar relations with actors occupying the other block. It is a data reduction technique that systematically searches for relational patterns in network data</a:t>
            </a:r>
            <a:endParaRPr lang="en-US" sz="1400" dirty="0"/>
          </a:p>
        </p:txBody>
      </p:sp>
      <p:pic>
        <p:nvPicPr>
          <p:cNvPr id="2050" name="Picture 2" descr="blockmodeling matrixì ëí ì´ë¯¸ì§ ê²ìê²°ê³¼">
            <a:extLst>
              <a:ext uri="{FF2B5EF4-FFF2-40B4-BE49-F238E27FC236}">
                <a16:creationId xmlns:a16="http://schemas.microsoft.com/office/drawing/2014/main" id="{45144108-60E6-4B3E-8E35-6573D4E9929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2929" b="34879"/>
          <a:stretch/>
        </p:blipFill>
        <p:spPr bwMode="auto">
          <a:xfrm>
            <a:off x="989937" y="3199715"/>
            <a:ext cx="2881023" cy="212788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blockmodeling matrixì ëí ì´ë¯¸ì§ ê²ìê²°ê³¼">
            <a:extLst>
              <a:ext uri="{FF2B5EF4-FFF2-40B4-BE49-F238E27FC236}">
                <a16:creationId xmlns:a16="http://schemas.microsoft.com/office/drawing/2014/main" id="{D786E783-5E1D-429E-9B25-5B592A20A7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169" b="34879"/>
          <a:stretch/>
        </p:blipFill>
        <p:spPr bwMode="auto">
          <a:xfrm>
            <a:off x="5681514" y="3199715"/>
            <a:ext cx="4882913" cy="2127884"/>
          </a:xfrm>
          <a:prstGeom prst="rect">
            <a:avLst/>
          </a:prstGeom>
          <a:noFill/>
          <a:extLst>
            <a:ext uri="{909E8E84-426E-40DD-AFC4-6F175D3DCCD1}">
              <a14:hiddenFill xmlns:a14="http://schemas.microsoft.com/office/drawing/2010/main">
                <a:solidFill>
                  <a:srgbClr val="FFFFFF"/>
                </a:solidFill>
              </a14:hiddenFill>
            </a:ext>
          </a:extLst>
        </p:spPr>
      </p:pic>
      <p:sp>
        <p:nvSpPr>
          <p:cNvPr id="3" name="화살표: 오른쪽 2">
            <a:extLst>
              <a:ext uri="{FF2B5EF4-FFF2-40B4-BE49-F238E27FC236}">
                <a16:creationId xmlns:a16="http://schemas.microsoft.com/office/drawing/2014/main" id="{550DF867-D1B8-4703-9998-472F38D1BE50}"/>
              </a:ext>
            </a:extLst>
          </p:cNvPr>
          <p:cNvSpPr/>
          <p:nvPr/>
        </p:nvSpPr>
        <p:spPr>
          <a:xfrm>
            <a:off x="4559485" y="4114800"/>
            <a:ext cx="632460" cy="441960"/>
          </a:xfrm>
          <a:prstGeom prst="righ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직사각형 3">
            <a:extLst>
              <a:ext uri="{FF2B5EF4-FFF2-40B4-BE49-F238E27FC236}">
                <a16:creationId xmlns:a16="http://schemas.microsoft.com/office/drawing/2014/main" id="{0C102B32-0EA3-4B6D-A3F2-B45908CF20A3}"/>
              </a:ext>
            </a:extLst>
          </p:cNvPr>
          <p:cNvSpPr/>
          <p:nvPr/>
        </p:nvSpPr>
        <p:spPr>
          <a:xfrm>
            <a:off x="6096000" y="3628728"/>
            <a:ext cx="548640" cy="525094"/>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직사각형 42">
            <a:extLst>
              <a:ext uri="{FF2B5EF4-FFF2-40B4-BE49-F238E27FC236}">
                <a16:creationId xmlns:a16="http://schemas.microsoft.com/office/drawing/2014/main" id="{EE4962F9-5B2A-4498-959F-83AB63FE2E9E}"/>
              </a:ext>
            </a:extLst>
          </p:cNvPr>
          <p:cNvSpPr/>
          <p:nvPr/>
        </p:nvSpPr>
        <p:spPr>
          <a:xfrm>
            <a:off x="6647646" y="4153822"/>
            <a:ext cx="822960" cy="792632"/>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직사각형 43">
            <a:extLst>
              <a:ext uri="{FF2B5EF4-FFF2-40B4-BE49-F238E27FC236}">
                <a16:creationId xmlns:a16="http://schemas.microsoft.com/office/drawing/2014/main" id="{004CFE80-EE14-43C8-BCC0-C6CA148792EF}"/>
              </a:ext>
            </a:extLst>
          </p:cNvPr>
          <p:cNvSpPr/>
          <p:nvPr/>
        </p:nvSpPr>
        <p:spPr>
          <a:xfrm>
            <a:off x="7498082" y="4946454"/>
            <a:ext cx="312418" cy="318966"/>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8132944"/>
      </p:ext>
    </p:extLst>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TM02892315[[fn=줄기]]</Template>
  <TotalTime>5463</TotalTime>
  <Words>2841</Words>
  <Application>Microsoft Office PowerPoint</Application>
  <PresentationFormat>와이드스크린</PresentationFormat>
  <Paragraphs>408</Paragraphs>
  <Slides>22</Slides>
  <Notes>0</Notes>
  <HiddenSlides>0</HiddenSlides>
  <MMClips>0</MMClips>
  <ScaleCrop>false</ScaleCrop>
  <HeadingPairs>
    <vt:vector size="6" baseType="variant">
      <vt:variant>
        <vt:lpstr>사용한 글꼴</vt:lpstr>
      </vt:variant>
      <vt:variant>
        <vt:i4>7</vt:i4>
      </vt:variant>
      <vt:variant>
        <vt:lpstr>테마</vt:lpstr>
      </vt:variant>
      <vt:variant>
        <vt:i4>2</vt:i4>
      </vt:variant>
      <vt:variant>
        <vt:lpstr>슬라이드 제목</vt:lpstr>
      </vt:variant>
      <vt:variant>
        <vt:i4>22</vt:i4>
      </vt:variant>
    </vt:vector>
  </HeadingPairs>
  <TitlesOfParts>
    <vt:vector size="31" baseType="lpstr">
      <vt:lpstr>맑은 고딕</vt:lpstr>
      <vt:lpstr>Arial</vt:lpstr>
      <vt:lpstr>Calibri</vt:lpstr>
      <vt:lpstr>Calibri Light</vt:lpstr>
      <vt:lpstr>Cambria Math</vt:lpstr>
      <vt:lpstr>Franklin Gothic Book</vt:lpstr>
      <vt:lpstr>Wingdings 2</vt:lpstr>
      <vt:lpstr>HDOfficeLightV0</vt:lpstr>
      <vt:lpstr>Office 테마</vt:lpstr>
      <vt:lpstr>Social Network Analysis</vt:lpstr>
      <vt:lpstr>Table of Contents</vt:lpstr>
      <vt:lpstr>1. Graphs &amp; Matrices</vt:lpstr>
      <vt:lpstr>1. Graphs &amp; Matrices   Graphs</vt:lpstr>
      <vt:lpstr>1. Graphs &amp; Matrices   Graphs</vt:lpstr>
      <vt:lpstr>1. Graphs &amp; Matrices   Matrices</vt:lpstr>
      <vt:lpstr>1. Graphs &amp; Matrices   Matrices</vt:lpstr>
      <vt:lpstr>2. Relationship Measures</vt:lpstr>
      <vt:lpstr>2. Relationship Measures</vt:lpstr>
      <vt:lpstr>2. Relationship Measures</vt:lpstr>
      <vt:lpstr>3. Centrality and Prestige</vt:lpstr>
      <vt:lpstr>3. Centrality and Prestige</vt:lpstr>
      <vt:lpstr>3. Centrality and Prestige</vt:lpstr>
      <vt:lpstr>3. Centrality and Prestige</vt:lpstr>
      <vt:lpstr>3. Centrality and Prestige</vt:lpstr>
      <vt:lpstr>4. Cliques</vt:lpstr>
      <vt:lpstr>4. Cliques</vt:lpstr>
      <vt:lpstr>4. Cliques</vt:lpstr>
      <vt:lpstr>5. Structural Equivalence</vt:lpstr>
      <vt:lpstr>6. Visual Displays &amp; Block models</vt:lpstr>
      <vt:lpstr>6. Visual Displays &amp; Block models</vt:lpstr>
      <vt:lpstr>6. Visual Displays &amp; Block models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agdal1125@gmail.com</dc:creator>
  <cp:lastModifiedBy>agdal1125@gmail.com</cp:lastModifiedBy>
  <cp:revision>173</cp:revision>
  <dcterms:created xsi:type="dcterms:W3CDTF">2018-01-23T16:32:33Z</dcterms:created>
  <dcterms:modified xsi:type="dcterms:W3CDTF">2018-03-21T12:04:22Z</dcterms:modified>
</cp:coreProperties>
</file>