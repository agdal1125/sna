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 id="2147483828" r:id="rId2"/>
  </p:sldMasterIdLst>
  <p:notesMasterIdLst>
    <p:notesMasterId r:id="rId24"/>
  </p:notesMasterIdLst>
  <p:sldIdLst>
    <p:sldId id="256" r:id="rId3"/>
    <p:sldId id="257" r:id="rId4"/>
    <p:sldId id="259" r:id="rId5"/>
    <p:sldId id="258" r:id="rId6"/>
    <p:sldId id="261" r:id="rId7"/>
    <p:sldId id="262"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보통 스타일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05" autoAdjust="0"/>
    <p:restoredTop sz="94660"/>
  </p:normalViewPr>
  <p:slideViewPr>
    <p:cSldViewPr snapToGrid="0">
      <p:cViewPr varScale="1">
        <p:scale>
          <a:sx n="86" d="100"/>
          <a:sy n="86"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0746A-1847-40EC-B93C-F7873E555D98}" type="datetimeFigureOut">
              <a:rPr lang="en-US" smtClean="0"/>
              <a:t>4/25/2018</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B6FAC4-1E03-49E8-BD28-AF1566EF4093}" type="slidenum">
              <a:rPr lang="en-US" smtClean="0"/>
              <a:t>‹#›</a:t>
            </a:fld>
            <a:endParaRPr lang="en-US"/>
          </a:p>
        </p:txBody>
      </p:sp>
    </p:spTree>
    <p:extLst>
      <p:ext uri="{BB962C8B-B14F-4D97-AF65-F5344CB8AC3E}">
        <p14:creationId xmlns:p14="http://schemas.microsoft.com/office/powerpoint/2010/main" val="4179859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4/25/2018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82310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4/25/2018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94483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ko-KR" altLang="en-US"/>
              <a:t>마스터 제목 스타일 편집</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6B51CB8E-6F81-4EA9-97B5-248BF9D22C8A}" type="datetimeFigureOut">
              <a:rPr lang="en-US" smtClean="0"/>
              <a:t>4/25/2018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984898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6B51CB8E-6F81-4EA9-97B5-248BF9D22C8A}" type="datetimeFigureOut">
              <a:rPr lang="en-US" smtClean="0"/>
              <a:t>4/25/2018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9052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비교">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845127" y="2507550"/>
            <a:ext cx="5156200"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6172200" y="2507550"/>
            <a:ext cx="5181601"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Date Placeholder 6"/>
          <p:cNvSpPr>
            <a:spLocks noGrp="1"/>
          </p:cNvSpPr>
          <p:nvPr>
            <p:ph type="dt" sz="half" idx="10"/>
          </p:nvPr>
        </p:nvSpPr>
        <p:spPr/>
        <p:txBody>
          <a:bodyPr/>
          <a:lstStyle/>
          <a:p>
            <a:fld id="{6B51CB8E-6F81-4EA9-97B5-248BF9D22C8A}" type="datetimeFigureOut">
              <a:rPr lang="en-US" smtClean="0"/>
              <a:t>4/25/2018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DC7EB3-5AE8-4FED-A667-9442F52E7975}" type="slidenum">
              <a:rPr lang="en-US" smtClean="0"/>
              <a:t>‹#›</a:t>
            </a:fld>
            <a:endParaRPr lang="en-US"/>
          </a:p>
        </p:txBody>
      </p:sp>
      <p:sp>
        <p:nvSpPr>
          <p:cNvPr id="10" name="Title 9"/>
          <p:cNvSpPr>
            <a:spLocks noGrp="1"/>
          </p:cNvSpPr>
          <p:nvPr>
            <p:ph type="title"/>
          </p:nvPr>
        </p:nvSpPr>
        <p:spPr/>
        <p:txBody>
          <a:bodyPr/>
          <a:lstStyle/>
          <a:p>
            <a:r>
              <a:rPr lang="ko-KR" altLang="en-US"/>
              <a:t>마스터 제목 스타일 편집</a:t>
            </a:r>
            <a:endParaRPr lang="en-US" dirty="0"/>
          </a:p>
        </p:txBody>
      </p:sp>
    </p:spTree>
    <p:extLst>
      <p:ext uri="{BB962C8B-B14F-4D97-AF65-F5344CB8AC3E}">
        <p14:creationId xmlns:p14="http://schemas.microsoft.com/office/powerpoint/2010/main" val="4188153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제목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B51CB8E-6F81-4EA9-97B5-248BF9D22C8A}" type="datetimeFigureOut">
              <a:rPr lang="en-US" smtClean="0"/>
              <a:t>4/25/2018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DC7EB3-5AE8-4FED-A667-9442F52E7975}" type="slidenum">
              <a:rPr lang="en-US" smtClean="0"/>
              <a:t>‹#›</a:t>
            </a:fld>
            <a:endParaRPr lang="en-US"/>
          </a:p>
        </p:txBody>
      </p:sp>
      <p:sp>
        <p:nvSpPr>
          <p:cNvPr id="6" name="Title 5"/>
          <p:cNvSpPr>
            <a:spLocks noGrp="1"/>
          </p:cNvSpPr>
          <p:nvPr>
            <p:ph type="title"/>
          </p:nvPr>
        </p:nvSpPr>
        <p:spPr/>
        <p:txBody>
          <a:bodyPr/>
          <a:lstStyle/>
          <a:p>
            <a:r>
              <a:rPr lang="ko-KR" altLang="en-US"/>
              <a:t>마스터 제목 스타일 편집</a:t>
            </a:r>
            <a:endParaRPr lang="en-US"/>
          </a:p>
        </p:txBody>
      </p:sp>
    </p:spTree>
    <p:extLst>
      <p:ext uri="{BB962C8B-B14F-4D97-AF65-F5344CB8AC3E}">
        <p14:creationId xmlns:p14="http://schemas.microsoft.com/office/powerpoint/2010/main" val="2772496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51CB8E-6F81-4EA9-97B5-248BF9D22C8A}" type="datetimeFigureOut">
              <a:rPr lang="en-US" smtClean="0"/>
              <a:t>4/25/2018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20478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ko-KR" altLang="en-US"/>
              <a:t>마스터 제목 스타일 편집</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4/25/2018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948338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ko-KR" altLang="en-US"/>
              <a:t>마스터 제목 스타일 편집</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4/25/2018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23229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4/25/2018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929989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Date Placeholder 3"/>
          <p:cNvSpPr>
            <a:spLocks noGrp="1"/>
          </p:cNvSpPr>
          <p:nvPr>
            <p:ph type="dt" sz="half" idx="10"/>
          </p:nvPr>
        </p:nvSpPr>
        <p:spPr/>
        <p:txBody>
          <a:bodyPr/>
          <a:lstStyle/>
          <a:p>
            <a:fld id="{6B51CB8E-6F81-4EA9-97B5-248BF9D22C8A}" type="datetimeFigureOut">
              <a:rPr lang="en-US" smtClean="0"/>
              <a:t>4/25/2018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11158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E778D0-FFC8-41A2-B947-98DA5567D18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a:extLst>
              <a:ext uri="{FF2B5EF4-FFF2-40B4-BE49-F238E27FC236}">
                <a16:creationId xmlns:a16="http://schemas.microsoft.com/office/drawing/2014/main" id="{13FE50C6-4AE6-4854-9690-468A21E430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a:extLst>
              <a:ext uri="{FF2B5EF4-FFF2-40B4-BE49-F238E27FC236}">
                <a16:creationId xmlns:a16="http://schemas.microsoft.com/office/drawing/2014/main" id="{85CC4856-83A7-4A2E-94B0-9B59BEA46A6D}"/>
              </a:ext>
            </a:extLst>
          </p:cNvPr>
          <p:cNvSpPr>
            <a:spLocks noGrp="1"/>
          </p:cNvSpPr>
          <p:nvPr>
            <p:ph type="dt" sz="half" idx="10"/>
          </p:nvPr>
        </p:nvSpPr>
        <p:spPr/>
        <p:txBody>
          <a:bodyPr/>
          <a:lstStyle/>
          <a:p>
            <a:fld id="{6B51CB8E-6F81-4EA9-97B5-248BF9D22C8A}" type="datetimeFigureOut">
              <a:rPr lang="en-US" smtClean="0"/>
              <a:t>4/25/2018</a:t>
            </a:fld>
            <a:endParaRPr lang="en-US"/>
          </a:p>
        </p:txBody>
      </p:sp>
      <p:sp>
        <p:nvSpPr>
          <p:cNvPr id="5" name="바닥글 개체 틀 4">
            <a:extLst>
              <a:ext uri="{FF2B5EF4-FFF2-40B4-BE49-F238E27FC236}">
                <a16:creationId xmlns:a16="http://schemas.microsoft.com/office/drawing/2014/main" id="{81ADA6B5-36DA-4622-977E-C5EE2D797A06}"/>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0D64629E-5C28-40C0-BE9C-C384FD89C126}"/>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2834253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5390A2-6434-466B-B133-59B47A53BDF5}"/>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4BB85408-5405-43F3-A997-A5686CB94D15}"/>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AF144089-4D32-4F98-A7FB-1C2A8F3484AF}"/>
              </a:ext>
            </a:extLst>
          </p:cNvPr>
          <p:cNvSpPr>
            <a:spLocks noGrp="1"/>
          </p:cNvSpPr>
          <p:nvPr>
            <p:ph type="dt" sz="half" idx="10"/>
          </p:nvPr>
        </p:nvSpPr>
        <p:spPr/>
        <p:txBody>
          <a:bodyPr/>
          <a:lstStyle/>
          <a:p>
            <a:fld id="{6B51CB8E-6F81-4EA9-97B5-248BF9D22C8A}" type="datetimeFigureOut">
              <a:rPr lang="en-US" smtClean="0"/>
              <a:t>4/25/2018</a:t>
            </a:fld>
            <a:endParaRPr lang="en-US"/>
          </a:p>
        </p:txBody>
      </p:sp>
      <p:sp>
        <p:nvSpPr>
          <p:cNvPr id="5" name="바닥글 개체 틀 4">
            <a:extLst>
              <a:ext uri="{FF2B5EF4-FFF2-40B4-BE49-F238E27FC236}">
                <a16:creationId xmlns:a16="http://schemas.microsoft.com/office/drawing/2014/main" id="{D7CE616D-41EF-418F-A2DB-F20A6BC0FC77}"/>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C9010034-811C-4DD9-A1C6-D621CFFF5C7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483869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68C6EF-60E1-435A-9C44-04A6091F8063}"/>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AFD2ED5B-91D1-4F8A-8EF6-4279E4857B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78E68F84-151A-4C60-A3B2-A14C668FA552}"/>
              </a:ext>
            </a:extLst>
          </p:cNvPr>
          <p:cNvSpPr>
            <a:spLocks noGrp="1"/>
          </p:cNvSpPr>
          <p:nvPr>
            <p:ph type="dt" sz="half" idx="10"/>
          </p:nvPr>
        </p:nvSpPr>
        <p:spPr/>
        <p:txBody>
          <a:bodyPr/>
          <a:lstStyle/>
          <a:p>
            <a:fld id="{6B51CB8E-6F81-4EA9-97B5-248BF9D22C8A}" type="datetimeFigureOut">
              <a:rPr lang="en-US" smtClean="0"/>
              <a:t>4/25/2018</a:t>
            </a:fld>
            <a:endParaRPr lang="en-US"/>
          </a:p>
        </p:txBody>
      </p:sp>
      <p:sp>
        <p:nvSpPr>
          <p:cNvPr id="5" name="바닥글 개체 틀 4">
            <a:extLst>
              <a:ext uri="{FF2B5EF4-FFF2-40B4-BE49-F238E27FC236}">
                <a16:creationId xmlns:a16="http://schemas.microsoft.com/office/drawing/2014/main" id="{A292B3AA-C5D3-4832-8649-68BDB7487DFE}"/>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386E432-659F-44D8-8A12-8103CF70B771}"/>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847945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32EB8B-677E-4694-A127-91719DD3DC5A}"/>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1ECDC3F7-1B55-4876-BD32-3ED444C9060F}"/>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내용 개체 틀 3">
            <a:extLst>
              <a:ext uri="{FF2B5EF4-FFF2-40B4-BE49-F238E27FC236}">
                <a16:creationId xmlns:a16="http://schemas.microsoft.com/office/drawing/2014/main" id="{92E494C3-D018-424F-9050-572713E91683}"/>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날짜 개체 틀 4">
            <a:extLst>
              <a:ext uri="{FF2B5EF4-FFF2-40B4-BE49-F238E27FC236}">
                <a16:creationId xmlns:a16="http://schemas.microsoft.com/office/drawing/2014/main" id="{06A2F95C-92E5-4C9D-AC9B-2966B84EB5CE}"/>
              </a:ext>
            </a:extLst>
          </p:cNvPr>
          <p:cNvSpPr>
            <a:spLocks noGrp="1"/>
          </p:cNvSpPr>
          <p:nvPr>
            <p:ph type="dt" sz="half" idx="10"/>
          </p:nvPr>
        </p:nvSpPr>
        <p:spPr/>
        <p:txBody>
          <a:bodyPr/>
          <a:lstStyle/>
          <a:p>
            <a:fld id="{6B51CB8E-6F81-4EA9-97B5-248BF9D22C8A}" type="datetimeFigureOut">
              <a:rPr lang="en-US" smtClean="0"/>
              <a:t>4/25/2018</a:t>
            </a:fld>
            <a:endParaRPr lang="en-US"/>
          </a:p>
        </p:txBody>
      </p:sp>
      <p:sp>
        <p:nvSpPr>
          <p:cNvPr id="6" name="바닥글 개체 틀 5">
            <a:extLst>
              <a:ext uri="{FF2B5EF4-FFF2-40B4-BE49-F238E27FC236}">
                <a16:creationId xmlns:a16="http://schemas.microsoft.com/office/drawing/2014/main" id="{584F9551-3C93-4A80-BDDC-AA1533934547}"/>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46AE71EF-8BA6-43D5-810C-030E0FD55C5B}"/>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345105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1A59D0-50BB-4170-BE00-42EF8EECFC9C}"/>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D9ED1FFE-B351-410A-9A93-BE911A56C5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837D3C85-3EEF-4978-B964-F1D03497B7C3}"/>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텍스트 개체 틀 4">
            <a:extLst>
              <a:ext uri="{FF2B5EF4-FFF2-40B4-BE49-F238E27FC236}">
                <a16:creationId xmlns:a16="http://schemas.microsoft.com/office/drawing/2014/main" id="{D5E88F12-E7A7-437A-AA0B-C98CD8E0E6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17898A3E-6654-40A8-A650-6E10B53188E7}"/>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날짜 개체 틀 6">
            <a:extLst>
              <a:ext uri="{FF2B5EF4-FFF2-40B4-BE49-F238E27FC236}">
                <a16:creationId xmlns:a16="http://schemas.microsoft.com/office/drawing/2014/main" id="{78793AD4-71BB-44BC-A819-00BBEEC948B3}"/>
              </a:ext>
            </a:extLst>
          </p:cNvPr>
          <p:cNvSpPr>
            <a:spLocks noGrp="1"/>
          </p:cNvSpPr>
          <p:nvPr>
            <p:ph type="dt" sz="half" idx="10"/>
          </p:nvPr>
        </p:nvSpPr>
        <p:spPr/>
        <p:txBody>
          <a:bodyPr/>
          <a:lstStyle/>
          <a:p>
            <a:fld id="{6B51CB8E-6F81-4EA9-97B5-248BF9D22C8A}" type="datetimeFigureOut">
              <a:rPr lang="en-US" smtClean="0"/>
              <a:t>4/25/2018</a:t>
            </a:fld>
            <a:endParaRPr lang="en-US"/>
          </a:p>
        </p:txBody>
      </p:sp>
      <p:sp>
        <p:nvSpPr>
          <p:cNvPr id="8" name="바닥글 개체 틀 7">
            <a:extLst>
              <a:ext uri="{FF2B5EF4-FFF2-40B4-BE49-F238E27FC236}">
                <a16:creationId xmlns:a16="http://schemas.microsoft.com/office/drawing/2014/main" id="{CC0C474A-9D29-4AC6-8099-6936A0E575AB}"/>
              </a:ext>
            </a:extLst>
          </p:cNvPr>
          <p:cNvSpPr>
            <a:spLocks noGrp="1"/>
          </p:cNvSpPr>
          <p:nvPr>
            <p:ph type="ftr" sz="quarter" idx="11"/>
          </p:nvPr>
        </p:nvSpPr>
        <p:spPr/>
        <p:txBody>
          <a:bodyPr/>
          <a:lstStyle/>
          <a:p>
            <a:endParaRPr lang="en-US"/>
          </a:p>
        </p:txBody>
      </p:sp>
      <p:sp>
        <p:nvSpPr>
          <p:cNvPr id="9" name="슬라이드 번호 개체 틀 8">
            <a:extLst>
              <a:ext uri="{FF2B5EF4-FFF2-40B4-BE49-F238E27FC236}">
                <a16:creationId xmlns:a16="http://schemas.microsoft.com/office/drawing/2014/main" id="{AC22D096-7FC8-4B85-8DD2-B78BD83B609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445372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9AB49E-DD91-4743-92FB-333855004BE6}"/>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7AE0E5B3-D27E-4B0B-A82F-85B74A4375AF}"/>
              </a:ext>
            </a:extLst>
          </p:cNvPr>
          <p:cNvSpPr>
            <a:spLocks noGrp="1"/>
          </p:cNvSpPr>
          <p:nvPr>
            <p:ph type="dt" sz="half" idx="10"/>
          </p:nvPr>
        </p:nvSpPr>
        <p:spPr/>
        <p:txBody>
          <a:bodyPr/>
          <a:lstStyle/>
          <a:p>
            <a:fld id="{6B51CB8E-6F81-4EA9-97B5-248BF9D22C8A}" type="datetimeFigureOut">
              <a:rPr lang="en-US" smtClean="0"/>
              <a:t>4/25/2018</a:t>
            </a:fld>
            <a:endParaRPr lang="en-US"/>
          </a:p>
        </p:txBody>
      </p:sp>
      <p:sp>
        <p:nvSpPr>
          <p:cNvPr id="4" name="바닥글 개체 틀 3">
            <a:extLst>
              <a:ext uri="{FF2B5EF4-FFF2-40B4-BE49-F238E27FC236}">
                <a16:creationId xmlns:a16="http://schemas.microsoft.com/office/drawing/2014/main" id="{55F03F2D-2E51-47B2-9792-4A28229B2DA9}"/>
              </a:ext>
            </a:extLst>
          </p:cNvPr>
          <p:cNvSpPr>
            <a:spLocks noGrp="1"/>
          </p:cNvSpPr>
          <p:nvPr>
            <p:ph type="ftr" sz="quarter" idx="11"/>
          </p:nvPr>
        </p:nvSpPr>
        <p:spPr/>
        <p:txBody>
          <a:bodyPr/>
          <a:lstStyle/>
          <a:p>
            <a:endParaRPr lang="en-US"/>
          </a:p>
        </p:txBody>
      </p:sp>
      <p:sp>
        <p:nvSpPr>
          <p:cNvPr id="5" name="슬라이드 번호 개체 틀 4">
            <a:extLst>
              <a:ext uri="{FF2B5EF4-FFF2-40B4-BE49-F238E27FC236}">
                <a16:creationId xmlns:a16="http://schemas.microsoft.com/office/drawing/2014/main" id="{940E86D9-06A5-423D-9C31-F9F01177E1DF}"/>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1642341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000617D2-FE63-4DB6-BD5C-11EE21791A69}"/>
              </a:ext>
            </a:extLst>
          </p:cNvPr>
          <p:cNvSpPr>
            <a:spLocks noGrp="1"/>
          </p:cNvSpPr>
          <p:nvPr>
            <p:ph type="dt" sz="half" idx="10"/>
          </p:nvPr>
        </p:nvSpPr>
        <p:spPr/>
        <p:txBody>
          <a:bodyPr/>
          <a:lstStyle/>
          <a:p>
            <a:fld id="{6B51CB8E-6F81-4EA9-97B5-248BF9D22C8A}" type="datetimeFigureOut">
              <a:rPr lang="en-US" smtClean="0"/>
              <a:t>4/25/2018</a:t>
            </a:fld>
            <a:endParaRPr lang="en-US"/>
          </a:p>
        </p:txBody>
      </p:sp>
      <p:sp>
        <p:nvSpPr>
          <p:cNvPr id="3" name="바닥글 개체 틀 2">
            <a:extLst>
              <a:ext uri="{FF2B5EF4-FFF2-40B4-BE49-F238E27FC236}">
                <a16:creationId xmlns:a16="http://schemas.microsoft.com/office/drawing/2014/main" id="{1711279F-9A6E-47B3-9E75-B09142F8F915}"/>
              </a:ext>
            </a:extLst>
          </p:cNvPr>
          <p:cNvSpPr>
            <a:spLocks noGrp="1"/>
          </p:cNvSpPr>
          <p:nvPr>
            <p:ph type="ftr" sz="quarter" idx="11"/>
          </p:nvPr>
        </p:nvSpPr>
        <p:spPr/>
        <p:txBody>
          <a:bodyPr/>
          <a:lstStyle/>
          <a:p>
            <a:endParaRPr lang="en-US"/>
          </a:p>
        </p:txBody>
      </p:sp>
      <p:sp>
        <p:nvSpPr>
          <p:cNvPr id="4" name="슬라이드 번호 개체 틀 3">
            <a:extLst>
              <a:ext uri="{FF2B5EF4-FFF2-40B4-BE49-F238E27FC236}">
                <a16:creationId xmlns:a16="http://schemas.microsoft.com/office/drawing/2014/main" id="{FCC0ED18-147D-426B-9BDD-47F0CE69CC3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177732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74A789-8FA9-42C2-BEFB-69AD8A34321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BCE60AB4-FE26-42E4-A180-FA71B0343B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텍스트 개체 틀 3">
            <a:extLst>
              <a:ext uri="{FF2B5EF4-FFF2-40B4-BE49-F238E27FC236}">
                <a16:creationId xmlns:a16="http://schemas.microsoft.com/office/drawing/2014/main" id="{2B10925E-B44B-4012-8EC7-A74A62A742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05E7592C-F6DE-4074-8536-7C84DF98C4F4}"/>
              </a:ext>
            </a:extLst>
          </p:cNvPr>
          <p:cNvSpPr>
            <a:spLocks noGrp="1"/>
          </p:cNvSpPr>
          <p:nvPr>
            <p:ph type="dt" sz="half" idx="10"/>
          </p:nvPr>
        </p:nvSpPr>
        <p:spPr/>
        <p:txBody>
          <a:bodyPr/>
          <a:lstStyle/>
          <a:p>
            <a:fld id="{6B51CB8E-6F81-4EA9-97B5-248BF9D22C8A}" type="datetimeFigureOut">
              <a:rPr lang="en-US" smtClean="0"/>
              <a:t>4/25/2018</a:t>
            </a:fld>
            <a:endParaRPr lang="en-US"/>
          </a:p>
        </p:txBody>
      </p:sp>
      <p:sp>
        <p:nvSpPr>
          <p:cNvPr id="6" name="바닥글 개체 틀 5">
            <a:extLst>
              <a:ext uri="{FF2B5EF4-FFF2-40B4-BE49-F238E27FC236}">
                <a16:creationId xmlns:a16="http://schemas.microsoft.com/office/drawing/2014/main" id="{8BFFF679-1D3C-43D1-879D-9C72BEF3F3F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80A742E1-198A-4145-A47C-D4260E3C8138}"/>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4002161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69BCFA-8E3D-45E0-A5E3-B6C5C7EAF26B}"/>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A4E60FB5-BCE8-4367-A632-8ACED77684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a:extLst>
              <a:ext uri="{FF2B5EF4-FFF2-40B4-BE49-F238E27FC236}">
                <a16:creationId xmlns:a16="http://schemas.microsoft.com/office/drawing/2014/main" id="{AE884AB8-4C1E-4530-9662-D640EA6EF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142870E-9785-42DB-AFAE-67F54B4C5585}"/>
              </a:ext>
            </a:extLst>
          </p:cNvPr>
          <p:cNvSpPr>
            <a:spLocks noGrp="1"/>
          </p:cNvSpPr>
          <p:nvPr>
            <p:ph type="dt" sz="half" idx="10"/>
          </p:nvPr>
        </p:nvSpPr>
        <p:spPr/>
        <p:txBody>
          <a:bodyPr/>
          <a:lstStyle/>
          <a:p>
            <a:fld id="{6B51CB8E-6F81-4EA9-97B5-248BF9D22C8A}" type="datetimeFigureOut">
              <a:rPr lang="en-US" smtClean="0"/>
              <a:t>4/25/2018</a:t>
            </a:fld>
            <a:endParaRPr lang="en-US"/>
          </a:p>
        </p:txBody>
      </p:sp>
      <p:sp>
        <p:nvSpPr>
          <p:cNvPr id="6" name="바닥글 개체 틀 5">
            <a:extLst>
              <a:ext uri="{FF2B5EF4-FFF2-40B4-BE49-F238E27FC236}">
                <a16:creationId xmlns:a16="http://schemas.microsoft.com/office/drawing/2014/main" id="{894BBD24-2034-4783-814F-E89080E8BF9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DE4CF8DE-F01A-4779-9306-48C82822047E}"/>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240449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B82F0D-D432-49E7-9257-67F148EFBE20}"/>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50BB3D6E-B8FE-40AC-9CE1-EE9EAC32405E}"/>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C986245-99D4-4649-AC16-BA8FCD2187BF}"/>
              </a:ext>
            </a:extLst>
          </p:cNvPr>
          <p:cNvSpPr>
            <a:spLocks noGrp="1"/>
          </p:cNvSpPr>
          <p:nvPr>
            <p:ph type="dt" sz="half" idx="10"/>
          </p:nvPr>
        </p:nvSpPr>
        <p:spPr/>
        <p:txBody>
          <a:bodyPr/>
          <a:lstStyle/>
          <a:p>
            <a:fld id="{6B51CB8E-6F81-4EA9-97B5-248BF9D22C8A}" type="datetimeFigureOut">
              <a:rPr lang="en-US" smtClean="0"/>
              <a:t>4/25/2018</a:t>
            </a:fld>
            <a:endParaRPr lang="en-US"/>
          </a:p>
        </p:txBody>
      </p:sp>
      <p:sp>
        <p:nvSpPr>
          <p:cNvPr id="5" name="바닥글 개체 틀 4">
            <a:extLst>
              <a:ext uri="{FF2B5EF4-FFF2-40B4-BE49-F238E27FC236}">
                <a16:creationId xmlns:a16="http://schemas.microsoft.com/office/drawing/2014/main" id="{05575F22-0CA1-46F3-8E0C-39BE6690750D}"/>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40E33A0-8EEF-46E0-BCCB-52BD11470EF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5131457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13BE6CC-C1FF-4C17-B34B-0A76B083633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A4585AA7-3746-4B4D-AF4D-FCC51BCC64BD}"/>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E4FA8AE-CD0B-461D-82D3-C07B14B5B226}"/>
              </a:ext>
            </a:extLst>
          </p:cNvPr>
          <p:cNvSpPr>
            <a:spLocks noGrp="1"/>
          </p:cNvSpPr>
          <p:nvPr>
            <p:ph type="dt" sz="half" idx="10"/>
          </p:nvPr>
        </p:nvSpPr>
        <p:spPr/>
        <p:txBody>
          <a:bodyPr/>
          <a:lstStyle/>
          <a:p>
            <a:fld id="{6B51CB8E-6F81-4EA9-97B5-248BF9D22C8A}" type="datetimeFigureOut">
              <a:rPr lang="en-US" smtClean="0"/>
              <a:t>4/25/2018</a:t>
            </a:fld>
            <a:endParaRPr lang="en-US"/>
          </a:p>
        </p:txBody>
      </p:sp>
      <p:sp>
        <p:nvSpPr>
          <p:cNvPr id="5" name="바닥글 개체 틀 4">
            <a:extLst>
              <a:ext uri="{FF2B5EF4-FFF2-40B4-BE49-F238E27FC236}">
                <a16:creationId xmlns:a16="http://schemas.microsoft.com/office/drawing/2014/main" id="{E224693C-45D0-4197-81DE-EFF297EB1530}"/>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52520C0C-F115-4D8E-9B96-6D53880C9C33}"/>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797209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6B51CB8E-6F81-4EA9-97B5-248BF9D22C8A}" type="datetimeFigureOut">
              <a:rPr lang="en-US" smtClean="0"/>
              <a:t>4/25/2018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398897856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279CF3A-34F9-4D70-B5AF-11E9FE85AF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FEA94A1-E614-4C83-97E7-4191D86595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2B4E1FAA-6D6A-4AA7-9C6D-935F7F5DF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51CB8E-6F81-4EA9-97B5-248BF9D22C8A}" type="datetimeFigureOut">
              <a:rPr lang="en-US" smtClean="0"/>
              <a:t>4/25/2018</a:t>
            </a:fld>
            <a:endParaRPr lang="en-US"/>
          </a:p>
        </p:txBody>
      </p:sp>
      <p:sp>
        <p:nvSpPr>
          <p:cNvPr id="5" name="바닥글 개체 틀 4">
            <a:extLst>
              <a:ext uri="{FF2B5EF4-FFF2-40B4-BE49-F238E27FC236}">
                <a16:creationId xmlns:a16="http://schemas.microsoft.com/office/drawing/2014/main" id="{CF9DAEA3-9658-4897-9B7E-6310FDF243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슬라이드 번호 개체 틀 5">
            <a:extLst>
              <a:ext uri="{FF2B5EF4-FFF2-40B4-BE49-F238E27FC236}">
                <a16:creationId xmlns:a16="http://schemas.microsoft.com/office/drawing/2014/main" id="{8B099C83-9D8F-49C9-BAC8-4DA77C413E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176567202"/>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76D051-E4B5-482E-B56D-9743B8F63B61}"/>
              </a:ext>
            </a:extLst>
          </p:cNvPr>
          <p:cNvSpPr>
            <a:spLocks noGrp="1"/>
          </p:cNvSpPr>
          <p:nvPr>
            <p:ph type="ctrTitle"/>
          </p:nvPr>
        </p:nvSpPr>
        <p:spPr>
          <a:xfrm>
            <a:off x="1162975" y="1839318"/>
            <a:ext cx="9866050" cy="820029"/>
          </a:xfrm>
        </p:spPr>
        <p:txBody>
          <a:bodyPr>
            <a:noAutofit/>
          </a:bodyPr>
          <a:lstStyle/>
          <a:p>
            <a:r>
              <a:rPr lang="en-US" dirty="0"/>
              <a:t>Social Network Analysis</a:t>
            </a:r>
          </a:p>
        </p:txBody>
      </p:sp>
      <p:sp>
        <p:nvSpPr>
          <p:cNvPr id="3" name="부제목 2">
            <a:extLst>
              <a:ext uri="{FF2B5EF4-FFF2-40B4-BE49-F238E27FC236}">
                <a16:creationId xmlns:a16="http://schemas.microsoft.com/office/drawing/2014/main" id="{9C1003AF-8E5C-46DF-8B69-6FDCCB43535B}"/>
              </a:ext>
            </a:extLst>
          </p:cNvPr>
          <p:cNvSpPr>
            <a:spLocks noGrp="1"/>
          </p:cNvSpPr>
          <p:nvPr>
            <p:ph type="subTitle" idx="1"/>
          </p:nvPr>
        </p:nvSpPr>
        <p:spPr>
          <a:xfrm>
            <a:off x="3311370" y="5032044"/>
            <a:ext cx="8528482" cy="1655762"/>
          </a:xfrm>
        </p:spPr>
        <p:txBody>
          <a:bodyPr>
            <a:normAutofit fontScale="92500" lnSpcReduction="20000"/>
          </a:bodyPr>
          <a:lstStyle/>
          <a:p>
            <a:pPr algn="r"/>
            <a:r>
              <a:rPr lang="en-US" dirty="0"/>
              <a:t>Prof. </a:t>
            </a:r>
            <a:r>
              <a:rPr lang="en-US" dirty="0" err="1"/>
              <a:t>Keeheon</a:t>
            </a:r>
            <a:r>
              <a:rPr lang="en-US" dirty="0"/>
              <a:t> Lee</a:t>
            </a:r>
          </a:p>
          <a:p>
            <a:pPr algn="r"/>
            <a:endParaRPr lang="en-US" dirty="0"/>
          </a:p>
          <a:p>
            <a:pPr algn="r"/>
            <a:r>
              <a:rPr lang="en-US" dirty="0"/>
              <a:t>TA. </a:t>
            </a:r>
            <a:r>
              <a:rPr lang="en-US" dirty="0" err="1"/>
              <a:t>Jaekeun</a:t>
            </a:r>
            <a:r>
              <a:rPr lang="en-US" dirty="0"/>
              <a:t> Lee</a:t>
            </a:r>
            <a:br>
              <a:rPr lang="en-US" dirty="0"/>
            </a:br>
            <a:r>
              <a:rPr lang="en-US" dirty="0"/>
              <a:t>010-5599-9411</a:t>
            </a:r>
            <a:br>
              <a:rPr lang="en-US" dirty="0"/>
            </a:br>
            <a:r>
              <a:rPr lang="en-US" dirty="0"/>
              <a:t>agdal1125@gmail.com</a:t>
            </a:r>
          </a:p>
        </p:txBody>
      </p:sp>
      <p:sp>
        <p:nvSpPr>
          <p:cNvPr id="4" name="제목 1">
            <a:extLst>
              <a:ext uri="{FF2B5EF4-FFF2-40B4-BE49-F238E27FC236}">
                <a16:creationId xmlns:a16="http://schemas.microsoft.com/office/drawing/2014/main" id="{2FBAF3C4-19D9-4DA7-8BC8-3BB32DC4E825}"/>
              </a:ext>
            </a:extLst>
          </p:cNvPr>
          <p:cNvSpPr txBox="1">
            <a:spLocks/>
          </p:cNvSpPr>
          <p:nvPr/>
        </p:nvSpPr>
        <p:spPr>
          <a:xfrm>
            <a:off x="838200" y="2249333"/>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t>Markets and Strategic Interaction in Networks</a:t>
            </a:r>
          </a:p>
        </p:txBody>
      </p:sp>
    </p:spTree>
    <p:extLst>
      <p:ext uri="{BB962C8B-B14F-4D97-AF65-F5344CB8AC3E}">
        <p14:creationId xmlns:p14="http://schemas.microsoft.com/office/powerpoint/2010/main" val="2579392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88DDFD7D-610F-4AE3-9776-3F48FEC95545}"/>
              </a:ext>
            </a:extLst>
          </p:cNvPr>
          <p:cNvSpPr>
            <a:spLocks noGrp="1"/>
          </p:cNvSpPr>
          <p:nvPr>
            <p:ph type="title"/>
          </p:nvPr>
        </p:nvSpPr>
        <p:spPr>
          <a:xfrm>
            <a:off x="838198" y="834501"/>
            <a:ext cx="9930415" cy="4074850"/>
          </a:xfrm>
        </p:spPr>
        <p:txBody>
          <a:bodyPr>
            <a:normAutofit/>
          </a:bodyPr>
          <a:lstStyle/>
          <a:p>
            <a:r>
              <a:rPr lang="en-US" dirty="0"/>
              <a:t>Table of Contents</a:t>
            </a:r>
            <a:br>
              <a:rPr lang="en-US" dirty="0"/>
            </a:br>
            <a:br>
              <a:rPr lang="en-US" dirty="0"/>
            </a:br>
            <a:r>
              <a:rPr lang="en-US" sz="3600" dirty="0"/>
              <a:t>- Matching Markets</a:t>
            </a:r>
            <a:br>
              <a:rPr lang="en-US" sz="3600" dirty="0"/>
            </a:br>
            <a:r>
              <a:rPr lang="en-US" sz="3600" dirty="0"/>
              <a:t>- Network Models of Markets with Intermediaries</a:t>
            </a:r>
            <a:br>
              <a:rPr lang="en-US" sz="3600" dirty="0"/>
            </a:br>
            <a:br>
              <a:rPr lang="en-US" dirty="0"/>
            </a:br>
            <a:endParaRPr lang="en-US" dirty="0"/>
          </a:p>
        </p:txBody>
      </p:sp>
    </p:spTree>
    <p:extLst>
      <p:ext uri="{BB962C8B-B14F-4D97-AF65-F5344CB8AC3E}">
        <p14:creationId xmlns:p14="http://schemas.microsoft.com/office/powerpoint/2010/main" val="3491649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1">
            <a:extLst>
              <a:ext uri="{FF2B5EF4-FFF2-40B4-BE49-F238E27FC236}">
                <a16:creationId xmlns:a16="http://schemas.microsoft.com/office/drawing/2014/main" id="{7E60F558-2A47-49C0-9D66-EB452AEEE5CE}"/>
              </a:ext>
            </a:extLst>
          </p:cNvPr>
          <p:cNvSpPr txBox="1">
            <a:spLocks/>
          </p:cNvSpPr>
          <p:nvPr/>
        </p:nvSpPr>
        <p:spPr>
          <a:xfrm>
            <a:off x="3750076" y="2664442"/>
            <a:ext cx="450047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Matching Markets</a:t>
            </a:r>
          </a:p>
        </p:txBody>
      </p:sp>
    </p:spTree>
    <p:extLst>
      <p:ext uri="{BB962C8B-B14F-4D97-AF65-F5344CB8AC3E}">
        <p14:creationId xmlns:p14="http://schemas.microsoft.com/office/powerpoint/2010/main" val="753801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365125"/>
            <a:ext cx="10515600" cy="1325563"/>
          </a:xfrm>
        </p:spPr>
        <p:txBody>
          <a:bodyPr/>
          <a:lstStyle/>
          <a:p>
            <a:r>
              <a:rPr lang="en-US" dirty="0"/>
              <a:t>Bipartite Graphs and Perfect Matchings</a:t>
            </a:r>
          </a:p>
        </p:txBody>
      </p:sp>
      <p:grpSp>
        <p:nvGrpSpPr>
          <p:cNvPr id="73" name="그룹 72">
            <a:extLst>
              <a:ext uri="{FF2B5EF4-FFF2-40B4-BE49-F238E27FC236}">
                <a16:creationId xmlns:a16="http://schemas.microsoft.com/office/drawing/2014/main" id="{51EB0B1F-37A9-4DF5-B796-EDED2D6EEB29}"/>
              </a:ext>
            </a:extLst>
          </p:cNvPr>
          <p:cNvGrpSpPr/>
          <p:nvPr/>
        </p:nvGrpSpPr>
        <p:grpSpPr>
          <a:xfrm>
            <a:off x="5296245" y="1953088"/>
            <a:ext cx="2666893" cy="4293492"/>
            <a:chOff x="1242873" y="1953088"/>
            <a:chExt cx="2666893" cy="4293492"/>
          </a:xfrm>
        </p:grpSpPr>
        <p:grpSp>
          <p:nvGrpSpPr>
            <p:cNvPr id="48" name="그룹 47">
              <a:extLst>
                <a:ext uri="{FF2B5EF4-FFF2-40B4-BE49-F238E27FC236}">
                  <a16:creationId xmlns:a16="http://schemas.microsoft.com/office/drawing/2014/main" id="{FE1913F2-04BB-4C31-9625-0ABAF7D494E0}"/>
                </a:ext>
              </a:extLst>
            </p:cNvPr>
            <p:cNvGrpSpPr/>
            <p:nvPr/>
          </p:nvGrpSpPr>
          <p:grpSpPr>
            <a:xfrm>
              <a:off x="1242873" y="1953088"/>
              <a:ext cx="2666893" cy="3773010"/>
              <a:chOff x="772357" y="1775534"/>
              <a:chExt cx="3488924" cy="4935985"/>
            </a:xfrm>
          </p:grpSpPr>
          <p:cxnSp>
            <p:nvCxnSpPr>
              <p:cNvPr id="16" name="직선 연결선 15">
                <a:extLst>
                  <a:ext uri="{FF2B5EF4-FFF2-40B4-BE49-F238E27FC236}">
                    <a16:creationId xmlns:a16="http://schemas.microsoft.com/office/drawing/2014/main" id="{70A3C453-7286-4F11-BC2F-659C10A2C8E8}"/>
                  </a:ext>
                </a:extLst>
              </p:cNvPr>
              <p:cNvCxnSpPr>
                <a:stCxn id="3" idx="6"/>
                <a:endCxn id="4" idx="2"/>
              </p:cNvCxnSpPr>
              <p:nvPr/>
            </p:nvCxnSpPr>
            <p:spPr>
              <a:xfrm>
                <a:off x="1953087" y="2055181"/>
                <a:ext cx="11274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id="{76A6BD7A-1954-461A-9404-553088E117D6}"/>
                  </a:ext>
                </a:extLst>
              </p:cNvPr>
              <p:cNvCxnSpPr>
                <a:cxnSpLocks/>
                <a:stCxn id="3" idx="5"/>
                <a:endCxn id="6" idx="1"/>
              </p:cNvCxnSpPr>
              <p:nvPr/>
            </p:nvCxnSpPr>
            <p:spPr>
              <a:xfrm>
                <a:off x="1780173" y="2252920"/>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E0A0B457-B0F1-4003-BAB2-B0C09854F3D8}"/>
                  </a:ext>
                </a:extLst>
              </p:cNvPr>
              <p:cNvCxnSpPr>
                <a:cxnSpLocks/>
                <a:stCxn id="5" idx="7"/>
                <a:endCxn id="4" idx="3"/>
              </p:cNvCxnSpPr>
              <p:nvPr/>
            </p:nvCxnSpPr>
            <p:spPr>
              <a:xfrm flipV="1">
                <a:off x="1780173" y="2252920"/>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C052F957-AF61-430F-880A-8064DD3B836E}"/>
                  </a:ext>
                </a:extLst>
              </p:cNvPr>
              <p:cNvCxnSpPr>
                <a:cxnSpLocks/>
                <a:stCxn id="8" idx="1"/>
                <a:endCxn id="5" idx="5"/>
              </p:cNvCxnSpPr>
              <p:nvPr/>
            </p:nvCxnSpPr>
            <p:spPr>
              <a:xfrm flipH="1" flipV="1">
                <a:off x="1780173" y="3347093"/>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90F8DE5C-BB78-434F-982A-E27229848A16}"/>
                  </a:ext>
                </a:extLst>
              </p:cNvPr>
              <p:cNvCxnSpPr>
                <a:cxnSpLocks/>
                <a:stCxn id="10" idx="1"/>
              </p:cNvCxnSpPr>
              <p:nvPr/>
            </p:nvCxnSpPr>
            <p:spPr>
              <a:xfrm flipH="1" flipV="1">
                <a:off x="1607259" y="3429000"/>
                <a:ext cx="1646206" cy="17109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68B6B6B4-C31A-492E-8C07-843EF937DF5D}"/>
                  </a:ext>
                </a:extLst>
              </p:cNvPr>
              <p:cNvCxnSpPr>
                <a:cxnSpLocks/>
                <a:stCxn id="14" idx="2"/>
                <a:endCxn id="13" idx="6"/>
              </p:cNvCxnSpPr>
              <p:nvPr/>
            </p:nvCxnSpPr>
            <p:spPr>
              <a:xfrm flipH="1">
                <a:off x="1953087" y="6431873"/>
                <a:ext cx="11274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EB56A36B-9CD9-4779-B098-3F390CCDEFDC}"/>
                  </a:ext>
                </a:extLst>
              </p:cNvPr>
              <p:cNvCxnSpPr>
                <a:cxnSpLocks/>
                <a:stCxn id="10" idx="3"/>
                <a:endCxn id="13" idx="7"/>
              </p:cNvCxnSpPr>
              <p:nvPr/>
            </p:nvCxnSpPr>
            <p:spPr>
              <a:xfrm flipH="1">
                <a:off x="1780173" y="5535439"/>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737DA735-3F64-4327-B9C4-2CAA4F32CBE7}"/>
                  </a:ext>
                </a:extLst>
              </p:cNvPr>
              <p:cNvCxnSpPr>
                <a:cxnSpLocks/>
                <a:stCxn id="10" idx="2"/>
                <a:endCxn id="9" idx="6"/>
              </p:cNvCxnSpPr>
              <p:nvPr/>
            </p:nvCxnSpPr>
            <p:spPr>
              <a:xfrm flipH="1">
                <a:off x="1953087" y="5337700"/>
                <a:ext cx="11274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04BAABDF-B0D8-4D37-92E1-D24A98FA0648}"/>
                  </a:ext>
                </a:extLst>
              </p:cNvPr>
              <p:cNvCxnSpPr>
                <a:cxnSpLocks/>
                <a:endCxn id="7" idx="5"/>
              </p:cNvCxnSpPr>
              <p:nvPr/>
            </p:nvCxnSpPr>
            <p:spPr>
              <a:xfrm flipH="1" flipV="1">
                <a:off x="1780173" y="4441266"/>
                <a:ext cx="1473292" cy="8964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6858A141-1843-4CA3-A886-1AB67DEADF77}"/>
                  </a:ext>
                </a:extLst>
              </p:cNvPr>
              <p:cNvCxnSpPr>
                <a:cxnSpLocks/>
                <a:stCxn id="4" idx="4"/>
                <a:endCxn id="7" idx="7"/>
              </p:cNvCxnSpPr>
              <p:nvPr/>
            </p:nvCxnSpPr>
            <p:spPr>
              <a:xfrm flipH="1">
                <a:off x="1780173" y="2334827"/>
                <a:ext cx="1890743" cy="17109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타원 2">
                <a:extLst>
                  <a:ext uri="{FF2B5EF4-FFF2-40B4-BE49-F238E27FC236}">
                    <a16:creationId xmlns:a16="http://schemas.microsoft.com/office/drawing/2014/main" id="{71C139B6-314E-48A6-AE2A-E3EBE1342282}"/>
                  </a:ext>
                </a:extLst>
              </p:cNvPr>
              <p:cNvSpPr/>
              <p:nvPr/>
            </p:nvSpPr>
            <p:spPr>
              <a:xfrm>
                <a:off x="772357" y="1775534"/>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Room1</a:t>
                </a:r>
              </a:p>
            </p:txBody>
          </p:sp>
          <p:sp>
            <p:nvSpPr>
              <p:cNvPr id="4" name="타원 3">
                <a:extLst>
                  <a:ext uri="{FF2B5EF4-FFF2-40B4-BE49-F238E27FC236}">
                    <a16:creationId xmlns:a16="http://schemas.microsoft.com/office/drawing/2014/main" id="{E440B2DB-A2E7-4C03-8951-EB39D6F98779}"/>
                  </a:ext>
                </a:extLst>
              </p:cNvPr>
              <p:cNvSpPr/>
              <p:nvPr/>
            </p:nvSpPr>
            <p:spPr>
              <a:xfrm>
                <a:off x="3080551" y="1775534"/>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Viki</a:t>
                </a:r>
              </a:p>
            </p:txBody>
          </p:sp>
          <p:sp>
            <p:nvSpPr>
              <p:cNvPr id="5" name="타원 4">
                <a:extLst>
                  <a:ext uri="{FF2B5EF4-FFF2-40B4-BE49-F238E27FC236}">
                    <a16:creationId xmlns:a16="http://schemas.microsoft.com/office/drawing/2014/main" id="{F6390DE9-E864-453E-AF6F-C86CC92B77FD}"/>
                  </a:ext>
                </a:extLst>
              </p:cNvPr>
              <p:cNvSpPr/>
              <p:nvPr/>
            </p:nvSpPr>
            <p:spPr>
              <a:xfrm>
                <a:off x="772357" y="2869707"/>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Room2</a:t>
                </a:r>
              </a:p>
            </p:txBody>
          </p:sp>
          <p:sp>
            <p:nvSpPr>
              <p:cNvPr id="6" name="타원 5">
                <a:extLst>
                  <a:ext uri="{FF2B5EF4-FFF2-40B4-BE49-F238E27FC236}">
                    <a16:creationId xmlns:a16="http://schemas.microsoft.com/office/drawing/2014/main" id="{3C44C5E6-52B2-4BF5-B191-4E33F7CC15AD}"/>
                  </a:ext>
                </a:extLst>
              </p:cNvPr>
              <p:cNvSpPr/>
              <p:nvPr/>
            </p:nvSpPr>
            <p:spPr>
              <a:xfrm>
                <a:off x="3080551" y="2869707"/>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Wendy</a:t>
                </a:r>
              </a:p>
            </p:txBody>
          </p:sp>
          <p:sp>
            <p:nvSpPr>
              <p:cNvPr id="7" name="타원 6">
                <a:extLst>
                  <a:ext uri="{FF2B5EF4-FFF2-40B4-BE49-F238E27FC236}">
                    <a16:creationId xmlns:a16="http://schemas.microsoft.com/office/drawing/2014/main" id="{BC1640E7-BBD8-4D6B-B588-CE13D2614A6A}"/>
                  </a:ext>
                </a:extLst>
              </p:cNvPr>
              <p:cNvSpPr/>
              <p:nvPr/>
            </p:nvSpPr>
            <p:spPr>
              <a:xfrm>
                <a:off x="772357" y="3963880"/>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Room3</a:t>
                </a:r>
              </a:p>
            </p:txBody>
          </p:sp>
          <p:sp>
            <p:nvSpPr>
              <p:cNvPr id="8" name="타원 7">
                <a:extLst>
                  <a:ext uri="{FF2B5EF4-FFF2-40B4-BE49-F238E27FC236}">
                    <a16:creationId xmlns:a16="http://schemas.microsoft.com/office/drawing/2014/main" id="{8C9355DD-0115-41E1-9711-67FCB3C6415F}"/>
                  </a:ext>
                </a:extLst>
              </p:cNvPr>
              <p:cNvSpPr/>
              <p:nvPr/>
            </p:nvSpPr>
            <p:spPr>
              <a:xfrm>
                <a:off x="3080551" y="3963880"/>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Xin</a:t>
                </a:r>
              </a:p>
            </p:txBody>
          </p:sp>
          <p:sp>
            <p:nvSpPr>
              <p:cNvPr id="9" name="타원 8">
                <a:extLst>
                  <a:ext uri="{FF2B5EF4-FFF2-40B4-BE49-F238E27FC236}">
                    <a16:creationId xmlns:a16="http://schemas.microsoft.com/office/drawing/2014/main" id="{F0FE99F3-26B4-4DFF-9BC7-ED4DC7C5A2A1}"/>
                  </a:ext>
                </a:extLst>
              </p:cNvPr>
              <p:cNvSpPr/>
              <p:nvPr/>
            </p:nvSpPr>
            <p:spPr>
              <a:xfrm>
                <a:off x="772357" y="5058053"/>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Room4</a:t>
                </a:r>
              </a:p>
            </p:txBody>
          </p:sp>
          <p:sp>
            <p:nvSpPr>
              <p:cNvPr id="10" name="타원 9">
                <a:extLst>
                  <a:ext uri="{FF2B5EF4-FFF2-40B4-BE49-F238E27FC236}">
                    <a16:creationId xmlns:a16="http://schemas.microsoft.com/office/drawing/2014/main" id="{719727E1-12AA-4E9F-97D6-A19E170727B8}"/>
                  </a:ext>
                </a:extLst>
              </p:cNvPr>
              <p:cNvSpPr/>
              <p:nvPr/>
            </p:nvSpPr>
            <p:spPr>
              <a:xfrm>
                <a:off x="3080551" y="5058053"/>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Yoram</a:t>
                </a:r>
              </a:p>
            </p:txBody>
          </p:sp>
          <p:sp>
            <p:nvSpPr>
              <p:cNvPr id="13" name="타원 12">
                <a:extLst>
                  <a:ext uri="{FF2B5EF4-FFF2-40B4-BE49-F238E27FC236}">
                    <a16:creationId xmlns:a16="http://schemas.microsoft.com/office/drawing/2014/main" id="{2843CBEF-5F74-4FB6-9D4C-39B9810E24B8}"/>
                  </a:ext>
                </a:extLst>
              </p:cNvPr>
              <p:cNvSpPr/>
              <p:nvPr/>
            </p:nvSpPr>
            <p:spPr>
              <a:xfrm>
                <a:off x="772357" y="6152226"/>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Room5</a:t>
                </a:r>
              </a:p>
            </p:txBody>
          </p:sp>
          <p:sp>
            <p:nvSpPr>
              <p:cNvPr id="14" name="타원 13">
                <a:extLst>
                  <a:ext uri="{FF2B5EF4-FFF2-40B4-BE49-F238E27FC236}">
                    <a16:creationId xmlns:a16="http://schemas.microsoft.com/office/drawing/2014/main" id="{74A7C453-154D-432B-B7A4-2AEBAEC1D77B}"/>
                  </a:ext>
                </a:extLst>
              </p:cNvPr>
              <p:cNvSpPr/>
              <p:nvPr/>
            </p:nvSpPr>
            <p:spPr>
              <a:xfrm>
                <a:off x="3080551" y="6152226"/>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Zoe</a:t>
                </a:r>
              </a:p>
            </p:txBody>
          </p:sp>
        </p:grpSp>
        <p:sp>
          <p:nvSpPr>
            <p:cNvPr id="70" name="직사각형 69">
              <a:extLst>
                <a:ext uri="{FF2B5EF4-FFF2-40B4-BE49-F238E27FC236}">
                  <a16:creationId xmlns:a16="http://schemas.microsoft.com/office/drawing/2014/main" id="{D52F65E4-1096-4AC9-942B-9F71C037696C}"/>
                </a:ext>
              </a:extLst>
            </p:cNvPr>
            <p:cNvSpPr/>
            <p:nvPr/>
          </p:nvSpPr>
          <p:spPr>
            <a:xfrm>
              <a:off x="1881062" y="5877248"/>
              <a:ext cx="1765996" cy="369332"/>
            </a:xfrm>
            <a:prstGeom prst="rect">
              <a:avLst/>
            </a:prstGeom>
          </p:spPr>
          <p:txBody>
            <a:bodyPr wrap="none">
              <a:spAutoFit/>
            </a:bodyPr>
            <a:lstStyle/>
            <a:p>
              <a:r>
                <a:rPr lang="en-US" dirty="0"/>
                <a:t>Bipartite Graphs </a:t>
              </a:r>
            </a:p>
          </p:txBody>
        </p:sp>
      </p:grpSp>
      <p:grpSp>
        <p:nvGrpSpPr>
          <p:cNvPr id="72" name="그룹 71">
            <a:extLst>
              <a:ext uri="{FF2B5EF4-FFF2-40B4-BE49-F238E27FC236}">
                <a16:creationId xmlns:a16="http://schemas.microsoft.com/office/drawing/2014/main" id="{6C071F98-37C5-4ECF-929A-89ECD0AE0341}"/>
              </a:ext>
            </a:extLst>
          </p:cNvPr>
          <p:cNvGrpSpPr/>
          <p:nvPr/>
        </p:nvGrpSpPr>
        <p:grpSpPr>
          <a:xfrm>
            <a:off x="8845317" y="1953088"/>
            <a:ext cx="2666893" cy="4293492"/>
            <a:chOff x="7741328" y="1953088"/>
            <a:chExt cx="2666893" cy="4293492"/>
          </a:xfrm>
        </p:grpSpPr>
        <p:grpSp>
          <p:nvGrpSpPr>
            <p:cNvPr id="49" name="그룹 48">
              <a:extLst>
                <a:ext uri="{FF2B5EF4-FFF2-40B4-BE49-F238E27FC236}">
                  <a16:creationId xmlns:a16="http://schemas.microsoft.com/office/drawing/2014/main" id="{239BC9B5-6569-41AB-B295-F6B8E6A3FD74}"/>
                </a:ext>
              </a:extLst>
            </p:cNvPr>
            <p:cNvGrpSpPr/>
            <p:nvPr/>
          </p:nvGrpSpPr>
          <p:grpSpPr>
            <a:xfrm>
              <a:off x="7741328" y="1953088"/>
              <a:ext cx="2666893" cy="3773010"/>
              <a:chOff x="772357" y="1775534"/>
              <a:chExt cx="3488924" cy="4935985"/>
            </a:xfrm>
          </p:grpSpPr>
          <p:cxnSp>
            <p:nvCxnSpPr>
              <p:cNvPr id="50" name="직선 연결선 49">
                <a:extLst>
                  <a:ext uri="{FF2B5EF4-FFF2-40B4-BE49-F238E27FC236}">
                    <a16:creationId xmlns:a16="http://schemas.microsoft.com/office/drawing/2014/main" id="{ED3CD54F-1C5F-41BA-A79F-DD74ADB7A7F3}"/>
                  </a:ext>
                </a:extLst>
              </p:cNvPr>
              <p:cNvCxnSpPr>
                <a:stCxn id="60" idx="6"/>
                <a:endCxn id="61" idx="2"/>
              </p:cNvCxnSpPr>
              <p:nvPr/>
            </p:nvCxnSpPr>
            <p:spPr>
              <a:xfrm>
                <a:off x="1953087" y="2055181"/>
                <a:ext cx="11274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FD53083B-49BA-459E-9F18-CA36D30B6A40}"/>
                  </a:ext>
                </a:extLst>
              </p:cNvPr>
              <p:cNvCxnSpPr>
                <a:cxnSpLocks/>
                <a:stCxn id="60" idx="5"/>
                <a:endCxn id="63" idx="1"/>
              </p:cNvCxnSpPr>
              <p:nvPr/>
            </p:nvCxnSpPr>
            <p:spPr>
              <a:xfrm>
                <a:off x="1780173" y="2252920"/>
                <a:ext cx="1473292" cy="69869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529D5BDF-567B-4674-A6B5-2637F04A12A6}"/>
                  </a:ext>
                </a:extLst>
              </p:cNvPr>
              <p:cNvCxnSpPr>
                <a:cxnSpLocks/>
                <a:stCxn id="62" idx="7"/>
                <a:endCxn id="61" idx="3"/>
              </p:cNvCxnSpPr>
              <p:nvPr/>
            </p:nvCxnSpPr>
            <p:spPr>
              <a:xfrm flipV="1">
                <a:off x="1780173" y="2252920"/>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47C673F1-1D9A-4C25-BFD7-E8A2DDDB2B3F}"/>
                  </a:ext>
                </a:extLst>
              </p:cNvPr>
              <p:cNvCxnSpPr>
                <a:cxnSpLocks/>
                <a:stCxn id="65" idx="1"/>
                <a:endCxn id="62" idx="5"/>
              </p:cNvCxnSpPr>
              <p:nvPr/>
            </p:nvCxnSpPr>
            <p:spPr>
              <a:xfrm flipH="1" flipV="1">
                <a:off x="1780173" y="3347093"/>
                <a:ext cx="1473292" cy="69869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608CF212-D68C-4516-B7EF-DE6E00C433C3}"/>
                  </a:ext>
                </a:extLst>
              </p:cNvPr>
              <p:cNvCxnSpPr>
                <a:cxnSpLocks/>
                <a:stCxn id="67" idx="1"/>
              </p:cNvCxnSpPr>
              <p:nvPr/>
            </p:nvCxnSpPr>
            <p:spPr>
              <a:xfrm flipH="1" flipV="1">
                <a:off x="1607259" y="3429000"/>
                <a:ext cx="1646206" cy="17109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AA28024B-ED70-4A62-B976-6A8DCDEE3B00}"/>
                  </a:ext>
                </a:extLst>
              </p:cNvPr>
              <p:cNvCxnSpPr>
                <a:cxnSpLocks/>
                <a:stCxn id="69" idx="2"/>
                <a:endCxn id="68" idx="6"/>
              </p:cNvCxnSpPr>
              <p:nvPr/>
            </p:nvCxnSpPr>
            <p:spPr>
              <a:xfrm flipH="1">
                <a:off x="1953087" y="6431873"/>
                <a:ext cx="112746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D684CD2C-FB5F-43CC-A131-94C4AEBA52D9}"/>
                  </a:ext>
                </a:extLst>
              </p:cNvPr>
              <p:cNvCxnSpPr>
                <a:cxnSpLocks/>
                <a:stCxn id="67" idx="3"/>
                <a:endCxn id="68" idx="7"/>
              </p:cNvCxnSpPr>
              <p:nvPr/>
            </p:nvCxnSpPr>
            <p:spPr>
              <a:xfrm flipH="1">
                <a:off x="1780173" y="5535439"/>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직선 연결선 56">
                <a:extLst>
                  <a:ext uri="{FF2B5EF4-FFF2-40B4-BE49-F238E27FC236}">
                    <a16:creationId xmlns:a16="http://schemas.microsoft.com/office/drawing/2014/main" id="{CFBEBE3C-3BF4-481B-AAA0-E6465B133221}"/>
                  </a:ext>
                </a:extLst>
              </p:cNvPr>
              <p:cNvCxnSpPr>
                <a:cxnSpLocks/>
                <a:stCxn id="67" idx="2"/>
                <a:endCxn id="66" idx="6"/>
              </p:cNvCxnSpPr>
              <p:nvPr/>
            </p:nvCxnSpPr>
            <p:spPr>
              <a:xfrm flipH="1">
                <a:off x="1953087" y="5337700"/>
                <a:ext cx="112746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직선 연결선 57">
                <a:extLst>
                  <a:ext uri="{FF2B5EF4-FFF2-40B4-BE49-F238E27FC236}">
                    <a16:creationId xmlns:a16="http://schemas.microsoft.com/office/drawing/2014/main" id="{BFA675CF-BA23-4B8C-9EA3-FB63D14C5457}"/>
                  </a:ext>
                </a:extLst>
              </p:cNvPr>
              <p:cNvCxnSpPr>
                <a:cxnSpLocks/>
                <a:endCxn id="64" idx="5"/>
              </p:cNvCxnSpPr>
              <p:nvPr/>
            </p:nvCxnSpPr>
            <p:spPr>
              <a:xfrm flipH="1" flipV="1">
                <a:off x="1780173" y="4441266"/>
                <a:ext cx="1473292" cy="8964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309ED718-5549-4870-A27A-E85ACD3C3A53}"/>
                  </a:ext>
                </a:extLst>
              </p:cNvPr>
              <p:cNvCxnSpPr>
                <a:cxnSpLocks/>
                <a:stCxn id="61" idx="4"/>
                <a:endCxn id="64" idx="7"/>
              </p:cNvCxnSpPr>
              <p:nvPr/>
            </p:nvCxnSpPr>
            <p:spPr>
              <a:xfrm flipH="1">
                <a:off x="1780173" y="2334827"/>
                <a:ext cx="1890743" cy="171096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0" name="타원 59">
                <a:extLst>
                  <a:ext uri="{FF2B5EF4-FFF2-40B4-BE49-F238E27FC236}">
                    <a16:creationId xmlns:a16="http://schemas.microsoft.com/office/drawing/2014/main" id="{D339437E-093B-4C06-ADA0-779562427109}"/>
                  </a:ext>
                </a:extLst>
              </p:cNvPr>
              <p:cNvSpPr/>
              <p:nvPr/>
            </p:nvSpPr>
            <p:spPr>
              <a:xfrm>
                <a:off x="772357" y="1775534"/>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Room1</a:t>
                </a:r>
              </a:p>
            </p:txBody>
          </p:sp>
          <p:sp>
            <p:nvSpPr>
              <p:cNvPr id="61" name="타원 60">
                <a:extLst>
                  <a:ext uri="{FF2B5EF4-FFF2-40B4-BE49-F238E27FC236}">
                    <a16:creationId xmlns:a16="http://schemas.microsoft.com/office/drawing/2014/main" id="{6E6595C5-8AF6-4F9D-8C37-ED89F1842677}"/>
                  </a:ext>
                </a:extLst>
              </p:cNvPr>
              <p:cNvSpPr/>
              <p:nvPr/>
            </p:nvSpPr>
            <p:spPr>
              <a:xfrm>
                <a:off x="3080551" y="1775534"/>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Viki</a:t>
                </a:r>
              </a:p>
            </p:txBody>
          </p:sp>
          <p:sp>
            <p:nvSpPr>
              <p:cNvPr id="62" name="타원 61">
                <a:extLst>
                  <a:ext uri="{FF2B5EF4-FFF2-40B4-BE49-F238E27FC236}">
                    <a16:creationId xmlns:a16="http://schemas.microsoft.com/office/drawing/2014/main" id="{59EA22F8-3D84-4DEB-B53D-8E187AE030A7}"/>
                  </a:ext>
                </a:extLst>
              </p:cNvPr>
              <p:cNvSpPr/>
              <p:nvPr/>
            </p:nvSpPr>
            <p:spPr>
              <a:xfrm>
                <a:off x="772357" y="2869707"/>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Room2</a:t>
                </a:r>
              </a:p>
            </p:txBody>
          </p:sp>
          <p:sp>
            <p:nvSpPr>
              <p:cNvPr id="63" name="타원 62">
                <a:extLst>
                  <a:ext uri="{FF2B5EF4-FFF2-40B4-BE49-F238E27FC236}">
                    <a16:creationId xmlns:a16="http://schemas.microsoft.com/office/drawing/2014/main" id="{A9AFA15C-F202-447D-9F41-91B4BACA2978}"/>
                  </a:ext>
                </a:extLst>
              </p:cNvPr>
              <p:cNvSpPr/>
              <p:nvPr/>
            </p:nvSpPr>
            <p:spPr>
              <a:xfrm>
                <a:off x="3080551" y="2869707"/>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Wendy</a:t>
                </a:r>
              </a:p>
            </p:txBody>
          </p:sp>
          <p:sp>
            <p:nvSpPr>
              <p:cNvPr id="64" name="타원 63">
                <a:extLst>
                  <a:ext uri="{FF2B5EF4-FFF2-40B4-BE49-F238E27FC236}">
                    <a16:creationId xmlns:a16="http://schemas.microsoft.com/office/drawing/2014/main" id="{0D28D05F-4238-4853-8486-C6614026DBF5}"/>
                  </a:ext>
                </a:extLst>
              </p:cNvPr>
              <p:cNvSpPr/>
              <p:nvPr/>
            </p:nvSpPr>
            <p:spPr>
              <a:xfrm>
                <a:off x="772357" y="3963880"/>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Room3</a:t>
                </a:r>
              </a:p>
            </p:txBody>
          </p:sp>
          <p:sp>
            <p:nvSpPr>
              <p:cNvPr id="65" name="타원 64">
                <a:extLst>
                  <a:ext uri="{FF2B5EF4-FFF2-40B4-BE49-F238E27FC236}">
                    <a16:creationId xmlns:a16="http://schemas.microsoft.com/office/drawing/2014/main" id="{56CF7573-7BE8-4013-A0FD-961DD13C24A9}"/>
                  </a:ext>
                </a:extLst>
              </p:cNvPr>
              <p:cNvSpPr/>
              <p:nvPr/>
            </p:nvSpPr>
            <p:spPr>
              <a:xfrm>
                <a:off x="3080551" y="3963880"/>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Xin</a:t>
                </a:r>
              </a:p>
            </p:txBody>
          </p:sp>
          <p:sp>
            <p:nvSpPr>
              <p:cNvPr id="66" name="타원 65">
                <a:extLst>
                  <a:ext uri="{FF2B5EF4-FFF2-40B4-BE49-F238E27FC236}">
                    <a16:creationId xmlns:a16="http://schemas.microsoft.com/office/drawing/2014/main" id="{A4E4F0F9-B264-419B-870A-C59AC9DD908E}"/>
                  </a:ext>
                </a:extLst>
              </p:cNvPr>
              <p:cNvSpPr/>
              <p:nvPr/>
            </p:nvSpPr>
            <p:spPr>
              <a:xfrm>
                <a:off x="772357" y="5058053"/>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Room4</a:t>
                </a:r>
              </a:p>
            </p:txBody>
          </p:sp>
          <p:sp>
            <p:nvSpPr>
              <p:cNvPr id="67" name="타원 66">
                <a:extLst>
                  <a:ext uri="{FF2B5EF4-FFF2-40B4-BE49-F238E27FC236}">
                    <a16:creationId xmlns:a16="http://schemas.microsoft.com/office/drawing/2014/main" id="{289CDFAC-E6E9-4BCE-924B-59DD83EC9C39}"/>
                  </a:ext>
                </a:extLst>
              </p:cNvPr>
              <p:cNvSpPr/>
              <p:nvPr/>
            </p:nvSpPr>
            <p:spPr>
              <a:xfrm>
                <a:off x="3080551" y="5058053"/>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Yoram</a:t>
                </a:r>
              </a:p>
            </p:txBody>
          </p:sp>
          <p:sp>
            <p:nvSpPr>
              <p:cNvPr id="68" name="타원 67">
                <a:extLst>
                  <a:ext uri="{FF2B5EF4-FFF2-40B4-BE49-F238E27FC236}">
                    <a16:creationId xmlns:a16="http://schemas.microsoft.com/office/drawing/2014/main" id="{1B3C883A-CBFF-4095-8A4C-E41107EF0F18}"/>
                  </a:ext>
                </a:extLst>
              </p:cNvPr>
              <p:cNvSpPr/>
              <p:nvPr/>
            </p:nvSpPr>
            <p:spPr>
              <a:xfrm>
                <a:off x="772357" y="6152226"/>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Room5</a:t>
                </a:r>
              </a:p>
            </p:txBody>
          </p:sp>
          <p:sp>
            <p:nvSpPr>
              <p:cNvPr id="69" name="타원 68">
                <a:extLst>
                  <a:ext uri="{FF2B5EF4-FFF2-40B4-BE49-F238E27FC236}">
                    <a16:creationId xmlns:a16="http://schemas.microsoft.com/office/drawing/2014/main" id="{7B40CDDB-18D2-4A0B-9DC1-E64C64B1B2C6}"/>
                  </a:ext>
                </a:extLst>
              </p:cNvPr>
              <p:cNvSpPr/>
              <p:nvPr/>
            </p:nvSpPr>
            <p:spPr>
              <a:xfrm>
                <a:off x="3080551" y="6152226"/>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Zoe</a:t>
                </a:r>
              </a:p>
            </p:txBody>
          </p:sp>
        </p:grpSp>
        <p:sp>
          <p:nvSpPr>
            <p:cNvPr id="71" name="직사각형 70">
              <a:extLst>
                <a:ext uri="{FF2B5EF4-FFF2-40B4-BE49-F238E27FC236}">
                  <a16:creationId xmlns:a16="http://schemas.microsoft.com/office/drawing/2014/main" id="{9563F882-E42E-434B-B47C-D26DC64A99A7}"/>
                </a:ext>
              </a:extLst>
            </p:cNvPr>
            <p:cNvSpPr/>
            <p:nvPr/>
          </p:nvSpPr>
          <p:spPr>
            <a:xfrm>
              <a:off x="8192596" y="5877248"/>
              <a:ext cx="1785169" cy="369332"/>
            </a:xfrm>
            <a:prstGeom prst="rect">
              <a:avLst/>
            </a:prstGeom>
          </p:spPr>
          <p:txBody>
            <a:bodyPr wrap="none">
              <a:spAutoFit/>
            </a:bodyPr>
            <a:lstStyle/>
            <a:p>
              <a:r>
                <a:rPr lang="en-US" dirty="0"/>
                <a:t>Perfect Matching</a:t>
              </a:r>
            </a:p>
          </p:txBody>
        </p:sp>
      </p:grpSp>
      <p:sp>
        <p:nvSpPr>
          <p:cNvPr id="74" name="직사각형 73">
            <a:extLst>
              <a:ext uri="{FF2B5EF4-FFF2-40B4-BE49-F238E27FC236}">
                <a16:creationId xmlns:a16="http://schemas.microsoft.com/office/drawing/2014/main" id="{0EAE8F87-5E1B-4BEE-B8FC-8CD7BD4C98AD}"/>
              </a:ext>
            </a:extLst>
          </p:cNvPr>
          <p:cNvSpPr/>
          <p:nvPr/>
        </p:nvSpPr>
        <p:spPr>
          <a:xfrm>
            <a:off x="263300" y="2011929"/>
            <a:ext cx="4306007" cy="646331"/>
          </a:xfrm>
          <a:prstGeom prst="rect">
            <a:avLst/>
          </a:prstGeom>
        </p:spPr>
        <p:txBody>
          <a:bodyPr wrap="square">
            <a:spAutoFit/>
          </a:bodyPr>
          <a:lstStyle/>
          <a:p>
            <a:pPr lvl="1"/>
            <a:r>
              <a:rPr lang="en-US" dirty="0"/>
              <a:t>Assigning rooms to students in accordance to their preferences</a:t>
            </a:r>
            <a:endParaRPr lang="en-US" b="1" i="1" dirty="0"/>
          </a:p>
        </p:txBody>
      </p:sp>
      <p:sp>
        <p:nvSpPr>
          <p:cNvPr id="75" name="직사각형 74">
            <a:extLst>
              <a:ext uri="{FF2B5EF4-FFF2-40B4-BE49-F238E27FC236}">
                <a16:creationId xmlns:a16="http://schemas.microsoft.com/office/drawing/2014/main" id="{FA5684CC-EB2D-4C76-B51D-E1ACE58BB87D}"/>
              </a:ext>
            </a:extLst>
          </p:cNvPr>
          <p:cNvSpPr/>
          <p:nvPr/>
        </p:nvSpPr>
        <p:spPr>
          <a:xfrm>
            <a:off x="263300" y="2949779"/>
            <a:ext cx="4401470" cy="1477328"/>
          </a:xfrm>
          <a:prstGeom prst="rect">
            <a:avLst/>
          </a:prstGeom>
        </p:spPr>
        <p:txBody>
          <a:bodyPr wrap="square">
            <a:spAutoFit/>
          </a:bodyPr>
          <a:lstStyle/>
          <a:p>
            <a:pPr lvl="1"/>
            <a:r>
              <a:rPr lang="en-US" dirty="0"/>
              <a:t>Perfect matching is an assignment of nodes so that </a:t>
            </a:r>
            <a:r>
              <a:rPr lang="en-US" sz="1200" b="1" dirty="0"/>
              <a:t>(1) </a:t>
            </a:r>
            <a:r>
              <a:rPr lang="en-US" u="sng" dirty="0"/>
              <a:t>each node is connected by an edge to the node it is assigned to </a:t>
            </a:r>
            <a:r>
              <a:rPr lang="en-US" dirty="0"/>
              <a:t>and </a:t>
            </a:r>
            <a:r>
              <a:rPr lang="en-US" sz="1200" b="1" dirty="0"/>
              <a:t>(2)</a:t>
            </a:r>
            <a:r>
              <a:rPr lang="en-US" b="1" dirty="0"/>
              <a:t> </a:t>
            </a:r>
            <a:r>
              <a:rPr lang="en-US" u="sng" dirty="0"/>
              <a:t>no two nodes on the left are assigned to the same node on right</a:t>
            </a:r>
            <a:endParaRPr lang="en-US" b="1" i="1" u="sng" dirty="0"/>
          </a:p>
        </p:txBody>
      </p:sp>
    </p:spTree>
    <p:extLst>
      <p:ext uri="{BB962C8B-B14F-4D97-AF65-F5344CB8AC3E}">
        <p14:creationId xmlns:p14="http://schemas.microsoft.com/office/powerpoint/2010/main" val="1856746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그룹 6">
            <a:extLst>
              <a:ext uri="{FF2B5EF4-FFF2-40B4-BE49-F238E27FC236}">
                <a16:creationId xmlns:a16="http://schemas.microsoft.com/office/drawing/2014/main" id="{2B03588D-AA0F-4BD6-AE95-C36BF9E66DE5}"/>
              </a:ext>
            </a:extLst>
          </p:cNvPr>
          <p:cNvGrpSpPr/>
          <p:nvPr/>
        </p:nvGrpSpPr>
        <p:grpSpPr>
          <a:xfrm>
            <a:off x="7145323" y="1953088"/>
            <a:ext cx="3841342" cy="4293492"/>
            <a:chOff x="623958" y="1953088"/>
            <a:chExt cx="3841342" cy="4293492"/>
          </a:xfrm>
        </p:grpSpPr>
        <p:grpSp>
          <p:nvGrpSpPr>
            <p:cNvPr id="8" name="그룹 7">
              <a:extLst>
                <a:ext uri="{FF2B5EF4-FFF2-40B4-BE49-F238E27FC236}">
                  <a16:creationId xmlns:a16="http://schemas.microsoft.com/office/drawing/2014/main" id="{86698990-F880-42D3-8FA1-BF6A32BACAD0}"/>
                </a:ext>
              </a:extLst>
            </p:cNvPr>
            <p:cNvGrpSpPr/>
            <p:nvPr/>
          </p:nvGrpSpPr>
          <p:grpSpPr>
            <a:xfrm>
              <a:off x="1242873" y="1953088"/>
              <a:ext cx="2666893" cy="3773010"/>
              <a:chOff x="772357" y="1775534"/>
              <a:chExt cx="3488924" cy="4935985"/>
            </a:xfrm>
          </p:grpSpPr>
          <p:cxnSp>
            <p:nvCxnSpPr>
              <p:cNvPr id="10" name="직선 연결선 9">
                <a:extLst>
                  <a:ext uri="{FF2B5EF4-FFF2-40B4-BE49-F238E27FC236}">
                    <a16:creationId xmlns:a16="http://schemas.microsoft.com/office/drawing/2014/main" id="{FF1BF206-B05C-44CD-A755-B83726B5A30E}"/>
                  </a:ext>
                </a:extLst>
              </p:cNvPr>
              <p:cNvCxnSpPr>
                <a:stCxn id="22" idx="6"/>
                <a:endCxn id="23" idx="2"/>
              </p:cNvCxnSpPr>
              <p:nvPr/>
            </p:nvCxnSpPr>
            <p:spPr>
              <a:xfrm>
                <a:off x="1953087" y="2055181"/>
                <a:ext cx="11274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083F5FF6-F802-48F1-B25F-92B63FB7DD42}"/>
                  </a:ext>
                </a:extLst>
              </p:cNvPr>
              <p:cNvCxnSpPr>
                <a:cxnSpLocks/>
                <a:stCxn id="22" idx="5"/>
                <a:endCxn id="25" idx="1"/>
              </p:cNvCxnSpPr>
              <p:nvPr/>
            </p:nvCxnSpPr>
            <p:spPr>
              <a:xfrm>
                <a:off x="1780173" y="2252920"/>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직선 연결선 13">
                <a:extLst>
                  <a:ext uri="{FF2B5EF4-FFF2-40B4-BE49-F238E27FC236}">
                    <a16:creationId xmlns:a16="http://schemas.microsoft.com/office/drawing/2014/main" id="{839A6938-9AC6-4628-AACC-BA11BF143F58}"/>
                  </a:ext>
                </a:extLst>
              </p:cNvPr>
              <p:cNvCxnSpPr>
                <a:cxnSpLocks/>
                <a:stCxn id="24" idx="7"/>
                <a:endCxn id="23" idx="3"/>
              </p:cNvCxnSpPr>
              <p:nvPr/>
            </p:nvCxnSpPr>
            <p:spPr>
              <a:xfrm flipV="1">
                <a:off x="1780173" y="2252920"/>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2695C1E4-9844-4146-83B0-A1F8C413D075}"/>
                  </a:ext>
                </a:extLst>
              </p:cNvPr>
              <p:cNvCxnSpPr>
                <a:cxnSpLocks/>
                <a:stCxn id="27" idx="1"/>
                <a:endCxn id="24" idx="5"/>
              </p:cNvCxnSpPr>
              <p:nvPr/>
            </p:nvCxnSpPr>
            <p:spPr>
              <a:xfrm flipH="1" flipV="1">
                <a:off x="1780173" y="3347093"/>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1BAE119A-32AD-4F8A-AAB1-3C3CA337D35D}"/>
                  </a:ext>
                </a:extLst>
              </p:cNvPr>
              <p:cNvCxnSpPr>
                <a:cxnSpLocks/>
                <a:stCxn id="29" idx="1"/>
              </p:cNvCxnSpPr>
              <p:nvPr/>
            </p:nvCxnSpPr>
            <p:spPr>
              <a:xfrm flipH="1" flipV="1">
                <a:off x="1607259" y="3429000"/>
                <a:ext cx="1646206" cy="17109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id="{FED41325-1710-474E-B5EB-85B71B7F6D7B}"/>
                  </a:ext>
                </a:extLst>
              </p:cNvPr>
              <p:cNvCxnSpPr>
                <a:cxnSpLocks/>
                <a:stCxn id="31" idx="2"/>
                <a:endCxn id="30" idx="6"/>
              </p:cNvCxnSpPr>
              <p:nvPr/>
            </p:nvCxnSpPr>
            <p:spPr>
              <a:xfrm flipH="1">
                <a:off x="1953087" y="6431873"/>
                <a:ext cx="11274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759964FF-6A35-421F-8196-9CC300A7B181}"/>
                  </a:ext>
                </a:extLst>
              </p:cNvPr>
              <p:cNvCxnSpPr>
                <a:cxnSpLocks/>
                <a:stCxn id="29" idx="3"/>
                <a:endCxn id="30" idx="7"/>
              </p:cNvCxnSpPr>
              <p:nvPr/>
            </p:nvCxnSpPr>
            <p:spPr>
              <a:xfrm flipH="1">
                <a:off x="1780173" y="5535439"/>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5E7ACF29-017D-42BA-AE5D-7457C56F9D1C}"/>
                  </a:ext>
                </a:extLst>
              </p:cNvPr>
              <p:cNvCxnSpPr>
                <a:cxnSpLocks/>
                <a:stCxn id="29" idx="2"/>
                <a:endCxn id="28" idx="6"/>
              </p:cNvCxnSpPr>
              <p:nvPr/>
            </p:nvCxnSpPr>
            <p:spPr>
              <a:xfrm flipH="1">
                <a:off x="1953087" y="5337700"/>
                <a:ext cx="11274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6FBEAC7-5D7D-47E9-8138-4E56F071BC77}"/>
                  </a:ext>
                </a:extLst>
              </p:cNvPr>
              <p:cNvCxnSpPr>
                <a:cxnSpLocks/>
                <a:endCxn id="26" idx="5"/>
              </p:cNvCxnSpPr>
              <p:nvPr/>
            </p:nvCxnSpPr>
            <p:spPr>
              <a:xfrm flipH="1" flipV="1">
                <a:off x="1780173" y="4441266"/>
                <a:ext cx="1473292" cy="8964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타원 21">
                <a:extLst>
                  <a:ext uri="{FF2B5EF4-FFF2-40B4-BE49-F238E27FC236}">
                    <a16:creationId xmlns:a16="http://schemas.microsoft.com/office/drawing/2014/main" id="{932B81D0-D444-4252-BA1D-3DF648294DCC}"/>
                  </a:ext>
                </a:extLst>
              </p:cNvPr>
              <p:cNvSpPr/>
              <p:nvPr/>
            </p:nvSpPr>
            <p:spPr>
              <a:xfrm>
                <a:off x="772357" y="1775534"/>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Room1</a:t>
                </a:r>
              </a:p>
            </p:txBody>
          </p:sp>
          <p:sp>
            <p:nvSpPr>
              <p:cNvPr id="23" name="타원 22">
                <a:extLst>
                  <a:ext uri="{FF2B5EF4-FFF2-40B4-BE49-F238E27FC236}">
                    <a16:creationId xmlns:a16="http://schemas.microsoft.com/office/drawing/2014/main" id="{26D48EB0-492B-4D78-A5E8-2C81C8C3B5CA}"/>
                  </a:ext>
                </a:extLst>
              </p:cNvPr>
              <p:cNvSpPr/>
              <p:nvPr/>
            </p:nvSpPr>
            <p:spPr>
              <a:xfrm>
                <a:off x="3080551" y="1775534"/>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Viki</a:t>
                </a:r>
              </a:p>
            </p:txBody>
          </p:sp>
          <p:sp>
            <p:nvSpPr>
              <p:cNvPr id="24" name="타원 23">
                <a:extLst>
                  <a:ext uri="{FF2B5EF4-FFF2-40B4-BE49-F238E27FC236}">
                    <a16:creationId xmlns:a16="http://schemas.microsoft.com/office/drawing/2014/main" id="{58BCB488-F851-4F27-A9AB-DAFC8481C854}"/>
                  </a:ext>
                </a:extLst>
              </p:cNvPr>
              <p:cNvSpPr/>
              <p:nvPr/>
            </p:nvSpPr>
            <p:spPr>
              <a:xfrm>
                <a:off x="772357" y="2869707"/>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Room2</a:t>
                </a:r>
              </a:p>
            </p:txBody>
          </p:sp>
          <p:sp>
            <p:nvSpPr>
              <p:cNvPr id="25" name="타원 24">
                <a:extLst>
                  <a:ext uri="{FF2B5EF4-FFF2-40B4-BE49-F238E27FC236}">
                    <a16:creationId xmlns:a16="http://schemas.microsoft.com/office/drawing/2014/main" id="{B5A2FDB7-21BA-4191-B40D-60D2440CC87A}"/>
                  </a:ext>
                </a:extLst>
              </p:cNvPr>
              <p:cNvSpPr/>
              <p:nvPr/>
            </p:nvSpPr>
            <p:spPr>
              <a:xfrm>
                <a:off x="3080551" y="2869707"/>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Wendy</a:t>
                </a:r>
              </a:p>
            </p:txBody>
          </p:sp>
          <p:sp>
            <p:nvSpPr>
              <p:cNvPr id="26" name="타원 25">
                <a:extLst>
                  <a:ext uri="{FF2B5EF4-FFF2-40B4-BE49-F238E27FC236}">
                    <a16:creationId xmlns:a16="http://schemas.microsoft.com/office/drawing/2014/main" id="{74D65289-FFAD-4FE2-926C-C3C28930B16A}"/>
                  </a:ext>
                </a:extLst>
              </p:cNvPr>
              <p:cNvSpPr/>
              <p:nvPr/>
            </p:nvSpPr>
            <p:spPr>
              <a:xfrm>
                <a:off x="772357" y="3963880"/>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Room3</a:t>
                </a:r>
              </a:p>
            </p:txBody>
          </p:sp>
          <p:sp>
            <p:nvSpPr>
              <p:cNvPr id="27" name="타원 26">
                <a:extLst>
                  <a:ext uri="{FF2B5EF4-FFF2-40B4-BE49-F238E27FC236}">
                    <a16:creationId xmlns:a16="http://schemas.microsoft.com/office/drawing/2014/main" id="{081791FC-0A56-48D1-B803-4ED9C3FCDA09}"/>
                  </a:ext>
                </a:extLst>
              </p:cNvPr>
              <p:cNvSpPr/>
              <p:nvPr/>
            </p:nvSpPr>
            <p:spPr>
              <a:xfrm>
                <a:off x="3080551" y="3963880"/>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Xin</a:t>
                </a:r>
              </a:p>
            </p:txBody>
          </p:sp>
          <p:sp>
            <p:nvSpPr>
              <p:cNvPr id="28" name="타원 27">
                <a:extLst>
                  <a:ext uri="{FF2B5EF4-FFF2-40B4-BE49-F238E27FC236}">
                    <a16:creationId xmlns:a16="http://schemas.microsoft.com/office/drawing/2014/main" id="{4C57026A-24BE-4C5A-9765-1D4D9828A632}"/>
                  </a:ext>
                </a:extLst>
              </p:cNvPr>
              <p:cNvSpPr/>
              <p:nvPr/>
            </p:nvSpPr>
            <p:spPr>
              <a:xfrm>
                <a:off x="772357" y="5058053"/>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Room4</a:t>
                </a:r>
              </a:p>
            </p:txBody>
          </p:sp>
          <p:sp>
            <p:nvSpPr>
              <p:cNvPr id="29" name="타원 28">
                <a:extLst>
                  <a:ext uri="{FF2B5EF4-FFF2-40B4-BE49-F238E27FC236}">
                    <a16:creationId xmlns:a16="http://schemas.microsoft.com/office/drawing/2014/main" id="{A52FA5BF-AD7A-427F-A294-CA67435E4969}"/>
                  </a:ext>
                </a:extLst>
              </p:cNvPr>
              <p:cNvSpPr/>
              <p:nvPr/>
            </p:nvSpPr>
            <p:spPr>
              <a:xfrm>
                <a:off x="3080551" y="5058053"/>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Yoram</a:t>
                </a:r>
              </a:p>
            </p:txBody>
          </p:sp>
          <p:sp>
            <p:nvSpPr>
              <p:cNvPr id="30" name="타원 29">
                <a:extLst>
                  <a:ext uri="{FF2B5EF4-FFF2-40B4-BE49-F238E27FC236}">
                    <a16:creationId xmlns:a16="http://schemas.microsoft.com/office/drawing/2014/main" id="{7B0B2ED6-A685-434D-8775-31EC8221369B}"/>
                  </a:ext>
                </a:extLst>
              </p:cNvPr>
              <p:cNvSpPr/>
              <p:nvPr/>
            </p:nvSpPr>
            <p:spPr>
              <a:xfrm>
                <a:off x="772357" y="6152226"/>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Room5</a:t>
                </a:r>
              </a:p>
            </p:txBody>
          </p:sp>
          <p:sp>
            <p:nvSpPr>
              <p:cNvPr id="31" name="타원 30">
                <a:extLst>
                  <a:ext uri="{FF2B5EF4-FFF2-40B4-BE49-F238E27FC236}">
                    <a16:creationId xmlns:a16="http://schemas.microsoft.com/office/drawing/2014/main" id="{1A57F86C-ED11-43F4-B914-7D11EF89C438}"/>
                  </a:ext>
                </a:extLst>
              </p:cNvPr>
              <p:cNvSpPr/>
              <p:nvPr/>
            </p:nvSpPr>
            <p:spPr>
              <a:xfrm>
                <a:off x="3080551" y="6152226"/>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Zoe</a:t>
                </a:r>
              </a:p>
            </p:txBody>
          </p:sp>
        </p:grpSp>
        <p:sp>
          <p:nvSpPr>
            <p:cNvPr id="9" name="직사각형 8">
              <a:extLst>
                <a:ext uri="{FF2B5EF4-FFF2-40B4-BE49-F238E27FC236}">
                  <a16:creationId xmlns:a16="http://schemas.microsoft.com/office/drawing/2014/main" id="{B0D9D63E-AE06-4B52-B89F-3F9E46686798}"/>
                </a:ext>
              </a:extLst>
            </p:cNvPr>
            <p:cNvSpPr/>
            <p:nvPr/>
          </p:nvSpPr>
          <p:spPr>
            <a:xfrm>
              <a:off x="1881062" y="5877248"/>
              <a:ext cx="1608261" cy="369332"/>
            </a:xfrm>
            <a:prstGeom prst="rect">
              <a:avLst/>
            </a:prstGeom>
          </p:spPr>
          <p:txBody>
            <a:bodyPr wrap="none">
              <a:spAutoFit/>
            </a:bodyPr>
            <a:lstStyle/>
            <a:p>
              <a:r>
                <a:rPr lang="en-US" dirty="0"/>
                <a:t>Constricted Set</a:t>
              </a:r>
            </a:p>
          </p:txBody>
        </p:sp>
        <p:sp>
          <p:nvSpPr>
            <p:cNvPr id="34" name="직사각형 33">
              <a:extLst>
                <a:ext uri="{FF2B5EF4-FFF2-40B4-BE49-F238E27FC236}">
                  <a16:creationId xmlns:a16="http://schemas.microsoft.com/office/drawing/2014/main" id="{085B1D37-E15F-4EB4-96D0-68A24BDFC7DC}"/>
                </a:ext>
              </a:extLst>
            </p:cNvPr>
            <p:cNvSpPr/>
            <p:nvPr/>
          </p:nvSpPr>
          <p:spPr>
            <a:xfrm>
              <a:off x="4196707" y="2263220"/>
              <a:ext cx="268593" cy="369332"/>
            </a:xfrm>
            <a:prstGeom prst="rect">
              <a:avLst/>
            </a:prstGeom>
          </p:spPr>
          <p:txBody>
            <a:bodyPr wrap="square">
              <a:spAutoFit/>
            </a:bodyPr>
            <a:lstStyle/>
            <a:p>
              <a:r>
                <a:rPr lang="en-US" b="1" dirty="0"/>
                <a:t>S</a:t>
              </a:r>
            </a:p>
          </p:txBody>
        </p:sp>
        <p:sp>
          <p:nvSpPr>
            <p:cNvPr id="35" name="직사각형 34">
              <a:extLst>
                <a:ext uri="{FF2B5EF4-FFF2-40B4-BE49-F238E27FC236}">
                  <a16:creationId xmlns:a16="http://schemas.microsoft.com/office/drawing/2014/main" id="{18BA3387-34C7-4072-87A5-FC0E2FC02817}"/>
                </a:ext>
              </a:extLst>
            </p:cNvPr>
            <p:cNvSpPr/>
            <p:nvPr/>
          </p:nvSpPr>
          <p:spPr>
            <a:xfrm>
              <a:off x="623958" y="2363079"/>
              <a:ext cx="590226" cy="369332"/>
            </a:xfrm>
            <a:prstGeom prst="rect">
              <a:avLst/>
            </a:prstGeom>
          </p:spPr>
          <p:txBody>
            <a:bodyPr wrap="none">
              <a:spAutoFit/>
            </a:bodyPr>
            <a:lstStyle/>
            <a:p>
              <a:r>
                <a:rPr lang="en-US" b="1" i="1" dirty="0"/>
                <a:t>N</a:t>
              </a:r>
              <a:r>
                <a:rPr lang="en-US" b="1" dirty="0"/>
                <a:t>(S)</a:t>
              </a:r>
            </a:p>
          </p:txBody>
        </p:sp>
      </p:grpSp>
      <p:sp>
        <p:nvSpPr>
          <p:cNvPr id="3" name="타원 2">
            <a:extLst>
              <a:ext uri="{FF2B5EF4-FFF2-40B4-BE49-F238E27FC236}">
                <a16:creationId xmlns:a16="http://schemas.microsoft.com/office/drawing/2014/main" id="{B42998F9-4168-4300-A096-F48A1BEAE84F}"/>
              </a:ext>
            </a:extLst>
          </p:cNvPr>
          <p:cNvSpPr/>
          <p:nvPr/>
        </p:nvSpPr>
        <p:spPr>
          <a:xfrm>
            <a:off x="9241654" y="1690688"/>
            <a:ext cx="1445262" cy="255776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직사각형 31">
            <a:extLst>
              <a:ext uri="{FF2B5EF4-FFF2-40B4-BE49-F238E27FC236}">
                <a16:creationId xmlns:a16="http://schemas.microsoft.com/office/drawing/2014/main" id="{ABF56644-9F31-4F5A-A578-FE9216A89ECA}"/>
              </a:ext>
            </a:extLst>
          </p:cNvPr>
          <p:cNvSpPr/>
          <p:nvPr/>
        </p:nvSpPr>
        <p:spPr>
          <a:xfrm>
            <a:off x="263300" y="2011929"/>
            <a:ext cx="4306007" cy="369332"/>
          </a:xfrm>
          <a:prstGeom prst="rect">
            <a:avLst/>
          </a:prstGeom>
        </p:spPr>
        <p:txBody>
          <a:bodyPr wrap="square">
            <a:spAutoFit/>
          </a:bodyPr>
          <a:lstStyle/>
          <a:p>
            <a:pPr lvl="1"/>
            <a:r>
              <a:rPr lang="en-US" b="1" i="1" dirty="0"/>
              <a:t>Matching Theorem</a:t>
            </a:r>
          </a:p>
        </p:txBody>
      </p:sp>
      <p:sp>
        <p:nvSpPr>
          <p:cNvPr id="33" name="직사각형 32">
            <a:extLst>
              <a:ext uri="{FF2B5EF4-FFF2-40B4-BE49-F238E27FC236}">
                <a16:creationId xmlns:a16="http://schemas.microsoft.com/office/drawing/2014/main" id="{0E8EBEA9-664D-4A77-8D57-E9085BB6456F}"/>
              </a:ext>
            </a:extLst>
          </p:cNvPr>
          <p:cNvSpPr/>
          <p:nvPr/>
        </p:nvSpPr>
        <p:spPr>
          <a:xfrm>
            <a:off x="263300" y="2447886"/>
            <a:ext cx="6368319" cy="646331"/>
          </a:xfrm>
          <a:prstGeom prst="rect">
            <a:avLst/>
          </a:prstGeom>
        </p:spPr>
        <p:txBody>
          <a:bodyPr wrap="square">
            <a:spAutoFit/>
          </a:bodyPr>
          <a:lstStyle/>
          <a:p>
            <a:pPr lvl="1"/>
            <a:r>
              <a:rPr lang="en-US" dirty="0"/>
              <a:t>If a bipartite graph has no perfect matching, then it must contain a constricted set</a:t>
            </a:r>
          </a:p>
        </p:txBody>
      </p:sp>
      <p:sp>
        <p:nvSpPr>
          <p:cNvPr id="4" name="직사각형 3">
            <a:extLst>
              <a:ext uri="{FF2B5EF4-FFF2-40B4-BE49-F238E27FC236}">
                <a16:creationId xmlns:a16="http://schemas.microsoft.com/office/drawing/2014/main" id="{766BC76F-A20D-4DEA-9B7C-57A8E03E2C1A}"/>
              </a:ext>
            </a:extLst>
          </p:cNvPr>
          <p:cNvSpPr/>
          <p:nvPr/>
        </p:nvSpPr>
        <p:spPr>
          <a:xfrm>
            <a:off x="7735549" y="1875354"/>
            <a:ext cx="1022683" cy="138557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직사각형 35">
            <a:extLst>
              <a:ext uri="{FF2B5EF4-FFF2-40B4-BE49-F238E27FC236}">
                <a16:creationId xmlns:a16="http://schemas.microsoft.com/office/drawing/2014/main" id="{13AD1271-F0C5-4D14-8037-7CBA3534CE05}"/>
              </a:ext>
            </a:extLst>
          </p:cNvPr>
          <p:cNvSpPr/>
          <p:nvPr/>
        </p:nvSpPr>
        <p:spPr>
          <a:xfrm>
            <a:off x="263300" y="3236741"/>
            <a:ext cx="4306007" cy="2277547"/>
          </a:xfrm>
          <a:prstGeom prst="rect">
            <a:avLst/>
          </a:prstGeom>
        </p:spPr>
        <p:txBody>
          <a:bodyPr wrap="square">
            <a:spAutoFit/>
          </a:bodyPr>
          <a:lstStyle/>
          <a:p>
            <a:pPr lvl="1"/>
            <a:r>
              <a:rPr lang="en-US" b="1" i="1" dirty="0"/>
              <a:t>Constricted Set</a:t>
            </a:r>
          </a:p>
          <a:p>
            <a:pPr lvl="1"/>
            <a:endParaRPr lang="en-US" b="1" i="1" dirty="0"/>
          </a:p>
          <a:p>
            <a:pPr lvl="1"/>
            <a:r>
              <a:rPr lang="en-US" dirty="0"/>
              <a:t>A set is constricted if it has more nodes than that if its neighbor nodes;</a:t>
            </a:r>
          </a:p>
          <a:p>
            <a:pPr lvl="1"/>
            <a:endParaRPr lang="en-US" dirty="0"/>
          </a:p>
          <a:p>
            <a:pPr lvl="1"/>
            <a:r>
              <a:rPr lang="en-US" b="1" dirty="0"/>
              <a:t>S &gt; </a:t>
            </a:r>
            <a:r>
              <a:rPr lang="en-US" b="1" i="1" dirty="0"/>
              <a:t>N</a:t>
            </a:r>
            <a:r>
              <a:rPr lang="en-US" b="1" dirty="0"/>
              <a:t>(S)</a:t>
            </a:r>
          </a:p>
          <a:p>
            <a:pPr lvl="1"/>
            <a:endParaRPr lang="en-US" dirty="0"/>
          </a:p>
          <a:p>
            <a:pPr lvl="1"/>
            <a:r>
              <a:rPr lang="en-US" sz="1600" dirty="0"/>
              <a:t>ex) S = 3, N(S) = 2</a:t>
            </a:r>
          </a:p>
        </p:txBody>
      </p:sp>
      <p:sp>
        <p:nvSpPr>
          <p:cNvPr id="39" name="제목 1">
            <a:extLst>
              <a:ext uri="{FF2B5EF4-FFF2-40B4-BE49-F238E27FC236}">
                <a16:creationId xmlns:a16="http://schemas.microsoft.com/office/drawing/2014/main" id="{0EB404FC-2B8F-412F-8908-0581F5BEAB60}"/>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Bipartite Graphs and Perfect Matchings</a:t>
            </a:r>
            <a:endParaRPr lang="en-US" dirty="0"/>
          </a:p>
        </p:txBody>
      </p:sp>
    </p:spTree>
    <p:extLst>
      <p:ext uri="{BB962C8B-B14F-4D97-AF65-F5344CB8AC3E}">
        <p14:creationId xmlns:p14="http://schemas.microsoft.com/office/powerpoint/2010/main" val="4192265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365125"/>
            <a:ext cx="10515600" cy="1325563"/>
          </a:xfrm>
        </p:spPr>
        <p:txBody>
          <a:bodyPr/>
          <a:lstStyle/>
          <a:p>
            <a:r>
              <a:rPr lang="en-US" dirty="0"/>
              <a:t>Valuations and Optimal Assignments</a:t>
            </a:r>
          </a:p>
        </p:txBody>
      </p:sp>
      <p:sp>
        <p:nvSpPr>
          <p:cNvPr id="14" name="직사각형 13">
            <a:extLst>
              <a:ext uri="{FF2B5EF4-FFF2-40B4-BE49-F238E27FC236}">
                <a16:creationId xmlns:a16="http://schemas.microsoft.com/office/drawing/2014/main" id="{840DC805-D2AE-47C8-8F26-0C92E2CCCBAB}"/>
              </a:ext>
            </a:extLst>
          </p:cNvPr>
          <p:cNvSpPr/>
          <p:nvPr/>
        </p:nvSpPr>
        <p:spPr>
          <a:xfrm>
            <a:off x="341766" y="1475044"/>
            <a:ext cx="4306007" cy="369332"/>
          </a:xfrm>
          <a:prstGeom prst="rect">
            <a:avLst/>
          </a:prstGeom>
        </p:spPr>
        <p:txBody>
          <a:bodyPr wrap="square">
            <a:spAutoFit/>
          </a:bodyPr>
          <a:lstStyle/>
          <a:p>
            <a:pPr lvl="1"/>
            <a:r>
              <a:rPr lang="en-US" b="1" i="1" dirty="0"/>
              <a:t>Valuation</a:t>
            </a:r>
          </a:p>
        </p:txBody>
      </p:sp>
      <p:sp>
        <p:nvSpPr>
          <p:cNvPr id="15" name="직사각형 14">
            <a:extLst>
              <a:ext uri="{FF2B5EF4-FFF2-40B4-BE49-F238E27FC236}">
                <a16:creationId xmlns:a16="http://schemas.microsoft.com/office/drawing/2014/main" id="{C92946F3-A289-4939-8DE2-42E04220B2A9}"/>
              </a:ext>
            </a:extLst>
          </p:cNvPr>
          <p:cNvSpPr/>
          <p:nvPr/>
        </p:nvSpPr>
        <p:spPr>
          <a:xfrm>
            <a:off x="341766" y="1911001"/>
            <a:ext cx="9503570" cy="646331"/>
          </a:xfrm>
          <a:prstGeom prst="rect">
            <a:avLst/>
          </a:prstGeom>
        </p:spPr>
        <p:txBody>
          <a:bodyPr wrap="square">
            <a:spAutoFit/>
          </a:bodyPr>
          <a:lstStyle/>
          <a:p>
            <a:pPr lvl="1"/>
            <a:r>
              <a:rPr lang="en-US" dirty="0"/>
              <a:t>Rather than putting the case into a binary assignment, valuation allow each individual to express how much they want it</a:t>
            </a:r>
          </a:p>
        </p:txBody>
      </p:sp>
      <p:grpSp>
        <p:nvGrpSpPr>
          <p:cNvPr id="6" name="그룹 5">
            <a:extLst>
              <a:ext uri="{FF2B5EF4-FFF2-40B4-BE49-F238E27FC236}">
                <a16:creationId xmlns:a16="http://schemas.microsoft.com/office/drawing/2014/main" id="{79860FAC-2F3B-4930-94AF-A013040A7282}"/>
              </a:ext>
            </a:extLst>
          </p:cNvPr>
          <p:cNvGrpSpPr/>
          <p:nvPr/>
        </p:nvGrpSpPr>
        <p:grpSpPr>
          <a:xfrm>
            <a:off x="838200" y="3620511"/>
            <a:ext cx="3707319" cy="3098871"/>
            <a:chOff x="7489173" y="2916187"/>
            <a:chExt cx="3707319" cy="3098871"/>
          </a:xfrm>
        </p:grpSpPr>
        <p:sp>
          <p:nvSpPr>
            <p:cNvPr id="33" name="타원 32">
              <a:extLst>
                <a:ext uri="{FF2B5EF4-FFF2-40B4-BE49-F238E27FC236}">
                  <a16:creationId xmlns:a16="http://schemas.microsoft.com/office/drawing/2014/main" id="{645828F2-240E-46F9-9FF0-D424614DC662}"/>
                </a:ext>
              </a:extLst>
            </p:cNvPr>
            <p:cNvSpPr/>
            <p:nvPr/>
          </p:nvSpPr>
          <p:spPr>
            <a:xfrm>
              <a:off x="7489173" y="3336661"/>
              <a:ext cx="902536" cy="427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Room1</a:t>
              </a:r>
            </a:p>
          </p:txBody>
        </p:sp>
        <p:sp>
          <p:nvSpPr>
            <p:cNvPr id="34" name="타원 33">
              <a:extLst>
                <a:ext uri="{FF2B5EF4-FFF2-40B4-BE49-F238E27FC236}">
                  <a16:creationId xmlns:a16="http://schemas.microsoft.com/office/drawing/2014/main" id="{7E15D101-1E1D-4CFF-956F-7835D5DA9906}"/>
                </a:ext>
              </a:extLst>
            </p:cNvPr>
            <p:cNvSpPr/>
            <p:nvPr/>
          </p:nvSpPr>
          <p:spPr>
            <a:xfrm>
              <a:off x="9253530" y="3336661"/>
              <a:ext cx="902536" cy="427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Xin</a:t>
              </a:r>
            </a:p>
          </p:txBody>
        </p:sp>
        <p:sp>
          <p:nvSpPr>
            <p:cNvPr id="35" name="타원 34">
              <a:extLst>
                <a:ext uri="{FF2B5EF4-FFF2-40B4-BE49-F238E27FC236}">
                  <a16:creationId xmlns:a16="http://schemas.microsoft.com/office/drawing/2014/main" id="{B5D47029-48CF-4D31-A0DA-82F00718E164}"/>
                </a:ext>
              </a:extLst>
            </p:cNvPr>
            <p:cNvSpPr/>
            <p:nvPr/>
          </p:nvSpPr>
          <p:spPr>
            <a:xfrm>
              <a:off x="7489173" y="4173035"/>
              <a:ext cx="902536" cy="427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Room2</a:t>
              </a:r>
            </a:p>
          </p:txBody>
        </p:sp>
        <p:sp>
          <p:nvSpPr>
            <p:cNvPr id="36" name="타원 35">
              <a:extLst>
                <a:ext uri="{FF2B5EF4-FFF2-40B4-BE49-F238E27FC236}">
                  <a16:creationId xmlns:a16="http://schemas.microsoft.com/office/drawing/2014/main" id="{EE350F75-BA18-4191-A47C-AA8C7D93853D}"/>
                </a:ext>
              </a:extLst>
            </p:cNvPr>
            <p:cNvSpPr/>
            <p:nvPr/>
          </p:nvSpPr>
          <p:spPr>
            <a:xfrm>
              <a:off x="9253530" y="4173035"/>
              <a:ext cx="902536" cy="427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Yoram</a:t>
              </a:r>
            </a:p>
          </p:txBody>
        </p:sp>
        <p:sp>
          <p:nvSpPr>
            <p:cNvPr id="37" name="타원 36">
              <a:extLst>
                <a:ext uri="{FF2B5EF4-FFF2-40B4-BE49-F238E27FC236}">
                  <a16:creationId xmlns:a16="http://schemas.microsoft.com/office/drawing/2014/main" id="{16349C1C-831D-43E4-AC96-2E6AA1DE42E7}"/>
                </a:ext>
              </a:extLst>
            </p:cNvPr>
            <p:cNvSpPr/>
            <p:nvPr/>
          </p:nvSpPr>
          <p:spPr>
            <a:xfrm>
              <a:off x="7489173" y="5009408"/>
              <a:ext cx="902536" cy="427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Room3</a:t>
              </a:r>
            </a:p>
          </p:txBody>
        </p:sp>
        <p:sp>
          <p:nvSpPr>
            <p:cNvPr id="38" name="타원 37">
              <a:extLst>
                <a:ext uri="{FF2B5EF4-FFF2-40B4-BE49-F238E27FC236}">
                  <a16:creationId xmlns:a16="http://schemas.microsoft.com/office/drawing/2014/main" id="{15445108-C0A6-45C8-B170-0169DCC8335E}"/>
                </a:ext>
              </a:extLst>
            </p:cNvPr>
            <p:cNvSpPr/>
            <p:nvPr/>
          </p:nvSpPr>
          <p:spPr>
            <a:xfrm>
              <a:off x="9253530" y="5009408"/>
              <a:ext cx="902536" cy="427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Zoe</a:t>
              </a:r>
            </a:p>
          </p:txBody>
        </p:sp>
        <p:sp>
          <p:nvSpPr>
            <p:cNvPr id="18" name="직사각형 17">
              <a:extLst>
                <a:ext uri="{FF2B5EF4-FFF2-40B4-BE49-F238E27FC236}">
                  <a16:creationId xmlns:a16="http://schemas.microsoft.com/office/drawing/2014/main" id="{04008531-AA4D-4853-B66B-9EA7F4BE13C0}"/>
                </a:ext>
              </a:extLst>
            </p:cNvPr>
            <p:cNvSpPr/>
            <p:nvPr/>
          </p:nvSpPr>
          <p:spPr>
            <a:xfrm>
              <a:off x="8070382" y="5676504"/>
              <a:ext cx="1714315" cy="338554"/>
            </a:xfrm>
            <a:prstGeom prst="rect">
              <a:avLst/>
            </a:prstGeom>
          </p:spPr>
          <p:txBody>
            <a:bodyPr wrap="none">
              <a:spAutoFit/>
            </a:bodyPr>
            <a:lstStyle/>
            <a:p>
              <a:r>
                <a:rPr lang="en-US" sz="1600" dirty="0"/>
                <a:t>A set of valuations</a:t>
              </a:r>
            </a:p>
          </p:txBody>
        </p:sp>
        <p:sp>
          <p:nvSpPr>
            <p:cNvPr id="39" name="직사각형 38">
              <a:extLst>
                <a:ext uri="{FF2B5EF4-FFF2-40B4-BE49-F238E27FC236}">
                  <a16:creationId xmlns:a16="http://schemas.microsoft.com/office/drawing/2014/main" id="{E50340EA-70EC-44C2-8ADB-5936DC129988}"/>
                </a:ext>
              </a:extLst>
            </p:cNvPr>
            <p:cNvSpPr/>
            <p:nvPr/>
          </p:nvSpPr>
          <p:spPr>
            <a:xfrm>
              <a:off x="10228824" y="3380863"/>
              <a:ext cx="889987" cy="338554"/>
            </a:xfrm>
            <a:prstGeom prst="rect">
              <a:avLst/>
            </a:prstGeom>
          </p:spPr>
          <p:txBody>
            <a:bodyPr wrap="none">
              <a:spAutoFit/>
            </a:bodyPr>
            <a:lstStyle/>
            <a:p>
              <a:r>
                <a:rPr lang="en-US" sz="1600" dirty="0"/>
                <a:t>12 , 2 , 4</a:t>
              </a:r>
            </a:p>
          </p:txBody>
        </p:sp>
        <p:sp>
          <p:nvSpPr>
            <p:cNvPr id="40" name="직사각형 39">
              <a:extLst>
                <a:ext uri="{FF2B5EF4-FFF2-40B4-BE49-F238E27FC236}">
                  <a16:creationId xmlns:a16="http://schemas.microsoft.com/office/drawing/2014/main" id="{D0655BE4-38AB-4EF1-ACDA-D585CF3DED01}"/>
                </a:ext>
              </a:extLst>
            </p:cNvPr>
            <p:cNvSpPr/>
            <p:nvPr/>
          </p:nvSpPr>
          <p:spPr>
            <a:xfrm>
              <a:off x="10280922" y="4217376"/>
              <a:ext cx="785793" cy="338554"/>
            </a:xfrm>
            <a:prstGeom prst="rect">
              <a:avLst/>
            </a:prstGeom>
          </p:spPr>
          <p:txBody>
            <a:bodyPr wrap="none">
              <a:spAutoFit/>
            </a:bodyPr>
            <a:lstStyle/>
            <a:p>
              <a:r>
                <a:rPr lang="en-US" sz="1600" dirty="0"/>
                <a:t>8 , 7 , 6</a:t>
              </a:r>
            </a:p>
          </p:txBody>
        </p:sp>
        <p:sp>
          <p:nvSpPr>
            <p:cNvPr id="41" name="직사각형 40">
              <a:extLst>
                <a:ext uri="{FF2B5EF4-FFF2-40B4-BE49-F238E27FC236}">
                  <a16:creationId xmlns:a16="http://schemas.microsoft.com/office/drawing/2014/main" id="{2A4D4DBF-F1E8-4595-821F-7D42EDBD20B5}"/>
                </a:ext>
              </a:extLst>
            </p:cNvPr>
            <p:cNvSpPr/>
            <p:nvPr/>
          </p:nvSpPr>
          <p:spPr>
            <a:xfrm>
              <a:off x="10327410" y="5053889"/>
              <a:ext cx="739305" cy="338554"/>
            </a:xfrm>
            <a:prstGeom prst="rect">
              <a:avLst/>
            </a:prstGeom>
          </p:spPr>
          <p:txBody>
            <a:bodyPr wrap="none">
              <a:spAutoFit/>
            </a:bodyPr>
            <a:lstStyle/>
            <a:p>
              <a:r>
                <a:rPr lang="en-US" sz="1600" dirty="0"/>
                <a:t>7, 5 , 2</a:t>
              </a:r>
            </a:p>
          </p:txBody>
        </p:sp>
        <p:sp>
          <p:nvSpPr>
            <p:cNvPr id="42" name="직사각형 41">
              <a:extLst>
                <a:ext uri="{FF2B5EF4-FFF2-40B4-BE49-F238E27FC236}">
                  <a16:creationId xmlns:a16="http://schemas.microsoft.com/office/drawing/2014/main" id="{A3513596-300C-4FCC-9CF6-0F7563E61E15}"/>
                </a:ext>
              </a:extLst>
            </p:cNvPr>
            <p:cNvSpPr/>
            <p:nvPr/>
          </p:nvSpPr>
          <p:spPr>
            <a:xfrm>
              <a:off x="10133509" y="2916187"/>
              <a:ext cx="1062983" cy="338554"/>
            </a:xfrm>
            <a:prstGeom prst="rect">
              <a:avLst/>
            </a:prstGeom>
          </p:spPr>
          <p:txBody>
            <a:bodyPr wrap="none">
              <a:spAutoFit/>
            </a:bodyPr>
            <a:lstStyle/>
            <a:p>
              <a:r>
                <a:rPr lang="en-US" sz="1600" b="1" dirty="0"/>
                <a:t>valuations</a:t>
              </a:r>
            </a:p>
          </p:txBody>
        </p:sp>
      </p:grpSp>
      <p:grpSp>
        <p:nvGrpSpPr>
          <p:cNvPr id="43" name="그룹 42">
            <a:extLst>
              <a:ext uri="{FF2B5EF4-FFF2-40B4-BE49-F238E27FC236}">
                <a16:creationId xmlns:a16="http://schemas.microsoft.com/office/drawing/2014/main" id="{4C14408B-1EF7-4ABB-837A-42B404A7796D}"/>
              </a:ext>
            </a:extLst>
          </p:cNvPr>
          <p:cNvGrpSpPr/>
          <p:nvPr/>
        </p:nvGrpSpPr>
        <p:grpSpPr>
          <a:xfrm>
            <a:off x="7204618" y="3620511"/>
            <a:ext cx="4477212" cy="3098871"/>
            <a:chOff x="7489173" y="2916187"/>
            <a:chExt cx="4477212" cy="3098871"/>
          </a:xfrm>
        </p:grpSpPr>
        <p:sp>
          <p:nvSpPr>
            <p:cNvPr id="44" name="타원 43">
              <a:extLst>
                <a:ext uri="{FF2B5EF4-FFF2-40B4-BE49-F238E27FC236}">
                  <a16:creationId xmlns:a16="http://schemas.microsoft.com/office/drawing/2014/main" id="{51C26450-1FA5-4966-A54F-012084AEB063}"/>
                </a:ext>
              </a:extLst>
            </p:cNvPr>
            <p:cNvSpPr/>
            <p:nvPr/>
          </p:nvSpPr>
          <p:spPr>
            <a:xfrm>
              <a:off x="7489173" y="3336661"/>
              <a:ext cx="902536" cy="427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Room1</a:t>
              </a:r>
            </a:p>
          </p:txBody>
        </p:sp>
        <p:sp>
          <p:nvSpPr>
            <p:cNvPr id="45" name="타원 44">
              <a:extLst>
                <a:ext uri="{FF2B5EF4-FFF2-40B4-BE49-F238E27FC236}">
                  <a16:creationId xmlns:a16="http://schemas.microsoft.com/office/drawing/2014/main" id="{2A320BB0-140E-4114-AF3B-7EBC1ADCEA23}"/>
                </a:ext>
              </a:extLst>
            </p:cNvPr>
            <p:cNvSpPr/>
            <p:nvPr/>
          </p:nvSpPr>
          <p:spPr>
            <a:xfrm>
              <a:off x="9253530" y="3336661"/>
              <a:ext cx="902536" cy="427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Xin</a:t>
              </a:r>
            </a:p>
          </p:txBody>
        </p:sp>
        <p:sp>
          <p:nvSpPr>
            <p:cNvPr id="46" name="타원 45">
              <a:extLst>
                <a:ext uri="{FF2B5EF4-FFF2-40B4-BE49-F238E27FC236}">
                  <a16:creationId xmlns:a16="http://schemas.microsoft.com/office/drawing/2014/main" id="{BFFF9032-B4D8-4752-87F2-B52D3F6A6CEF}"/>
                </a:ext>
              </a:extLst>
            </p:cNvPr>
            <p:cNvSpPr/>
            <p:nvPr/>
          </p:nvSpPr>
          <p:spPr>
            <a:xfrm>
              <a:off x="7489173" y="4173035"/>
              <a:ext cx="902536" cy="427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Room2</a:t>
              </a:r>
            </a:p>
          </p:txBody>
        </p:sp>
        <p:sp>
          <p:nvSpPr>
            <p:cNvPr id="47" name="타원 46">
              <a:extLst>
                <a:ext uri="{FF2B5EF4-FFF2-40B4-BE49-F238E27FC236}">
                  <a16:creationId xmlns:a16="http://schemas.microsoft.com/office/drawing/2014/main" id="{56A1FD55-8F5F-407F-9E15-D56C2A9AC77C}"/>
                </a:ext>
              </a:extLst>
            </p:cNvPr>
            <p:cNvSpPr/>
            <p:nvPr/>
          </p:nvSpPr>
          <p:spPr>
            <a:xfrm>
              <a:off x="9253530" y="4173035"/>
              <a:ext cx="902536" cy="427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Yoram</a:t>
              </a:r>
            </a:p>
          </p:txBody>
        </p:sp>
        <p:sp>
          <p:nvSpPr>
            <p:cNvPr id="48" name="타원 47">
              <a:extLst>
                <a:ext uri="{FF2B5EF4-FFF2-40B4-BE49-F238E27FC236}">
                  <a16:creationId xmlns:a16="http://schemas.microsoft.com/office/drawing/2014/main" id="{E3F733E1-B32E-44A2-8968-F85D216447CB}"/>
                </a:ext>
              </a:extLst>
            </p:cNvPr>
            <p:cNvSpPr/>
            <p:nvPr/>
          </p:nvSpPr>
          <p:spPr>
            <a:xfrm>
              <a:off x="7489173" y="5009408"/>
              <a:ext cx="902536" cy="427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Room3</a:t>
              </a:r>
            </a:p>
          </p:txBody>
        </p:sp>
        <p:sp>
          <p:nvSpPr>
            <p:cNvPr id="49" name="타원 48">
              <a:extLst>
                <a:ext uri="{FF2B5EF4-FFF2-40B4-BE49-F238E27FC236}">
                  <a16:creationId xmlns:a16="http://schemas.microsoft.com/office/drawing/2014/main" id="{D8C135FF-21DC-4E2E-A917-0D3851774CE8}"/>
                </a:ext>
              </a:extLst>
            </p:cNvPr>
            <p:cNvSpPr/>
            <p:nvPr/>
          </p:nvSpPr>
          <p:spPr>
            <a:xfrm>
              <a:off x="9253530" y="5009408"/>
              <a:ext cx="902536" cy="427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Zoe</a:t>
              </a:r>
            </a:p>
          </p:txBody>
        </p:sp>
        <p:sp>
          <p:nvSpPr>
            <p:cNvPr id="50" name="직사각형 49">
              <a:extLst>
                <a:ext uri="{FF2B5EF4-FFF2-40B4-BE49-F238E27FC236}">
                  <a16:creationId xmlns:a16="http://schemas.microsoft.com/office/drawing/2014/main" id="{1CF88DB6-7922-471E-95D6-010422FCBD60}"/>
                </a:ext>
              </a:extLst>
            </p:cNvPr>
            <p:cNvSpPr/>
            <p:nvPr/>
          </p:nvSpPr>
          <p:spPr>
            <a:xfrm>
              <a:off x="8070382" y="5676504"/>
              <a:ext cx="3896003" cy="338554"/>
            </a:xfrm>
            <a:prstGeom prst="rect">
              <a:avLst/>
            </a:prstGeom>
          </p:spPr>
          <p:txBody>
            <a:bodyPr wrap="none">
              <a:spAutoFit/>
            </a:bodyPr>
            <a:lstStyle/>
            <a:p>
              <a:r>
                <a:rPr lang="en-US" sz="1600" dirty="0"/>
                <a:t>Optimal Assignment; </a:t>
              </a:r>
              <a:r>
                <a:rPr lang="en-US" sz="1600" b="1" dirty="0"/>
                <a:t>quality = 12+ 6 + 5 = 23</a:t>
              </a:r>
            </a:p>
          </p:txBody>
        </p:sp>
        <p:sp>
          <p:nvSpPr>
            <p:cNvPr id="51" name="직사각형 50">
              <a:extLst>
                <a:ext uri="{FF2B5EF4-FFF2-40B4-BE49-F238E27FC236}">
                  <a16:creationId xmlns:a16="http://schemas.microsoft.com/office/drawing/2014/main" id="{4EA6E75A-216D-498C-A8E9-F71FD8C879A1}"/>
                </a:ext>
              </a:extLst>
            </p:cNvPr>
            <p:cNvSpPr/>
            <p:nvPr/>
          </p:nvSpPr>
          <p:spPr>
            <a:xfrm>
              <a:off x="10228824" y="3380863"/>
              <a:ext cx="889987" cy="338554"/>
            </a:xfrm>
            <a:prstGeom prst="rect">
              <a:avLst/>
            </a:prstGeom>
          </p:spPr>
          <p:txBody>
            <a:bodyPr wrap="none">
              <a:spAutoFit/>
            </a:bodyPr>
            <a:lstStyle/>
            <a:p>
              <a:r>
                <a:rPr lang="en-US" sz="1600" dirty="0"/>
                <a:t>12 , 2 , 4</a:t>
              </a:r>
            </a:p>
          </p:txBody>
        </p:sp>
        <p:sp>
          <p:nvSpPr>
            <p:cNvPr id="52" name="직사각형 51">
              <a:extLst>
                <a:ext uri="{FF2B5EF4-FFF2-40B4-BE49-F238E27FC236}">
                  <a16:creationId xmlns:a16="http://schemas.microsoft.com/office/drawing/2014/main" id="{30DD126A-B521-4709-9745-B9B011C8493E}"/>
                </a:ext>
              </a:extLst>
            </p:cNvPr>
            <p:cNvSpPr/>
            <p:nvPr/>
          </p:nvSpPr>
          <p:spPr>
            <a:xfrm>
              <a:off x="10280922" y="4217376"/>
              <a:ext cx="785793" cy="338554"/>
            </a:xfrm>
            <a:prstGeom prst="rect">
              <a:avLst/>
            </a:prstGeom>
          </p:spPr>
          <p:txBody>
            <a:bodyPr wrap="none">
              <a:spAutoFit/>
            </a:bodyPr>
            <a:lstStyle/>
            <a:p>
              <a:r>
                <a:rPr lang="en-US" sz="1600" dirty="0"/>
                <a:t>8 , 7 , 6</a:t>
              </a:r>
            </a:p>
          </p:txBody>
        </p:sp>
        <p:sp>
          <p:nvSpPr>
            <p:cNvPr id="53" name="직사각형 52">
              <a:extLst>
                <a:ext uri="{FF2B5EF4-FFF2-40B4-BE49-F238E27FC236}">
                  <a16:creationId xmlns:a16="http://schemas.microsoft.com/office/drawing/2014/main" id="{836DF848-F90D-4258-ABA6-4A2B49CABFB9}"/>
                </a:ext>
              </a:extLst>
            </p:cNvPr>
            <p:cNvSpPr/>
            <p:nvPr/>
          </p:nvSpPr>
          <p:spPr>
            <a:xfrm>
              <a:off x="10327410" y="5053889"/>
              <a:ext cx="739305" cy="338554"/>
            </a:xfrm>
            <a:prstGeom prst="rect">
              <a:avLst/>
            </a:prstGeom>
          </p:spPr>
          <p:txBody>
            <a:bodyPr wrap="none">
              <a:spAutoFit/>
            </a:bodyPr>
            <a:lstStyle/>
            <a:p>
              <a:r>
                <a:rPr lang="en-US" sz="1600" dirty="0"/>
                <a:t>7, 5 , 2</a:t>
              </a:r>
            </a:p>
          </p:txBody>
        </p:sp>
        <p:sp>
          <p:nvSpPr>
            <p:cNvPr id="54" name="직사각형 53">
              <a:extLst>
                <a:ext uri="{FF2B5EF4-FFF2-40B4-BE49-F238E27FC236}">
                  <a16:creationId xmlns:a16="http://schemas.microsoft.com/office/drawing/2014/main" id="{9AA2CB25-5226-45A0-BCC4-DBD84CD4A5F0}"/>
                </a:ext>
              </a:extLst>
            </p:cNvPr>
            <p:cNvSpPr/>
            <p:nvPr/>
          </p:nvSpPr>
          <p:spPr>
            <a:xfrm>
              <a:off x="10133509" y="2916187"/>
              <a:ext cx="1062983" cy="338554"/>
            </a:xfrm>
            <a:prstGeom prst="rect">
              <a:avLst/>
            </a:prstGeom>
          </p:spPr>
          <p:txBody>
            <a:bodyPr wrap="none">
              <a:spAutoFit/>
            </a:bodyPr>
            <a:lstStyle/>
            <a:p>
              <a:r>
                <a:rPr lang="en-US" sz="1600" b="1" dirty="0"/>
                <a:t>valuations</a:t>
              </a:r>
            </a:p>
          </p:txBody>
        </p:sp>
      </p:grpSp>
      <p:cxnSp>
        <p:nvCxnSpPr>
          <p:cNvPr id="55" name="직선 연결선 54">
            <a:extLst>
              <a:ext uri="{FF2B5EF4-FFF2-40B4-BE49-F238E27FC236}">
                <a16:creationId xmlns:a16="http://schemas.microsoft.com/office/drawing/2014/main" id="{FCD23345-D1EE-4B7D-9925-2743F4FBFE5B}"/>
              </a:ext>
            </a:extLst>
          </p:cNvPr>
          <p:cNvCxnSpPr>
            <a:stCxn id="44" idx="6"/>
            <a:endCxn id="45" idx="2"/>
          </p:cNvCxnSpPr>
          <p:nvPr/>
        </p:nvCxnSpPr>
        <p:spPr>
          <a:xfrm>
            <a:off x="8107154" y="4254744"/>
            <a:ext cx="86182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9F12D603-5F37-45C4-B0C1-94289684F212}"/>
              </a:ext>
            </a:extLst>
          </p:cNvPr>
          <p:cNvCxnSpPr>
            <a:cxnSpLocks/>
            <a:stCxn id="48" idx="6"/>
            <a:endCxn id="47" idx="2"/>
          </p:cNvCxnSpPr>
          <p:nvPr/>
        </p:nvCxnSpPr>
        <p:spPr>
          <a:xfrm flipV="1">
            <a:off x="8107154" y="5091118"/>
            <a:ext cx="861821" cy="83637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DB195921-24B3-40D7-8719-6DE01CF8B5FB}"/>
              </a:ext>
            </a:extLst>
          </p:cNvPr>
          <p:cNvCxnSpPr>
            <a:cxnSpLocks/>
            <a:stCxn id="49" idx="2"/>
            <a:endCxn id="46" idx="6"/>
          </p:cNvCxnSpPr>
          <p:nvPr/>
        </p:nvCxnSpPr>
        <p:spPr>
          <a:xfrm flipH="1" flipV="1">
            <a:off x="8107154" y="5091118"/>
            <a:ext cx="861821" cy="83637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직사각형 61">
            <a:extLst>
              <a:ext uri="{FF2B5EF4-FFF2-40B4-BE49-F238E27FC236}">
                <a16:creationId xmlns:a16="http://schemas.microsoft.com/office/drawing/2014/main" id="{077E60C2-AA1D-4DEF-AF43-0E0B33F00F77}"/>
              </a:ext>
            </a:extLst>
          </p:cNvPr>
          <p:cNvSpPr/>
          <p:nvPr/>
        </p:nvSpPr>
        <p:spPr>
          <a:xfrm>
            <a:off x="341766" y="2666111"/>
            <a:ext cx="4306007" cy="369332"/>
          </a:xfrm>
          <a:prstGeom prst="rect">
            <a:avLst/>
          </a:prstGeom>
        </p:spPr>
        <p:txBody>
          <a:bodyPr wrap="square">
            <a:spAutoFit/>
          </a:bodyPr>
          <a:lstStyle/>
          <a:p>
            <a:pPr lvl="1"/>
            <a:r>
              <a:rPr lang="en-US" b="1" i="1" dirty="0"/>
              <a:t>Quality</a:t>
            </a:r>
          </a:p>
        </p:txBody>
      </p:sp>
      <p:sp>
        <p:nvSpPr>
          <p:cNvPr id="63" name="직사각형 62">
            <a:extLst>
              <a:ext uri="{FF2B5EF4-FFF2-40B4-BE49-F238E27FC236}">
                <a16:creationId xmlns:a16="http://schemas.microsoft.com/office/drawing/2014/main" id="{37A335A9-36AE-4287-BA1B-A5F1DED53F8A}"/>
              </a:ext>
            </a:extLst>
          </p:cNvPr>
          <p:cNvSpPr/>
          <p:nvPr/>
        </p:nvSpPr>
        <p:spPr>
          <a:xfrm>
            <a:off x="341766" y="3070539"/>
            <a:ext cx="9503570" cy="369332"/>
          </a:xfrm>
          <a:prstGeom prst="rect">
            <a:avLst/>
          </a:prstGeom>
        </p:spPr>
        <p:txBody>
          <a:bodyPr wrap="square">
            <a:spAutoFit/>
          </a:bodyPr>
          <a:lstStyle/>
          <a:p>
            <a:pPr lvl="1"/>
            <a:r>
              <a:rPr lang="en-US" dirty="0"/>
              <a:t>Evaluation of the assignment by summing up individual’s valuations</a:t>
            </a:r>
          </a:p>
        </p:txBody>
      </p:sp>
    </p:spTree>
    <p:extLst>
      <p:ext uri="{BB962C8B-B14F-4D97-AF65-F5344CB8AC3E}">
        <p14:creationId xmlns:p14="http://schemas.microsoft.com/office/powerpoint/2010/main" val="758009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365125"/>
            <a:ext cx="10515600" cy="1325563"/>
          </a:xfrm>
        </p:spPr>
        <p:txBody>
          <a:bodyPr/>
          <a:lstStyle/>
          <a:p>
            <a:r>
              <a:rPr lang="en-US" dirty="0"/>
              <a:t>Valuations and Optimal Assignments</a:t>
            </a:r>
          </a:p>
        </p:txBody>
      </p:sp>
      <p:sp>
        <p:nvSpPr>
          <p:cNvPr id="14" name="직사각형 13">
            <a:extLst>
              <a:ext uri="{FF2B5EF4-FFF2-40B4-BE49-F238E27FC236}">
                <a16:creationId xmlns:a16="http://schemas.microsoft.com/office/drawing/2014/main" id="{840DC805-D2AE-47C8-8F26-0C92E2CCCBAB}"/>
              </a:ext>
            </a:extLst>
          </p:cNvPr>
          <p:cNvSpPr/>
          <p:nvPr/>
        </p:nvSpPr>
        <p:spPr>
          <a:xfrm>
            <a:off x="341766" y="1475044"/>
            <a:ext cx="4306007" cy="369332"/>
          </a:xfrm>
          <a:prstGeom prst="rect">
            <a:avLst/>
          </a:prstGeom>
        </p:spPr>
        <p:txBody>
          <a:bodyPr wrap="square">
            <a:spAutoFit/>
          </a:bodyPr>
          <a:lstStyle/>
          <a:p>
            <a:pPr lvl="1"/>
            <a:r>
              <a:rPr lang="en-US" b="1" i="1" dirty="0"/>
              <a:t>Bipartite Matching Problem</a:t>
            </a:r>
          </a:p>
        </p:txBody>
      </p:sp>
      <p:sp>
        <p:nvSpPr>
          <p:cNvPr id="15" name="직사각형 14">
            <a:extLst>
              <a:ext uri="{FF2B5EF4-FFF2-40B4-BE49-F238E27FC236}">
                <a16:creationId xmlns:a16="http://schemas.microsoft.com/office/drawing/2014/main" id="{C92946F3-A289-4939-8DE2-42E04220B2A9}"/>
              </a:ext>
            </a:extLst>
          </p:cNvPr>
          <p:cNvSpPr/>
          <p:nvPr/>
        </p:nvSpPr>
        <p:spPr>
          <a:xfrm>
            <a:off x="341766" y="1911001"/>
            <a:ext cx="9503570" cy="646331"/>
          </a:xfrm>
          <a:prstGeom prst="rect">
            <a:avLst/>
          </a:prstGeom>
        </p:spPr>
        <p:txBody>
          <a:bodyPr wrap="square">
            <a:spAutoFit/>
          </a:bodyPr>
          <a:lstStyle/>
          <a:p>
            <a:pPr lvl="1"/>
            <a:r>
              <a:rPr lang="en-US" dirty="0"/>
              <a:t>Of course, the bipartite matching problem can be solved with valuation and optimal assignments</a:t>
            </a:r>
          </a:p>
        </p:txBody>
      </p:sp>
      <p:grpSp>
        <p:nvGrpSpPr>
          <p:cNvPr id="58" name="그룹 57">
            <a:extLst>
              <a:ext uri="{FF2B5EF4-FFF2-40B4-BE49-F238E27FC236}">
                <a16:creationId xmlns:a16="http://schemas.microsoft.com/office/drawing/2014/main" id="{FC407404-7B85-448B-950A-E6E608A171A3}"/>
              </a:ext>
            </a:extLst>
          </p:cNvPr>
          <p:cNvGrpSpPr/>
          <p:nvPr/>
        </p:nvGrpSpPr>
        <p:grpSpPr>
          <a:xfrm>
            <a:off x="3245503" y="2557332"/>
            <a:ext cx="2666893" cy="2100263"/>
            <a:chOff x="772357" y="1775534"/>
            <a:chExt cx="3488924" cy="2747639"/>
          </a:xfrm>
        </p:grpSpPr>
        <p:cxnSp>
          <p:nvCxnSpPr>
            <p:cNvPr id="61" name="직선 연결선 60">
              <a:extLst>
                <a:ext uri="{FF2B5EF4-FFF2-40B4-BE49-F238E27FC236}">
                  <a16:creationId xmlns:a16="http://schemas.microsoft.com/office/drawing/2014/main" id="{BDB0D834-E640-41C5-BF0B-20B4770AC4CD}"/>
                </a:ext>
              </a:extLst>
            </p:cNvPr>
            <p:cNvCxnSpPr>
              <a:stCxn id="73" idx="6"/>
              <a:endCxn id="74" idx="2"/>
            </p:cNvCxnSpPr>
            <p:nvPr/>
          </p:nvCxnSpPr>
          <p:spPr>
            <a:xfrm>
              <a:off x="1953087" y="2055181"/>
              <a:ext cx="11274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25BE1E43-D027-4D87-AF08-068B51C5E4C4}"/>
                </a:ext>
              </a:extLst>
            </p:cNvPr>
            <p:cNvCxnSpPr>
              <a:cxnSpLocks/>
              <a:stCxn id="73" idx="5"/>
              <a:endCxn id="76" idx="1"/>
            </p:cNvCxnSpPr>
            <p:nvPr/>
          </p:nvCxnSpPr>
          <p:spPr>
            <a:xfrm>
              <a:off x="1780173" y="2252920"/>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B414D629-A0C6-483E-8BC2-9303D9766E94}"/>
                </a:ext>
              </a:extLst>
            </p:cNvPr>
            <p:cNvCxnSpPr>
              <a:cxnSpLocks/>
              <a:stCxn id="75" idx="7"/>
              <a:endCxn id="74" idx="3"/>
            </p:cNvCxnSpPr>
            <p:nvPr/>
          </p:nvCxnSpPr>
          <p:spPr>
            <a:xfrm flipV="1">
              <a:off x="1780173" y="2252920"/>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86C9A335-135D-4AB2-9071-736067943520}"/>
                </a:ext>
              </a:extLst>
            </p:cNvPr>
            <p:cNvCxnSpPr>
              <a:cxnSpLocks/>
              <a:stCxn id="78" idx="1"/>
              <a:endCxn id="75" idx="5"/>
            </p:cNvCxnSpPr>
            <p:nvPr/>
          </p:nvCxnSpPr>
          <p:spPr>
            <a:xfrm flipH="1" flipV="1">
              <a:off x="1780173" y="3347093"/>
              <a:ext cx="147329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5A8410EC-7A63-4B9C-85F8-E4831240F728}"/>
                </a:ext>
              </a:extLst>
            </p:cNvPr>
            <p:cNvCxnSpPr>
              <a:cxnSpLocks/>
              <a:stCxn id="74" idx="4"/>
              <a:endCxn id="77" idx="7"/>
            </p:cNvCxnSpPr>
            <p:nvPr/>
          </p:nvCxnSpPr>
          <p:spPr>
            <a:xfrm flipH="1">
              <a:off x="1780173" y="2334827"/>
              <a:ext cx="1890743" cy="17109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타원 72">
              <a:extLst>
                <a:ext uri="{FF2B5EF4-FFF2-40B4-BE49-F238E27FC236}">
                  <a16:creationId xmlns:a16="http://schemas.microsoft.com/office/drawing/2014/main" id="{6083512C-BA3C-495E-B80E-59AF6B47D00F}"/>
                </a:ext>
              </a:extLst>
            </p:cNvPr>
            <p:cNvSpPr/>
            <p:nvPr/>
          </p:nvSpPr>
          <p:spPr>
            <a:xfrm>
              <a:off x="772357" y="1775534"/>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Room1</a:t>
              </a:r>
            </a:p>
          </p:txBody>
        </p:sp>
        <p:sp>
          <p:nvSpPr>
            <p:cNvPr id="74" name="타원 73">
              <a:extLst>
                <a:ext uri="{FF2B5EF4-FFF2-40B4-BE49-F238E27FC236}">
                  <a16:creationId xmlns:a16="http://schemas.microsoft.com/office/drawing/2014/main" id="{A68EC0AE-EE5F-42D9-8A45-DF163789C054}"/>
                </a:ext>
              </a:extLst>
            </p:cNvPr>
            <p:cNvSpPr/>
            <p:nvPr/>
          </p:nvSpPr>
          <p:spPr>
            <a:xfrm>
              <a:off x="3080551" y="1775534"/>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Viki</a:t>
              </a:r>
            </a:p>
          </p:txBody>
        </p:sp>
        <p:sp>
          <p:nvSpPr>
            <p:cNvPr id="75" name="타원 74">
              <a:extLst>
                <a:ext uri="{FF2B5EF4-FFF2-40B4-BE49-F238E27FC236}">
                  <a16:creationId xmlns:a16="http://schemas.microsoft.com/office/drawing/2014/main" id="{D2A92A15-C3CD-449C-983A-DEC3E72556FC}"/>
                </a:ext>
              </a:extLst>
            </p:cNvPr>
            <p:cNvSpPr/>
            <p:nvPr/>
          </p:nvSpPr>
          <p:spPr>
            <a:xfrm>
              <a:off x="772357" y="2869707"/>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Room2</a:t>
              </a:r>
            </a:p>
          </p:txBody>
        </p:sp>
        <p:sp>
          <p:nvSpPr>
            <p:cNvPr id="76" name="타원 75">
              <a:extLst>
                <a:ext uri="{FF2B5EF4-FFF2-40B4-BE49-F238E27FC236}">
                  <a16:creationId xmlns:a16="http://schemas.microsoft.com/office/drawing/2014/main" id="{5DE50243-EFFC-4784-BF12-71A7EEA13E57}"/>
                </a:ext>
              </a:extLst>
            </p:cNvPr>
            <p:cNvSpPr/>
            <p:nvPr/>
          </p:nvSpPr>
          <p:spPr>
            <a:xfrm>
              <a:off x="3080551" y="2869707"/>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Wendy</a:t>
              </a:r>
            </a:p>
          </p:txBody>
        </p:sp>
        <p:sp>
          <p:nvSpPr>
            <p:cNvPr id="77" name="타원 76">
              <a:extLst>
                <a:ext uri="{FF2B5EF4-FFF2-40B4-BE49-F238E27FC236}">
                  <a16:creationId xmlns:a16="http://schemas.microsoft.com/office/drawing/2014/main" id="{2854FD3A-B162-411E-A211-5E379D7943A3}"/>
                </a:ext>
              </a:extLst>
            </p:cNvPr>
            <p:cNvSpPr/>
            <p:nvPr/>
          </p:nvSpPr>
          <p:spPr>
            <a:xfrm>
              <a:off x="772357" y="3963880"/>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Room3</a:t>
              </a:r>
            </a:p>
          </p:txBody>
        </p:sp>
        <p:sp>
          <p:nvSpPr>
            <p:cNvPr id="78" name="타원 77">
              <a:extLst>
                <a:ext uri="{FF2B5EF4-FFF2-40B4-BE49-F238E27FC236}">
                  <a16:creationId xmlns:a16="http://schemas.microsoft.com/office/drawing/2014/main" id="{AD30E8C6-7473-4956-9D0E-85A1717D2967}"/>
                </a:ext>
              </a:extLst>
            </p:cNvPr>
            <p:cNvSpPr/>
            <p:nvPr/>
          </p:nvSpPr>
          <p:spPr>
            <a:xfrm>
              <a:off x="3080551" y="3963880"/>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Xin</a:t>
              </a:r>
            </a:p>
          </p:txBody>
        </p:sp>
      </p:grpSp>
      <p:grpSp>
        <p:nvGrpSpPr>
          <p:cNvPr id="84" name="그룹 83">
            <a:extLst>
              <a:ext uri="{FF2B5EF4-FFF2-40B4-BE49-F238E27FC236}">
                <a16:creationId xmlns:a16="http://schemas.microsoft.com/office/drawing/2014/main" id="{CFCA4D6B-67B9-464D-8915-F7AE6796310E}"/>
              </a:ext>
            </a:extLst>
          </p:cNvPr>
          <p:cNvGrpSpPr/>
          <p:nvPr/>
        </p:nvGrpSpPr>
        <p:grpSpPr>
          <a:xfrm>
            <a:off x="7524540" y="2557332"/>
            <a:ext cx="2666893" cy="2100264"/>
            <a:chOff x="772357" y="1775534"/>
            <a:chExt cx="3488924" cy="2747639"/>
          </a:xfrm>
        </p:grpSpPr>
        <p:sp>
          <p:nvSpPr>
            <p:cNvPr id="96" name="타원 95">
              <a:extLst>
                <a:ext uri="{FF2B5EF4-FFF2-40B4-BE49-F238E27FC236}">
                  <a16:creationId xmlns:a16="http://schemas.microsoft.com/office/drawing/2014/main" id="{60AD690C-44C3-4481-A18D-48C0CE6B72C0}"/>
                </a:ext>
              </a:extLst>
            </p:cNvPr>
            <p:cNvSpPr/>
            <p:nvPr/>
          </p:nvSpPr>
          <p:spPr>
            <a:xfrm>
              <a:off x="772357" y="1775534"/>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Room1</a:t>
              </a:r>
            </a:p>
          </p:txBody>
        </p:sp>
        <p:sp>
          <p:nvSpPr>
            <p:cNvPr id="97" name="타원 96">
              <a:extLst>
                <a:ext uri="{FF2B5EF4-FFF2-40B4-BE49-F238E27FC236}">
                  <a16:creationId xmlns:a16="http://schemas.microsoft.com/office/drawing/2014/main" id="{699DDBED-02FF-49AC-9BB9-D857BE92E2D0}"/>
                </a:ext>
              </a:extLst>
            </p:cNvPr>
            <p:cNvSpPr/>
            <p:nvPr/>
          </p:nvSpPr>
          <p:spPr>
            <a:xfrm>
              <a:off x="3080551" y="1775534"/>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Viki</a:t>
              </a:r>
            </a:p>
          </p:txBody>
        </p:sp>
        <p:sp>
          <p:nvSpPr>
            <p:cNvPr id="98" name="타원 97">
              <a:extLst>
                <a:ext uri="{FF2B5EF4-FFF2-40B4-BE49-F238E27FC236}">
                  <a16:creationId xmlns:a16="http://schemas.microsoft.com/office/drawing/2014/main" id="{3280A6E8-3D58-4394-97B4-8D0C9C33C138}"/>
                </a:ext>
              </a:extLst>
            </p:cNvPr>
            <p:cNvSpPr/>
            <p:nvPr/>
          </p:nvSpPr>
          <p:spPr>
            <a:xfrm>
              <a:off x="772357" y="2869707"/>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Room2</a:t>
              </a:r>
            </a:p>
          </p:txBody>
        </p:sp>
        <p:sp>
          <p:nvSpPr>
            <p:cNvPr id="99" name="타원 98">
              <a:extLst>
                <a:ext uri="{FF2B5EF4-FFF2-40B4-BE49-F238E27FC236}">
                  <a16:creationId xmlns:a16="http://schemas.microsoft.com/office/drawing/2014/main" id="{B0F785A1-DF88-4A24-992C-CF148F41F910}"/>
                </a:ext>
              </a:extLst>
            </p:cNvPr>
            <p:cNvSpPr/>
            <p:nvPr/>
          </p:nvSpPr>
          <p:spPr>
            <a:xfrm>
              <a:off x="3080551" y="2869707"/>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Wendy</a:t>
              </a:r>
            </a:p>
          </p:txBody>
        </p:sp>
        <p:sp>
          <p:nvSpPr>
            <p:cNvPr id="100" name="타원 99">
              <a:extLst>
                <a:ext uri="{FF2B5EF4-FFF2-40B4-BE49-F238E27FC236}">
                  <a16:creationId xmlns:a16="http://schemas.microsoft.com/office/drawing/2014/main" id="{D969D12B-A086-406B-88FE-3D8CD422B206}"/>
                </a:ext>
              </a:extLst>
            </p:cNvPr>
            <p:cNvSpPr/>
            <p:nvPr/>
          </p:nvSpPr>
          <p:spPr>
            <a:xfrm>
              <a:off x="772357" y="3963880"/>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Room3</a:t>
              </a:r>
            </a:p>
          </p:txBody>
        </p:sp>
        <p:sp>
          <p:nvSpPr>
            <p:cNvPr id="101" name="타원 100">
              <a:extLst>
                <a:ext uri="{FF2B5EF4-FFF2-40B4-BE49-F238E27FC236}">
                  <a16:creationId xmlns:a16="http://schemas.microsoft.com/office/drawing/2014/main" id="{3F2D444D-ECE8-4AAC-B394-F35A31DB8657}"/>
                </a:ext>
              </a:extLst>
            </p:cNvPr>
            <p:cNvSpPr/>
            <p:nvPr/>
          </p:nvSpPr>
          <p:spPr>
            <a:xfrm>
              <a:off x="3080551" y="3963880"/>
              <a:ext cx="1180730"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Xin</a:t>
              </a:r>
            </a:p>
          </p:txBody>
        </p:sp>
      </p:grpSp>
      <p:sp>
        <p:nvSpPr>
          <p:cNvPr id="106" name="직사각형 105">
            <a:extLst>
              <a:ext uri="{FF2B5EF4-FFF2-40B4-BE49-F238E27FC236}">
                <a16:creationId xmlns:a16="http://schemas.microsoft.com/office/drawing/2014/main" id="{DBED081E-479B-4A8A-9298-2D4D9780A8D6}"/>
              </a:ext>
            </a:extLst>
          </p:cNvPr>
          <p:cNvSpPr/>
          <p:nvPr/>
        </p:nvSpPr>
        <p:spPr>
          <a:xfrm>
            <a:off x="10677294" y="2583407"/>
            <a:ext cx="785793" cy="338554"/>
          </a:xfrm>
          <a:prstGeom prst="rect">
            <a:avLst/>
          </a:prstGeom>
        </p:spPr>
        <p:txBody>
          <a:bodyPr wrap="none">
            <a:spAutoFit/>
          </a:bodyPr>
          <a:lstStyle/>
          <a:p>
            <a:r>
              <a:rPr lang="en-US" sz="1600" dirty="0"/>
              <a:t>1 , 1 , 1</a:t>
            </a:r>
          </a:p>
        </p:txBody>
      </p:sp>
      <p:sp>
        <p:nvSpPr>
          <p:cNvPr id="107" name="직사각형 106">
            <a:extLst>
              <a:ext uri="{FF2B5EF4-FFF2-40B4-BE49-F238E27FC236}">
                <a16:creationId xmlns:a16="http://schemas.microsoft.com/office/drawing/2014/main" id="{F112F761-E1FC-40B2-AF67-11F2A6B6EFC7}"/>
              </a:ext>
            </a:extLst>
          </p:cNvPr>
          <p:cNvSpPr/>
          <p:nvPr/>
        </p:nvSpPr>
        <p:spPr>
          <a:xfrm>
            <a:off x="10677426" y="3419920"/>
            <a:ext cx="785793" cy="338554"/>
          </a:xfrm>
          <a:prstGeom prst="rect">
            <a:avLst/>
          </a:prstGeom>
        </p:spPr>
        <p:txBody>
          <a:bodyPr wrap="none">
            <a:spAutoFit/>
          </a:bodyPr>
          <a:lstStyle/>
          <a:p>
            <a:r>
              <a:rPr lang="en-US" sz="1600" dirty="0"/>
              <a:t>1 , 0 , 0</a:t>
            </a:r>
          </a:p>
        </p:txBody>
      </p:sp>
      <p:sp>
        <p:nvSpPr>
          <p:cNvPr id="108" name="직사각형 107">
            <a:extLst>
              <a:ext uri="{FF2B5EF4-FFF2-40B4-BE49-F238E27FC236}">
                <a16:creationId xmlns:a16="http://schemas.microsoft.com/office/drawing/2014/main" id="{43FEBE12-7C33-4791-88E3-F682E1A9C7D6}"/>
              </a:ext>
            </a:extLst>
          </p:cNvPr>
          <p:cNvSpPr/>
          <p:nvPr/>
        </p:nvSpPr>
        <p:spPr>
          <a:xfrm>
            <a:off x="10677426" y="4256433"/>
            <a:ext cx="785793" cy="338554"/>
          </a:xfrm>
          <a:prstGeom prst="rect">
            <a:avLst/>
          </a:prstGeom>
        </p:spPr>
        <p:txBody>
          <a:bodyPr wrap="none">
            <a:spAutoFit/>
          </a:bodyPr>
          <a:lstStyle/>
          <a:p>
            <a:r>
              <a:rPr lang="en-US" sz="1600" dirty="0"/>
              <a:t>0 , 1 , 0</a:t>
            </a:r>
          </a:p>
        </p:txBody>
      </p:sp>
      <p:sp>
        <p:nvSpPr>
          <p:cNvPr id="109" name="직사각형 108">
            <a:extLst>
              <a:ext uri="{FF2B5EF4-FFF2-40B4-BE49-F238E27FC236}">
                <a16:creationId xmlns:a16="http://schemas.microsoft.com/office/drawing/2014/main" id="{E27AA0FD-14C4-48B6-9523-B5627F20EEE4}"/>
              </a:ext>
            </a:extLst>
          </p:cNvPr>
          <p:cNvSpPr/>
          <p:nvPr/>
        </p:nvSpPr>
        <p:spPr>
          <a:xfrm>
            <a:off x="10538698" y="2118731"/>
            <a:ext cx="1062983" cy="338554"/>
          </a:xfrm>
          <a:prstGeom prst="rect">
            <a:avLst/>
          </a:prstGeom>
        </p:spPr>
        <p:txBody>
          <a:bodyPr wrap="none">
            <a:spAutoFit/>
          </a:bodyPr>
          <a:lstStyle/>
          <a:p>
            <a:r>
              <a:rPr lang="en-US" sz="1600" b="1" dirty="0"/>
              <a:t>valuations</a:t>
            </a:r>
          </a:p>
        </p:txBody>
      </p:sp>
    </p:spTree>
    <p:extLst>
      <p:ext uri="{BB962C8B-B14F-4D97-AF65-F5344CB8AC3E}">
        <p14:creationId xmlns:p14="http://schemas.microsoft.com/office/powerpoint/2010/main" val="3563102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365126"/>
            <a:ext cx="10515600" cy="745660"/>
          </a:xfrm>
        </p:spPr>
        <p:txBody>
          <a:bodyPr/>
          <a:lstStyle/>
          <a:p>
            <a:r>
              <a:rPr lang="en-US" dirty="0"/>
              <a:t>Prices and Market-Clearing Property</a:t>
            </a:r>
          </a:p>
        </p:txBody>
      </p:sp>
      <p:grpSp>
        <p:nvGrpSpPr>
          <p:cNvPr id="112" name="그룹 111">
            <a:extLst>
              <a:ext uri="{FF2B5EF4-FFF2-40B4-BE49-F238E27FC236}">
                <a16:creationId xmlns:a16="http://schemas.microsoft.com/office/drawing/2014/main" id="{F6F33D12-43AB-493A-897F-73F5D1AF88CF}"/>
              </a:ext>
            </a:extLst>
          </p:cNvPr>
          <p:cNvGrpSpPr/>
          <p:nvPr/>
        </p:nvGrpSpPr>
        <p:grpSpPr>
          <a:xfrm>
            <a:off x="4712588" y="2496506"/>
            <a:ext cx="7302847" cy="4118799"/>
            <a:chOff x="964177" y="1279634"/>
            <a:chExt cx="9375000" cy="5287492"/>
          </a:xfrm>
        </p:grpSpPr>
        <p:grpSp>
          <p:nvGrpSpPr>
            <p:cNvPr id="3" name="그룹 2">
              <a:extLst>
                <a:ext uri="{FF2B5EF4-FFF2-40B4-BE49-F238E27FC236}">
                  <a16:creationId xmlns:a16="http://schemas.microsoft.com/office/drawing/2014/main" id="{2BAB2004-4EA6-49DD-991D-4F7040FDC185}"/>
                </a:ext>
              </a:extLst>
            </p:cNvPr>
            <p:cNvGrpSpPr/>
            <p:nvPr/>
          </p:nvGrpSpPr>
          <p:grpSpPr>
            <a:xfrm>
              <a:off x="1904973" y="4667868"/>
              <a:ext cx="1970237" cy="1899258"/>
              <a:chOff x="772357" y="1775534"/>
              <a:chExt cx="2850323" cy="2747639"/>
            </a:xfrm>
          </p:grpSpPr>
          <p:cxnSp>
            <p:nvCxnSpPr>
              <p:cNvPr id="4" name="직선 연결선 3">
                <a:extLst>
                  <a:ext uri="{FF2B5EF4-FFF2-40B4-BE49-F238E27FC236}">
                    <a16:creationId xmlns:a16="http://schemas.microsoft.com/office/drawing/2014/main" id="{0602180A-C3E1-4D7E-9BF2-757A35088337}"/>
                  </a:ext>
                </a:extLst>
              </p:cNvPr>
              <p:cNvCxnSpPr>
                <a:cxnSpLocks/>
                <a:stCxn id="9" idx="6"/>
                <a:endCxn id="10" idx="2"/>
              </p:cNvCxnSpPr>
              <p:nvPr/>
            </p:nvCxnSpPr>
            <p:spPr>
              <a:xfrm>
                <a:off x="1314486" y="2055181"/>
                <a:ext cx="17660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직선 연결선 4">
                <a:extLst>
                  <a:ext uri="{FF2B5EF4-FFF2-40B4-BE49-F238E27FC236}">
                    <a16:creationId xmlns:a16="http://schemas.microsoft.com/office/drawing/2014/main" id="{67EA2B18-810C-48E4-A8CD-E28C62684732}"/>
                  </a:ext>
                </a:extLst>
              </p:cNvPr>
              <p:cNvCxnSpPr>
                <a:cxnSpLocks/>
                <a:stCxn id="9" idx="5"/>
                <a:endCxn id="12" idx="1"/>
              </p:cNvCxnSpPr>
              <p:nvPr/>
            </p:nvCxnSpPr>
            <p:spPr>
              <a:xfrm>
                <a:off x="1235093" y="2252921"/>
                <a:ext cx="1924851" cy="6986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직선 연결선 5">
                <a:extLst>
                  <a:ext uri="{FF2B5EF4-FFF2-40B4-BE49-F238E27FC236}">
                    <a16:creationId xmlns:a16="http://schemas.microsoft.com/office/drawing/2014/main" id="{8911B3F4-C845-41F8-862D-D2DD07511FCB}"/>
                  </a:ext>
                </a:extLst>
              </p:cNvPr>
              <p:cNvCxnSpPr>
                <a:cxnSpLocks/>
                <a:stCxn id="11" idx="6"/>
                <a:endCxn id="12" idx="2"/>
              </p:cNvCxnSpPr>
              <p:nvPr/>
            </p:nvCxnSpPr>
            <p:spPr>
              <a:xfrm>
                <a:off x="1314485" y="3149354"/>
                <a:ext cx="17660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직선 연결선 6">
                <a:extLst>
                  <a:ext uri="{FF2B5EF4-FFF2-40B4-BE49-F238E27FC236}">
                    <a16:creationId xmlns:a16="http://schemas.microsoft.com/office/drawing/2014/main" id="{B24F8FC6-3033-4D7D-A11F-90335754FBBD}"/>
                  </a:ext>
                </a:extLst>
              </p:cNvPr>
              <p:cNvCxnSpPr>
                <a:cxnSpLocks/>
                <a:stCxn id="14" idx="1"/>
                <a:endCxn id="9" idx="4"/>
              </p:cNvCxnSpPr>
              <p:nvPr/>
            </p:nvCxnSpPr>
            <p:spPr>
              <a:xfrm flipH="1" flipV="1">
                <a:off x="1043422" y="2334828"/>
                <a:ext cx="2116523" cy="17109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직선 연결선 7">
                <a:extLst>
                  <a:ext uri="{FF2B5EF4-FFF2-40B4-BE49-F238E27FC236}">
                    <a16:creationId xmlns:a16="http://schemas.microsoft.com/office/drawing/2014/main" id="{60A1F53A-ACF7-4B90-AAE3-40753C75BB4C}"/>
                  </a:ext>
                </a:extLst>
              </p:cNvPr>
              <p:cNvCxnSpPr>
                <a:cxnSpLocks/>
                <a:stCxn id="12" idx="3"/>
                <a:endCxn id="13" idx="7"/>
              </p:cNvCxnSpPr>
              <p:nvPr/>
            </p:nvCxnSpPr>
            <p:spPr>
              <a:xfrm flipH="1">
                <a:off x="1235093" y="3347093"/>
                <a:ext cx="192485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타원 8">
                <a:extLst>
                  <a:ext uri="{FF2B5EF4-FFF2-40B4-BE49-F238E27FC236}">
                    <a16:creationId xmlns:a16="http://schemas.microsoft.com/office/drawing/2014/main" id="{DB24299F-1A58-48A7-81DD-8C4715D27741}"/>
                  </a:ext>
                </a:extLst>
              </p:cNvPr>
              <p:cNvSpPr/>
              <p:nvPr/>
            </p:nvSpPr>
            <p:spPr>
              <a:xfrm>
                <a:off x="772357" y="1775534"/>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a:t>
                </a:r>
              </a:p>
            </p:txBody>
          </p:sp>
          <p:sp>
            <p:nvSpPr>
              <p:cNvPr id="10" name="타원 9">
                <a:extLst>
                  <a:ext uri="{FF2B5EF4-FFF2-40B4-BE49-F238E27FC236}">
                    <a16:creationId xmlns:a16="http://schemas.microsoft.com/office/drawing/2014/main" id="{DA6CAB0A-8945-4F1C-80CF-34D2D51DB03E}"/>
                  </a:ext>
                </a:extLst>
              </p:cNvPr>
              <p:cNvSpPr/>
              <p:nvPr/>
            </p:nvSpPr>
            <p:spPr>
              <a:xfrm>
                <a:off x="3080551" y="1775534"/>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X</a:t>
                </a:r>
              </a:p>
            </p:txBody>
          </p:sp>
          <p:sp>
            <p:nvSpPr>
              <p:cNvPr id="11" name="타원 10">
                <a:extLst>
                  <a:ext uri="{FF2B5EF4-FFF2-40B4-BE49-F238E27FC236}">
                    <a16:creationId xmlns:a16="http://schemas.microsoft.com/office/drawing/2014/main" id="{BA5508C5-5E1F-4E87-AEA2-A9C6171159CB}"/>
                  </a:ext>
                </a:extLst>
              </p:cNvPr>
              <p:cNvSpPr/>
              <p:nvPr/>
            </p:nvSpPr>
            <p:spPr>
              <a:xfrm>
                <a:off x="772357" y="2869707"/>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B</a:t>
                </a:r>
              </a:p>
            </p:txBody>
          </p:sp>
          <p:sp>
            <p:nvSpPr>
              <p:cNvPr id="12" name="타원 11">
                <a:extLst>
                  <a:ext uri="{FF2B5EF4-FFF2-40B4-BE49-F238E27FC236}">
                    <a16:creationId xmlns:a16="http://schemas.microsoft.com/office/drawing/2014/main" id="{81021143-9FC0-4449-85E4-379AA7F7B377}"/>
                  </a:ext>
                </a:extLst>
              </p:cNvPr>
              <p:cNvSpPr/>
              <p:nvPr/>
            </p:nvSpPr>
            <p:spPr>
              <a:xfrm>
                <a:off x="3080551" y="2869707"/>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Y</a:t>
                </a:r>
              </a:p>
            </p:txBody>
          </p:sp>
          <p:sp>
            <p:nvSpPr>
              <p:cNvPr id="13" name="타원 12">
                <a:extLst>
                  <a:ext uri="{FF2B5EF4-FFF2-40B4-BE49-F238E27FC236}">
                    <a16:creationId xmlns:a16="http://schemas.microsoft.com/office/drawing/2014/main" id="{FEBCC4FA-80B3-4673-8045-8A174B75A649}"/>
                  </a:ext>
                </a:extLst>
              </p:cNvPr>
              <p:cNvSpPr/>
              <p:nvPr/>
            </p:nvSpPr>
            <p:spPr>
              <a:xfrm>
                <a:off x="772357" y="3963880"/>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a:t>
                </a:r>
              </a:p>
            </p:txBody>
          </p:sp>
          <p:sp>
            <p:nvSpPr>
              <p:cNvPr id="14" name="타원 13">
                <a:extLst>
                  <a:ext uri="{FF2B5EF4-FFF2-40B4-BE49-F238E27FC236}">
                    <a16:creationId xmlns:a16="http://schemas.microsoft.com/office/drawing/2014/main" id="{2B3F49BE-60FC-4F73-B303-BE0681DD54D1}"/>
                  </a:ext>
                </a:extLst>
              </p:cNvPr>
              <p:cNvSpPr/>
              <p:nvPr/>
            </p:nvSpPr>
            <p:spPr>
              <a:xfrm>
                <a:off x="3080551" y="3963880"/>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Z</a:t>
                </a:r>
              </a:p>
            </p:txBody>
          </p:sp>
        </p:grpSp>
        <p:grpSp>
          <p:nvGrpSpPr>
            <p:cNvPr id="20" name="그룹 19">
              <a:extLst>
                <a:ext uri="{FF2B5EF4-FFF2-40B4-BE49-F238E27FC236}">
                  <a16:creationId xmlns:a16="http://schemas.microsoft.com/office/drawing/2014/main" id="{6E45743D-DF39-4970-AA45-F04B4F9800CD}"/>
                </a:ext>
              </a:extLst>
            </p:cNvPr>
            <p:cNvGrpSpPr/>
            <p:nvPr/>
          </p:nvGrpSpPr>
          <p:grpSpPr>
            <a:xfrm>
              <a:off x="1904974" y="1748999"/>
              <a:ext cx="1970237" cy="1899258"/>
              <a:chOff x="772357" y="1775534"/>
              <a:chExt cx="2850323" cy="2747639"/>
            </a:xfrm>
          </p:grpSpPr>
          <p:sp>
            <p:nvSpPr>
              <p:cNvPr id="26" name="타원 25">
                <a:extLst>
                  <a:ext uri="{FF2B5EF4-FFF2-40B4-BE49-F238E27FC236}">
                    <a16:creationId xmlns:a16="http://schemas.microsoft.com/office/drawing/2014/main" id="{E6F85CE6-A414-4621-A466-9E753926F80F}"/>
                  </a:ext>
                </a:extLst>
              </p:cNvPr>
              <p:cNvSpPr/>
              <p:nvPr/>
            </p:nvSpPr>
            <p:spPr>
              <a:xfrm>
                <a:off x="772357" y="1775534"/>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a:t>
                </a:r>
              </a:p>
            </p:txBody>
          </p:sp>
          <p:sp>
            <p:nvSpPr>
              <p:cNvPr id="27" name="타원 26">
                <a:extLst>
                  <a:ext uri="{FF2B5EF4-FFF2-40B4-BE49-F238E27FC236}">
                    <a16:creationId xmlns:a16="http://schemas.microsoft.com/office/drawing/2014/main" id="{35D5C736-1E55-45BE-B2C0-1EBD420CE8ED}"/>
                  </a:ext>
                </a:extLst>
              </p:cNvPr>
              <p:cNvSpPr/>
              <p:nvPr/>
            </p:nvSpPr>
            <p:spPr>
              <a:xfrm>
                <a:off x="3080551" y="1775534"/>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X</a:t>
                </a:r>
              </a:p>
            </p:txBody>
          </p:sp>
          <p:sp>
            <p:nvSpPr>
              <p:cNvPr id="28" name="타원 27">
                <a:extLst>
                  <a:ext uri="{FF2B5EF4-FFF2-40B4-BE49-F238E27FC236}">
                    <a16:creationId xmlns:a16="http://schemas.microsoft.com/office/drawing/2014/main" id="{AB6FF247-0630-4758-A095-0C4451C1C870}"/>
                  </a:ext>
                </a:extLst>
              </p:cNvPr>
              <p:cNvSpPr/>
              <p:nvPr/>
            </p:nvSpPr>
            <p:spPr>
              <a:xfrm>
                <a:off x="772357" y="2869707"/>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B</a:t>
                </a:r>
              </a:p>
            </p:txBody>
          </p:sp>
          <p:sp>
            <p:nvSpPr>
              <p:cNvPr id="29" name="타원 28">
                <a:extLst>
                  <a:ext uri="{FF2B5EF4-FFF2-40B4-BE49-F238E27FC236}">
                    <a16:creationId xmlns:a16="http://schemas.microsoft.com/office/drawing/2014/main" id="{F3C84E26-97FF-43C7-8D9C-0C5CBD9B542F}"/>
                  </a:ext>
                </a:extLst>
              </p:cNvPr>
              <p:cNvSpPr/>
              <p:nvPr/>
            </p:nvSpPr>
            <p:spPr>
              <a:xfrm>
                <a:off x="3080551" y="2869707"/>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Y</a:t>
                </a:r>
              </a:p>
            </p:txBody>
          </p:sp>
          <p:sp>
            <p:nvSpPr>
              <p:cNvPr id="30" name="타원 29">
                <a:extLst>
                  <a:ext uri="{FF2B5EF4-FFF2-40B4-BE49-F238E27FC236}">
                    <a16:creationId xmlns:a16="http://schemas.microsoft.com/office/drawing/2014/main" id="{CBF72B6D-4BCA-46A9-B298-1D5D31AF883E}"/>
                  </a:ext>
                </a:extLst>
              </p:cNvPr>
              <p:cNvSpPr/>
              <p:nvPr/>
            </p:nvSpPr>
            <p:spPr>
              <a:xfrm>
                <a:off x="772357" y="3963880"/>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a:t>
                </a:r>
              </a:p>
            </p:txBody>
          </p:sp>
          <p:sp>
            <p:nvSpPr>
              <p:cNvPr id="31" name="타원 30">
                <a:extLst>
                  <a:ext uri="{FF2B5EF4-FFF2-40B4-BE49-F238E27FC236}">
                    <a16:creationId xmlns:a16="http://schemas.microsoft.com/office/drawing/2014/main" id="{9AF074DF-0E2B-44E8-AC5F-D0E3205E5EFA}"/>
                  </a:ext>
                </a:extLst>
              </p:cNvPr>
              <p:cNvSpPr/>
              <p:nvPr/>
            </p:nvSpPr>
            <p:spPr>
              <a:xfrm>
                <a:off x="3080551" y="3963880"/>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Z</a:t>
                </a:r>
              </a:p>
            </p:txBody>
          </p:sp>
        </p:grpSp>
        <p:grpSp>
          <p:nvGrpSpPr>
            <p:cNvPr id="32" name="그룹 31">
              <a:extLst>
                <a:ext uri="{FF2B5EF4-FFF2-40B4-BE49-F238E27FC236}">
                  <a16:creationId xmlns:a16="http://schemas.microsoft.com/office/drawing/2014/main" id="{0396676D-04E9-4407-B4D4-E827A0A40133}"/>
                </a:ext>
              </a:extLst>
            </p:cNvPr>
            <p:cNvGrpSpPr/>
            <p:nvPr/>
          </p:nvGrpSpPr>
          <p:grpSpPr>
            <a:xfrm>
              <a:off x="7081641" y="4655009"/>
              <a:ext cx="1970237" cy="1899258"/>
              <a:chOff x="772357" y="1775534"/>
              <a:chExt cx="2850323" cy="2747639"/>
            </a:xfrm>
          </p:grpSpPr>
          <p:cxnSp>
            <p:nvCxnSpPr>
              <p:cNvPr id="33" name="직선 연결선 32">
                <a:extLst>
                  <a:ext uri="{FF2B5EF4-FFF2-40B4-BE49-F238E27FC236}">
                    <a16:creationId xmlns:a16="http://schemas.microsoft.com/office/drawing/2014/main" id="{3F025104-E5BE-462D-937C-84403CE37D2C}"/>
                  </a:ext>
                </a:extLst>
              </p:cNvPr>
              <p:cNvCxnSpPr>
                <a:cxnSpLocks/>
                <a:stCxn id="38" idx="6"/>
                <a:endCxn id="39" idx="2"/>
              </p:cNvCxnSpPr>
              <p:nvPr/>
            </p:nvCxnSpPr>
            <p:spPr>
              <a:xfrm>
                <a:off x="1314486" y="2055181"/>
                <a:ext cx="17660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59283F2C-3696-4A5D-9DA3-07EFBBBE94D6}"/>
                  </a:ext>
                </a:extLst>
              </p:cNvPr>
              <p:cNvCxnSpPr>
                <a:cxnSpLocks/>
                <a:stCxn id="38" idx="5"/>
                <a:endCxn id="43" idx="0"/>
              </p:cNvCxnSpPr>
              <p:nvPr/>
            </p:nvCxnSpPr>
            <p:spPr>
              <a:xfrm>
                <a:off x="1235093" y="2252920"/>
                <a:ext cx="2116524" cy="17109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A166F26F-C383-4F34-A81A-97FD5808F777}"/>
                  </a:ext>
                </a:extLst>
              </p:cNvPr>
              <p:cNvCxnSpPr>
                <a:cxnSpLocks/>
                <a:stCxn id="40" idx="6"/>
                <a:endCxn id="41" idx="2"/>
              </p:cNvCxnSpPr>
              <p:nvPr/>
            </p:nvCxnSpPr>
            <p:spPr>
              <a:xfrm>
                <a:off x="1314485" y="3149354"/>
                <a:ext cx="17660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직선 연결선 35">
                <a:extLst>
                  <a:ext uri="{FF2B5EF4-FFF2-40B4-BE49-F238E27FC236}">
                    <a16:creationId xmlns:a16="http://schemas.microsoft.com/office/drawing/2014/main" id="{26C43066-E017-4651-BB05-B93D478FED2F}"/>
                  </a:ext>
                </a:extLst>
              </p:cNvPr>
              <p:cNvCxnSpPr>
                <a:cxnSpLocks/>
                <a:stCxn id="43" idx="1"/>
                <a:endCxn id="40" idx="5"/>
              </p:cNvCxnSpPr>
              <p:nvPr/>
            </p:nvCxnSpPr>
            <p:spPr>
              <a:xfrm flipH="1" flipV="1">
                <a:off x="1235093" y="3347094"/>
                <a:ext cx="1924851" cy="6986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8F1C5F1E-555C-48DD-BE41-2AAB815F83EE}"/>
                  </a:ext>
                </a:extLst>
              </p:cNvPr>
              <p:cNvCxnSpPr>
                <a:cxnSpLocks/>
                <a:stCxn id="41" idx="3"/>
                <a:endCxn id="42" idx="7"/>
              </p:cNvCxnSpPr>
              <p:nvPr/>
            </p:nvCxnSpPr>
            <p:spPr>
              <a:xfrm flipH="1">
                <a:off x="1235093" y="3347093"/>
                <a:ext cx="1924852" cy="698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타원 37">
                <a:extLst>
                  <a:ext uri="{FF2B5EF4-FFF2-40B4-BE49-F238E27FC236}">
                    <a16:creationId xmlns:a16="http://schemas.microsoft.com/office/drawing/2014/main" id="{B8C2FFE9-4B90-4345-8B0D-3D5E9B5BCF18}"/>
                  </a:ext>
                </a:extLst>
              </p:cNvPr>
              <p:cNvSpPr/>
              <p:nvPr/>
            </p:nvSpPr>
            <p:spPr>
              <a:xfrm>
                <a:off x="772357" y="1775534"/>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a:t>
                </a:r>
              </a:p>
            </p:txBody>
          </p:sp>
          <p:sp>
            <p:nvSpPr>
              <p:cNvPr id="39" name="타원 38">
                <a:extLst>
                  <a:ext uri="{FF2B5EF4-FFF2-40B4-BE49-F238E27FC236}">
                    <a16:creationId xmlns:a16="http://schemas.microsoft.com/office/drawing/2014/main" id="{E63A5A33-FB2C-481D-B1BC-6C5F91B0A390}"/>
                  </a:ext>
                </a:extLst>
              </p:cNvPr>
              <p:cNvSpPr/>
              <p:nvPr/>
            </p:nvSpPr>
            <p:spPr>
              <a:xfrm>
                <a:off x="3080551" y="1775534"/>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X</a:t>
                </a:r>
              </a:p>
            </p:txBody>
          </p:sp>
          <p:sp>
            <p:nvSpPr>
              <p:cNvPr id="40" name="타원 39">
                <a:extLst>
                  <a:ext uri="{FF2B5EF4-FFF2-40B4-BE49-F238E27FC236}">
                    <a16:creationId xmlns:a16="http://schemas.microsoft.com/office/drawing/2014/main" id="{DA872EBC-B643-4ADE-90B2-604AF9D0BFD6}"/>
                  </a:ext>
                </a:extLst>
              </p:cNvPr>
              <p:cNvSpPr/>
              <p:nvPr/>
            </p:nvSpPr>
            <p:spPr>
              <a:xfrm>
                <a:off x="772357" y="2869707"/>
                <a:ext cx="542128" cy="5592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B</a:t>
                </a:r>
              </a:p>
            </p:txBody>
          </p:sp>
          <p:sp>
            <p:nvSpPr>
              <p:cNvPr id="41" name="타원 40">
                <a:extLst>
                  <a:ext uri="{FF2B5EF4-FFF2-40B4-BE49-F238E27FC236}">
                    <a16:creationId xmlns:a16="http://schemas.microsoft.com/office/drawing/2014/main" id="{0D8A5F1D-A1A9-436F-8906-362F0A28492A}"/>
                  </a:ext>
                </a:extLst>
              </p:cNvPr>
              <p:cNvSpPr/>
              <p:nvPr/>
            </p:nvSpPr>
            <p:spPr>
              <a:xfrm>
                <a:off x="3080551" y="2869707"/>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Y</a:t>
                </a:r>
              </a:p>
            </p:txBody>
          </p:sp>
          <p:sp>
            <p:nvSpPr>
              <p:cNvPr id="42" name="타원 41">
                <a:extLst>
                  <a:ext uri="{FF2B5EF4-FFF2-40B4-BE49-F238E27FC236}">
                    <a16:creationId xmlns:a16="http://schemas.microsoft.com/office/drawing/2014/main" id="{AB137E3D-0FF6-4D40-AF4F-5B7AFAF64E65}"/>
                  </a:ext>
                </a:extLst>
              </p:cNvPr>
              <p:cNvSpPr/>
              <p:nvPr/>
            </p:nvSpPr>
            <p:spPr>
              <a:xfrm>
                <a:off x="772357" y="3963880"/>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a:t>
                </a:r>
              </a:p>
            </p:txBody>
          </p:sp>
          <p:sp>
            <p:nvSpPr>
              <p:cNvPr id="43" name="타원 42">
                <a:extLst>
                  <a:ext uri="{FF2B5EF4-FFF2-40B4-BE49-F238E27FC236}">
                    <a16:creationId xmlns:a16="http://schemas.microsoft.com/office/drawing/2014/main" id="{F2E2C33B-C115-448E-873B-AB6406BBB6AB}"/>
                  </a:ext>
                </a:extLst>
              </p:cNvPr>
              <p:cNvSpPr/>
              <p:nvPr/>
            </p:nvSpPr>
            <p:spPr>
              <a:xfrm>
                <a:off x="3080551" y="3963880"/>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Z</a:t>
                </a:r>
              </a:p>
            </p:txBody>
          </p:sp>
        </p:grpSp>
        <p:grpSp>
          <p:nvGrpSpPr>
            <p:cNvPr id="44" name="그룹 43">
              <a:extLst>
                <a:ext uri="{FF2B5EF4-FFF2-40B4-BE49-F238E27FC236}">
                  <a16:creationId xmlns:a16="http://schemas.microsoft.com/office/drawing/2014/main" id="{A1DD0688-2090-41DD-B9E4-542A949C9ABB}"/>
                </a:ext>
              </a:extLst>
            </p:cNvPr>
            <p:cNvGrpSpPr/>
            <p:nvPr/>
          </p:nvGrpSpPr>
          <p:grpSpPr>
            <a:xfrm>
              <a:off x="7080656" y="1748999"/>
              <a:ext cx="1970237" cy="1899258"/>
              <a:chOff x="772357" y="1775534"/>
              <a:chExt cx="2850323" cy="2747639"/>
            </a:xfrm>
          </p:grpSpPr>
          <p:cxnSp>
            <p:nvCxnSpPr>
              <p:cNvPr id="45" name="직선 연결선 44">
                <a:extLst>
                  <a:ext uri="{FF2B5EF4-FFF2-40B4-BE49-F238E27FC236}">
                    <a16:creationId xmlns:a16="http://schemas.microsoft.com/office/drawing/2014/main" id="{4FC087EF-3CB9-4AB9-968F-896832115FB6}"/>
                  </a:ext>
                </a:extLst>
              </p:cNvPr>
              <p:cNvCxnSpPr>
                <a:cxnSpLocks/>
                <a:stCxn id="50" idx="6"/>
                <a:endCxn id="51" idx="2"/>
              </p:cNvCxnSpPr>
              <p:nvPr/>
            </p:nvCxnSpPr>
            <p:spPr>
              <a:xfrm>
                <a:off x="1314486" y="2055181"/>
                <a:ext cx="17660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id="{A7A0830B-B384-4231-96EA-9BB848872D7D}"/>
                  </a:ext>
                </a:extLst>
              </p:cNvPr>
              <p:cNvCxnSpPr>
                <a:cxnSpLocks/>
                <a:stCxn id="55" idx="2"/>
                <a:endCxn id="52" idx="6"/>
              </p:cNvCxnSpPr>
              <p:nvPr/>
            </p:nvCxnSpPr>
            <p:spPr>
              <a:xfrm flipH="1" flipV="1">
                <a:off x="1314485" y="3149354"/>
                <a:ext cx="1766066" cy="1094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BEADC9F1-D7B6-4F71-8701-661C77D8A178}"/>
                  </a:ext>
                </a:extLst>
              </p:cNvPr>
              <p:cNvCxnSpPr>
                <a:cxnSpLocks/>
                <a:stCxn id="53" idx="2"/>
                <a:endCxn id="54" idx="6"/>
              </p:cNvCxnSpPr>
              <p:nvPr/>
            </p:nvCxnSpPr>
            <p:spPr>
              <a:xfrm flipH="1">
                <a:off x="1314485" y="3149354"/>
                <a:ext cx="1766066" cy="1094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타원 49">
                <a:extLst>
                  <a:ext uri="{FF2B5EF4-FFF2-40B4-BE49-F238E27FC236}">
                    <a16:creationId xmlns:a16="http://schemas.microsoft.com/office/drawing/2014/main" id="{1A1FACD2-1632-4D85-9194-4D8478CC39F3}"/>
                  </a:ext>
                </a:extLst>
              </p:cNvPr>
              <p:cNvSpPr/>
              <p:nvPr/>
            </p:nvSpPr>
            <p:spPr>
              <a:xfrm>
                <a:off x="772357" y="1775534"/>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a:t>
                </a:r>
              </a:p>
            </p:txBody>
          </p:sp>
          <p:sp>
            <p:nvSpPr>
              <p:cNvPr id="51" name="타원 50">
                <a:extLst>
                  <a:ext uri="{FF2B5EF4-FFF2-40B4-BE49-F238E27FC236}">
                    <a16:creationId xmlns:a16="http://schemas.microsoft.com/office/drawing/2014/main" id="{F5FCF23A-3780-4233-8227-826F3A105094}"/>
                  </a:ext>
                </a:extLst>
              </p:cNvPr>
              <p:cNvSpPr/>
              <p:nvPr/>
            </p:nvSpPr>
            <p:spPr>
              <a:xfrm>
                <a:off x="3080551" y="1775534"/>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X</a:t>
                </a:r>
              </a:p>
            </p:txBody>
          </p:sp>
          <p:sp>
            <p:nvSpPr>
              <p:cNvPr id="52" name="타원 51">
                <a:extLst>
                  <a:ext uri="{FF2B5EF4-FFF2-40B4-BE49-F238E27FC236}">
                    <a16:creationId xmlns:a16="http://schemas.microsoft.com/office/drawing/2014/main" id="{D0322374-AD01-4069-AC3E-46799157F271}"/>
                  </a:ext>
                </a:extLst>
              </p:cNvPr>
              <p:cNvSpPr/>
              <p:nvPr/>
            </p:nvSpPr>
            <p:spPr>
              <a:xfrm>
                <a:off x="772357" y="2869707"/>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B</a:t>
                </a:r>
              </a:p>
            </p:txBody>
          </p:sp>
          <p:sp>
            <p:nvSpPr>
              <p:cNvPr id="53" name="타원 52">
                <a:extLst>
                  <a:ext uri="{FF2B5EF4-FFF2-40B4-BE49-F238E27FC236}">
                    <a16:creationId xmlns:a16="http://schemas.microsoft.com/office/drawing/2014/main" id="{A2C5AC3B-3DFF-4F18-91DE-BDD40F280555}"/>
                  </a:ext>
                </a:extLst>
              </p:cNvPr>
              <p:cNvSpPr/>
              <p:nvPr/>
            </p:nvSpPr>
            <p:spPr>
              <a:xfrm>
                <a:off x="3080551" y="2869707"/>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Y</a:t>
                </a:r>
              </a:p>
            </p:txBody>
          </p:sp>
          <p:sp>
            <p:nvSpPr>
              <p:cNvPr id="54" name="타원 53">
                <a:extLst>
                  <a:ext uri="{FF2B5EF4-FFF2-40B4-BE49-F238E27FC236}">
                    <a16:creationId xmlns:a16="http://schemas.microsoft.com/office/drawing/2014/main" id="{69EDD2FF-1E5E-45C6-BC33-BAB82AF0D813}"/>
                  </a:ext>
                </a:extLst>
              </p:cNvPr>
              <p:cNvSpPr/>
              <p:nvPr/>
            </p:nvSpPr>
            <p:spPr>
              <a:xfrm>
                <a:off x="772357" y="3963880"/>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a:t>
                </a:r>
              </a:p>
            </p:txBody>
          </p:sp>
          <p:sp>
            <p:nvSpPr>
              <p:cNvPr id="55" name="타원 54">
                <a:extLst>
                  <a:ext uri="{FF2B5EF4-FFF2-40B4-BE49-F238E27FC236}">
                    <a16:creationId xmlns:a16="http://schemas.microsoft.com/office/drawing/2014/main" id="{DD8A6493-ADE6-4E1B-BB1B-04CA397E7E85}"/>
                  </a:ext>
                </a:extLst>
              </p:cNvPr>
              <p:cNvSpPr/>
              <p:nvPr/>
            </p:nvSpPr>
            <p:spPr>
              <a:xfrm>
                <a:off x="3080551" y="3963880"/>
                <a:ext cx="542129" cy="5592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Z</a:t>
                </a:r>
              </a:p>
            </p:txBody>
          </p:sp>
        </p:grpSp>
        <p:sp>
          <p:nvSpPr>
            <p:cNvPr id="56" name="직사각형 55">
              <a:extLst>
                <a:ext uri="{FF2B5EF4-FFF2-40B4-BE49-F238E27FC236}">
                  <a16:creationId xmlns:a16="http://schemas.microsoft.com/office/drawing/2014/main" id="{042D716C-15A4-4A69-A3F0-A9D252F9D348}"/>
                </a:ext>
              </a:extLst>
            </p:cNvPr>
            <p:cNvSpPr/>
            <p:nvPr/>
          </p:nvSpPr>
          <p:spPr>
            <a:xfrm>
              <a:off x="4195069" y="1748719"/>
              <a:ext cx="889987" cy="338554"/>
            </a:xfrm>
            <a:prstGeom prst="rect">
              <a:avLst/>
            </a:prstGeom>
          </p:spPr>
          <p:txBody>
            <a:bodyPr wrap="none">
              <a:spAutoFit/>
            </a:bodyPr>
            <a:lstStyle/>
            <a:p>
              <a:r>
                <a:rPr lang="en-US" sz="1600" dirty="0"/>
                <a:t>12 , 4 , 2</a:t>
              </a:r>
            </a:p>
          </p:txBody>
        </p:sp>
        <p:sp>
          <p:nvSpPr>
            <p:cNvPr id="57" name="직사각형 56">
              <a:extLst>
                <a:ext uri="{FF2B5EF4-FFF2-40B4-BE49-F238E27FC236}">
                  <a16:creationId xmlns:a16="http://schemas.microsoft.com/office/drawing/2014/main" id="{F213980C-3537-498E-9D20-FBBEBCCE14DB}"/>
                </a:ext>
              </a:extLst>
            </p:cNvPr>
            <p:cNvSpPr/>
            <p:nvPr/>
          </p:nvSpPr>
          <p:spPr>
            <a:xfrm>
              <a:off x="4233819" y="2529351"/>
              <a:ext cx="785793" cy="338554"/>
            </a:xfrm>
            <a:prstGeom prst="rect">
              <a:avLst/>
            </a:prstGeom>
          </p:spPr>
          <p:txBody>
            <a:bodyPr wrap="none">
              <a:spAutoFit/>
            </a:bodyPr>
            <a:lstStyle/>
            <a:p>
              <a:r>
                <a:rPr lang="en-US" sz="1600" dirty="0"/>
                <a:t>8 , 7 , 6</a:t>
              </a:r>
            </a:p>
          </p:txBody>
        </p:sp>
        <p:sp>
          <p:nvSpPr>
            <p:cNvPr id="58" name="직사각형 57">
              <a:extLst>
                <a:ext uri="{FF2B5EF4-FFF2-40B4-BE49-F238E27FC236}">
                  <a16:creationId xmlns:a16="http://schemas.microsoft.com/office/drawing/2014/main" id="{AD072F3B-4F1F-4E04-A97B-70A43030251B}"/>
                </a:ext>
              </a:extLst>
            </p:cNvPr>
            <p:cNvSpPr/>
            <p:nvPr/>
          </p:nvSpPr>
          <p:spPr>
            <a:xfrm>
              <a:off x="4232998" y="3261655"/>
              <a:ext cx="785793" cy="338554"/>
            </a:xfrm>
            <a:prstGeom prst="rect">
              <a:avLst/>
            </a:prstGeom>
          </p:spPr>
          <p:txBody>
            <a:bodyPr wrap="none">
              <a:spAutoFit/>
            </a:bodyPr>
            <a:lstStyle/>
            <a:p>
              <a:r>
                <a:rPr lang="en-US" sz="1600" dirty="0"/>
                <a:t>7 , 5 , 2</a:t>
              </a:r>
            </a:p>
          </p:txBody>
        </p:sp>
        <p:sp>
          <p:nvSpPr>
            <p:cNvPr id="59" name="직사각형 58">
              <a:extLst>
                <a:ext uri="{FF2B5EF4-FFF2-40B4-BE49-F238E27FC236}">
                  <a16:creationId xmlns:a16="http://schemas.microsoft.com/office/drawing/2014/main" id="{7FE0C7E4-2978-4321-8FD9-D92A016143DF}"/>
                </a:ext>
              </a:extLst>
            </p:cNvPr>
            <p:cNvSpPr/>
            <p:nvPr/>
          </p:nvSpPr>
          <p:spPr>
            <a:xfrm>
              <a:off x="4095091" y="1284043"/>
              <a:ext cx="1062983" cy="338554"/>
            </a:xfrm>
            <a:prstGeom prst="rect">
              <a:avLst/>
            </a:prstGeom>
          </p:spPr>
          <p:txBody>
            <a:bodyPr wrap="none">
              <a:spAutoFit/>
            </a:bodyPr>
            <a:lstStyle/>
            <a:p>
              <a:r>
                <a:rPr lang="en-US" sz="1600" b="1" dirty="0"/>
                <a:t>valuations</a:t>
              </a:r>
            </a:p>
          </p:txBody>
        </p:sp>
        <p:sp>
          <p:nvSpPr>
            <p:cNvPr id="60" name="직사각형 59">
              <a:extLst>
                <a:ext uri="{FF2B5EF4-FFF2-40B4-BE49-F238E27FC236}">
                  <a16:creationId xmlns:a16="http://schemas.microsoft.com/office/drawing/2014/main" id="{F5A5E6DD-7146-4845-9B24-B8CBF09169DE}"/>
                </a:ext>
              </a:extLst>
            </p:cNvPr>
            <p:cNvSpPr/>
            <p:nvPr/>
          </p:nvSpPr>
          <p:spPr>
            <a:xfrm>
              <a:off x="4195069" y="4667868"/>
              <a:ext cx="889987" cy="338554"/>
            </a:xfrm>
            <a:prstGeom prst="rect">
              <a:avLst/>
            </a:prstGeom>
          </p:spPr>
          <p:txBody>
            <a:bodyPr wrap="none">
              <a:spAutoFit/>
            </a:bodyPr>
            <a:lstStyle/>
            <a:p>
              <a:r>
                <a:rPr lang="en-US" sz="1600" dirty="0"/>
                <a:t>12 , 4 , 2</a:t>
              </a:r>
            </a:p>
          </p:txBody>
        </p:sp>
        <p:sp>
          <p:nvSpPr>
            <p:cNvPr id="61" name="직사각형 60">
              <a:extLst>
                <a:ext uri="{FF2B5EF4-FFF2-40B4-BE49-F238E27FC236}">
                  <a16:creationId xmlns:a16="http://schemas.microsoft.com/office/drawing/2014/main" id="{B4E3D8F6-3864-4E9D-B3EE-2813E8A6B714}"/>
                </a:ext>
              </a:extLst>
            </p:cNvPr>
            <p:cNvSpPr/>
            <p:nvPr/>
          </p:nvSpPr>
          <p:spPr>
            <a:xfrm>
              <a:off x="4233819" y="5448500"/>
              <a:ext cx="785793" cy="338554"/>
            </a:xfrm>
            <a:prstGeom prst="rect">
              <a:avLst/>
            </a:prstGeom>
          </p:spPr>
          <p:txBody>
            <a:bodyPr wrap="none">
              <a:spAutoFit/>
            </a:bodyPr>
            <a:lstStyle/>
            <a:p>
              <a:r>
                <a:rPr lang="en-US" sz="1600" dirty="0"/>
                <a:t>8 , 7 , 6</a:t>
              </a:r>
            </a:p>
          </p:txBody>
        </p:sp>
        <p:sp>
          <p:nvSpPr>
            <p:cNvPr id="62" name="직사각형 61">
              <a:extLst>
                <a:ext uri="{FF2B5EF4-FFF2-40B4-BE49-F238E27FC236}">
                  <a16:creationId xmlns:a16="http://schemas.microsoft.com/office/drawing/2014/main" id="{FD90B2BD-165F-480A-9D8A-519E4D69533B}"/>
                </a:ext>
              </a:extLst>
            </p:cNvPr>
            <p:cNvSpPr/>
            <p:nvPr/>
          </p:nvSpPr>
          <p:spPr>
            <a:xfrm>
              <a:off x="4232998" y="6180804"/>
              <a:ext cx="785793" cy="338554"/>
            </a:xfrm>
            <a:prstGeom prst="rect">
              <a:avLst/>
            </a:prstGeom>
          </p:spPr>
          <p:txBody>
            <a:bodyPr wrap="none">
              <a:spAutoFit/>
            </a:bodyPr>
            <a:lstStyle/>
            <a:p>
              <a:r>
                <a:rPr lang="en-US" sz="1600" dirty="0"/>
                <a:t>7 , 5 , 2</a:t>
              </a:r>
            </a:p>
          </p:txBody>
        </p:sp>
        <p:sp>
          <p:nvSpPr>
            <p:cNvPr id="63" name="직사각형 62">
              <a:extLst>
                <a:ext uri="{FF2B5EF4-FFF2-40B4-BE49-F238E27FC236}">
                  <a16:creationId xmlns:a16="http://schemas.microsoft.com/office/drawing/2014/main" id="{664A791F-540C-494B-9FA6-0163FF5B527B}"/>
                </a:ext>
              </a:extLst>
            </p:cNvPr>
            <p:cNvSpPr/>
            <p:nvPr/>
          </p:nvSpPr>
          <p:spPr>
            <a:xfrm>
              <a:off x="4095091" y="4203192"/>
              <a:ext cx="1062983" cy="338554"/>
            </a:xfrm>
            <a:prstGeom prst="rect">
              <a:avLst/>
            </a:prstGeom>
          </p:spPr>
          <p:txBody>
            <a:bodyPr wrap="none">
              <a:spAutoFit/>
            </a:bodyPr>
            <a:lstStyle/>
            <a:p>
              <a:r>
                <a:rPr lang="en-US" sz="1600" b="1" dirty="0"/>
                <a:t>valuations</a:t>
              </a:r>
            </a:p>
          </p:txBody>
        </p:sp>
        <p:sp>
          <p:nvSpPr>
            <p:cNvPr id="64" name="직사각형 63">
              <a:extLst>
                <a:ext uri="{FF2B5EF4-FFF2-40B4-BE49-F238E27FC236}">
                  <a16:creationId xmlns:a16="http://schemas.microsoft.com/office/drawing/2014/main" id="{72F506BB-5243-4248-8CC5-B2226B553F50}"/>
                </a:ext>
              </a:extLst>
            </p:cNvPr>
            <p:cNvSpPr/>
            <p:nvPr/>
          </p:nvSpPr>
          <p:spPr>
            <a:xfrm>
              <a:off x="9276194" y="1748719"/>
              <a:ext cx="889987" cy="338554"/>
            </a:xfrm>
            <a:prstGeom prst="rect">
              <a:avLst/>
            </a:prstGeom>
          </p:spPr>
          <p:txBody>
            <a:bodyPr wrap="none">
              <a:spAutoFit/>
            </a:bodyPr>
            <a:lstStyle/>
            <a:p>
              <a:r>
                <a:rPr lang="en-US" sz="1600" dirty="0"/>
                <a:t>12 , 4 , 2</a:t>
              </a:r>
            </a:p>
          </p:txBody>
        </p:sp>
        <p:sp>
          <p:nvSpPr>
            <p:cNvPr id="65" name="직사각형 64">
              <a:extLst>
                <a:ext uri="{FF2B5EF4-FFF2-40B4-BE49-F238E27FC236}">
                  <a16:creationId xmlns:a16="http://schemas.microsoft.com/office/drawing/2014/main" id="{182B2807-5035-451D-BDBE-CE9910788C5C}"/>
                </a:ext>
              </a:extLst>
            </p:cNvPr>
            <p:cNvSpPr/>
            <p:nvPr/>
          </p:nvSpPr>
          <p:spPr>
            <a:xfrm>
              <a:off x="9314944" y="2529351"/>
              <a:ext cx="785793" cy="338554"/>
            </a:xfrm>
            <a:prstGeom prst="rect">
              <a:avLst/>
            </a:prstGeom>
          </p:spPr>
          <p:txBody>
            <a:bodyPr wrap="none">
              <a:spAutoFit/>
            </a:bodyPr>
            <a:lstStyle/>
            <a:p>
              <a:r>
                <a:rPr lang="en-US" sz="1600" dirty="0"/>
                <a:t>8 , 7 , 6</a:t>
              </a:r>
            </a:p>
          </p:txBody>
        </p:sp>
        <p:sp>
          <p:nvSpPr>
            <p:cNvPr id="66" name="직사각형 65">
              <a:extLst>
                <a:ext uri="{FF2B5EF4-FFF2-40B4-BE49-F238E27FC236}">
                  <a16:creationId xmlns:a16="http://schemas.microsoft.com/office/drawing/2014/main" id="{C71D2C1C-036F-4331-A435-B15EC01E2E7C}"/>
                </a:ext>
              </a:extLst>
            </p:cNvPr>
            <p:cNvSpPr/>
            <p:nvPr/>
          </p:nvSpPr>
          <p:spPr>
            <a:xfrm>
              <a:off x="9314123" y="3261655"/>
              <a:ext cx="785793" cy="338554"/>
            </a:xfrm>
            <a:prstGeom prst="rect">
              <a:avLst/>
            </a:prstGeom>
          </p:spPr>
          <p:txBody>
            <a:bodyPr wrap="none">
              <a:spAutoFit/>
            </a:bodyPr>
            <a:lstStyle/>
            <a:p>
              <a:r>
                <a:rPr lang="en-US" sz="1600" dirty="0"/>
                <a:t>7 , 5 , 2</a:t>
              </a:r>
            </a:p>
          </p:txBody>
        </p:sp>
        <p:sp>
          <p:nvSpPr>
            <p:cNvPr id="67" name="직사각형 66">
              <a:extLst>
                <a:ext uri="{FF2B5EF4-FFF2-40B4-BE49-F238E27FC236}">
                  <a16:creationId xmlns:a16="http://schemas.microsoft.com/office/drawing/2014/main" id="{9C040E24-7ECA-4280-ACB4-6C3899F40F58}"/>
                </a:ext>
              </a:extLst>
            </p:cNvPr>
            <p:cNvSpPr/>
            <p:nvPr/>
          </p:nvSpPr>
          <p:spPr>
            <a:xfrm>
              <a:off x="9176216" y="1284043"/>
              <a:ext cx="1062983" cy="338554"/>
            </a:xfrm>
            <a:prstGeom prst="rect">
              <a:avLst/>
            </a:prstGeom>
          </p:spPr>
          <p:txBody>
            <a:bodyPr wrap="none">
              <a:spAutoFit/>
            </a:bodyPr>
            <a:lstStyle/>
            <a:p>
              <a:r>
                <a:rPr lang="en-US" sz="1600" b="1" dirty="0"/>
                <a:t>valuations</a:t>
              </a:r>
            </a:p>
          </p:txBody>
        </p:sp>
        <p:sp>
          <p:nvSpPr>
            <p:cNvPr id="68" name="직사각형 67">
              <a:extLst>
                <a:ext uri="{FF2B5EF4-FFF2-40B4-BE49-F238E27FC236}">
                  <a16:creationId xmlns:a16="http://schemas.microsoft.com/office/drawing/2014/main" id="{900E2F93-EC8F-49AA-B3A9-749F624FA471}"/>
                </a:ext>
              </a:extLst>
            </p:cNvPr>
            <p:cNvSpPr/>
            <p:nvPr/>
          </p:nvSpPr>
          <p:spPr>
            <a:xfrm>
              <a:off x="9277179" y="4715636"/>
              <a:ext cx="889987" cy="338554"/>
            </a:xfrm>
            <a:prstGeom prst="rect">
              <a:avLst/>
            </a:prstGeom>
          </p:spPr>
          <p:txBody>
            <a:bodyPr wrap="none">
              <a:spAutoFit/>
            </a:bodyPr>
            <a:lstStyle/>
            <a:p>
              <a:r>
                <a:rPr lang="en-US" sz="1600" dirty="0"/>
                <a:t>12 , 4 , 2</a:t>
              </a:r>
            </a:p>
          </p:txBody>
        </p:sp>
        <p:sp>
          <p:nvSpPr>
            <p:cNvPr id="69" name="직사각형 68">
              <a:extLst>
                <a:ext uri="{FF2B5EF4-FFF2-40B4-BE49-F238E27FC236}">
                  <a16:creationId xmlns:a16="http://schemas.microsoft.com/office/drawing/2014/main" id="{CA7E9E9D-6A8E-4162-BC22-4A977C8E8DC5}"/>
                </a:ext>
              </a:extLst>
            </p:cNvPr>
            <p:cNvSpPr/>
            <p:nvPr/>
          </p:nvSpPr>
          <p:spPr>
            <a:xfrm>
              <a:off x="9315929" y="5496268"/>
              <a:ext cx="785793" cy="338554"/>
            </a:xfrm>
            <a:prstGeom prst="rect">
              <a:avLst/>
            </a:prstGeom>
          </p:spPr>
          <p:txBody>
            <a:bodyPr wrap="none">
              <a:spAutoFit/>
            </a:bodyPr>
            <a:lstStyle/>
            <a:p>
              <a:r>
                <a:rPr lang="en-US" sz="1600" dirty="0"/>
                <a:t>8 , 7 , 6</a:t>
              </a:r>
            </a:p>
          </p:txBody>
        </p:sp>
        <p:sp>
          <p:nvSpPr>
            <p:cNvPr id="70" name="직사각형 69">
              <a:extLst>
                <a:ext uri="{FF2B5EF4-FFF2-40B4-BE49-F238E27FC236}">
                  <a16:creationId xmlns:a16="http://schemas.microsoft.com/office/drawing/2014/main" id="{5B4E5BED-4BEA-459A-A24D-4D529A977D73}"/>
                </a:ext>
              </a:extLst>
            </p:cNvPr>
            <p:cNvSpPr/>
            <p:nvPr/>
          </p:nvSpPr>
          <p:spPr>
            <a:xfrm>
              <a:off x="9315108" y="6228572"/>
              <a:ext cx="785793" cy="338554"/>
            </a:xfrm>
            <a:prstGeom prst="rect">
              <a:avLst/>
            </a:prstGeom>
          </p:spPr>
          <p:txBody>
            <a:bodyPr wrap="none">
              <a:spAutoFit/>
            </a:bodyPr>
            <a:lstStyle/>
            <a:p>
              <a:r>
                <a:rPr lang="en-US" sz="1600" dirty="0"/>
                <a:t>7 , 5 , 2</a:t>
              </a:r>
            </a:p>
          </p:txBody>
        </p:sp>
        <p:sp>
          <p:nvSpPr>
            <p:cNvPr id="71" name="직사각형 70">
              <a:extLst>
                <a:ext uri="{FF2B5EF4-FFF2-40B4-BE49-F238E27FC236}">
                  <a16:creationId xmlns:a16="http://schemas.microsoft.com/office/drawing/2014/main" id="{8582265E-239D-4EA6-A123-C673F5FC4FDA}"/>
                </a:ext>
              </a:extLst>
            </p:cNvPr>
            <p:cNvSpPr/>
            <p:nvPr/>
          </p:nvSpPr>
          <p:spPr>
            <a:xfrm>
              <a:off x="9276194" y="4203192"/>
              <a:ext cx="1062983" cy="338554"/>
            </a:xfrm>
            <a:prstGeom prst="rect">
              <a:avLst/>
            </a:prstGeom>
          </p:spPr>
          <p:txBody>
            <a:bodyPr wrap="none">
              <a:spAutoFit/>
            </a:bodyPr>
            <a:lstStyle/>
            <a:p>
              <a:r>
                <a:rPr lang="en-US" sz="1600" b="1" dirty="0"/>
                <a:t>valuations</a:t>
              </a:r>
            </a:p>
          </p:txBody>
        </p:sp>
        <p:sp>
          <p:nvSpPr>
            <p:cNvPr id="72" name="직사각형 71">
              <a:extLst>
                <a:ext uri="{FF2B5EF4-FFF2-40B4-BE49-F238E27FC236}">
                  <a16:creationId xmlns:a16="http://schemas.microsoft.com/office/drawing/2014/main" id="{4A1E4D33-65D1-4C04-918A-ED25A5D3304E}"/>
                </a:ext>
              </a:extLst>
            </p:cNvPr>
            <p:cNvSpPr/>
            <p:nvPr/>
          </p:nvSpPr>
          <p:spPr>
            <a:xfrm>
              <a:off x="1668838" y="1284043"/>
              <a:ext cx="740011" cy="338554"/>
            </a:xfrm>
            <a:prstGeom prst="rect">
              <a:avLst/>
            </a:prstGeom>
          </p:spPr>
          <p:txBody>
            <a:bodyPr wrap="none">
              <a:spAutoFit/>
            </a:bodyPr>
            <a:lstStyle/>
            <a:p>
              <a:r>
                <a:rPr lang="en-US" sz="1600" b="1" dirty="0"/>
                <a:t>Sellers</a:t>
              </a:r>
            </a:p>
          </p:txBody>
        </p:sp>
        <p:sp>
          <p:nvSpPr>
            <p:cNvPr id="73" name="직사각형 72">
              <a:extLst>
                <a:ext uri="{FF2B5EF4-FFF2-40B4-BE49-F238E27FC236}">
                  <a16:creationId xmlns:a16="http://schemas.microsoft.com/office/drawing/2014/main" id="{4973594B-A48C-4B21-B62F-0009F749BB06}"/>
                </a:ext>
              </a:extLst>
            </p:cNvPr>
            <p:cNvSpPr/>
            <p:nvPr/>
          </p:nvSpPr>
          <p:spPr>
            <a:xfrm>
              <a:off x="3286684" y="1284043"/>
              <a:ext cx="761747" cy="338554"/>
            </a:xfrm>
            <a:prstGeom prst="rect">
              <a:avLst/>
            </a:prstGeom>
          </p:spPr>
          <p:txBody>
            <a:bodyPr wrap="none">
              <a:spAutoFit/>
            </a:bodyPr>
            <a:lstStyle/>
            <a:p>
              <a:r>
                <a:rPr lang="en-US" sz="1600" b="1" dirty="0"/>
                <a:t>Buyers</a:t>
              </a:r>
            </a:p>
          </p:txBody>
        </p:sp>
        <p:sp>
          <p:nvSpPr>
            <p:cNvPr id="74" name="직사각형 73">
              <a:extLst>
                <a:ext uri="{FF2B5EF4-FFF2-40B4-BE49-F238E27FC236}">
                  <a16:creationId xmlns:a16="http://schemas.microsoft.com/office/drawing/2014/main" id="{D8B111AE-FFEA-4AD6-A0B7-584744E8D0E7}"/>
                </a:ext>
              </a:extLst>
            </p:cNvPr>
            <p:cNvSpPr/>
            <p:nvPr/>
          </p:nvSpPr>
          <p:spPr>
            <a:xfrm>
              <a:off x="1668838" y="4206359"/>
              <a:ext cx="740011" cy="338554"/>
            </a:xfrm>
            <a:prstGeom prst="rect">
              <a:avLst/>
            </a:prstGeom>
          </p:spPr>
          <p:txBody>
            <a:bodyPr wrap="none">
              <a:spAutoFit/>
            </a:bodyPr>
            <a:lstStyle/>
            <a:p>
              <a:r>
                <a:rPr lang="en-US" sz="1600" b="1" dirty="0"/>
                <a:t>Sellers</a:t>
              </a:r>
            </a:p>
          </p:txBody>
        </p:sp>
        <p:sp>
          <p:nvSpPr>
            <p:cNvPr id="75" name="직사각형 74">
              <a:extLst>
                <a:ext uri="{FF2B5EF4-FFF2-40B4-BE49-F238E27FC236}">
                  <a16:creationId xmlns:a16="http://schemas.microsoft.com/office/drawing/2014/main" id="{7002A7CD-26B8-4EC7-B2A8-F4EAB9808632}"/>
                </a:ext>
              </a:extLst>
            </p:cNvPr>
            <p:cNvSpPr/>
            <p:nvPr/>
          </p:nvSpPr>
          <p:spPr>
            <a:xfrm>
              <a:off x="3286684" y="4206359"/>
              <a:ext cx="761747" cy="338554"/>
            </a:xfrm>
            <a:prstGeom prst="rect">
              <a:avLst/>
            </a:prstGeom>
          </p:spPr>
          <p:txBody>
            <a:bodyPr wrap="none">
              <a:spAutoFit/>
            </a:bodyPr>
            <a:lstStyle/>
            <a:p>
              <a:r>
                <a:rPr lang="en-US" sz="1600" b="1" dirty="0"/>
                <a:t>Buyers</a:t>
              </a:r>
            </a:p>
          </p:txBody>
        </p:sp>
        <p:sp>
          <p:nvSpPr>
            <p:cNvPr id="76" name="직사각형 75">
              <a:extLst>
                <a:ext uri="{FF2B5EF4-FFF2-40B4-BE49-F238E27FC236}">
                  <a16:creationId xmlns:a16="http://schemas.microsoft.com/office/drawing/2014/main" id="{5FD33D38-6500-4FA3-A1C1-33E0EBA5EAB5}"/>
                </a:ext>
              </a:extLst>
            </p:cNvPr>
            <p:cNvSpPr/>
            <p:nvPr/>
          </p:nvSpPr>
          <p:spPr>
            <a:xfrm>
              <a:off x="6773975" y="4193500"/>
              <a:ext cx="740011" cy="338554"/>
            </a:xfrm>
            <a:prstGeom prst="rect">
              <a:avLst/>
            </a:prstGeom>
          </p:spPr>
          <p:txBody>
            <a:bodyPr wrap="none">
              <a:spAutoFit/>
            </a:bodyPr>
            <a:lstStyle/>
            <a:p>
              <a:r>
                <a:rPr lang="en-US" sz="1600" b="1" dirty="0"/>
                <a:t>Sellers</a:t>
              </a:r>
            </a:p>
          </p:txBody>
        </p:sp>
        <p:sp>
          <p:nvSpPr>
            <p:cNvPr id="77" name="직사각형 76">
              <a:extLst>
                <a:ext uri="{FF2B5EF4-FFF2-40B4-BE49-F238E27FC236}">
                  <a16:creationId xmlns:a16="http://schemas.microsoft.com/office/drawing/2014/main" id="{C4C469C2-076B-4DEE-8D00-EBC53A70C1E7}"/>
                </a:ext>
              </a:extLst>
            </p:cNvPr>
            <p:cNvSpPr/>
            <p:nvPr/>
          </p:nvSpPr>
          <p:spPr>
            <a:xfrm>
              <a:off x="8391821" y="4193500"/>
              <a:ext cx="761747" cy="338554"/>
            </a:xfrm>
            <a:prstGeom prst="rect">
              <a:avLst/>
            </a:prstGeom>
          </p:spPr>
          <p:txBody>
            <a:bodyPr wrap="none">
              <a:spAutoFit/>
            </a:bodyPr>
            <a:lstStyle/>
            <a:p>
              <a:r>
                <a:rPr lang="en-US" sz="1600" b="1" dirty="0"/>
                <a:t>Buyers</a:t>
              </a:r>
            </a:p>
          </p:txBody>
        </p:sp>
        <p:sp>
          <p:nvSpPr>
            <p:cNvPr id="78" name="직사각형 77">
              <a:extLst>
                <a:ext uri="{FF2B5EF4-FFF2-40B4-BE49-F238E27FC236}">
                  <a16:creationId xmlns:a16="http://schemas.microsoft.com/office/drawing/2014/main" id="{0DA69D23-479E-4452-892E-9F943FFEF7B7}"/>
                </a:ext>
              </a:extLst>
            </p:cNvPr>
            <p:cNvSpPr/>
            <p:nvPr/>
          </p:nvSpPr>
          <p:spPr>
            <a:xfrm>
              <a:off x="6772990" y="1282847"/>
              <a:ext cx="740011" cy="338554"/>
            </a:xfrm>
            <a:prstGeom prst="rect">
              <a:avLst/>
            </a:prstGeom>
          </p:spPr>
          <p:txBody>
            <a:bodyPr wrap="none">
              <a:spAutoFit/>
            </a:bodyPr>
            <a:lstStyle/>
            <a:p>
              <a:r>
                <a:rPr lang="en-US" sz="1600" b="1" dirty="0"/>
                <a:t>Sellers</a:t>
              </a:r>
            </a:p>
          </p:txBody>
        </p:sp>
        <p:sp>
          <p:nvSpPr>
            <p:cNvPr id="79" name="직사각형 78">
              <a:extLst>
                <a:ext uri="{FF2B5EF4-FFF2-40B4-BE49-F238E27FC236}">
                  <a16:creationId xmlns:a16="http://schemas.microsoft.com/office/drawing/2014/main" id="{A7EF318A-4099-48E5-8F08-FD3D12A28E0F}"/>
                </a:ext>
              </a:extLst>
            </p:cNvPr>
            <p:cNvSpPr/>
            <p:nvPr/>
          </p:nvSpPr>
          <p:spPr>
            <a:xfrm>
              <a:off x="8390836" y="1282847"/>
              <a:ext cx="761747" cy="338554"/>
            </a:xfrm>
            <a:prstGeom prst="rect">
              <a:avLst/>
            </a:prstGeom>
          </p:spPr>
          <p:txBody>
            <a:bodyPr wrap="none">
              <a:spAutoFit/>
            </a:bodyPr>
            <a:lstStyle/>
            <a:p>
              <a:r>
                <a:rPr lang="en-US" sz="1600" b="1" dirty="0"/>
                <a:t>Buyers</a:t>
              </a:r>
            </a:p>
          </p:txBody>
        </p:sp>
        <p:sp>
          <p:nvSpPr>
            <p:cNvPr id="100" name="직사각형 99">
              <a:extLst>
                <a:ext uri="{FF2B5EF4-FFF2-40B4-BE49-F238E27FC236}">
                  <a16:creationId xmlns:a16="http://schemas.microsoft.com/office/drawing/2014/main" id="{9931E01A-C0FF-4E2E-A9FA-76297FE13290}"/>
                </a:ext>
              </a:extLst>
            </p:cNvPr>
            <p:cNvSpPr/>
            <p:nvPr/>
          </p:nvSpPr>
          <p:spPr>
            <a:xfrm>
              <a:off x="6057159" y="1279634"/>
              <a:ext cx="688009" cy="338554"/>
            </a:xfrm>
            <a:prstGeom prst="rect">
              <a:avLst/>
            </a:prstGeom>
          </p:spPr>
          <p:txBody>
            <a:bodyPr wrap="none">
              <a:spAutoFit/>
            </a:bodyPr>
            <a:lstStyle/>
            <a:p>
              <a:r>
                <a:rPr lang="en-US" sz="1600" b="1" dirty="0"/>
                <a:t>Prices</a:t>
              </a:r>
            </a:p>
          </p:txBody>
        </p:sp>
        <p:sp>
          <p:nvSpPr>
            <p:cNvPr id="101" name="직사각형 100">
              <a:extLst>
                <a:ext uri="{FF2B5EF4-FFF2-40B4-BE49-F238E27FC236}">
                  <a16:creationId xmlns:a16="http://schemas.microsoft.com/office/drawing/2014/main" id="{4AB2D9F3-877A-4EF3-8F82-BFC45A7E0692}"/>
                </a:ext>
              </a:extLst>
            </p:cNvPr>
            <p:cNvSpPr/>
            <p:nvPr/>
          </p:nvSpPr>
          <p:spPr>
            <a:xfrm>
              <a:off x="6291725" y="1748719"/>
              <a:ext cx="288862" cy="338554"/>
            </a:xfrm>
            <a:prstGeom prst="rect">
              <a:avLst/>
            </a:prstGeom>
          </p:spPr>
          <p:txBody>
            <a:bodyPr wrap="none">
              <a:spAutoFit/>
            </a:bodyPr>
            <a:lstStyle/>
            <a:p>
              <a:r>
                <a:rPr lang="en-US" sz="1600" dirty="0"/>
                <a:t>5</a:t>
              </a:r>
            </a:p>
          </p:txBody>
        </p:sp>
        <p:sp>
          <p:nvSpPr>
            <p:cNvPr id="102" name="직사각형 101">
              <a:extLst>
                <a:ext uri="{FF2B5EF4-FFF2-40B4-BE49-F238E27FC236}">
                  <a16:creationId xmlns:a16="http://schemas.microsoft.com/office/drawing/2014/main" id="{314C78BE-5804-45F1-B357-BA3F0FB87C4A}"/>
                </a:ext>
              </a:extLst>
            </p:cNvPr>
            <p:cNvSpPr/>
            <p:nvPr/>
          </p:nvSpPr>
          <p:spPr>
            <a:xfrm>
              <a:off x="6291725" y="2529351"/>
              <a:ext cx="288862" cy="338554"/>
            </a:xfrm>
            <a:prstGeom prst="rect">
              <a:avLst/>
            </a:prstGeom>
          </p:spPr>
          <p:txBody>
            <a:bodyPr wrap="none">
              <a:spAutoFit/>
            </a:bodyPr>
            <a:lstStyle/>
            <a:p>
              <a:r>
                <a:rPr lang="en-US" sz="1600" dirty="0"/>
                <a:t>2</a:t>
              </a:r>
            </a:p>
          </p:txBody>
        </p:sp>
        <p:sp>
          <p:nvSpPr>
            <p:cNvPr id="103" name="직사각형 102">
              <a:extLst>
                <a:ext uri="{FF2B5EF4-FFF2-40B4-BE49-F238E27FC236}">
                  <a16:creationId xmlns:a16="http://schemas.microsoft.com/office/drawing/2014/main" id="{40EDE5F7-3391-493A-9392-80C2C820F86F}"/>
                </a:ext>
              </a:extLst>
            </p:cNvPr>
            <p:cNvSpPr/>
            <p:nvPr/>
          </p:nvSpPr>
          <p:spPr>
            <a:xfrm>
              <a:off x="6291725" y="3261655"/>
              <a:ext cx="288862" cy="338554"/>
            </a:xfrm>
            <a:prstGeom prst="rect">
              <a:avLst/>
            </a:prstGeom>
          </p:spPr>
          <p:txBody>
            <a:bodyPr wrap="none">
              <a:spAutoFit/>
            </a:bodyPr>
            <a:lstStyle/>
            <a:p>
              <a:r>
                <a:rPr lang="en-US" sz="1600" dirty="0"/>
                <a:t>0</a:t>
              </a:r>
            </a:p>
          </p:txBody>
        </p:sp>
        <p:sp>
          <p:nvSpPr>
            <p:cNvPr id="104" name="직사각형 103">
              <a:extLst>
                <a:ext uri="{FF2B5EF4-FFF2-40B4-BE49-F238E27FC236}">
                  <a16:creationId xmlns:a16="http://schemas.microsoft.com/office/drawing/2014/main" id="{53B8FCF2-ABC3-4574-889A-DC27ABE38100}"/>
                </a:ext>
              </a:extLst>
            </p:cNvPr>
            <p:cNvSpPr/>
            <p:nvPr/>
          </p:nvSpPr>
          <p:spPr>
            <a:xfrm>
              <a:off x="6057159" y="4192506"/>
              <a:ext cx="688009" cy="338554"/>
            </a:xfrm>
            <a:prstGeom prst="rect">
              <a:avLst/>
            </a:prstGeom>
          </p:spPr>
          <p:txBody>
            <a:bodyPr wrap="none">
              <a:spAutoFit/>
            </a:bodyPr>
            <a:lstStyle/>
            <a:p>
              <a:r>
                <a:rPr lang="en-US" sz="1600" b="1" dirty="0"/>
                <a:t>Prices</a:t>
              </a:r>
            </a:p>
          </p:txBody>
        </p:sp>
        <p:sp>
          <p:nvSpPr>
            <p:cNvPr id="105" name="직사각형 104">
              <a:extLst>
                <a:ext uri="{FF2B5EF4-FFF2-40B4-BE49-F238E27FC236}">
                  <a16:creationId xmlns:a16="http://schemas.microsoft.com/office/drawing/2014/main" id="{2F68F825-EF94-4592-A02A-540FA93C1B24}"/>
                </a:ext>
              </a:extLst>
            </p:cNvPr>
            <p:cNvSpPr/>
            <p:nvPr/>
          </p:nvSpPr>
          <p:spPr>
            <a:xfrm>
              <a:off x="6291725" y="4661591"/>
              <a:ext cx="288862" cy="338554"/>
            </a:xfrm>
            <a:prstGeom prst="rect">
              <a:avLst/>
            </a:prstGeom>
          </p:spPr>
          <p:txBody>
            <a:bodyPr wrap="none">
              <a:spAutoFit/>
            </a:bodyPr>
            <a:lstStyle/>
            <a:p>
              <a:r>
                <a:rPr lang="en-US" sz="1600" dirty="0"/>
                <a:t>3</a:t>
              </a:r>
            </a:p>
          </p:txBody>
        </p:sp>
        <p:sp>
          <p:nvSpPr>
            <p:cNvPr id="106" name="직사각형 105">
              <a:extLst>
                <a:ext uri="{FF2B5EF4-FFF2-40B4-BE49-F238E27FC236}">
                  <a16:creationId xmlns:a16="http://schemas.microsoft.com/office/drawing/2014/main" id="{48494ACD-64CA-4DBF-8BDC-4EC411898A5C}"/>
                </a:ext>
              </a:extLst>
            </p:cNvPr>
            <p:cNvSpPr/>
            <p:nvPr/>
          </p:nvSpPr>
          <p:spPr>
            <a:xfrm>
              <a:off x="6291725" y="5442223"/>
              <a:ext cx="288862" cy="338554"/>
            </a:xfrm>
            <a:prstGeom prst="rect">
              <a:avLst/>
            </a:prstGeom>
          </p:spPr>
          <p:txBody>
            <a:bodyPr wrap="none">
              <a:spAutoFit/>
            </a:bodyPr>
            <a:lstStyle/>
            <a:p>
              <a:r>
                <a:rPr lang="en-US" sz="1600" dirty="0"/>
                <a:t>1</a:t>
              </a:r>
            </a:p>
          </p:txBody>
        </p:sp>
        <p:sp>
          <p:nvSpPr>
            <p:cNvPr id="107" name="직사각형 106">
              <a:extLst>
                <a:ext uri="{FF2B5EF4-FFF2-40B4-BE49-F238E27FC236}">
                  <a16:creationId xmlns:a16="http://schemas.microsoft.com/office/drawing/2014/main" id="{95D23F85-942F-4BAC-8882-F00CB9D54D38}"/>
                </a:ext>
              </a:extLst>
            </p:cNvPr>
            <p:cNvSpPr/>
            <p:nvPr/>
          </p:nvSpPr>
          <p:spPr>
            <a:xfrm>
              <a:off x="6291725" y="6174527"/>
              <a:ext cx="288862" cy="338554"/>
            </a:xfrm>
            <a:prstGeom prst="rect">
              <a:avLst/>
            </a:prstGeom>
          </p:spPr>
          <p:txBody>
            <a:bodyPr wrap="none">
              <a:spAutoFit/>
            </a:bodyPr>
            <a:lstStyle/>
            <a:p>
              <a:r>
                <a:rPr lang="en-US" sz="1600" dirty="0"/>
                <a:t>0</a:t>
              </a:r>
            </a:p>
          </p:txBody>
        </p:sp>
        <p:sp>
          <p:nvSpPr>
            <p:cNvPr id="108" name="직사각형 107">
              <a:extLst>
                <a:ext uri="{FF2B5EF4-FFF2-40B4-BE49-F238E27FC236}">
                  <a16:creationId xmlns:a16="http://schemas.microsoft.com/office/drawing/2014/main" id="{B7B787E6-087E-4464-B05A-1B6075D7C41E}"/>
                </a:ext>
              </a:extLst>
            </p:cNvPr>
            <p:cNvSpPr/>
            <p:nvPr/>
          </p:nvSpPr>
          <p:spPr>
            <a:xfrm>
              <a:off x="964177" y="4192506"/>
              <a:ext cx="688009" cy="338554"/>
            </a:xfrm>
            <a:prstGeom prst="rect">
              <a:avLst/>
            </a:prstGeom>
          </p:spPr>
          <p:txBody>
            <a:bodyPr wrap="none">
              <a:spAutoFit/>
            </a:bodyPr>
            <a:lstStyle/>
            <a:p>
              <a:r>
                <a:rPr lang="en-US" sz="1600" b="1" dirty="0"/>
                <a:t>Prices</a:t>
              </a:r>
            </a:p>
          </p:txBody>
        </p:sp>
        <p:sp>
          <p:nvSpPr>
            <p:cNvPr id="109" name="직사각형 108">
              <a:extLst>
                <a:ext uri="{FF2B5EF4-FFF2-40B4-BE49-F238E27FC236}">
                  <a16:creationId xmlns:a16="http://schemas.microsoft.com/office/drawing/2014/main" id="{9B8DE849-5275-4AC2-9D36-9901165A39AD}"/>
                </a:ext>
              </a:extLst>
            </p:cNvPr>
            <p:cNvSpPr/>
            <p:nvPr/>
          </p:nvSpPr>
          <p:spPr>
            <a:xfrm>
              <a:off x="1198743" y="4661591"/>
              <a:ext cx="288862" cy="338554"/>
            </a:xfrm>
            <a:prstGeom prst="rect">
              <a:avLst/>
            </a:prstGeom>
          </p:spPr>
          <p:txBody>
            <a:bodyPr wrap="none">
              <a:spAutoFit/>
            </a:bodyPr>
            <a:lstStyle/>
            <a:p>
              <a:r>
                <a:rPr lang="en-US" sz="1600" dirty="0"/>
                <a:t>2</a:t>
              </a:r>
            </a:p>
          </p:txBody>
        </p:sp>
        <p:sp>
          <p:nvSpPr>
            <p:cNvPr id="110" name="직사각형 109">
              <a:extLst>
                <a:ext uri="{FF2B5EF4-FFF2-40B4-BE49-F238E27FC236}">
                  <a16:creationId xmlns:a16="http://schemas.microsoft.com/office/drawing/2014/main" id="{E304708A-A2CF-4D5D-B6DD-FEFA82AEB014}"/>
                </a:ext>
              </a:extLst>
            </p:cNvPr>
            <p:cNvSpPr/>
            <p:nvPr/>
          </p:nvSpPr>
          <p:spPr>
            <a:xfrm>
              <a:off x="1198743" y="5442223"/>
              <a:ext cx="288862" cy="338554"/>
            </a:xfrm>
            <a:prstGeom prst="rect">
              <a:avLst/>
            </a:prstGeom>
          </p:spPr>
          <p:txBody>
            <a:bodyPr wrap="none">
              <a:spAutoFit/>
            </a:bodyPr>
            <a:lstStyle/>
            <a:p>
              <a:r>
                <a:rPr lang="en-US" sz="1600" dirty="0"/>
                <a:t>1</a:t>
              </a:r>
            </a:p>
          </p:txBody>
        </p:sp>
        <p:sp>
          <p:nvSpPr>
            <p:cNvPr id="111" name="직사각형 110">
              <a:extLst>
                <a:ext uri="{FF2B5EF4-FFF2-40B4-BE49-F238E27FC236}">
                  <a16:creationId xmlns:a16="http://schemas.microsoft.com/office/drawing/2014/main" id="{167103FE-7C3E-400B-A11A-56D211DD2454}"/>
                </a:ext>
              </a:extLst>
            </p:cNvPr>
            <p:cNvSpPr/>
            <p:nvPr/>
          </p:nvSpPr>
          <p:spPr>
            <a:xfrm>
              <a:off x="1198743" y="6174527"/>
              <a:ext cx="288862" cy="338554"/>
            </a:xfrm>
            <a:prstGeom prst="rect">
              <a:avLst/>
            </a:prstGeom>
          </p:spPr>
          <p:txBody>
            <a:bodyPr wrap="none">
              <a:spAutoFit/>
            </a:bodyPr>
            <a:lstStyle/>
            <a:p>
              <a:r>
                <a:rPr lang="en-US" sz="1600" dirty="0"/>
                <a:t>0</a:t>
              </a:r>
            </a:p>
          </p:txBody>
        </p:sp>
      </p:grpSp>
      <p:sp>
        <p:nvSpPr>
          <p:cNvPr id="113" name="직사각형 112">
            <a:extLst>
              <a:ext uri="{FF2B5EF4-FFF2-40B4-BE49-F238E27FC236}">
                <a16:creationId xmlns:a16="http://schemas.microsoft.com/office/drawing/2014/main" id="{B65CA26F-A136-4C48-88B5-8442CBBC702D}"/>
              </a:ext>
            </a:extLst>
          </p:cNvPr>
          <p:cNvSpPr/>
          <p:nvPr/>
        </p:nvSpPr>
        <p:spPr>
          <a:xfrm>
            <a:off x="8649330" y="2416780"/>
            <a:ext cx="3542670" cy="224229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직사각형 115">
            <a:extLst>
              <a:ext uri="{FF2B5EF4-FFF2-40B4-BE49-F238E27FC236}">
                <a16:creationId xmlns:a16="http://schemas.microsoft.com/office/drawing/2014/main" id="{D9000985-EC25-413E-B097-93424078A5E0}"/>
              </a:ext>
            </a:extLst>
          </p:cNvPr>
          <p:cNvSpPr/>
          <p:nvPr/>
        </p:nvSpPr>
        <p:spPr>
          <a:xfrm>
            <a:off x="466053" y="1205658"/>
            <a:ext cx="9503570" cy="369332"/>
          </a:xfrm>
          <a:prstGeom prst="rect">
            <a:avLst/>
          </a:prstGeom>
        </p:spPr>
        <p:txBody>
          <a:bodyPr wrap="square">
            <a:spAutoFit/>
          </a:bodyPr>
          <a:lstStyle/>
          <a:p>
            <a:pPr marL="742950" lvl="1" indent="-285750">
              <a:buFont typeface="Arial" panose="020B0604020202020204" pitchFamily="34" charset="0"/>
              <a:buChar char="•"/>
            </a:pPr>
            <a:r>
              <a:rPr lang="en-US" dirty="0"/>
              <a:t>Valuation – price = payoff  </a:t>
            </a:r>
            <a:r>
              <a:rPr lang="en-US" dirty="0">
                <a:sym typeface="Wingdings" panose="05000000000000000000" pitchFamily="2" charset="2"/>
              </a:rPr>
              <a:t> buyers will prefer the highest payoff</a:t>
            </a:r>
            <a:endParaRPr lang="en-US" dirty="0"/>
          </a:p>
        </p:txBody>
      </p:sp>
      <p:grpSp>
        <p:nvGrpSpPr>
          <p:cNvPr id="119" name="그룹 118">
            <a:extLst>
              <a:ext uri="{FF2B5EF4-FFF2-40B4-BE49-F238E27FC236}">
                <a16:creationId xmlns:a16="http://schemas.microsoft.com/office/drawing/2014/main" id="{10813782-4B93-431D-8272-1C90B1D05F59}"/>
              </a:ext>
            </a:extLst>
          </p:cNvPr>
          <p:cNvGrpSpPr/>
          <p:nvPr/>
        </p:nvGrpSpPr>
        <p:grpSpPr>
          <a:xfrm>
            <a:off x="-342514" y="2148084"/>
            <a:ext cx="5072218" cy="4085863"/>
            <a:chOff x="7180934" y="1614907"/>
            <a:chExt cx="5072218" cy="4085863"/>
          </a:xfrm>
        </p:grpSpPr>
        <p:sp>
          <p:nvSpPr>
            <p:cNvPr id="115" name="직사각형 114">
              <a:extLst>
                <a:ext uri="{FF2B5EF4-FFF2-40B4-BE49-F238E27FC236}">
                  <a16:creationId xmlns:a16="http://schemas.microsoft.com/office/drawing/2014/main" id="{28003DE1-E66D-48FB-949D-F253CBEF4622}"/>
                </a:ext>
              </a:extLst>
            </p:cNvPr>
            <p:cNvSpPr/>
            <p:nvPr/>
          </p:nvSpPr>
          <p:spPr>
            <a:xfrm>
              <a:off x="7212784" y="1614907"/>
              <a:ext cx="5040368" cy="646331"/>
            </a:xfrm>
            <a:prstGeom prst="rect">
              <a:avLst/>
            </a:prstGeom>
          </p:spPr>
          <p:txBody>
            <a:bodyPr wrap="square">
              <a:spAutoFit/>
            </a:bodyPr>
            <a:lstStyle/>
            <a:p>
              <a:pPr lvl="1"/>
              <a:r>
                <a:rPr lang="en-US" b="1" dirty="0"/>
                <a:t>Market clearing: </a:t>
              </a:r>
            </a:p>
            <a:p>
              <a:pPr lvl="1"/>
              <a:r>
                <a:rPr lang="en-US" dirty="0"/>
                <a:t>cause each buyer to buy from a different seller</a:t>
              </a:r>
            </a:p>
          </p:txBody>
        </p:sp>
        <p:sp>
          <p:nvSpPr>
            <p:cNvPr id="117" name="직사각형 116">
              <a:extLst>
                <a:ext uri="{FF2B5EF4-FFF2-40B4-BE49-F238E27FC236}">
                  <a16:creationId xmlns:a16="http://schemas.microsoft.com/office/drawing/2014/main" id="{F79BB5A7-CF15-4CE0-8559-76681FF9C6FC}"/>
                </a:ext>
              </a:extLst>
            </p:cNvPr>
            <p:cNvSpPr/>
            <p:nvPr/>
          </p:nvSpPr>
          <p:spPr>
            <a:xfrm>
              <a:off x="7203975" y="2510858"/>
              <a:ext cx="4858491" cy="923330"/>
            </a:xfrm>
            <a:prstGeom prst="rect">
              <a:avLst/>
            </a:prstGeom>
          </p:spPr>
          <p:txBody>
            <a:bodyPr wrap="square">
              <a:spAutoFit/>
            </a:bodyPr>
            <a:lstStyle/>
            <a:p>
              <a:pPr lvl="1"/>
              <a:r>
                <a:rPr lang="en-US" b="1" i="1" dirty="0"/>
                <a:t>Existence of Market Clearing Prices</a:t>
              </a:r>
              <a:r>
                <a:rPr lang="en-US" dirty="0"/>
                <a:t>: </a:t>
              </a:r>
            </a:p>
            <a:p>
              <a:pPr lvl="1"/>
              <a:r>
                <a:rPr lang="en-US" dirty="0"/>
                <a:t>For any set of buyer valuations, there exists a set of market clearing prices</a:t>
              </a:r>
            </a:p>
          </p:txBody>
        </p:sp>
        <p:sp>
          <p:nvSpPr>
            <p:cNvPr id="118" name="직사각형 117">
              <a:extLst>
                <a:ext uri="{FF2B5EF4-FFF2-40B4-BE49-F238E27FC236}">
                  <a16:creationId xmlns:a16="http://schemas.microsoft.com/office/drawing/2014/main" id="{A62FD333-1B5C-4BC1-8BCB-C48EB7BE1C53}"/>
                </a:ext>
              </a:extLst>
            </p:cNvPr>
            <p:cNvSpPr/>
            <p:nvPr/>
          </p:nvSpPr>
          <p:spPr>
            <a:xfrm>
              <a:off x="7180934" y="3669445"/>
              <a:ext cx="5011066" cy="2031325"/>
            </a:xfrm>
            <a:prstGeom prst="rect">
              <a:avLst/>
            </a:prstGeom>
          </p:spPr>
          <p:txBody>
            <a:bodyPr wrap="square">
              <a:spAutoFit/>
            </a:bodyPr>
            <a:lstStyle/>
            <a:p>
              <a:pPr lvl="1"/>
              <a:r>
                <a:rPr lang="en-US" b="1" i="1" dirty="0"/>
                <a:t>Optimality of Market Clearing Prices</a:t>
              </a:r>
              <a:r>
                <a:rPr lang="en-US" dirty="0"/>
                <a:t>: </a:t>
              </a:r>
            </a:p>
            <a:p>
              <a:pPr lvl="1"/>
              <a:r>
                <a:rPr lang="en-US" dirty="0"/>
                <a:t>For any set of market clearing prices, a perfect matching in the resulting preferred seller graph has the maximum total valuation of any assignment of seller to buyers and produces the maximum possible sum of payoffs to all sellers and buyers</a:t>
              </a:r>
            </a:p>
          </p:txBody>
        </p:sp>
      </p:grpSp>
    </p:spTree>
    <p:extLst>
      <p:ext uri="{BB962C8B-B14F-4D97-AF65-F5344CB8AC3E}">
        <p14:creationId xmlns:p14="http://schemas.microsoft.com/office/powerpoint/2010/main" val="3774798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1180730" y="2841996"/>
            <a:ext cx="10177508" cy="745660"/>
          </a:xfrm>
        </p:spPr>
        <p:txBody>
          <a:bodyPr>
            <a:normAutofit fontScale="90000"/>
          </a:bodyPr>
          <a:lstStyle/>
          <a:p>
            <a:r>
              <a:rPr lang="en-US" dirty="0"/>
              <a:t>Network Models of Markets with Intermediaries</a:t>
            </a:r>
          </a:p>
        </p:txBody>
      </p:sp>
    </p:spTree>
    <p:extLst>
      <p:ext uri="{BB962C8B-B14F-4D97-AF65-F5344CB8AC3E}">
        <p14:creationId xmlns:p14="http://schemas.microsoft.com/office/powerpoint/2010/main" val="2120381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365125"/>
            <a:ext cx="10515600" cy="1325563"/>
          </a:xfrm>
        </p:spPr>
        <p:txBody>
          <a:bodyPr/>
          <a:lstStyle/>
          <a:p>
            <a:r>
              <a:rPr lang="en-US" dirty="0"/>
              <a:t>Price Setting in Markets</a:t>
            </a:r>
          </a:p>
        </p:txBody>
      </p:sp>
      <p:sp>
        <p:nvSpPr>
          <p:cNvPr id="3" name="직사각형 2">
            <a:extLst>
              <a:ext uri="{FF2B5EF4-FFF2-40B4-BE49-F238E27FC236}">
                <a16:creationId xmlns:a16="http://schemas.microsoft.com/office/drawing/2014/main" id="{EDAA82EE-61AF-49A8-BDF0-46610A39BE6F}"/>
              </a:ext>
            </a:extLst>
          </p:cNvPr>
          <p:cNvSpPr/>
          <p:nvPr/>
        </p:nvSpPr>
        <p:spPr>
          <a:xfrm>
            <a:off x="530772" y="2274838"/>
            <a:ext cx="11130456" cy="2308324"/>
          </a:xfrm>
          <a:prstGeom prst="rect">
            <a:avLst/>
          </a:prstGeom>
        </p:spPr>
        <p:txBody>
          <a:bodyPr wrap="square">
            <a:spAutoFit/>
          </a:bodyPr>
          <a:lstStyle/>
          <a:p>
            <a:pPr lvl="1"/>
            <a:r>
              <a:rPr lang="en-US" sz="2400" b="1" dirty="0"/>
              <a:t>Matching markets </a:t>
            </a:r>
            <a:r>
              <a:rPr lang="en-US" sz="2400" dirty="0"/>
              <a:t>embody a number of basic principles:</a:t>
            </a:r>
          </a:p>
          <a:p>
            <a:pPr lvl="1"/>
            <a:endParaRPr lang="en-US" sz="2400" dirty="0"/>
          </a:p>
          <a:p>
            <a:pPr lvl="1"/>
            <a:r>
              <a:rPr lang="en-US" sz="2400" dirty="0"/>
              <a:t>	- People naturally have different preferences for different objects or goods</a:t>
            </a:r>
          </a:p>
          <a:p>
            <a:pPr lvl="1"/>
            <a:r>
              <a:rPr lang="en-US" sz="2400" dirty="0"/>
              <a:t>	- Prices can decentralize the allocation of goods to people</a:t>
            </a:r>
          </a:p>
          <a:p>
            <a:pPr lvl="1"/>
            <a:r>
              <a:rPr lang="en-US" sz="2400" dirty="0"/>
              <a:t>	- Such prices can lead allocations that are socially optimal</a:t>
            </a:r>
          </a:p>
          <a:p>
            <a:pPr lvl="1"/>
            <a:endParaRPr lang="en-US" sz="2400" dirty="0"/>
          </a:p>
        </p:txBody>
      </p:sp>
    </p:spTree>
    <p:extLst>
      <p:ext uri="{BB962C8B-B14F-4D97-AF65-F5344CB8AC3E}">
        <p14:creationId xmlns:p14="http://schemas.microsoft.com/office/powerpoint/2010/main" val="628444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38200" y="365125"/>
            <a:ext cx="10515600" cy="1325563"/>
          </a:xfrm>
        </p:spPr>
        <p:txBody>
          <a:bodyPr/>
          <a:lstStyle/>
          <a:p>
            <a:r>
              <a:rPr lang="en-US" dirty="0"/>
              <a:t>Trade with intermediaries</a:t>
            </a:r>
          </a:p>
        </p:txBody>
      </p:sp>
      <p:sp>
        <p:nvSpPr>
          <p:cNvPr id="3" name="직사각형 2">
            <a:extLst>
              <a:ext uri="{FF2B5EF4-FFF2-40B4-BE49-F238E27FC236}">
                <a16:creationId xmlns:a16="http://schemas.microsoft.com/office/drawing/2014/main" id="{EDAA82EE-61AF-49A8-BDF0-46610A39BE6F}"/>
              </a:ext>
            </a:extLst>
          </p:cNvPr>
          <p:cNvSpPr/>
          <p:nvPr/>
        </p:nvSpPr>
        <p:spPr>
          <a:xfrm>
            <a:off x="530772" y="2274838"/>
            <a:ext cx="11130456" cy="2893100"/>
          </a:xfrm>
          <a:prstGeom prst="rect">
            <a:avLst/>
          </a:prstGeom>
        </p:spPr>
        <p:txBody>
          <a:bodyPr wrap="square">
            <a:spAutoFit/>
          </a:bodyPr>
          <a:lstStyle/>
          <a:p>
            <a:pPr lvl="1"/>
            <a:r>
              <a:rPr lang="en-US" sz="2400" dirty="0"/>
              <a:t>- In a wide range of markets, buyers and sellers do not interact directly with each  other, but trade through brokers or intermediaries</a:t>
            </a:r>
          </a:p>
          <a:p>
            <a:pPr lvl="1"/>
            <a:endParaRPr lang="en-US" sz="2400" dirty="0"/>
          </a:p>
          <a:p>
            <a:pPr lvl="1"/>
            <a:r>
              <a:rPr lang="en-US" sz="2000" dirty="0"/>
              <a:t>ex) Real estate brokers, drug dealers</a:t>
            </a:r>
          </a:p>
          <a:p>
            <a:pPr lvl="1"/>
            <a:endParaRPr lang="en-US" dirty="0"/>
          </a:p>
          <a:p>
            <a:pPr lvl="1"/>
            <a:r>
              <a:rPr lang="en-US" sz="2400" dirty="0"/>
              <a:t>- There are many types of markets for different purpose or characteristics</a:t>
            </a:r>
          </a:p>
          <a:p>
            <a:pPr lvl="1"/>
            <a:endParaRPr lang="en-US" sz="2400" dirty="0"/>
          </a:p>
          <a:p>
            <a:pPr lvl="1"/>
            <a:r>
              <a:rPr lang="en-US" sz="2400" dirty="0"/>
              <a:t>- Particular good can be traded in multiple markets</a:t>
            </a:r>
          </a:p>
        </p:txBody>
      </p:sp>
    </p:spTree>
    <p:extLst>
      <p:ext uri="{BB962C8B-B14F-4D97-AF65-F5344CB8AC3E}">
        <p14:creationId xmlns:p14="http://schemas.microsoft.com/office/powerpoint/2010/main" val="2059907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48710" y="207783"/>
            <a:ext cx="10515600" cy="1325563"/>
          </a:xfrm>
        </p:spPr>
        <p:txBody>
          <a:bodyPr/>
          <a:lstStyle/>
          <a:p>
            <a:r>
              <a:rPr lang="en-US" dirty="0"/>
              <a:t>Network structure with multiple traders: simple model</a:t>
            </a:r>
          </a:p>
        </p:txBody>
      </p:sp>
      <p:sp>
        <p:nvSpPr>
          <p:cNvPr id="3" name="직사각형 2">
            <a:extLst>
              <a:ext uri="{FF2B5EF4-FFF2-40B4-BE49-F238E27FC236}">
                <a16:creationId xmlns:a16="http://schemas.microsoft.com/office/drawing/2014/main" id="{EDAA82EE-61AF-49A8-BDF0-46610A39BE6F}"/>
              </a:ext>
            </a:extLst>
          </p:cNvPr>
          <p:cNvSpPr/>
          <p:nvPr/>
        </p:nvSpPr>
        <p:spPr>
          <a:xfrm>
            <a:off x="233854" y="1485737"/>
            <a:ext cx="11130456" cy="830997"/>
          </a:xfrm>
          <a:prstGeom prst="rect">
            <a:avLst/>
          </a:prstGeom>
        </p:spPr>
        <p:txBody>
          <a:bodyPr wrap="square">
            <a:spAutoFit/>
          </a:bodyPr>
          <a:lstStyle/>
          <a:p>
            <a:pPr lvl="1"/>
            <a:r>
              <a:rPr lang="en-US" sz="2400" dirty="0"/>
              <a:t>With multiple buyers, sellers, and intermediaries connected in a network structure, what might be the trading behavior at the equilibrium??</a:t>
            </a:r>
          </a:p>
        </p:txBody>
      </p:sp>
      <p:pic>
        <p:nvPicPr>
          <p:cNvPr id="4" name="그림 3">
            <a:extLst>
              <a:ext uri="{FF2B5EF4-FFF2-40B4-BE49-F238E27FC236}">
                <a16:creationId xmlns:a16="http://schemas.microsoft.com/office/drawing/2014/main" id="{B8F4B149-B6F8-4E69-A82B-0D2CD2E84C38}"/>
              </a:ext>
            </a:extLst>
          </p:cNvPr>
          <p:cNvPicPr>
            <a:picLocks noChangeAspect="1"/>
          </p:cNvPicPr>
          <p:nvPr/>
        </p:nvPicPr>
        <p:blipFill rotWithShape="1">
          <a:blip r:embed="rId2"/>
          <a:srcRect l="16005" t="37405" r="22898" b="12580"/>
          <a:stretch/>
        </p:blipFill>
        <p:spPr>
          <a:xfrm>
            <a:off x="626282" y="2672178"/>
            <a:ext cx="4663737" cy="4096192"/>
          </a:xfrm>
          <a:prstGeom prst="rect">
            <a:avLst/>
          </a:prstGeom>
        </p:spPr>
      </p:pic>
      <mc:AlternateContent xmlns:mc="http://schemas.openxmlformats.org/markup-compatibility/2006" xmlns:a14="http://schemas.microsoft.com/office/drawing/2010/main">
        <mc:Choice Requires="a14">
          <p:sp>
            <p:nvSpPr>
              <p:cNvPr id="5" name="직사각형 4">
                <a:extLst>
                  <a:ext uri="{FF2B5EF4-FFF2-40B4-BE49-F238E27FC236}">
                    <a16:creationId xmlns:a16="http://schemas.microsoft.com/office/drawing/2014/main" id="{36A3DC0C-37A4-4AA7-A8D1-A26BA52900E8}"/>
                  </a:ext>
                </a:extLst>
              </p:cNvPr>
              <p:cNvSpPr/>
              <p:nvPr/>
            </p:nvSpPr>
            <p:spPr>
              <a:xfrm>
                <a:off x="5635764" y="2864565"/>
                <a:ext cx="6160774" cy="3785652"/>
              </a:xfrm>
              <a:prstGeom prst="rect">
                <a:avLst/>
              </a:prstGeom>
            </p:spPr>
            <p:txBody>
              <a:bodyPr wrap="square">
                <a:spAutoFit/>
              </a:bodyPr>
              <a:lstStyle/>
              <a:p>
                <a:pPr marL="800100" lvl="1" indent="-342900">
                  <a:buFont typeface="Arial" panose="020B0604020202020204" pitchFamily="34" charset="0"/>
                  <a:buChar char="•"/>
                </a:pPr>
                <a:r>
                  <a:rPr lang="en-US" sz="2000" dirty="0"/>
                  <a:t>Seller </a:t>
                </a:r>
                <a14:m>
                  <m:oMath xmlns:m="http://schemas.openxmlformats.org/officeDocument/2006/math">
                    <m:r>
                      <a:rPr lang="en-US" sz="2000" i="1">
                        <a:latin typeface="Cambria Math" panose="02040503050406030204" pitchFamily="18" charset="0"/>
                      </a:rPr>
                      <m:t>𝑖</m:t>
                    </m:r>
                  </m:oMath>
                </a14:m>
                <a:r>
                  <a:rPr lang="en-US" sz="2000" dirty="0"/>
                  <a:t> holds 1 unit of the good, willing to sell it at least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𝑖</m:t>
                        </m:r>
                      </m:sub>
                    </m:sSub>
                  </m:oMath>
                </a14:m>
                <a:endParaRPr lang="en-US" sz="2000" dirty="0"/>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US" sz="2000" dirty="0"/>
                  <a:t>Buyer </a:t>
                </a:r>
                <a14:m>
                  <m:oMath xmlns:m="http://schemas.openxmlformats.org/officeDocument/2006/math">
                    <m:r>
                      <a:rPr lang="en-US" sz="2000" i="1">
                        <a:latin typeface="Cambria Math" panose="02040503050406030204" pitchFamily="18" charset="0"/>
                      </a:rPr>
                      <m:t>𝑗</m:t>
                    </m:r>
                  </m:oMath>
                </a14:m>
                <a:r>
                  <a:rPr lang="en-US" sz="2000" dirty="0"/>
                  <a:t> values 1 unit of the good, wiling to buy it at most of the value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𝑣</m:t>
                        </m:r>
                      </m:e>
                      <m:sub>
                        <m:r>
                          <a:rPr lang="en-US" sz="2000" b="0" i="1" smtClean="0">
                            <a:latin typeface="Cambria Math" panose="02040503050406030204" pitchFamily="18" charset="0"/>
                          </a:rPr>
                          <m:t>𝑗</m:t>
                        </m:r>
                      </m:sub>
                    </m:sSub>
                  </m:oMath>
                </a14:m>
                <a:endParaRPr lang="en-US" sz="2000" dirty="0"/>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US" sz="2000" dirty="0"/>
                  <a:t>No one wants more than 1 unit</a:t>
                </a:r>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US" sz="2000" dirty="0"/>
                  <a:t>All buyers, sellers, traders are assumed to know all the valuations</a:t>
                </a:r>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US" sz="2000" dirty="0"/>
                  <a:t>Network structure is fixed</a:t>
                </a:r>
              </a:p>
            </p:txBody>
          </p:sp>
        </mc:Choice>
        <mc:Fallback xmlns="">
          <p:sp>
            <p:nvSpPr>
              <p:cNvPr id="5" name="직사각형 4">
                <a:extLst>
                  <a:ext uri="{FF2B5EF4-FFF2-40B4-BE49-F238E27FC236}">
                    <a16:creationId xmlns:a16="http://schemas.microsoft.com/office/drawing/2014/main" id="{36A3DC0C-37A4-4AA7-A8D1-A26BA52900E8}"/>
                  </a:ext>
                </a:extLst>
              </p:cNvPr>
              <p:cNvSpPr>
                <a:spLocks noRot="1" noChangeAspect="1" noMove="1" noResize="1" noEditPoints="1" noAdjustHandles="1" noChangeArrowheads="1" noChangeShapeType="1" noTextEdit="1"/>
              </p:cNvSpPr>
              <p:nvPr/>
            </p:nvSpPr>
            <p:spPr>
              <a:xfrm>
                <a:off x="5635764" y="2864565"/>
                <a:ext cx="6160774" cy="3785652"/>
              </a:xfrm>
              <a:prstGeom prst="rect">
                <a:avLst/>
              </a:prstGeom>
              <a:blipFill>
                <a:blip r:embed="rId3"/>
                <a:stretch>
                  <a:fillRect t="-966" r="-990" b="-2576"/>
                </a:stretch>
              </a:blipFill>
            </p:spPr>
            <p:txBody>
              <a:bodyPr/>
              <a:lstStyle/>
              <a:p>
                <a:r>
                  <a:rPr lang="en-US">
                    <a:noFill/>
                  </a:rPr>
                  <a:t> </a:t>
                </a:r>
              </a:p>
            </p:txBody>
          </p:sp>
        </mc:Fallback>
      </mc:AlternateContent>
    </p:spTree>
    <p:extLst>
      <p:ext uri="{BB962C8B-B14F-4D97-AF65-F5344CB8AC3E}">
        <p14:creationId xmlns:p14="http://schemas.microsoft.com/office/powerpoint/2010/main" val="2032904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48710" y="207783"/>
            <a:ext cx="10515600" cy="1325563"/>
          </a:xfrm>
        </p:spPr>
        <p:txBody>
          <a:bodyPr/>
          <a:lstStyle/>
          <a:p>
            <a:r>
              <a:rPr lang="en-US" dirty="0"/>
              <a:t>Network structure with multiple traders: simple model</a:t>
            </a:r>
          </a:p>
        </p:txBody>
      </p:sp>
      <p:sp>
        <p:nvSpPr>
          <p:cNvPr id="3" name="직사각형 2">
            <a:extLst>
              <a:ext uri="{FF2B5EF4-FFF2-40B4-BE49-F238E27FC236}">
                <a16:creationId xmlns:a16="http://schemas.microsoft.com/office/drawing/2014/main" id="{EDAA82EE-61AF-49A8-BDF0-46610A39BE6F}"/>
              </a:ext>
            </a:extLst>
          </p:cNvPr>
          <p:cNvSpPr/>
          <p:nvPr/>
        </p:nvSpPr>
        <p:spPr>
          <a:xfrm>
            <a:off x="233854" y="1485737"/>
            <a:ext cx="11130456" cy="830997"/>
          </a:xfrm>
          <a:prstGeom prst="rect">
            <a:avLst/>
          </a:prstGeom>
        </p:spPr>
        <p:txBody>
          <a:bodyPr wrap="square">
            <a:spAutoFit/>
          </a:bodyPr>
          <a:lstStyle/>
          <a:p>
            <a:pPr lvl="1"/>
            <a:r>
              <a:rPr lang="en-US" sz="2400" dirty="0"/>
              <a:t>With multiple buyers, sellers, and intermediaries connected in a network structure, what might be the trading behavior at the equilibrium??</a:t>
            </a:r>
          </a:p>
        </p:txBody>
      </p:sp>
      <p:pic>
        <p:nvPicPr>
          <p:cNvPr id="4" name="그림 3">
            <a:extLst>
              <a:ext uri="{FF2B5EF4-FFF2-40B4-BE49-F238E27FC236}">
                <a16:creationId xmlns:a16="http://schemas.microsoft.com/office/drawing/2014/main" id="{B8F4B149-B6F8-4E69-A82B-0D2CD2E84C38}"/>
              </a:ext>
            </a:extLst>
          </p:cNvPr>
          <p:cNvPicPr>
            <a:picLocks noChangeAspect="1"/>
          </p:cNvPicPr>
          <p:nvPr/>
        </p:nvPicPr>
        <p:blipFill rotWithShape="1">
          <a:blip r:embed="rId2"/>
          <a:srcRect l="16005" t="37405" r="22898" b="12580"/>
          <a:stretch/>
        </p:blipFill>
        <p:spPr>
          <a:xfrm>
            <a:off x="626282" y="2672178"/>
            <a:ext cx="4663737" cy="4096192"/>
          </a:xfrm>
          <a:prstGeom prst="rect">
            <a:avLst/>
          </a:prstGeom>
        </p:spPr>
      </p:pic>
      <mc:AlternateContent xmlns:mc="http://schemas.openxmlformats.org/markup-compatibility/2006" xmlns:a14="http://schemas.microsoft.com/office/drawing/2010/main">
        <mc:Choice Requires="a14">
          <p:sp>
            <p:nvSpPr>
              <p:cNvPr id="5" name="직사각형 4">
                <a:extLst>
                  <a:ext uri="{FF2B5EF4-FFF2-40B4-BE49-F238E27FC236}">
                    <a16:creationId xmlns:a16="http://schemas.microsoft.com/office/drawing/2014/main" id="{36A3DC0C-37A4-4AA7-A8D1-A26BA52900E8}"/>
                  </a:ext>
                </a:extLst>
              </p:cNvPr>
              <p:cNvSpPr/>
              <p:nvPr/>
            </p:nvSpPr>
            <p:spPr>
              <a:xfrm>
                <a:off x="5799082" y="2316734"/>
                <a:ext cx="6160774" cy="4493538"/>
              </a:xfrm>
              <a:prstGeom prst="rect">
                <a:avLst/>
              </a:prstGeom>
            </p:spPr>
            <p:txBody>
              <a:bodyPr wrap="square">
                <a:spAutoFit/>
              </a:bodyPr>
              <a:lstStyle/>
              <a:p>
                <a:pPr marL="914400" lvl="1" indent="-457200">
                  <a:buAutoNum type="arabicPeriod"/>
                </a:pPr>
                <a:r>
                  <a:rPr lang="en-US" sz="2000" dirty="0"/>
                  <a:t>The traders simultaneously announce their ask and bid prices to the sellers and buyers connected</a:t>
                </a:r>
              </a:p>
              <a:p>
                <a:pPr marL="914400" lvl="1" indent="-457200">
                  <a:buAutoNum type="arabicPeriod"/>
                </a:pPr>
                <a:endParaRPr lang="en-US" sz="1600" i="1" dirty="0">
                  <a:latin typeface="Cambria Math" panose="02040503050406030204" pitchFamily="18" charset="0"/>
                </a:endParaRPr>
              </a:p>
              <a:p>
                <a:pPr lvl="2"/>
                <a14:m>
                  <m:oMathPara xmlns:m="http://schemas.openxmlformats.org/officeDocument/2006/math">
                    <m:oMathParaPr>
                      <m:jc m:val="left"/>
                    </m:oMathParaPr>
                    <m:oMath xmlns:m="http://schemas.openxmlformats.org/officeDocument/2006/math">
                      <m:sSub>
                        <m:sSubPr>
                          <m:ctrlPr>
                            <a:rPr lang="en-US" sz="1600" i="1">
                              <a:latin typeface="Cambria Math" panose="02040503050406030204" pitchFamily="18" charset="0"/>
                            </a:rPr>
                          </m:ctrlPr>
                        </m:sSubPr>
                        <m:e>
                          <m:r>
                            <a:rPr lang="en-US" sz="1600" i="1" smtClean="0">
                              <a:latin typeface="Cambria Math" panose="02040503050406030204" pitchFamily="18" charset="0"/>
                            </a:rPr>
                            <m:t>𝑎</m:t>
                          </m:r>
                        </m:e>
                        <m:sub>
                          <m:r>
                            <a:rPr lang="en-US" sz="1600" i="1" smtClean="0">
                              <a:latin typeface="Cambria Math" panose="02040503050406030204" pitchFamily="18" charset="0"/>
                            </a:rPr>
                            <m:t>𝑡𝑖</m:t>
                          </m:r>
                        </m:sub>
                      </m:sSub>
                      <m:r>
                        <a:rPr lang="en-US" sz="1600" i="1" smtClean="0">
                          <a:latin typeface="Cambria Math" panose="02040503050406030204" pitchFamily="18" charset="0"/>
                        </a:rPr>
                        <m:t>:</m:t>
                      </m:r>
                      <m:r>
                        <a:rPr lang="en-US" sz="1600" i="1" smtClean="0">
                          <a:latin typeface="Cambria Math" panose="02040503050406030204" pitchFamily="18" charset="0"/>
                        </a:rPr>
                        <m:t>𝑎𝑠𝑘</m:t>
                      </m:r>
                      <m:r>
                        <a:rPr lang="en-US" sz="1600" i="1" smtClean="0">
                          <a:latin typeface="Cambria Math" panose="02040503050406030204" pitchFamily="18" charset="0"/>
                        </a:rPr>
                        <m:t> </m:t>
                      </m:r>
                      <m:r>
                        <a:rPr lang="en-US" sz="1600" i="1" smtClean="0">
                          <a:latin typeface="Cambria Math" panose="02040503050406030204" pitchFamily="18" charset="0"/>
                        </a:rPr>
                        <m:t>𝑝𝑟𝑖𝑐𝑒</m:t>
                      </m:r>
                    </m:oMath>
                  </m:oMathPara>
                </a14:m>
                <a:endParaRPr lang="en-US" sz="1600" dirty="0"/>
              </a:p>
              <a:p>
                <a:pPr lvl="2"/>
                <a14:m>
                  <m:oMathPara xmlns:m="http://schemas.openxmlformats.org/officeDocument/2006/math">
                    <m:oMathParaPr>
                      <m:jc m:val="left"/>
                    </m:oMathParaPr>
                    <m:oMath xmlns:m="http://schemas.openxmlformats.org/officeDocument/2006/math">
                      <m:sSub>
                        <m:sSubPr>
                          <m:ctrlPr>
                            <a:rPr lang="en-US" sz="1600" i="1">
                              <a:latin typeface="Cambria Math" panose="02040503050406030204" pitchFamily="18" charset="0"/>
                            </a:rPr>
                          </m:ctrlPr>
                        </m:sSubPr>
                        <m:e>
                          <m:r>
                            <a:rPr lang="en-US" sz="1600" i="1" smtClean="0">
                              <a:latin typeface="Cambria Math" panose="02040503050406030204" pitchFamily="18" charset="0"/>
                            </a:rPr>
                            <m:t>𝑏</m:t>
                          </m:r>
                        </m:e>
                        <m:sub>
                          <m:r>
                            <a:rPr lang="en-US" sz="1600" i="1" smtClean="0">
                              <a:latin typeface="Cambria Math" panose="02040503050406030204" pitchFamily="18" charset="0"/>
                            </a:rPr>
                            <m:t>𝑡𝑖</m:t>
                          </m:r>
                        </m:sub>
                      </m:sSub>
                      <m:r>
                        <a:rPr lang="en-US" sz="1600" i="1" smtClean="0">
                          <a:latin typeface="Cambria Math" panose="02040503050406030204" pitchFamily="18" charset="0"/>
                        </a:rPr>
                        <m:t>:</m:t>
                      </m:r>
                      <m:r>
                        <a:rPr lang="en-US" sz="1600" i="1" smtClean="0">
                          <a:latin typeface="Cambria Math" panose="02040503050406030204" pitchFamily="18" charset="0"/>
                        </a:rPr>
                        <m:t>𝑏𝑖𝑑</m:t>
                      </m:r>
                      <m:r>
                        <a:rPr lang="en-US" sz="1600" i="1" smtClean="0">
                          <a:latin typeface="Cambria Math" panose="02040503050406030204" pitchFamily="18" charset="0"/>
                        </a:rPr>
                        <m:t> </m:t>
                      </m:r>
                      <m:r>
                        <a:rPr lang="en-US" sz="1600" i="1" smtClean="0">
                          <a:latin typeface="Cambria Math" panose="02040503050406030204" pitchFamily="18" charset="0"/>
                        </a:rPr>
                        <m:t>𝑝𝑟𝑖𝑐𝑒</m:t>
                      </m:r>
                    </m:oMath>
                  </m:oMathPara>
                </a14:m>
                <a:endParaRPr lang="en-US" sz="1600" dirty="0"/>
              </a:p>
              <a:p>
                <a:pPr marL="914400" lvl="1" indent="-457200">
                  <a:buAutoNum type="arabicPeriod"/>
                </a:pPr>
                <a:endParaRPr lang="en-US" sz="2000" dirty="0"/>
              </a:p>
              <a:p>
                <a:pPr marL="914400" lvl="1" indent="-457200">
                  <a:buAutoNum type="arabicPeriod"/>
                </a:pPr>
                <a:r>
                  <a:rPr lang="en-US" sz="2000" dirty="0"/>
                  <a:t>The trade has to go through the traders. Buyers and sellers choose the trader according to the announced price</a:t>
                </a:r>
              </a:p>
              <a:p>
                <a:pPr marL="914400" lvl="1" indent="-457200">
                  <a:buAutoNum type="arabicPeriod"/>
                </a:pPr>
                <a:endParaRPr lang="en-US" sz="2000" dirty="0"/>
              </a:p>
              <a:p>
                <a:pPr marL="914400" lvl="1" indent="-457200">
                  <a:buAutoNum type="arabicPeriod"/>
                </a:pPr>
                <a:r>
                  <a:rPr lang="en-US" sz="2000" dirty="0"/>
                  <a:t>Maximize the payoff for equilibrium:</a:t>
                </a:r>
              </a:p>
              <a:p>
                <a:pPr lvl="1" algn="just"/>
                <a:r>
                  <a:rPr lang="en-US" sz="2000" dirty="0"/>
                  <a:t>	</a:t>
                </a:r>
                <a:r>
                  <a:rPr lang="en-US" i="1" dirty="0"/>
                  <a:t>buyer </a:t>
                </a:r>
                <a14:m>
                  <m:oMath xmlns:m="http://schemas.openxmlformats.org/officeDocument/2006/math">
                    <m:r>
                      <a:rPr lang="en-US" b="0" i="1" smtClean="0">
                        <a:latin typeface="Cambria Math" panose="02040503050406030204" pitchFamily="18" charset="0"/>
                      </a:rPr>
                      <m:t>𝑗</m:t>
                    </m:r>
                    <m:r>
                      <a:rPr lang="en-US" i="1">
                        <a:latin typeface="Cambria Math" panose="02040503050406030204" pitchFamily="18" charset="0"/>
                      </a:rPr>
                      <m:t> </m:t>
                    </m:r>
                  </m:oMath>
                </a14:m>
                <a:r>
                  <a:rPr lang="en-US" i="1" dirty="0"/>
                  <a:t> maximizes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𝑡𝑗</m:t>
                        </m:r>
                      </m:sub>
                    </m:sSub>
                  </m:oMath>
                </a14:m>
                <a:endParaRPr lang="en-US" b="0" i="1" dirty="0"/>
              </a:p>
              <a:p>
                <a:pPr lvl="1" algn="just"/>
                <a:r>
                  <a:rPr lang="en-US" sz="2000" dirty="0"/>
                  <a:t>	</a:t>
                </a:r>
                <a:r>
                  <a:rPr lang="en-US" i="1" dirty="0"/>
                  <a:t>trade maximizes its profit</a:t>
                </a:r>
              </a:p>
              <a:p>
                <a:pPr lvl="1" algn="just"/>
                <a:r>
                  <a:rPr lang="en-US" i="1" dirty="0"/>
                  <a:t>	seller </a:t>
                </a:r>
                <a14:m>
                  <m:oMath xmlns:m="http://schemas.openxmlformats.org/officeDocument/2006/math">
                    <m:r>
                      <a:rPr lang="en-US" b="0" i="1" smtClean="0">
                        <a:latin typeface="Cambria Math" panose="02040503050406030204" pitchFamily="18" charset="0"/>
                      </a:rPr>
                      <m:t>𝑖</m:t>
                    </m:r>
                  </m:oMath>
                </a14:m>
                <a:r>
                  <a:rPr lang="en-US" i="1" dirty="0"/>
                  <a:t> maximizes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𝑏</m:t>
                        </m:r>
                      </m:e>
                      <m:sub>
                        <m:r>
                          <a:rPr lang="en-US" b="0" i="1" dirty="0" smtClean="0">
                            <a:latin typeface="Cambria Math" panose="02040503050406030204" pitchFamily="18" charset="0"/>
                          </a:rPr>
                          <m:t>𝑡𝑖</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𝑖</m:t>
                        </m:r>
                      </m:sub>
                    </m:sSub>
                  </m:oMath>
                </a14:m>
                <a:endParaRPr lang="en-US" i="1" dirty="0"/>
              </a:p>
            </p:txBody>
          </p:sp>
        </mc:Choice>
        <mc:Fallback xmlns="">
          <p:sp>
            <p:nvSpPr>
              <p:cNvPr id="5" name="직사각형 4">
                <a:extLst>
                  <a:ext uri="{FF2B5EF4-FFF2-40B4-BE49-F238E27FC236}">
                    <a16:creationId xmlns:a16="http://schemas.microsoft.com/office/drawing/2014/main" id="{36A3DC0C-37A4-4AA7-A8D1-A26BA52900E8}"/>
                  </a:ext>
                </a:extLst>
              </p:cNvPr>
              <p:cNvSpPr>
                <a:spLocks noRot="1" noChangeAspect="1" noMove="1" noResize="1" noEditPoints="1" noAdjustHandles="1" noChangeArrowheads="1" noChangeShapeType="1" noTextEdit="1"/>
              </p:cNvSpPr>
              <p:nvPr/>
            </p:nvSpPr>
            <p:spPr>
              <a:xfrm>
                <a:off x="5799082" y="2316734"/>
                <a:ext cx="6160774" cy="4493538"/>
              </a:xfrm>
              <a:prstGeom prst="rect">
                <a:avLst/>
              </a:prstGeom>
              <a:blipFill>
                <a:blip r:embed="rId3"/>
                <a:stretch>
                  <a:fillRect t="-950" b="-12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직사각형 5">
                <a:extLst>
                  <a:ext uri="{FF2B5EF4-FFF2-40B4-BE49-F238E27FC236}">
                    <a16:creationId xmlns:a16="http://schemas.microsoft.com/office/drawing/2014/main" id="{9299D3B2-2398-43AC-AEBD-A8FD60385B71}"/>
                  </a:ext>
                </a:extLst>
              </p:cNvPr>
              <p:cNvSpPr/>
              <p:nvPr/>
            </p:nvSpPr>
            <p:spPr>
              <a:xfrm>
                <a:off x="1910185" y="3244334"/>
                <a:ext cx="51418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r>
                            <a:rPr lang="en-US" i="1">
                              <a:latin typeface="Cambria Math" panose="02040503050406030204" pitchFamily="18" charset="0"/>
                            </a:rPr>
                            <m:t>𝑖</m:t>
                          </m:r>
                        </m:sub>
                      </m:sSub>
                    </m:oMath>
                  </m:oMathPara>
                </a14:m>
                <a:endParaRPr lang="en-US" dirty="0"/>
              </a:p>
            </p:txBody>
          </p:sp>
        </mc:Choice>
        <mc:Fallback xmlns="">
          <p:sp>
            <p:nvSpPr>
              <p:cNvPr id="6" name="직사각형 5">
                <a:extLst>
                  <a:ext uri="{FF2B5EF4-FFF2-40B4-BE49-F238E27FC236}">
                    <a16:creationId xmlns:a16="http://schemas.microsoft.com/office/drawing/2014/main" id="{9299D3B2-2398-43AC-AEBD-A8FD60385B71}"/>
                  </a:ext>
                </a:extLst>
              </p:cNvPr>
              <p:cNvSpPr>
                <a:spLocks noRot="1" noChangeAspect="1" noMove="1" noResize="1" noEditPoints="1" noAdjustHandles="1" noChangeArrowheads="1" noChangeShapeType="1" noTextEdit="1"/>
              </p:cNvSpPr>
              <p:nvPr/>
            </p:nvSpPr>
            <p:spPr>
              <a:xfrm>
                <a:off x="1910185" y="3244334"/>
                <a:ext cx="51418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2105D9A5-89F9-4941-B37C-D12370410535}"/>
                  </a:ext>
                </a:extLst>
              </p:cNvPr>
              <p:cNvSpPr/>
              <p:nvPr/>
            </p:nvSpPr>
            <p:spPr>
              <a:xfrm>
                <a:off x="3600102" y="3244334"/>
                <a:ext cx="51418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𝑡</m:t>
                          </m:r>
                          <m:r>
                            <a:rPr lang="en-US" i="1">
                              <a:latin typeface="Cambria Math" panose="02040503050406030204" pitchFamily="18" charset="0"/>
                            </a:rPr>
                            <m:t>𝑖</m:t>
                          </m:r>
                        </m:sub>
                      </m:sSub>
                    </m:oMath>
                  </m:oMathPara>
                </a14:m>
                <a:endParaRPr lang="en-US" dirty="0"/>
              </a:p>
            </p:txBody>
          </p:sp>
        </mc:Choice>
        <mc:Fallback xmlns="">
          <p:sp>
            <p:nvSpPr>
              <p:cNvPr id="9" name="직사각형 8">
                <a:extLst>
                  <a:ext uri="{FF2B5EF4-FFF2-40B4-BE49-F238E27FC236}">
                    <a16:creationId xmlns:a16="http://schemas.microsoft.com/office/drawing/2014/main" id="{2105D9A5-89F9-4941-B37C-D12370410535}"/>
                  </a:ext>
                </a:extLst>
              </p:cNvPr>
              <p:cNvSpPr>
                <a:spLocks noRot="1" noChangeAspect="1" noMove="1" noResize="1" noEditPoints="1" noAdjustHandles="1" noChangeArrowheads="1" noChangeShapeType="1" noTextEdit="1"/>
              </p:cNvSpPr>
              <p:nvPr/>
            </p:nvSpPr>
            <p:spPr>
              <a:xfrm>
                <a:off x="3600102" y="3244334"/>
                <a:ext cx="514180" cy="36933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7221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48710" y="207783"/>
            <a:ext cx="10515600" cy="1325563"/>
          </a:xfrm>
        </p:spPr>
        <p:txBody>
          <a:bodyPr/>
          <a:lstStyle/>
          <a:p>
            <a:r>
              <a:rPr lang="en-US" dirty="0"/>
              <a:t>Network structure with multiple traders: simple model</a:t>
            </a:r>
          </a:p>
        </p:txBody>
      </p:sp>
      <p:pic>
        <p:nvPicPr>
          <p:cNvPr id="7" name="그림 6">
            <a:extLst>
              <a:ext uri="{FF2B5EF4-FFF2-40B4-BE49-F238E27FC236}">
                <a16:creationId xmlns:a16="http://schemas.microsoft.com/office/drawing/2014/main" id="{72A2BF82-D96B-4E1B-B589-6F28E696B8DD}"/>
              </a:ext>
            </a:extLst>
          </p:cNvPr>
          <p:cNvPicPr>
            <a:picLocks noChangeAspect="1"/>
          </p:cNvPicPr>
          <p:nvPr/>
        </p:nvPicPr>
        <p:blipFill rotWithShape="1">
          <a:blip r:embed="rId2"/>
          <a:srcRect l="58190" t="43679" r="10000" b="7620"/>
          <a:stretch/>
        </p:blipFill>
        <p:spPr>
          <a:xfrm>
            <a:off x="330054" y="2065283"/>
            <a:ext cx="5016062" cy="4319752"/>
          </a:xfrm>
          <a:prstGeom prst="rect">
            <a:avLst/>
          </a:prstGeom>
        </p:spPr>
      </p:pic>
      <p:pic>
        <p:nvPicPr>
          <p:cNvPr id="8" name="그림 7">
            <a:extLst>
              <a:ext uri="{FF2B5EF4-FFF2-40B4-BE49-F238E27FC236}">
                <a16:creationId xmlns:a16="http://schemas.microsoft.com/office/drawing/2014/main" id="{A7E26245-CB2C-42CD-93A2-7970EFEDFD12}"/>
              </a:ext>
            </a:extLst>
          </p:cNvPr>
          <p:cNvPicPr>
            <a:picLocks noChangeAspect="1"/>
          </p:cNvPicPr>
          <p:nvPr/>
        </p:nvPicPr>
        <p:blipFill rotWithShape="1">
          <a:blip r:embed="rId3"/>
          <a:srcRect l="57586" t="26274" r="10388" b="25517"/>
          <a:stretch/>
        </p:blipFill>
        <p:spPr>
          <a:xfrm>
            <a:off x="6348248" y="2137801"/>
            <a:ext cx="5016062" cy="4247234"/>
          </a:xfrm>
          <a:prstGeom prst="rect">
            <a:avLst/>
          </a:prstGeom>
        </p:spPr>
      </p:pic>
      <p:sp>
        <p:nvSpPr>
          <p:cNvPr id="10" name="화살표: 오른쪽 9">
            <a:extLst>
              <a:ext uri="{FF2B5EF4-FFF2-40B4-BE49-F238E27FC236}">
                <a16:creationId xmlns:a16="http://schemas.microsoft.com/office/drawing/2014/main" id="{62FD06FE-C6D2-473D-845E-9A2F0EEF2C4A}"/>
              </a:ext>
            </a:extLst>
          </p:cNvPr>
          <p:cNvSpPr/>
          <p:nvPr/>
        </p:nvSpPr>
        <p:spPr>
          <a:xfrm>
            <a:off x="5517931" y="3878317"/>
            <a:ext cx="830317" cy="7094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2924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48710" y="207783"/>
            <a:ext cx="10515600" cy="1325563"/>
          </a:xfrm>
        </p:spPr>
        <p:txBody>
          <a:bodyPr/>
          <a:lstStyle/>
          <a:p>
            <a:r>
              <a:rPr lang="en-US" dirty="0"/>
              <a:t>Finding bid and ask prices at equilibrium</a:t>
            </a:r>
          </a:p>
        </p:txBody>
      </p:sp>
      <p:sp>
        <p:nvSpPr>
          <p:cNvPr id="6" name="직사각형 5">
            <a:extLst>
              <a:ext uri="{FF2B5EF4-FFF2-40B4-BE49-F238E27FC236}">
                <a16:creationId xmlns:a16="http://schemas.microsoft.com/office/drawing/2014/main" id="{215FE66C-2A82-4EBA-B0A5-5955E3A1E74D}"/>
              </a:ext>
            </a:extLst>
          </p:cNvPr>
          <p:cNvSpPr/>
          <p:nvPr/>
        </p:nvSpPr>
        <p:spPr>
          <a:xfrm>
            <a:off x="233854" y="1485737"/>
            <a:ext cx="6009291" cy="523220"/>
          </a:xfrm>
          <a:prstGeom prst="rect">
            <a:avLst/>
          </a:prstGeom>
        </p:spPr>
        <p:txBody>
          <a:bodyPr wrap="square">
            <a:spAutoFit/>
          </a:bodyPr>
          <a:lstStyle/>
          <a:p>
            <a:pPr lvl="1"/>
            <a:r>
              <a:rPr lang="en-US" sz="2800" b="1" dirty="0"/>
              <a:t>Best responses and Equilibrium</a:t>
            </a:r>
          </a:p>
        </p:txBody>
      </p:sp>
      <p:pic>
        <p:nvPicPr>
          <p:cNvPr id="3" name="그림 2">
            <a:extLst>
              <a:ext uri="{FF2B5EF4-FFF2-40B4-BE49-F238E27FC236}">
                <a16:creationId xmlns:a16="http://schemas.microsoft.com/office/drawing/2014/main" id="{94D8919D-8C1E-4272-A6E9-457B412926B8}"/>
              </a:ext>
            </a:extLst>
          </p:cNvPr>
          <p:cNvPicPr>
            <a:picLocks noChangeAspect="1"/>
          </p:cNvPicPr>
          <p:nvPr/>
        </p:nvPicPr>
        <p:blipFill rotWithShape="1">
          <a:blip r:embed="rId2"/>
          <a:srcRect l="58074" t="35135" r="11419" b="50000"/>
          <a:stretch/>
        </p:blipFill>
        <p:spPr>
          <a:xfrm>
            <a:off x="2323071" y="3286911"/>
            <a:ext cx="5962235" cy="1634167"/>
          </a:xfrm>
          <a:prstGeom prst="rect">
            <a:avLst/>
          </a:prstGeom>
        </p:spPr>
      </p:pic>
      <p:sp>
        <p:nvSpPr>
          <p:cNvPr id="4" name="TextBox 3">
            <a:extLst>
              <a:ext uri="{FF2B5EF4-FFF2-40B4-BE49-F238E27FC236}">
                <a16:creationId xmlns:a16="http://schemas.microsoft.com/office/drawing/2014/main" id="{0AC44F64-C7D2-4E70-9303-538038FC1AB6}"/>
              </a:ext>
            </a:extLst>
          </p:cNvPr>
          <p:cNvSpPr txBox="1"/>
          <p:nvPr/>
        </p:nvSpPr>
        <p:spPr>
          <a:xfrm>
            <a:off x="4570654" y="2605538"/>
            <a:ext cx="1467068" cy="461665"/>
          </a:xfrm>
          <a:prstGeom prst="rect">
            <a:avLst/>
          </a:prstGeom>
          <a:noFill/>
        </p:spPr>
        <p:txBody>
          <a:bodyPr wrap="none" rtlCol="0">
            <a:spAutoFit/>
          </a:bodyPr>
          <a:lstStyle/>
          <a:p>
            <a:r>
              <a:rPr lang="en-US" sz="2400" dirty="0"/>
              <a:t>Monopoly</a:t>
            </a:r>
          </a:p>
        </p:txBody>
      </p:sp>
      <p:sp>
        <p:nvSpPr>
          <p:cNvPr id="12" name="TextBox 11">
            <a:extLst>
              <a:ext uri="{FF2B5EF4-FFF2-40B4-BE49-F238E27FC236}">
                <a16:creationId xmlns:a16="http://schemas.microsoft.com/office/drawing/2014/main" id="{CF44A68C-5D98-444A-AF87-F0CA925E9003}"/>
              </a:ext>
            </a:extLst>
          </p:cNvPr>
          <p:cNvSpPr txBox="1"/>
          <p:nvPr/>
        </p:nvSpPr>
        <p:spPr>
          <a:xfrm>
            <a:off x="498685" y="5488161"/>
            <a:ext cx="10584244" cy="461665"/>
          </a:xfrm>
          <a:prstGeom prst="rect">
            <a:avLst/>
          </a:prstGeom>
          <a:noFill/>
        </p:spPr>
        <p:txBody>
          <a:bodyPr wrap="none" rtlCol="0">
            <a:spAutoFit/>
          </a:bodyPr>
          <a:lstStyle/>
          <a:p>
            <a:r>
              <a:rPr lang="en-US" sz="2400" dirty="0"/>
              <a:t>Trader can adjust the bid and ask price for the higher profit or according to his taste</a:t>
            </a:r>
          </a:p>
        </p:txBody>
      </p:sp>
    </p:spTree>
    <p:extLst>
      <p:ext uri="{BB962C8B-B14F-4D97-AF65-F5344CB8AC3E}">
        <p14:creationId xmlns:p14="http://schemas.microsoft.com/office/powerpoint/2010/main" val="3399409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48710" y="207783"/>
            <a:ext cx="10515600" cy="1325563"/>
          </a:xfrm>
        </p:spPr>
        <p:txBody>
          <a:bodyPr/>
          <a:lstStyle/>
          <a:p>
            <a:r>
              <a:rPr lang="en-US" dirty="0"/>
              <a:t>Finding bid and ask prices at equilibrium</a:t>
            </a:r>
          </a:p>
        </p:txBody>
      </p:sp>
      <p:sp>
        <p:nvSpPr>
          <p:cNvPr id="6" name="직사각형 5">
            <a:extLst>
              <a:ext uri="{FF2B5EF4-FFF2-40B4-BE49-F238E27FC236}">
                <a16:creationId xmlns:a16="http://schemas.microsoft.com/office/drawing/2014/main" id="{215FE66C-2A82-4EBA-B0A5-5955E3A1E74D}"/>
              </a:ext>
            </a:extLst>
          </p:cNvPr>
          <p:cNvSpPr/>
          <p:nvPr/>
        </p:nvSpPr>
        <p:spPr>
          <a:xfrm>
            <a:off x="233854" y="1485737"/>
            <a:ext cx="6009291" cy="523220"/>
          </a:xfrm>
          <a:prstGeom prst="rect">
            <a:avLst/>
          </a:prstGeom>
        </p:spPr>
        <p:txBody>
          <a:bodyPr wrap="square">
            <a:spAutoFit/>
          </a:bodyPr>
          <a:lstStyle/>
          <a:p>
            <a:pPr lvl="1"/>
            <a:r>
              <a:rPr lang="en-US" sz="2800" b="1" dirty="0"/>
              <a:t>Best responses and Equilibrium</a:t>
            </a:r>
          </a:p>
        </p:txBody>
      </p:sp>
      <p:sp>
        <p:nvSpPr>
          <p:cNvPr id="4" name="TextBox 3">
            <a:extLst>
              <a:ext uri="{FF2B5EF4-FFF2-40B4-BE49-F238E27FC236}">
                <a16:creationId xmlns:a16="http://schemas.microsoft.com/office/drawing/2014/main" id="{0AC44F64-C7D2-4E70-9303-538038FC1AB6}"/>
              </a:ext>
            </a:extLst>
          </p:cNvPr>
          <p:cNvSpPr txBox="1"/>
          <p:nvPr/>
        </p:nvSpPr>
        <p:spPr>
          <a:xfrm>
            <a:off x="1891683" y="2360759"/>
            <a:ext cx="2695481" cy="461665"/>
          </a:xfrm>
          <a:prstGeom prst="rect">
            <a:avLst/>
          </a:prstGeom>
          <a:noFill/>
        </p:spPr>
        <p:txBody>
          <a:bodyPr wrap="none" rtlCol="0">
            <a:spAutoFit/>
          </a:bodyPr>
          <a:lstStyle/>
          <a:p>
            <a:r>
              <a:rPr lang="en-US" sz="2400" dirty="0"/>
              <a:t>Perfect Competition</a:t>
            </a:r>
          </a:p>
        </p:txBody>
      </p:sp>
      <p:pic>
        <p:nvPicPr>
          <p:cNvPr id="5" name="그림 4">
            <a:extLst>
              <a:ext uri="{FF2B5EF4-FFF2-40B4-BE49-F238E27FC236}">
                <a16:creationId xmlns:a16="http://schemas.microsoft.com/office/drawing/2014/main" id="{15FC88AE-B0D0-4243-B8FE-E647BB6C308D}"/>
              </a:ext>
            </a:extLst>
          </p:cNvPr>
          <p:cNvPicPr>
            <a:picLocks noChangeAspect="1"/>
          </p:cNvPicPr>
          <p:nvPr/>
        </p:nvPicPr>
        <p:blipFill rotWithShape="1">
          <a:blip r:embed="rId2"/>
          <a:srcRect l="67804" t="30631" r="10088" b="46486"/>
          <a:stretch/>
        </p:blipFill>
        <p:spPr>
          <a:xfrm>
            <a:off x="830348" y="2780408"/>
            <a:ext cx="4733000" cy="2755553"/>
          </a:xfrm>
          <a:prstGeom prst="rect">
            <a:avLst/>
          </a:prstGeom>
        </p:spPr>
      </p:pic>
      <p:sp>
        <p:nvSpPr>
          <p:cNvPr id="8" name="TextBox 7">
            <a:extLst>
              <a:ext uri="{FF2B5EF4-FFF2-40B4-BE49-F238E27FC236}">
                <a16:creationId xmlns:a16="http://schemas.microsoft.com/office/drawing/2014/main" id="{3573B87B-DCEA-4655-B241-3326B4D46471}"/>
              </a:ext>
            </a:extLst>
          </p:cNvPr>
          <p:cNvSpPr txBox="1"/>
          <p:nvPr/>
        </p:nvSpPr>
        <p:spPr>
          <a:xfrm>
            <a:off x="738058" y="5488161"/>
            <a:ext cx="5700600" cy="769441"/>
          </a:xfrm>
          <a:prstGeom prst="rect">
            <a:avLst/>
          </a:prstGeom>
          <a:noFill/>
        </p:spPr>
        <p:txBody>
          <a:bodyPr wrap="none" rtlCol="0">
            <a:spAutoFit/>
          </a:bodyPr>
          <a:lstStyle/>
          <a:p>
            <a:r>
              <a:rPr lang="en-US" sz="2400" dirty="0"/>
              <a:t>At equilibrium every bid and ask will be x</a:t>
            </a:r>
          </a:p>
          <a:p>
            <a:r>
              <a:rPr lang="en-US" sz="2000" dirty="0"/>
              <a:t>					(0&lt; x &lt;1)</a:t>
            </a:r>
          </a:p>
        </p:txBody>
      </p:sp>
      <p:sp>
        <p:nvSpPr>
          <p:cNvPr id="9" name="TextBox 8">
            <a:extLst>
              <a:ext uri="{FF2B5EF4-FFF2-40B4-BE49-F238E27FC236}">
                <a16:creationId xmlns:a16="http://schemas.microsoft.com/office/drawing/2014/main" id="{71E69B06-C2E4-45C3-9063-62D32249D01B}"/>
              </a:ext>
            </a:extLst>
          </p:cNvPr>
          <p:cNvSpPr txBox="1"/>
          <p:nvPr/>
        </p:nvSpPr>
        <p:spPr>
          <a:xfrm>
            <a:off x="5863832" y="2360759"/>
            <a:ext cx="6148671" cy="2031325"/>
          </a:xfrm>
          <a:prstGeom prst="rect">
            <a:avLst/>
          </a:prstGeom>
          <a:noFill/>
        </p:spPr>
        <p:txBody>
          <a:bodyPr wrap="square" rtlCol="0">
            <a:spAutoFit/>
          </a:bodyPr>
          <a:lstStyle/>
          <a:p>
            <a:r>
              <a:rPr lang="en-US" dirty="0"/>
              <a:t>If T1 offers a bid at price </a:t>
            </a:r>
            <a:r>
              <a:rPr lang="en-US" b="1" dirty="0"/>
              <a:t>b</a:t>
            </a:r>
            <a:r>
              <a:rPr lang="en-US" dirty="0"/>
              <a:t> and ask at price </a:t>
            </a:r>
            <a:r>
              <a:rPr lang="en-US" b="1" dirty="0"/>
              <a:t>a</a:t>
            </a:r>
            <a:r>
              <a:rPr lang="en-US" dirty="0"/>
              <a:t>, (a&gt;b)</a:t>
            </a:r>
          </a:p>
          <a:p>
            <a:endParaRPr lang="en-US" dirty="0"/>
          </a:p>
          <a:p>
            <a:r>
              <a:rPr lang="en-US" dirty="0"/>
              <a:t>T2 will offer a bid at price </a:t>
            </a:r>
            <a:r>
              <a:rPr lang="en-US" b="1" dirty="0"/>
              <a:t>b </a:t>
            </a:r>
            <a:r>
              <a:rPr lang="en-US" dirty="0"/>
              <a:t>and ask at lower price of </a:t>
            </a:r>
            <a:r>
              <a:rPr lang="en-US" b="1" dirty="0"/>
              <a:t>a’ </a:t>
            </a:r>
            <a:r>
              <a:rPr lang="en-US" dirty="0"/>
              <a:t>(a&gt;a’&gt;b)</a:t>
            </a:r>
          </a:p>
          <a:p>
            <a:endParaRPr lang="en-US" b="1" dirty="0"/>
          </a:p>
          <a:p>
            <a:r>
              <a:rPr lang="en-US" dirty="0"/>
              <a:t>Eventually,</a:t>
            </a:r>
            <a:r>
              <a:rPr lang="en-US" b="1" dirty="0"/>
              <a:t>  </a:t>
            </a:r>
            <a:r>
              <a:rPr lang="en-US" dirty="0"/>
              <a:t>a’ continuously reduce to the level of b.</a:t>
            </a:r>
          </a:p>
          <a:p>
            <a:br>
              <a:rPr lang="en-US" dirty="0"/>
            </a:br>
            <a:r>
              <a:rPr lang="en-US" dirty="0"/>
              <a:t>At the equilibrium, all bid and ask prices will be the same price.</a:t>
            </a:r>
          </a:p>
        </p:txBody>
      </p:sp>
    </p:spTree>
    <p:extLst>
      <p:ext uri="{BB962C8B-B14F-4D97-AF65-F5344CB8AC3E}">
        <p14:creationId xmlns:p14="http://schemas.microsoft.com/office/powerpoint/2010/main" val="568414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48710" y="207783"/>
            <a:ext cx="10515600" cy="1325563"/>
          </a:xfrm>
        </p:spPr>
        <p:txBody>
          <a:bodyPr/>
          <a:lstStyle/>
          <a:p>
            <a:r>
              <a:rPr lang="en-US" dirty="0"/>
              <a:t>Finding bid and ask prices at equilibrium</a:t>
            </a:r>
          </a:p>
        </p:txBody>
      </p:sp>
      <p:sp>
        <p:nvSpPr>
          <p:cNvPr id="6" name="직사각형 5">
            <a:extLst>
              <a:ext uri="{FF2B5EF4-FFF2-40B4-BE49-F238E27FC236}">
                <a16:creationId xmlns:a16="http://schemas.microsoft.com/office/drawing/2014/main" id="{215FE66C-2A82-4EBA-B0A5-5955E3A1E74D}"/>
              </a:ext>
            </a:extLst>
          </p:cNvPr>
          <p:cNvSpPr/>
          <p:nvPr/>
        </p:nvSpPr>
        <p:spPr>
          <a:xfrm>
            <a:off x="2226540" y="1485737"/>
            <a:ext cx="6858924" cy="523220"/>
          </a:xfrm>
          <a:prstGeom prst="rect">
            <a:avLst/>
          </a:prstGeom>
        </p:spPr>
        <p:txBody>
          <a:bodyPr wrap="square">
            <a:spAutoFit/>
          </a:bodyPr>
          <a:lstStyle/>
          <a:p>
            <a:pPr lvl="1"/>
            <a:r>
              <a:rPr lang="en-US" sz="2800" b="1" dirty="0"/>
              <a:t>The Example Network at is equilibrium</a:t>
            </a:r>
          </a:p>
        </p:txBody>
      </p:sp>
      <p:grpSp>
        <p:nvGrpSpPr>
          <p:cNvPr id="7" name="그룹 6">
            <a:extLst>
              <a:ext uri="{FF2B5EF4-FFF2-40B4-BE49-F238E27FC236}">
                <a16:creationId xmlns:a16="http://schemas.microsoft.com/office/drawing/2014/main" id="{0E06DF08-4AA9-4BB4-996E-9D124D9B097E}"/>
              </a:ext>
            </a:extLst>
          </p:cNvPr>
          <p:cNvGrpSpPr/>
          <p:nvPr/>
        </p:nvGrpSpPr>
        <p:grpSpPr>
          <a:xfrm>
            <a:off x="776242" y="2373696"/>
            <a:ext cx="4663737" cy="4096192"/>
            <a:chOff x="2924639" y="2400329"/>
            <a:chExt cx="4663737" cy="4096192"/>
          </a:xfrm>
        </p:grpSpPr>
        <p:pic>
          <p:nvPicPr>
            <p:cNvPr id="10" name="그림 9">
              <a:extLst>
                <a:ext uri="{FF2B5EF4-FFF2-40B4-BE49-F238E27FC236}">
                  <a16:creationId xmlns:a16="http://schemas.microsoft.com/office/drawing/2014/main" id="{64616654-3AC8-4160-8570-1809FE1E0BAE}"/>
                </a:ext>
              </a:extLst>
            </p:cNvPr>
            <p:cNvPicPr>
              <a:picLocks noChangeAspect="1"/>
            </p:cNvPicPr>
            <p:nvPr/>
          </p:nvPicPr>
          <p:blipFill rotWithShape="1">
            <a:blip r:embed="rId2"/>
            <a:srcRect l="16005" t="37405" r="22898" b="12580"/>
            <a:stretch/>
          </p:blipFill>
          <p:spPr>
            <a:xfrm>
              <a:off x="2924639" y="2400329"/>
              <a:ext cx="4663737" cy="4096192"/>
            </a:xfrm>
            <a:prstGeom prst="rect">
              <a:avLst/>
            </a:prstGeom>
          </p:spPr>
        </p:pic>
        <p:sp>
          <p:nvSpPr>
            <p:cNvPr id="3" name="TextBox 2">
              <a:extLst>
                <a:ext uri="{FF2B5EF4-FFF2-40B4-BE49-F238E27FC236}">
                  <a16:creationId xmlns:a16="http://schemas.microsoft.com/office/drawing/2014/main" id="{DB629166-B7BC-4343-8680-11DAFDD02EE0}"/>
                </a:ext>
              </a:extLst>
            </p:cNvPr>
            <p:cNvSpPr txBox="1"/>
            <p:nvPr/>
          </p:nvSpPr>
          <p:spPr>
            <a:xfrm>
              <a:off x="4522573" y="3102245"/>
              <a:ext cx="301686" cy="369332"/>
            </a:xfrm>
            <a:prstGeom prst="rect">
              <a:avLst/>
            </a:prstGeom>
            <a:noFill/>
          </p:spPr>
          <p:txBody>
            <a:bodyPr wrap="none" rtlCol="0">
              <a:spAutoFit/>
            </a:bodyPr>
            <a:lstStyle/>
            <a:p>
              <a:r>
                <a:rPr lang="en-US" b="1" dirty="0"/>
                <a:t>0</a:t>
              </a:r>
            </a:p>
          </p:txBody>
        </p:sp>
        <p:sp>
          <p:nvSpPr>
            <p:cNvPr id="11" name="TextBox 10">
              <a:extLst>
                <a:ext uri="{FF2B5EF4-FFF2-40B4-BE49-F238E27FC236}">
                  <a16:creationId xmlns:a16="http://schemas.microsoft.com/office/drawing/2014/main" id="{E8940B2A-F82B-4D44-9FCC-31FC11B9842A}"/>
                </a:ext>
              </a:extLst>
            </p:cNvPr>
            <p:cNvSpPr txBox="1"/>
            <p:nvPr/>
          </p:nvSpPr>
          <p:spPr>
            <a:xfrm>
              <a:off x="4522573" y="5672451"/>
              <a:ext cx="301686" cy="369332"/>
            </a:xfrm>
            <a:prstGeom prst="rect">
              <a:avLst/>
            </a:prstGeom>
            <a:noFill/>
          </p:spPr>
          <p:txBody>
            <a:bodyPr wrap="none" rtlCol="0">
              <a:spAutoFit/>
            </a:bodyPr>
            <a:lstStyle/>
            <a:p>
              <a:r>
                <a:rPr lang="en-US" b="1" dirty="0"/>
                <a:t>0</a:t>
              </a:r>
            </a:p>
          </p:txBody>
        </p:sp>
        <p:sp>
          <p:nvSpPr>
            <p:cNvPr id="12" name="TextBox 11">
              <a:extLst>
                <a:ext uri="{FF2B5EF4-FFF2-40B4-BE49-F238E27FC236}">
                  <a16:creationId xmlns:a16="http://schemas.microsoft.com/office/drawing/2014/main" id="{1CE95919-06BF-4357-9551-9382760E5DF8}"/>
                </a:ext>
              </a:extLst>
            </p:cNvPr>
            <p:cNvSpPr txBox="1"/>
            <p:nvPr/>
          </p:nvSpPr>
          <p:spPr>
            <a:xfrm>
              <a:off x="5753788" y="5672451"/>
              <a:ext cx="301686" cy="369332"/>
            </a:xfrm>
            <a:prstGeom prst="rect">
              <a:avLst/>
            </a:prstGeom>
            <a:noFill/>
          </p:spPr>
          <p:txBody>
            <a:bodyPr wrap="none" rtlCol="0">
              <a:spAutoFit/>
            </a:bodyPr>
            <a:lstStyle/>
            <a:p>
              <a:r>
                <a:rPr lang="en-US" b="1" dirty="0"/>
                <a:t>1</a:t>
              </a:r>
            </a:p>
          </p:txBody>
        </p:sp>
        <p:sp>
          <p:nvSpPr>
            <p:cNvPr id="13" name="TextBox 12">
              <a:extLst>
                <a:ext uri="{FF2B5EF4-FFF2-40B4-BE49-F238E27FC236}">
                  <a16:creationId xmlns:a16="http://schemas.microsoft.com/office/drawing/2014/main" id="{B552C1F1-46FC-4721-ABA4-F429449EF7A6}"/>
                </a:ext>
              </a:extLst>
            </p:cNvPr>
            <p:cNvSpPr txBox="1"/>
            <p:nvPr/>
          </p:nvSpPr>
          <p:spPr>
            <a:xfrm>
              <a:off x="5753788" y="3102245"/>
              <a:ext cx="301686" cy="369332"/>
            </a:xfrm>
            <a:prstGeom prst="rect">
              <a:avLst/>
            </a:prstGeom>
            <a:noFill/>
          </p:spPr>
          <p:txBody>
            <a:bodyPr wrap="none" rtlCol="0">
              <a:spAutoFit/>
            </a:bodyPr>
            <a:lstStyle/>
            <a:p>
              <a:r>
                <a:rPr lang="en-US" b="1" dirty="0"/>
                <a:t>1</a:t>
              </a:r>
            </a:p>
          </p:txBody>
        </p:sp>
        <p:sp>
          <p:nvSpPr>
            <p:cNvPr id="14" name="TextBox 13">
              <a:extLst>
                <a:ext uri="{FF2B5EF4-FFF2-40B4-BE49-F238E27FC236}">
                  <a16:creationId xmlns:a16="http://schemas.microsoft.com/office/drawing/2014/main" id="{AC59D846-0D8E-4618-8FF9-AE562F24129A}"/>
                </a:ext>
              </a:extLst>
            </p:cNvPr>
            <p:cNvSpPr txBox="1"/>
            <p:nvPr/>
          </p:nvSpPr>
          <p:spPr>
            <a:xfrm>
              <a:off x="5753788" y="3862949"/>
              <a:ext cx="290464" cy="369332"/>
            </a:xfrm>
            <a:prstGeom prst="rect">
              <a:avLst/>
            </a:prstGeom>
            <a:noFill/>
          </p:spPr>
          <p:txBody>
            <a:bodyPr wrap="none" rtlCol="0">
              <a:spAutoFit/>
            </a:bodyPr>
            <a:lstStyle/>
            <a:p>
              <a:r>
                <a:rPr lang="en-US" b="1" dirty="0"/>
                <a:t>x</a:t>
              </a:r>
            </a:p>
          </p:txBody>
        </p:sp>
        <p:sp>
          <p:nvSpPr>
            <p:cNvPr id="15" name="TextBox 14">
              <a:extLst>
                <a:ext uri="{FF2B5EF4-FFF2-40B4-BE49-F238E27FC236}">
                  <a16:creationId xmlns:a16="http://schemas.microsoft.com/office/drawing/2014/main" id="{A1FEF473-63D1-45D0-BD6D-02607BAC7644}"/>
                </a:ext>
              </a:extLst>
            </p:cNvPr>
            <p:cNvSpPr txBox="1"/>
            <p:nvPr/>
          </p:nvSpPr>
          <p:spPr>
            <a:xfrm>
              <a:off x="5753788" y="4749244"/>
              <a:ext cx="290464" cy="369332"/>
            </a:xfrm>
            <a:prstGeom prst="rect">
              <a:avLst/>
            </a:prstGeom>
            <a:noFill/>
          </p:spPr>
          <p:txBody>
            <a:bodyPr wrap="none" rtlCol="0">
              <a:spAutoFit/>
            </a:bodyPr>
            <a:lstStyle/>
            <a:p>
              <a:r>
                <a:rPr lang="en-US" b="1" dirty="0"/>
                <a:t>x</a:t>
              </a:r>
            </a:p>
          </p:txBody>
        </p:sp>
        <p:sp>
          <p:nvSpPr>
            <p:cNvPr id="16" name="TextBox 15">
              <a:extLst>
                <a:ext uri="{FF2B5EF4-FFF2-40B4-BE49-F238E27FC236}">
                  <a16:creationId xmlns:a16="http://schemas.microsoft.com/office/drawing/2014/main" id="{A49E68D2-F693-4A1A-8E5B-5B71F8B37314}"/>
                </a:ext>
              </a:extLst>
            </p:cNvPr>
            <p:cNvSpPr txBox="1"/>
            <p:nvPr/>
          </p:nvSpPr>
          <p:spPr>
            <a:xfrm>
              <a:off x="4510879" y="3862949"/>
              <a:ext cx="290464" cy="369332"/>
            </a:xfrm>
            <a:prstGeom prst="rect">
              <a:avLst/>
            </a:prstGeom>
            <a:noFill/>
          </p:spPr>
          <p:txBody>
            <a:bodyPr wrap="none" rtlCol="0">
              <a:spAutoFit/>
            </a:bodyPr>
            <a:lstStyle/>
            <a:p>
              <a:r>
                <a:rPr lang="en-US" b="1" dirty="0"/>
                <a:t>x</a:t>
              </a:r>
            </a:p>
          </p:txBody>
        </p:sp>
        <p:sp>
          <p:nvSpPr>
            <p:cNvPr id="17" name="TextBox 16">
              <a:extLst>
                <a:ext uri="{FF2B5EF4-FFF2-40B4-BE49-F238E27FC236}">
                  <a16:creationId xmlns:a16="http://schemas.microsoft.com/office/drawing/2014/main" id="{80821224-99BB-4894-AEDD-2F31B857EB9D}"/>
                </a:ext>
              </a:extLst>
            </p:cNvPr>
            <p:cNvSpPr txBox="1"/>
            <p:nvPr/>
          </p:nvSpPr>
          <p:spPr>
            <a:xfrm>
              <a:off x="4510879" y="4749244"/>
              <a:ext cx="290464" cy="369332"/>
            </a:xfrm>
            <a:prstGeom prst="rect">
              <a:avLst/>
            </a:prstGeom>
            <a:noFill/>
          </p:spPr>
          <p:txBody>
            <a:bodyPr wrap="none" rtlCol="0">
              <a:spAutoFit/>
            </a:bodyPr>
            <a:lstStyle/>
            <a:p>
              <a:r>
                <a:rPr lang="en-US" b="1" dirty="0"/>
                <a:t>x</a:t>
              </a:r>
            </a:p>
          </p:txBody>
        </p:sp>
      </p:grpSp>
      <p:grpSp>
        <p:nvGrpSpPr>
          <p:cNvPr id="22" name="그룹 21">
            <a:extLst>
              <a:ext uri="{FF2B5EF4-FFF2-40B4-BE49-F238E27FC236}">
                <a16:creationId xmlns:a16="http://schemas.microsoft.com/office/drawing/2014/main" id="{01462B92-D3EE-451E-A2B4-C2A9AB366B91}"/>
              </a:ext>
            </a:extLst>
          </p:cNvPr>
          <p:cNvGrpSpPr/>
          <p:nvPr/>
        </p:nvGrpSpPr>
        <p:grpSpPr>
          <a:xfrm>
            <a:off x="6659788" y="3136837"/>
            <a:ext cx="3977115" cy="1981430"/>
            <a:chOff x="6659788" y="2611245"/>
            <a:chExt cx="3977115" cy="1981430"/>
          </a:xfrm>
        </p:grpSpPr>
        <p:sp>
          <p:nvSpPr>
            <p:cNvPr id="18" name="TextBox 17">
              <a:extLst>
                <a:ext uri="{FF2B5EF4-FFF2-40B4-BE49-F238E27FC236}">
                  <a16:creationId xmlns:a16="http://schemas.microsoft.com/office/drawing/2014/main" id="{DFA8A40B-111B-401E-B05F-B61C075269A9}"/>
                </a:ext>
              </a:extLst>
            </p:cNvPr>
            <p:cNvSpPr txBox="1"/>
            <p:nvPr/>
          </p:nvSpPr>
          <p:spPr>
            <a:xfrm>
              <a:off x="6659788" y="2611245"/>
              <a:ext cx="2896947" cy="400110"/>
            </a:xfrm>
            <a:prstGeom prst="rect">
              <a:avLst/>
            </a:prstGeom>
            <a:noFill/>
          </p:spPr>
          <p:txBody>
            <a:bodyPr wrap="none" rtlCol="0">
              <a:spAutoFit/>
            </a:bodyPr>
            <a:lstStyle/>
            <a:p>
              <a:r>
                <a:rPr lang="en-US" sz="2000" dirty="0"/>
                <a:t>S1 -&gt; T1 -&gt; B1  : monopoly</a:t>
              </a:r>
            </a:p>
          </p:txBody>
        </p:sp>
        <p:sp>
          <p:nvSpPr>
            <p:cNvPr id="19" name="TextBox 18">
              <a:extLst>
                <a:ext uri="{FF2B5EF4-FFF2-40B4-BE49-F238E27FC236}">
                  <a16:creationId xmlns:a16="http://schemas.microsoft.com/office/drawing/2014/main" id="{C412F6E4-1F7E-4221-AE18-0489AC04B87C}"/>
                </a:ext>
              </a:extLst>
            </p:cNvPr>
            <p:cNvSpPr txBox="1"/>
            <p:nvPr/>
          </p:nvSpPr>
          <p:spPr>
            <a:xfrm>
              <a:off x="6659788" y="3248017"/>
              <a:ext cx="1717137" cy="707886"/>
            </a:xfrm>
            <a:prstGeom prst="rect">
              <a:avLst/>
            </a:prstGeom>
            <a:noFill/>
          </p:spPr>
          <p:txBody>
            <a:bodyPr wrap="none" rtlCol="0">
              <a:spAutoFit/>
            </a:bodyPr>
            <a:lstStyle/>
            <a:p>
              <a:r>
                <a:rPr lang="en-US" sz="2000" dirty="0"/>
                <a:t>S2 -&gt; T1 -&gt; B2</a:t>
              </a:r>
            </a:p>
            <a:p>
              <a:r>
                <a:rPr lang="en-US" sz="2000" dirty="0"/>
                <a:t>S2 -&gt; T2- &gt; B2  </a:t>
              </a:r>
            </a:p>
          </p:txBody>
        </p:sp>
        <p:sp>
          <p:nvSpPr>
            <p:cNvPr id="20" name="직사각형 19">
              <a:extLst>
                <a:ext uri="{FF2B5EF4-FFF2-40B4-BE49-F238E27FC236}">
                  <a16:creationId xmlns:a16="http://schemas.microsoft.com/office/drawing/2014/main" id="{D6BC532E-14AA-490B-A557-3FA3C9E3C05E}"/>
                </a:ext>
              </a:extLst>
            </p:cNvPr>
            <p:cNvSpPr/>
            <p:nvPr/>
          </p:nvSpPr>
          <p:spPr>
            <a:xfrm>
              <a:off x="8192259" y="3401905"/>
              <a:ext cx="2444644" cy="400110"/>
            </a:xfrm>
            <a:prstGeom prst="rect">
              <a:avLst/>
            </a:prstGeom>
          </p:spPr>
          <p:txBody>
            <a:bodyPr wrap="none">
              <a:spAutoFit/>
            </a:bodyPr>
            <a:lstStyle/>
            <a:p>
              <a:r>
                <a:rPr lang="en-US" sz="2000" dirty="0"/>
                <a:t>: perfect competition</a:t>
              </a:r>
            </a:p>
          </p:txBody>
        </p:sp>
        <p:sp>
          <p:nvSpPr>
            <p:cNvPr id="21" name="TextBox 20">
              <a:extLst>
                <a:ext uri="{FF2B5EF4-FFF2-40B4-BE49-F238E27FC236}">
                  <a16:creationId xmlns:a16="http://schemas.microsoft.com/office/drawing/2014/main" id="{9AFFFCD4-1316-492C-8CFA-0629F02F1440}"/>
                </a:ext>
              </a:extLst>
            </p:cNvPr>
            <p:cNvSpPr txBox="1"/>
            <p:nvPr/>
          </p:nvSpPr>
          <p:spPr>
            <a:xfrm>
              <a:off x="6659788" y="4192565"/>
              <a:ext cx="2896947" cy="400110"/>
            </a:xfrm>
            <a:prstGeom prst="rect">
              <a:avLst/>
            </a:prstGeom>
            <a:noFill/>
          </p:spPr>
          <p:txBody>
            <a:bodyPr wrap="none" rtlCol="0">
              <a:spAutoFit/>
            </a:bodyPr>
            <a:lstStyle/>
            <a:p>
              <a:r>
                <a:rPr lang="en-US" sz="2000" dirty="0"/>
                <a:t>S3 -&gt; T2 -&gt; B3  : monopoly</a:t>
              </a:r>
            </a:p>
          </p:txBody>
        </p:sp>
      </p:grpSp>
    </p:spTree>
    <p:extLst>
      <p:ext uri="{BB962C8B-B14F-4D97-AF65-F5344CB8AC3E}">
        <p14:creationId xmlns:p14="http://schemas.microsoft.com/office/powerpoint/2010/main" val="3884381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848710" y="207783"/>
            <a:ext cx="10515600" cy="1325563"/>
          </a:xfrm>
        </p:spPr>
        <p:txBody>
          <a:bodyPr/>
          <a:lstStyle/>
          <a:p>
            <a:r>
              <a:rPr lang="en-US" dirty="0"/>
              <a:t>Finding bid and ask prices at equilibrium</a:t>
            </a:r>
          </a:p>
        </p:txBody>
      </p:sp>
      <p:sp>
        <p:nvSpPr>
          <p:cNvPr id="6" name="직사각형 5">
            <a:extLst>
              <a:ext uri="{FF2B5EF4-FFF2-40B4-BE49-F238E27FC236}">
                <a16:creationId xmlns:a16="http://schemas.microsoft.com/office/drawing/2014/main" id="{215FE66C-2A82-4EBA-B0A5-5955E3A1E74D}"/>
              </a:ext>
            </a:extLst>
          </p:cNvPr>
          <p:cNvSpPr/>
          <p:nvPr/>
        </p:nvSpPr>
        <p:spPr>
          <a:xfrm>
            <a:off x="2963387" y="1425624"/>
            <a:ext cx="4928862" cy="523220"/>
          </a:xfrm>
          <a:prstGeom prst="rect">
            <a:avLst/>
          </a:prstGeom>
        </p:spPr>
        <p:txBody>
          <a:bodyPr wrap="square">
            <a:spAutoFit/>
          </a:bodyPr>
          <a:lstStyle/>
          <a:p>
            <a:pPr lvl="1"/>
            <a:r>
              <a:rPr lang="en-US" sz="2800" b="1" dirty="0"/>
              <a:t>Implicit Perfect Competition</a:t>
            </a:r>
          </a:p>
        </p:txBody>
      </p:sp>
      <p:pic>
        <p:nvPicPr>
          <p:cNvPr id="4" name="그림 3">
            <a:extLst>
              <a:ext uri="{FF2B5EF4-FFF2-40B4-BE49-F238E27FC236}">
                <a16:creationId xmlns:a16="http://schemas.microsoft.com/office/drawing/2014/main" id="{C5BA8710-6A99-48CA-A69A-2BFDB681163D}"/>
              </a:ext>
            </a:extLst>
          </p:cNvPr>
          <p:cNvPicPr>
            <a:picLocks noChangeAspect="1"/>
          </p:cNvPicPr>
          <p:nvPr/>
        </p:nvPicPr>
        <p:blipFill rotWithShape="1">
          <a:blip r:embed="rId2"/>
          <a:srcRect l="68310" t="39086" r="10203" b="18145"/>
          <a:stretch/>
        </p:blipFill>
        <p:spPr>
          <a:xfrm>
            <a:off x="342083" y="2088291"/>
            <a:ext cx="4260049" cy="4769709"/>
          </a:xfrm>
          <a:prstGeom prst="rect">
            <a:avLst/>
          </a:prstGeom>
        </p:spPr>
      </p:pic>
      <p:sp>
        <p:nvSpPr>
          <p:cNvPr id="23" name="TextBox 22">
            <a:extLst>
              <a:ext uri="{FF2B5EF4-FFF2-40B4-BE49-F238E27FC236}">
                <a16:creationId xmlns:a16="http://schemas.microsoft.com/office/drawing/2014/main" id="{249D2D8F-19B5-43DF-861F-77D35C8A3250}"/>
              </a:ext>
            </a:extLst>
          </p:cNvPr>
          <p:cNvSpPr txBox="1"/>
          <p:nvPr/>
        </p:nvSpPr>
        <p:spPr>
          <a:xfrm>
            <a:off x="6096000" y="3166685"/>
            <a:ext cx="4260049" cy="1569660"/>
          </a:xfrm>
          <a:prstGeom prst="rect">
            <a:avLst/>
          </a:prstGeom>
          <a:noFill/>
        </p:spPr>
        <p:txBody>
          <a:bodyPr wrap="square" rtlCol="0">
            <a:spAutoFit/>
          </a:bodyPr>
          <a:lstStyle/>
          <a:p>
            <a:r>
              <a:rPr lang="en-US" sz="2400" dirty="0"/>
              <a:t>Although there are not any </a:t>
            </a:r>
            <a:r>
              <a:rPr lang="en-US" sz="2400" b="1" dirty="0"/>
              <a:t>direct</a:t>
            </a:r>
            <a:r>
              <a:rPr lang="en-US" sz="2400" dirty="0"/>
              <a:t> competition, at equilibrium all bid and ask prices will be the same</a:t>
            </a:r>
          </a:p>
        </p:txBody>
      </p:sp>
    </p:spTree>
    <p:extLst>
      <p:ext uri="{BB962C8B-B14F-4D97-AF65-F5344CB8AC3E}">
        <p14:creationId xmlns:p14="http://schemas.microsoft.com/office/powerpoint/2010/main" val="1802108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651002" y="207783"/>
            <a:ext cx="10515600" cy="1325563"/>
          </a:xfrm>
        </p:spPr>
        <p:txBody>
          <a:bodyPr/>
          <a:lstStyle/>
          <a:p>
            <a:r>
              <a:rPr lang="en-US" dirty="0"/>
              <a:t>Social Welfare in trading networks</a:t>
            </a:r>
          </a:p>
        </p:txBody>
      </p:sp>
      <p:sp>
        <p:nvSpPr>
          <p:cNvPr id="23" name="TextBox 22">
            <a:extLst>
              <a:ext uri="{FF2B5EF4-FFF2-40B4-BE49-F238E27FC236}">
                <a16:creationId xmlns:a16="http://schemas.microsoft.com/office/drawing/2014/main" id="{249D2D8F-19B5-43DF-861F-77D35C8A3250}"/>
              </a:ext>
            </a:extLst>
          </p:cNvPr>
          <p:cNvSpPr txBox="1"/>
          <p:nvPr/>
        </p:nvSpPr>
        <p:spPr>
          <a:xfrm>
            <a:off x="651002" y="1533346"/>
            <a:ext cx="11100274"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t>Are the solution at equilibrium socially optimal?  </a:t>
            </a:r>
          </a:p>
          <a:p>
            <a:r>
              <a:rPr lang="en-US" sz="2400" dirty="0"/>
              <a:t>	</a:t>
            </a:r>
            <a:r>
              <a:rPr lang="en-US" sz="2000" dirty="0"/>
              <a:t>(Maximizing the sum of payoffs of all the players)</a:t>
            </a:r>
            <a:endParaRPr lang="en-US" sz="24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6C1EF77-BE90-4DFB-963E-A47C8E938794}"/>
                  </a:ext>
                </a:extLst>
              </p:cNvPr>
              <p:cNvSpPr txBox="1"/>
              <p:nvPr/>
            </p:nvSpPr>
            <p:spPr>
              <a:xfrm>
                <a:off x="651002" y="2858909"/>
                <a:ext cx="11100274" cy="1230080"/>
              </a:xfrm>
              <a:prstGeom prst="rect">
                <a:avLst/>
              </a:prstGeom>
              <a:noFill/>
            </p:spPr>
            <p:txBody>
              <a:bodyPr wrap="square" rtlCol="0">
                <a:spAutoFit/>
              </a:bodyPr>
              <a:lstStyle/>
              <a:p>
                <a:pPr marL="342900" indent="-342900">
                  <a:buFont typeface="Arial" panose="020B0604020202020204" pitchFamily="34" charset="0"/>
                  <a:buChar char="•"/>
                </a:pPr>
                <a:r>
                  <a:rPr lang="en-US" sz="2400" dirty="0"/>
                  <a:t>Each good that moves from seller </a:t>
                </a:r>
                <a14:m>
                  <m:oMath xmlns:m="http://schemas.openxmlformats.org/officeDocument/2006/math">
                    <m:r>
                      <a:rPr lang="en-US" sz="2400" i="1">
                        <a:latin typeface="Cambria Math" panose="02040503050406030204" pitchFamily="18" charset="0"/>
                      </a:rPr>
                      <m:t>𝑖</m:t>
                    </m:r>
                  </m:oMath>
                </a14:m>
                <a:r>
                  <a:rPr lang="en-US" sz="2400" dirty="0"/>
                  <a:t> to buyer </a:t>
                </a:r>
                <a14:m>
                  <m:oMath xmlns:m="http://schemas.openxmlformats.org/officeDocument/2006/math">
                    <m:r>
                      <a:rPr lang="en-US" sz="2400" b="0" i="1" smtClean="0">
                        <a:latin typeface="Cambria Math" panose="02040503050406030204" pitchFamily="18" charset="0"/>
                      </a:rPr>
                      <m:t>𝑗</m:t>
                    </m:r>
                  </m:oMath>
                </a14:m>
                <a:r>
                  <a:rPr lang="en-US" sz="2400" dirty="0"/>
                  <a:t> contribute  </a:t>
                </a:r>
                <a14:m>
                  <m:oMath xmlns:m="http://schemas.openxmlformats.org/officeDocument/2006/math">
                    <m:sSub>
                      <m:sSubPr>
                        <m:ctrlPr>
                          <a:rPr lang="en-US" sz="2400" i="1" dirty="0">
                            <a:latin typeface="Cambria Math" panose="02040503050406030204" pitchFamily="18" charset="0"/>
                          </a:rPr>
                        </m:ctrlPr>
                      </m:sSubPr>
                      <m:e>
                        <m:r>
                          <m:rPr>
                            <m:sty m:val="p"/>
                          </m:rPr>
                          <a:rPr lang="en-US" sz="2400" dirty="0">
                            <a:latin typeface="Cambria Math" panose="02040503050406030204" pitchFamily="18" charset="0"/>
                          </a:rPr>
                          <m:t>v</m:t>
                        </m:r>
                      </m:e>
                      <m:sub>
                        <m:r>
                          <a:rPr lang="en-US" sz="2400" i="1" dirty="0">
                            <a:latin typeface="Cambria Math" panose="02040503050406030204" pitchFamily="18" charset="0"/>
                          </a:rPr>
                          <m:t>𝑗</m:t>
                        </m:r>
                      </m:sub>
                    </m:sSub>
                    <m:r>
                      <a:rPr lang="en-US" sz="2400" i="1" dirty="0">
                        <a:latin typeface="Cambria Math" panose="02040503050406030204" pitchFamily="18" charset="0"/>
                      </a:rPr>
                      <m:t> −</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𝑣</m:t>
                        </m:r>
                      </m:e>
                      <m:sub>
                        <m:r>
                          <a:rPr lang="en-US" sz="2400" i="1" dirty="0">
                            <a:latin typeface="Cambria Math" panose="02040503050406030204" pitchFamily="18" charset="0"/>
                          </a:rPr>
                          <m:t>𝑖</m:t>
                        </m:r>
                      </m:sub>
                    </m:sSub>
                  </m:oMath>
                </a14:m>
                <a:r>
                  <a:rPr lang="en-US" sz="2400" dirty="0"/>
                  <a:t>  to social welfare;</a:t>
                </a:r>
              </a:p>
              <a:p>
                <a:r>
                  <a:rPr lang="en-US" sz="2400" dirty="0"/>
                  <a:t>	 </a:t>
                </a:r>
                <a14:m>
                  <m:oMath xmlns:m="http://schemas.openxmlformats.org/officeDocument/2006/math">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𝑏</m:t>
                            </m:r>
                          </m:e>
                          <m:sub>
                            <m:r>
                              <a:rPr lang="en-US" sz="2000" b="0" i="1" dirty="0" smtClean="0">
                                <a:latin typeface="Cambria Math" panose="02040503050406030204" pitchFamily="18" charset="0"/>
                              </a:rPr>
                              <m:t>𝑡𝑖</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𝑖</m:t>
                            </m:r>
                          </m:sub>
                        </m:sSub>
                      </m:e>
                    </m:d>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𝑎</m:t>
                            </m:r>
                          </m:e>
                          <m:sub>
                            <m:r>
                              <a:rPr lang="en-US" sz="2000" b="0" i="1" dirty="0" smtClean="0">
                                <a:latin typeface="Cambria Math" panose="02040503050406030204" pitchFamily="18" charset="0"/>
                              </a:rPr>
                              <m:t>𝑡𝑗</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𝑏</m:t>
                            </m:r>
                          </m:e>
                          <m:sub>
                            <m:r>
                              <a:rPr lang="en-US" sz="2000" b="0" i="1" dirty="0" smtClean="0">
                                <a:latin typeface="Cambria Math" panose="02040503050406030204" pitchFamily="18" charset="0"/>
                              </a:rPr>
                              <m:t>𝑡𝑖</m:t>
                            </m:r>
                          </m:sub>
                        </m:sSub>
                      </m:e>
                    </m:d>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𝑗</m:t>
                            </m:r>
                          </m:sub>
                        </m:sSub>
                        <m:r>
                          <a:rPr lang="en-US" sz="2000" b="0" i="1" dirty="0" smtClean="0">
                            <a:latin typeface="Cambria Math" panose="02040503050406030204" pitchFamily="18" charset="0"/>
                          </a:rPr>
                          <m:t> −</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𝑎</m:t>
                            </m:r>
                          </m:e>
                          <m:sub>
                            <m:r>
                              <a:rPr lang="en-US" sz="2000" b="0" i="1" dirty="0" smtClean="0">
                                <a:latin typeface="Cambria Math" panose="02040503050406030204" pitchFamily="18" charset="0"/>
                              </a:rPr>
                              <m:t>𝑡𝑗</m:t>
                            </m:r>
                          </m:sub>
                        </m:sSub>
                      </m:e>
                    </m:d>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𝑗</m:t>
                        </m:r>
                      </m:sub>
                    </m:sSub>
                    <m:r>
                      <a:rPr lang="en-US" sz="2000" b="0" i="1" dirty="0" smtClean="0">
                        <a:latin typeface="Cambria Math" panose="02040503050406030204" pitchFamily="18" charset="0"/>
                      </a:rPr>
                      <m:t> −</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𝑖</m:t>
                        </m:r>
                      </m:sub>
                    </m:sSub>
                  </m:oMath>
                </a14:m>
                <a:endParaRPr lang="en-US" sz="2400" dirty="0"/>
              </a:p>
              <a:p>
                <a:r>
                  <a:rPr lang="en-US" sz="2400" dirty="0"/>
                  <a:t>	</a:t>
                </a:r>
              </a:p>
            </p:txBody>
          </p:sp>
        </mc:Choice>
        <mc:Fallback xmlns="">
          <p:sp>
            <p:nvSpPr>
              <p:cNvPr id="7" name="TextBox 6">
                <a:extLst>
                  <a:ext uri="{FF2B5EF4-FFF2-40B4-BE49-F238E27FC236}">
                    <a16:creationId xmlns:a16="http://schemas.microsoft.com/office/drawing/2014/main" id="{66C1EF77-BE90-4DFB-963E-A47C8E938794}"/>
                  </a:ext>
                </a:extLst>
              </p:cNvPr>
              <p:cNvSpPr txBox="1">
                <a:spLocks noRot="1" noChangeAspect="1" noMove="1" noResize="1" noEditPoints="1" noAdjustHandles="1" noChangeArrowheads="1" noChangeShapeType="1" noTextEdit="1"/>
              </p:cNvSpPr>
              <p:nvPr/>
            </p:nvSpPr>
            <p:spPr>
              <a:xfrm>
                <a:off x="651002" y="2858909"/>
                <a:ext cx="11100274" cy="1230080"/>
              </a:xfrm>
              <a:prstGeom prst="rect">
                <a:avLst/>
              </a:prstGeom>
              <a:blipFill>
                <a:blip r:embed="rId2"/>
                <a:stretch>
                  <a:fillRect l="-769" t="-346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9C67CACF-0522-4583-B866-0CC6145D8C8E}"/>
              </a:ext>
            </a:extLst>
          </p:cNvPr>
          <p:cNvSpPr txBox="1"/>
          <p:nvPr/>
        </p:nvSpPr>
        <p:spPr>
          <a:xfrm>
            <a:off x="651002" y="4088989"/>
            <a:ext cx="11100274"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t>Therefore, more richly connected networks can potentially allow a flow of goods achieving a higher social welfare</a:t>
            </a:r>
          </a:p>
        </p:txBody>
      </p:sp>
    </p:spTree>
    <p:extLst>
      <p:ext uri="{BB962C8B-B14F-4D97-AF65-F5344CB8AC3E}">
        <p14:creationId xmlns:p14="http://schemas.microsoft.com/office/powerpoint/2010/main" val="1252356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651002" y="207783"/>
            <a:ext cx="10515600" cy="1325563"/>
          </a:xfrm>
        </p:spPr>
        <p:txBody>
          <a:bodyPr/>
          <a:lstStyle/>
          <a:p>
            <a:r>
              <a:rPr lang="en-US" dirty="0"/>
              <a:t>Social Welfare in trading networks</a:t>
            </a:r>
          </a:p>
        </p:txBody>
      </p:sp>
      <p:sp>
        <p:nvSpPr>
          <p:cNvPr id="8" name="TextBox 7">
            <a:extLst>
              <a:ext uri="{FF2B5EF4-FFF2-40B4-BE49-F238E27FC236}">
                <a16:creationId xmlns:a16="http://schemas.microsoft.com/office/drawing/2014/main" id="{9C67CACF-0522-4583-B866-0CC6145D8C8E}"/>
              </a:ext>
            </a:extLst>
          </p:cNvPr>
          <p:cNvSpPr txBox="1"/>
          <p:nvPr/>
        </p:nvSpPr>
        <p:spPr>
          <a:xfrm>
            <a:off x="545863" y="1926557"/>
            <a:ext cx="11100274" cy="954107"/>
          </a:xfrm>
          <a:prstGeom prst="rect">
            <a:avLst/>
          </a:prstGeom>
          <a:noFill/>
        </p:spPr>
        <p:txBody>
          <a:bodyPr wrap="square" rtlCol="0">
            <a:spAutoFit/>
          </a:bodyPr>
          <a:lstStyle/>
          <a:p>
            <a:r>
              <a:rPr lang="en-US" sz="2800" dirty="0"/>
              <a:t>In every trader network, there is always a certain type of equilibrium at a specific price, producing an allocation that maximize social welfare</a:t>
            </a:r>
          </a:p>
        </p:txBody>
      </p:sp>
    </p:spTree>
    <p:extLst>
      <p:ext uri="{BB962C8B-B14F-4D97-AF65-F5344CB8AC3E}">
        <p14:creationId xmlns:p14="http://schemas.microsoft.com/office/powerpoint/2010/main" val="2058551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그룹 27">
            <a:extLst>
              <a:ext uri="{FF2B5EF4-FFF2-40B4-BE49-F238E27FC236}">
                <a16:creationId xmlns:a16="http://schemas.microsoft.com/office/drawing/2014/main" id="{1DD9E2A3-869C-41BA-B601-E1D4298C5561}"/>
              </a:ext>
            </a:extLst>
          </p:cNvPr>
          <p:cNvGrpSpPr/>
          <p:nvPr/>
        </p:nvGrpSpPr>
        <p:grpSpPr>
          <a:xfrm>
            <a:off x="4446324" y="2920801"/>
            <a:ext cx="3299351" cy="3330378"/>
            <a:chOff x="6867963" y="2862583"/>
            <a:chExt cx="3299351" cy="3330378"/>
          </a:xfrm>
        </p:grpSpPr>
        <p:pic>
          <p:nvPicPr>
            <p:cNvPr id="6" name="그림 5">
              <a:extLst>
                <a:ext uri="{FF2B5EF4-FFF2-40B4-BE49-F238E27FC236}">
                  <a16:creationId xmlns:a16="http://schemas.microsoft.com/office/drawing/2014/main" id="{F68BF406-7457-4A87-8544-B7F0E408B0CD}"/>
                </a:ext>
              </a:extLst>
            </p:cNvPr>
            <p:cNvPicPr>
              <a:picLocks noChangeAspect="1"/>
            </p:cNvPicPr>
            <p:nvPr/>
          </p:nvPicPr>
          <p:blipFill rotWithShape="1">
            <a:blip r:embed="rId2">
              <a:grayscl/>
            </a:blip>
            <a:srcRect l="66182" t="43424" r="13953" b="40900"/>
            <a:stretch/>
          </p:blipFill>
          <p:spPr>
            <a:xfrm>
              <a:off x="6867963" y="4728453"/>
              <a:ext cx="3299351" cy="1464508"/>
            </a:xfrm>
            <a:prstGeom prst="rect">
              <a:avLst/>
            </a:prstGeom>
          </p:spPr>
        </p:pic>
        <p:pic>
          <p:nvPicPr>
            <p:cNvPr id="7" name="그림 6">
              <a:extLst>
                <a:ext uri="{FF2B5EF4-FFF2-40B4-BE49-F238E27FC236}">
                  <a16:creationId xmlns:a16="http://schemas.microsoft.com/office/drawing/2014/main" id="{D72240D3-E9AA-4EE9-8072-7F9ABEF908C8}"/>
                </a:ext>
              </a:extLst>
            </p:cNvPr>
            <p:cNvPicPr>
              <a:picLocks noChangeAspect="1"/>
            </p:cNvPicPr>
            <p:nvPr/>
          </p:nvPicPr>
          <p:blipFill rotWithShape="1">
            <a:blip r:embed="rId2">
              <a:grayscl/>
            </a:blip>
            <a:srcRect l="66182" t="43424" r="13953" b="40900"/>
            <a:stretch/>
          </p:blipFill>
          <p:spPr>
            <a:xfrm>
              <a:off x="6867963" y="2862583"/>
              <a:ext cx="3299351" cy="1464508"/>
            </a:xfrm>
            <a:prstGeom prst="rect">
              <a:avLst/>
            </a:prstGeom>
          </p:spPr>
        </p:pic>
        <p:cxnSp>
          <p:nvCxnSpPr>
            <p:cNvPr id="11" name="직선 화살표 연결선 10">
              <a:extLst>
                <a:ext uri="{FF2B5EF4-FFF2-40B4-BE49-F238E27FC236}">
                  <a16:creationId xmlns:a16="http://schemas.microsoft.com/office/drawing/2014/main" id="{6E9ED14A-2FE6-4B56-B42A-DB2D54B68348}"/>
                </a:ext>
              </a:extLst>
            </p:cNvPr>
            <p:cNvCxnSpPr/>
            <p:nvPr/>
          </p:nvCxnSpPr>
          <p:spPr>
            <a:xfrm>
              <a:off x="7767961" y="3080551"/>
              <a:ext cx="648070" cy="17755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FC8FEA14-AB21-46FF-9333-2737FCFAF09E}"/>
                </a:ext>
              </a:extLst>
            </p:cNvPr>
            <p:cNvCxnSpPr>
              <a:cxnSpLocks/>
            </p:cNvCxnSpPr>
            <p:nvPr/>
          </p:nvCxnSpPr>
          <p:spPr>
            <a:xfrm>
              <a:off x="8824404" y="3309603"/>
              <a:ext cx="73107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52760EDE-1E03-439D-B0C1-88450B23E507}"/>
                </a:ext>
              </a:extLst>
            </p:cNvPr>
            <p:cNvCxnSpPr>
              <a:cxnSpLocks/>
            </p:cNvCxnSpPr>
            <p:nvPr/>
          </p:nvCxnSpPr>
          <p:spPr>
            <a:xfrm>
              <a:off x="7726458" y="4163561"/>
              <a:ext cx="68957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직선 화살표 연결선 16">
              <a:extLst>
                <a:ext uri="{FF2B5EF4-FFF2-40B4-BE49-F238E27FC236}">
                  <a16:creationId xmlns:a16="http://schemas.microsoft.com/office/drawing/2014/main" id="{FF87D063-8F15-495A-A8EF-D4E73D3A9182}"/>
                </a:ext>
              </a:extLst>
            </p:cNvPr>
            <p:cNvCxnSpPr>
              <a:cxnSpLocks/>
            </p:cNvCxnSpPr>
            <p:nvPr/>
          </p:nvCxnSpPr>
          <p:spPr>
            <a:xfrm>
              <a:off x="8824404" y="4163561"/>
              <a:ext cx="73107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FE507D06-F242-45A2-A189-ECEB2127A3DC}"/>
                </a:ext>
              </a:extLst>
            </p:cNvPr>
            <p:cNvCxnSpPr>
              <a:cxnSpLocks/>
            </p:cNvCxnSpPr>
            <p:nvPr/>
          </p:nvCxnSpPr>
          <p:spPr>
            <a:xfrm>
              <a:off x="7747209" y="4986521"/>
              <a:ext cx="689573" cy="13411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a:extLst>
                <a:ext uri="{FF2B5EF4-FFF2-40B4-BE49-F238E27FC236}">
                  <a16:creationId xmlns:a16="http://schemas.microsoft.com/office/drawing/2014/main" id="{6063495D-FADA-4F79-96B5-2B0E6142E0C2}"/>
                </a:ext>
              </a:extLst>
            </p:cNvPr>
            <p:cNvCxnSpPr>
              <a:cxnSpLocks/>
            </p:cNvCxnSpPr>
            <p:nvPr/>
          </p:nvCxnSpPr>
          <p:spPr>
            <a:xfrm flipV="1">
              <a:off x="7767961" y="5232547"/>
              <a:ext cx="648070" cy="22816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직선 화살표 연결선 24">
              <a:extLst>
                <a:ext uri="{FF2B5EF4-FFF2-40B4-BE49-F238E27FC236}">
                  <a16:creationId xmlns:a16="http://schemas.microsoft.com/office/drawing/2014/main" id="{168A0488-0405-41C9-99E8-7F9CEBCF25AA}"/>
                </a:ext>
              </a:extLst>
            </p:cNvPr>
            <p:cNvCxnSpPr>
              <a:cxnSpLocks/>
            </p:cNvCxnSpPr>
            <p:nvPr/>
          </p:nvCxnSpPr>
          <p:spPr>
            <a:xfrm>
              <a:off x="8824404" y="5181048"/>
              <a:ext cx="80820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81465F94-A04A-4CD1-BB7C-32BF9B6ECF4B}"/>
                </a:ext>
              </a:extLst>
            </p:cNvPr>
            <p:cNvCxnSpPr>
              <a:cxnSpLocks/>
            </p:cNvCxnSpPr>
            <p:nvPr/>
          </p:nvCxnSpPr>
          <p:spPr>
            <a:xfrm>
              <a:off x="8824404" y="5342690"/>
              <a:ext cx="808207" cy="5471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제목 1">
            <a:extLst>
              <a:ext uri="{FF2B5EF4-FFF2-40B4-BE49-F238E27FC236}">
                <a16:creationId xmlns:a16="http://schemas.microsoft.com/office/drawing/2014/main" id="{02632E8A-08AA-4414-AAFD-23532DC79107}"/>
              </a:ext>
            </a:extLst>
          </p:cNvPr>
          <p:cNvSpPr>
            <a:spLocks noGrp="1"/>
          </p:cNvSpPr>
          <p:nvPr>
            <p:ph type="title"/>
          </p:nvPr>
        </p:nvSpPr>
        <p:spPr>
          <a:xfrm>
            <a:off x="651002" y="207783"/>
            <a:ext cx="10515600" cy="1325563"/>
          </a:xfrm>
        </p:spPr>
        <p:txBody>
          <a:bodyPr/>
          <a:lstStyle/>
          <a:p>
            <a:r>
              <a:rPr lang="en-US" dirty="0"/>
              <a:t>Trader Profits</a:t>
            </a:r>
          </a:p>
        </p:txBody>
      </p:sp>
      <p:sp>
        <p:nvSpPr>
          <p:cNvPr id="8" name="TextBox 7">
            <a:extLst>
              <a:ext uri="{FF2B5EF4-FFF2-40B4-BE49-F238E27FC236}">
                <a16:creationId xmlns:a16="http://schemas.microsoft.com/office/drawing/2014/main" id="{9C67CACF-0522-4583-B866-0CC6145D8C8E}"/>
              </a:ext>
            </a:extLst>
          </p:cNvPr>
          <p:cNvSpPr txBox="1"/>
          <p:nvPr/>
        </p:nvSpPr>
        <p:spPr>
          <a:xfrm>
            <a:off x="225823" y="1363059"/>
            <a:ext cx="11100274"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Whether a trader can make profit or not, strongly depends on the equilibrium</a:t>
            </a:r>
          </a:p>
          <a:p>
            <a:pPr marL="342900" indent="-342900">
              <a:buFont typeface="Arial" panose="020B0604020202020204" pitchFamily="34" charset="0"/>
              <a:buChar char="•"/>
            </a:pPr>
            <a:r>
              <a:rPr lang="en-US" sz="2000" dirty="0"/>
              <a:t>The profit tend to go up when trader is essential to the network connection</a:t>
            </a:r>
          </a:p>
          <a:p>
            <a:pPr marL="342900" indent="-342900">
              <a:buFont typeface="Arial" panose="020B0604020202020204" pitchFamily="34" charset="0"/>
              <a:buChar char="•"/>
            </a:pPr>
            <a:r>
              <a:rPr lang="en-US" sz="2000" dirty="0"/>
              <a:t>The profit tend to go down in more richly connected networks</a:t>
            </a:r>
          </a:p>
        </p:txBody>
      </p:sp>
      <p:pic>
        <p:nvPicPr>
          <p:cNvPr id="3" name="그림 2">
            <a:extLst>
              <a:ext uri="{FF2B5EF4-FFF2-40B4-BE49-F238E27FC236}">
                <a16:creationId xmlns:a16="http://schemas.microsoft.com/office/drawing/2014/main" id="{CA8C282C-960C-4610-8BA1-B218BAC3C00A}"/>
              </a:ext>
            </a:extLst>
          </p:cNvPr>
          <p:cNvPicPr>
            <a:picLocks noChangeAspect="1"/>
          </p:cNvPicPr>
          <p:nvPr/>
        </p:nvPicPr>
        <p:blipFill rotWithShape="1">
          <a:blip r:embed="rId2">
            <a:grayscl/>
          </a:blip>
          <a:srcRect l="69165" t="43424" r="13953" b="40900"/>
          <a:stretch/>
        </p:blipFill>
        <p:spPr>
          <a:xfrm>
            <a:off x="225822" y="3575402"/>
            <a:ext cx="3495209" cy="1825506"/>
          </a:xfrm>
          <a:prstGeom prst="rect">
            <a:avLst/>
          </a:prstGeom>
        </p:spPr>
      </p:pic>
      <p:sp>
        <p:nvSpPr>
          <p:cNvPr id="5" name="화살표: 오른쪽 4">
            <a:extLst>
              <a:ext uri="{FF2B5EF4-FFF2-40B4-BE49-F238E27FC236}">
                <a16:creationId xmlns:a16="http://schemas.microsoft.com/office/drawing/2014/main" id="{EE77F7EB-C7CA-4E6D-B874-F27A36D97BAE}"/>
              </a:ext>
            </a:extLst>
          </p:cNvPr>
          <p:cNvSpPr/>
          <p:nvPr/>
        </p:nvSpPr>
        <p:spPr>
          <a:xfrm>
            <a:off x="3742263" y="4239761"/>
            <a:ext cx="1104057" cy="6924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equilibrium</a:t>
            </a:r>
          </a:p>
        </p:txBody>
      </p:sp>
      <p:sp>
        <p:nvSpPr>
          <p:cNvPr id="29" name="TextBox 28">
            <a:extLst>
              <a:ext uri="{FF2B5EF4-FFF2-40B4-BE49-F238E27FC236}">
                <a16:creationId xmlns:a16="http://schemas.microsoft.com/office/drawing/2014/main" id="{7B364F62-402B-4084-9AEC-D63FD89D791E}"/>
              </a:ext>
            </a:extLst>
          </p:cNvPr>
          <p:cNvSpPr txBox="1"/>
          <p:nvPr/>
        </p:nvSpPr>
        <p:spPr>
          <a:xfrm>
            <a:off x="7950833" y="3175292"/>
            <a:ext cx="4081763"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t>At all equilibrium, x = y = 0</a:t>
            </a:r>
          </a:p>
        </p:txBody>
      </p:sp>
      <p:sp>
        <p:nvSpPr>
          <p:cNvPr id="37" name="TextBox 36">
            <a:extLst>
              <a:ext uri="{FF2B5EF4-FFF2-40B4-BE49-F238E27FC236}">
                <a16:creationId xmlns:a16="http://schemas.microsoft.com/office/drawing/2014/main" id="{2D8C4841-FF18-4BDC-8B88-7240874F5A52}"/>
              </a:ext>
            </a:extLst>
          </p:cNvPr>
          <p:cNvSpPr txBox="1"/>
          <p:nvPr/>
        </p:nvSpPr>
        <p:spPr>
          <a:xfrm>
            <a:off x="7950833" y="3666265"/>
            <a:ext cx="4081763"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t>Trades cannot make any profit</a:t>
            </a:r>
          </a:p>
        </p:txBody>
      </p:sp>
    </p:spTree>
    <p:extLst>
      <p:ext uri="{BB962C8B-B14F-4D97-AF65-F5344CB8AC3E}">
        <p14:creationId xmlns:p14="http://schemas.microsoft.com/office/powerpoint/2010/main" val="1025563131"/>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TM02892315[[fn=줄기]]</Template>
  <TotalTime>7011</TotalTime>
  <Words>1106</Words>
  <Application>Microsoft Office PowerPoint</Application>
  <PresentationFormat>와이드스크린</PresentationFormat>
  <Paragraphs>260</Paragraphs>
  <Slides>21</Slides>
  <Notes>0</Notes>
  <HiddenSlides>0</HiddenSlides>
  <MMClips>0</MMClips>
  <ScaleCrop>false</ScaleCrop>
  <HeadingPairs>
    <vt:vector size="6" baseType="variant">
      <vt:variant>
        <vt:lpstr>사용한 글꼴</vt:lpstr>
      </vt:variant>
      <vt:variant>
        <vt:i4>7</vt:i4>
      </vt:variant>
      <vt:variant>
        <vt:lpstr>테마</vt:lpstr>
      </vt:variant>
      <vt:variant>
        <vt:i4>2</vt:i4>
      </vt:variant>
      <vt:variant>
        <vt:lpstr>슬라이드 제목</vt:lpstr>
      </vt:variant>
      <vt:variant>
        <vt:i4>21</vt:i4>
      </vt:variant>
    </vt:vector>
  </HeadingPairs>
  <TitlesOfParts>
    <vt:vector size="30" baseType="lpstr">
      <vt:lpstr>맑은 고딕</vt:lpstr>
      <vt:lpstr>Arial</vt:lpstr>
      <vt:lpstr>Calibri</vt:lpstr>
      <vt:lpstr>Calibri Light</vt:lpstr>
      <vt:lpstr>Cambria Math</vt:lpstr>
      <vt:lpstr>Wingdings</vt:lpstr>
      <vt:lpstr>Wingdings 2</vt:lpstr>
      <vt:lpstr>HDOfficeLightV0</vt:lpstr>
      <vt:lpstr>Office 테마</vt:lpstr>
      <vt:lpstr>Social Network Analysis</vt:lpstr>
      <vt:lpstr>Table of Contents  - Matching Markets - Network Models of Markets with Intermediaries  </vt:lpstr>
      <vt:lpstr>PowerPoint 프레젠테이션</vt:lpstr>
      <vt:lpstr>Bipartite Graphs and Perfect Matchings</vt:lpstr>
      <vt:lpstr>PowerPoint 프레젠테이션</vt:lpstr>
      <vt:lpstr>Valuations and Optimal Assignments</vt:lpstr>
      <vt:lpstr>Valuations and Optimal Assignments</vt:lpstr>
      <vt:lpstr>Prices and Market-Clearing Property</vt:lpstr>
      <vt:lpstr>Network Models of Markets with Intermediaries</vt:lpstr>
      <vt:lpstr>Price Setting in Markets</vt:lpstr>
      <vt:lpstr>Trade with intermediaries</vt:lpstr>
      <vt:lpstr>Network structure with multiple traders: simple model</vt:lpstr>
      <vt:lpstr>Network structure with multiple traders: simple model</vt:lpstr>
      <vt:lpstr>Network structure with multiple traders: simple model</vt:lpstr>
      <vt:lpstr>Finding bid and ask prices at equilibrium</vt:lpstr>
      <vt:lpstr>Finding bid and ask prices at equilibrium</vt:lpstr>
      <vt:lpstr>Finding bid and ask prices at equilibrium</vt:lpstr>
      <vt:lpstr>Finding bid and ask prices at equilibrium</vt:lpstr>
      <vt:lpstr>Social Welfare in trading networks</vt:lpstr>
      <vt:lpstr>Social Welfare in trading networks</vt:lpstr>
      <vt:lpstr>Trader Profits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agdal1125@gmail.com</dc:creator>
  <cp:lastModifiedBy>agdal1125@gmail.com</cp:lastModifiedBy>
  <cp:revision>199</cp:revision>
  <dcterms:created xsi:type="dcterms:W3CDTF">2018-01-23T16:32:33Z</dcterms:created>
  <dcterms:modified xsi:type="dcterms:W3CDTF">2018-04-25T03:21:41Z</dcterms:modified>
</cp:coreProperties>
</file>