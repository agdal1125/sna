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 id="2147483828" r:id="rId2"/>
  </p:sldMasterIdLst>
  <p:notesMasterIdLst>
    <p:notesMasterId r:id="rId24"/>
  </p:notesMasterIdLst>
  <p:sldIdLst>
    <p:sldId id="256" r:id="rId3"/>
    <p:sldId id="257" r:id="rId4"/>
    <p:sldId id="259" r:id="rId5"/>
    <p:sldId id="258" r:id="rId6"/>
    <p:sldId id="261" r:id="rId7"/>
    <p:sldId id="262" r:id="rId8"/>
    <p:sldId id="263" r:id="rId9"/>
    <p:sldId id="264" r:id="rId10"/>
    <p:sldId id="268" r:id="rId11"/>
    <p:sldId id="267" r:id="rId12"/>
    <p:sldId id="266" r:id="rId13"/>
    <p:sldId id="265" r:id="rId14"/>
    <p:sldId id="269" r:id="rId15"/>
    <p:sldId id="270" r:id="rId16"/>
    <p:sldId id="271" r:id="rId17"/>
    <p:sldId id="272" r:id="rId18"/>
    <p:sldId id="273" r:id="rId19"/>
    <p:sldId id="276" r:id="rId20"/>
    <p:sldId id="274" r:id="rId21"/>
    <p:sldId id="277"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보통 스타일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05" autoAdjust="0"/>
    <p:restoredTop sz="94660"/>
  </p:normalViewPr>
  <p:slideViewPr>
    <p:cSldViewPr snapToGrid="0">
      <p:cViewPr varScale="1">
        <p:scale>
          <a:sx n="86" d="100"/>
          <a:sy n="86"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70746A-1847-40EC-B93C-F7873E555D98}" type="datetimeFigureOut">
              <a:rPr lang="en-US" smtClean="0"/>
              <a:t>4/11/2018</a:t>
            </a:fld>
            <a:endParaRPr 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B6FAC4-1E03-49E8-BD28-AF1566EF4093}" type="slidenum">
              <a:rPr lang="en-US" smtClean="0"/>
              <a:t>‹#›</a:t>
            </a:fld>
            <a:endParaRPr lang="en-US"/>
          </a:p>
        </p:txBody>
      </p:sp>
    </p:spTree>
    <p:extLst>
      <p:ext uri="{BB962C8B-B14F-4D97-AF65-F5344CB8AC3E}">
        <p14:creationId xmlns:p14="http://schemas.microsoft.com/office/powerpoint/2010/main" val="4179859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ko-KR" altLang="en-US"/>
              <a:t>마스터 제목 스타일 편집</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4/11/2018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82310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4/11/2018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694483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ko-KR" altLang="en-US"/>
              <a:t>마스터 제목 스타일 편집</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6B51CB8E-6F81-4EA9-97B5-248BF9D22C8A}" type="datetimeFigureOut">
              <a:rPr lang="en-US" smtClean="0"/>
              <a:t>4/11/2018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984898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6B51CB8E-6F81-4EA9-97B5-248BF9D22C8A}" type="datetimeFigureOut">
              <a:rPr lang="en-US" smtClean="0"/>
              <a:t>4/11/2018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590521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비교">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Content Placeholder 3"/>
          <p:cNvSpPr>
            <a:spLocks noGrp="1"/>
          </p:cNvSpPr>
          <p:nvPr>
            <p:ph sz="half" idx="2"/>
          </p:nvPr>
        </p:nvSpPr>
        <p:spPr>
          <a:xfrm>
            <a:off x="845127" y="2507550"/>
            <a:ext cx="5156200" cy="3680525"/>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Content Placeholder 5"/>
          <p:cNvSpPr>
            <a:spLocks noGrp="1"/>
          </p:cNvSpPr>
          <p:nvPr>
            <p:ph sz="quarter" idx="4"/>
          </p:nvPr>
        </p:nvSpPr>
        <p:spPr>
          <a:xfrm>
            <a:off x="6172200" y="2507550"/>
            <a:ext cx="5181601" cy="3680525"/>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7" name="Date Placeholder 6"/>
          <p:cNvSpPr>
            <a:spLocks noGrp="1"/>
          </p:cNvSpPr>
          <p:nvPr>
            <p:ph type="dt" sz="half" idx="10"/>
          </p:nvPr>
        </p:nvSpPr>
        <p:spPr/>
        <p:txBody>
          <a:bodyPr/>
          <a:lstStyle/>
          <a:p>
            <a:fld id="{6B51CB8E-6F81-4EA9-97B5-248BF9D22C8A}" type="datetimeFigureOut">
              <a:rPr lang="en-US" smtClean="0"/>
              <a:t>4/11/2018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DC7EB3-5AE8-4FED-A667-9442F52E7975}" type="slidenum">
              <a:rPr lang="en-US" smtClean="0"/>
              <a:t>‹#›</a:t>
            </a:fld>
            <a:endParaRPr lang="en-US"/>
          </a:p>
        </p:txBody>
      </p:sp>
      <p:sp>
        <p:nvSpPr>
          <p:cNvPr id="10" name="Title 9"/>
          <p:cNvSpPr>
            <a:spLocks noGrp="1"/>
          </p:cNvSpPr>
          <p:nvPr>
            <p:ph type="title"/>
          </p:nvPr>
        </p:nvSpPr>
        <p:spPr/>
        <p:txBody>
          <a:bodyPr/>
          <a:lstStyle/>
          <a:p>
            <a:r>
              <a:rPr lang="ko-KR" altLang="en-US"/>
              <a:t>마스터 제목 스타일 편집</a:t>
            </a:r>
            <a:endParaRPr lang="en-US" dirty="0"/>
          </a:p>
        </p:txBody>
      </p:sp>
    </p:spTree>
    <p:extLst>
      <p:ext uri="{BB962C8B-B14F-4D97-AF65-F5344CB8AC3E}">
        <p14:creationId xmlns:p14="http://schemas.microsoft.com/office/powerpoint/2010/main" val="4188153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제목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B51CB8E-6F81-4EA9-97B5-248BF9D22C8A}" type="datetimeFigureOut">
              <a:rPr lang="en-US" smtClean="0"/>
              <a:t>4/11/2018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DC7EB3-5AE8-4FED-A667-9442F52E7975}" type="slidenum">
              <a:rPr lang="en-US" smtClean="0"/>
              <a:t>‹#›</a:t>
            </a:fld>
            <a:endParaRPr lang="en-US"/>
          </a:p>
        </p:txBody>
      </p:sp>
      <p:sp>
        <p:nvSpPr>
          <p:cNvPr id="6" name="Title 5"/>
          <p:cNvSpPr>
            <a:spLocks noGrp="1"/>
          </p:cNvSpPr>
          <p:nvPr>
            <p:ph type="title"/>
          </p:nvPr>
        </p:nvSpPr>
        <p:spPr/>
        <p:txBody>
          <a:bodyPr/>
          <a:lstStyle/>
          <a:p>
            <a:r>
              <a:rPr lang="ko-KR" altLang="en-US"/>
              <a:t>마스터 제목 스타일 편집</a:t>
            </a:r>
            <a:endParaRPr lang="en-US"/>
          </a:p>
        </p:txBody>
      </p:sp>
    </p:spTree>
    <p:extLst>
      <p:ext uri="{BB962C8B-B14F-4D97-AF65-F5344CB8AC3E}">
        <p14:creationId xmlns:p14="http://schemas.microsoft.com/office/powerpoint/2010/main" val="2772496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51CB8E-6F81-4EA9-97B5-248BF9D22C8A}" type="datetimeFigureOut">
              <a:rPr lang="en-US" smtClean="0"/>
              <a:t>4/11/2018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204783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ko-KR" altLang="en-US"/>
              <a:t>마스터 제목 스타일 편집</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6B51CB8E-6F81-4EA9-97B5-248BF9D22C8A}" type="datetimeFigureOut">
              <a:rPr lang="en-US" smtClean="0"/>
              <a:t>4/11/2018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948338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ko-KR" altLang="en-US"/>
              <a:t>마스터 제목 스타일 편집</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6B51CB8E-6F81-4EA9-97B5-248BF9D22C8A}" type="datetimeFigureOut">
              <a:rPr lang="en-US" smtClean="0"/>
              <a:t>4/11/2018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23229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4/11/2018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929989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Date Placeholder 3"/>
          <p:cNvSpPr>
            <a:spLocks noGrp="1"/>
          </p:cNvSpPr>
          <p:nvPr>
            <p:ph type="dt" sz="half" idx="10"/>
          </p:nvPr>
        </p:nvSpPr>
        <p:spPr/>
        <p:txBody>
          <a:bodyPr/>
          <a:lstStyle/>
          <a:p>
            <a:fld id="{6B51CB8E-6F81-4EA9-97B5-248BF9D22C8A}" type="datetimeFigureOut">
              <a:rPr lang="en-US" smtClean="0"/>
              <a:t>4/11/2018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5111581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E778D0-FFC8-41A2-B947-98DA5567D181}"/>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endParaRPr lang="en-US"/>
          </a:p>
        </p:txBody>
      </p:sp>
      <p:sp>
        <p:nvSpPr>
          <p:cNvPr id="3" name="부제목 2">
            <a:extLst>
              <a:ext uri="{FF2B5EF4-FFF2-40B4-BE49-F238E27FC236}">
                <a16:creationId xmlns:a16="http://schemas.microsoft.com/office/drawing/2014/main" id="{13FE50C6-4AE6-4854-9690-468A21E430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날짜 개체 틀 3">
            <a:extLst>
              <a:ext uri="{FF2B5EF4-FFF2-40B4-BE49-F238E27FC236}">
                <a16:creationId xmlns:a16="http://schemas.microsoft.com/office/drawing/2014/main" id="{85CC4856-83A7-4A2E-94B0-9B59BEA46A6D}"/>
              </a:ext>
            </a:extLst>
          </p:cNvPr>
          <p:cNvSpPr>
            <a:spLocks noGrp="1"/>
          </p:cNvSpPr>
          <p:nvPr>
            <p:ph type="dt" sz="half" idx="10"/>
          </p:nvPr>
        </p:nvSpPr>
        <p:spPr/>
        <p:txBody>
          <a:bodyPr/>
          <a:lstStyle/>
          <a:p>
            <a:fld id="{6B51CB8E-6F81-4EA9-97B5-248BF9D22C8A}" type="datetimeFigureOut">
              <a:rPr lang="en-US" smtClean="0"/>
              <a:t>4/11/2018</a:t>
            </a:fld>
            <a:endParaRPr lang="en-US"/>
          </a:p>
        </p:txBody>
      </p:sp>
      <p:sp>
        <p:nvSpPr>
          <p:cNvPr id="5" name="바닥글 개체 틀 4">
            <a:extLst>
              <a:ext uri="{FF2B5EF4-FFF2-40B4-BE49-F238E27FC236}">
                <a16:creationId xmlns:a16="http://schemas.microsoft.com/office/drawing/2014/main" id="{81ADA6B5-36DA-4622-977E-C5EE2D797A06}"/>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0D64629E-5C28-40C0-BE9C-C384FD89C126}"/>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2834253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5390A2-6434-466B-B133-59B47A53BDF5}"/>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4BB85408-5405-43F3-A997-A5686CB94D15}"/>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AF144089-4D32-4F98-A7FB-1C2A8F3484AF}"/>
              </a:ext>
            </a:extLst>
          </p:cNvPr>
          <p:cNvSpPr>
            <a:spLocks noGrp="1"/>
          </p:cNvSpPr>
          <p:nvPr>
            <p:ph type="dt" sz="half" idx="10"/>
          </p:nvPr>
        </p:nvSpPr>
        <p:spPr/>
        <p:txBody>
          <a:bodyPr/>
          <a:lstStyle/>
          <a:p>
            <a:fld id="{6B51CB8E-6F81-4EA9-97B5-248BF9D22C8A}" type="datetimeFigureOut">
              <a:rPr lang="en-US" smtClean="0"/>
              <a:t>4/11/2018</a:t>
            </a:fld>
            <a:endParaRPr lang="en-US"/>
          </a:p>
        </p:txBody>
      </p:sp>
      <p:sp>
        <p:nvSpPr>
          <p:cNvPr id="5" name="바닥글 개체 틀 4">
            <a:extLst>
              <a:ext uri="{FF2B5EF4-FFF2-40B4-BE49-F238E27FC236}">
                <a16:creationId xmlns:a16="http://schemas.microsoft.com/office/drawing/2014/main" id="{D7CE616D-41EF-418F-A2DB-F20A6BC0FC77}"/>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C9010034-811C-4DD9-A1C6-D621CFFF5C7D}"/>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483869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868C6EF-60E1-435A-9C44-04A6091F8063}"/>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AFD2ED5B-91D1-4F8A-8EF6-4279E4857B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78E68F84-151A-4C60-A3B2-A14C668FA552}"/>
              </a:ext>
            </a:extLst>
          </p:cNvPr>
          <p:cNvSpPr>
            <a:spLocks noGrp="1"/>
          </p:cNvSpPr>
          <p:nvPr>
            <p:ph type="dt" sz="half" idx="10"/>
          </p:nvPr>
        </p:nvSpPr>
        <p:spPr/>
        <p:txBody>
          <a:bodyPr/>
          <a:lstStyle/>
          <a:p>
            <a:fld id="{6B51CB8E-6F81-4EA9-97B5-248BF9D22C8A}" type="datetimeFigureOut">
              <a:rPr lang="en-US" smtClean="0"/>
              <a:t>4/11/2018</a:t>
            </a:fld>
            <a:endParaRPr lang="en-US"/>
          </a:p>
        </p:txBody>
      </p:sp>
      <p:sp>
        <p:nvSpPr>
          <p:cNvPr id="5" name="바닥글 개체 틀 4">
            <a:extLst>
              <a:ext uri="{FF2B5EF4-FFF2-40B4-BE49-F238E27FC236}">
                <a16:creationId xmlns:a16="http://schemas.microsoft.com/office/drawing/2014/main" id="{A292B3AA-C5D3-4832-8649-68BDB7487DFE}"/>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B386E432-659F-44D8-8A12-8103CF70B771}"/>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8479452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32EB8B-677E-4694-A127-91719DD3DC5A}"/>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1ECDC3F7-1B55-4876-BD32-3ED444C9060F}"/>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내용 개체 틀 3">
            <a:extLst>
              <a:ext uri="{FF2B5EF4-FFF2-40B4-BE49-F238E27FC236}">
                <a16:creationId xmlns:a16="http://schemas.microsoft.com/office/drawing/2014/main" id="{92E494C3-D018-424F-9050-572713E91683}"/>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날짜 개체 틀 4">
            <a:extLst>
              <a:ext uri="{FF2B5EF4-FFF2-40B4-BE49-F238E27FC236}">
                <a16:creationId xmlns:a16="http://schemas.microsoft.com/office/drawing/2014/main" id="{06A2F95C-92E5-4C9D-AC9B-2966B84EB5CE}"/>
              </a:ext>
            </a:extLst>
          </p:cNvPr>
          <p:cNvSpPr>
            <a:spLocks noGrp="1"/>
          </p:cNvSpPr>
          <p:nvPr>
            <p:ph type="dt" sz="half" idx="10"/>
          </p:nvPr>
        </p:nvSpPr>
        <p:spPr/>
        <p:txBody>
          <a:bodyPr/>
          <a:lstStyle/>
          <a:p>
            <a:fld id="{6B51CB8E-6F81-4EA9-97B5-248BF9D22C8A}" type="datetimeFigureOut">
              <a:rPr lang="en-US" smtClean="0"/>
              <a:t>4/11/2018</a:t>
            </a:fld>
            <a:endParaRPr lang="en-US"/>
          </a:p>
        </p:txBody>
      </p:sp>
      <p:sp>
        <p:nvSpPr>
          <p:cNvPr id="6" name="바닥글 개체 틀 5">
            <a:extLst>
              <a:ext uri="{FF2B5EF4-FFF2-40B4-BE49-F238E27FC236}">
                <a16:creationId xmlns:a16="http://schemas.microsoft.com/office/drawing/2014/main" id="{584F9551-3C93-4A80-BDDC-AA1533934547}"/>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46AE71EF-8BA6-43D5-810C-030E0FD55C5B}"/>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3451050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1A59D0-50BB-4170-BE00-42EF8EECFC9C}"/>
              </a:ext>
            </a:extLst>
          </p:cNvPr>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D9ED1FFE-B351-410A-9A93-BE911A56C5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837D3C85-3EEF-4978-B964-F1D03497B7C3}"/>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텍스트 개체 틀 4">
            <a:extLst>
              <a:ext uri="{FF2B5EF4-FFF2-40B4-BE49-F238E27FC236}">
                <a16:creationId xmlns:a16="http://schemas.microsoft.com/office/drawing/2014/main" id="{D5E88F12-E7A7-437A-AA0B-C98CD8E0E6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17898A3E-6654-40A8-A650-6E10B53188E7}"/>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7" name="날짜 개체 틀 6">
            <a:extLst>
              <a:ext uri="{FF2B5EF4-FFF2-40B4-BE49-F238E27FC236}">
                <a16:creationId xmlns:a16="http://schemas.microsoft.com/office/drawing/2014/main" id="{78793AD4-71BB-44BC-A819-00BBEEC948B3}"/>
              </a:ext>
            </a:extLst>
          </p:cNvPr>
          <p:cNvSpPr>
            <a:spLocks noGrp="1"/>
          </p:cNvSpPr>
          <p:nvPr>
            <p:ph type="dt" sz="half" idx="10"/>
          </p:nvPr>
        </p:nvSpPr>
        <p:spPr/>
        <p:txBody>
          <a:bodyPr/>
          <a:lstStyle/>
          <a:p>
            <a:fld id="{6B51CB8E-6F81-4EA9-97B5-248BF9D22C8A}" type="datetimeFigureOut">
              <a:rPr lang="en-US" smtClean="0"/>
              <a:t>4/11/2018</a:t>
            </a:fld>
            <a:endParaRPr lang="en-US"/>
          </a:p>
        </p:txBody>
      </p:sp>
      <p:sp>
        <p:nvSpPr>
          <p:cNvPr id="8" name="바닥글 개체 틀 7">
            <a:extLst>
              <a:ext uri="{FF2B5EF4-FFF2-40B4-BE49-F238E27FC236}">
                <a16:creationId xmlns:a16="http://schemas.microsoft.com/office/drawing/2014/main" id="{CC0C474A-9D29-4AC6-8099-6936A0E575AB}"/>
              </a:ext>
            </a:extLst>
          </p:cNvPr>
          <p:cNvSpPr>
            <a:spLocks noGrp="1"/>
          </p:cNvSpPr>
          <p:nvPr>
            <p:ph type="ftr" sz="quarter" idx="11"/>
          </p:nvPr>
        </p:nvSpPr>
        <p:spPr/>
        <p:txBody>
          <a:bodyPr/>
          <a:lstStyle/>
          <a:p>
            <a:endParaRPr lang="en-US"/>
          </a:p>
        </p:txBody>
      </p:sp>
      <p:sp>
        <p:nvSpPr>
          <p:cNvPr id="9" name="슬라이드 번호 개체 틀 8">
            <a:extLst>
              <a:ext uri="{FF2B5EF4-FFF2-40B4-BE49-F238E27FC236}">
                <a16:creationId xmlns:a16="http://schemas.microsoft.com/office/drawing/2014/main" id="{AC22D096-7FC8-4B85-8DD2-B78BD83B609D}"/>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4453725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9AB49E-DD91-4743-92FB-333855004BE6}"/>
              </a:ext>
            </a:extLst>
          </p:cNvPr>
          <p:cNvSpPr>
            <a:spLocks noGrp="1"/>
          </p:cNvSpPr>
          <p:nvPr>
            <p:ph type="title"/>
          </p:nvPr>
        </p:nvSpPr>
        <p:spPr/>
        <p:txBody>
          <a:bodyPr/>
          <a:lstStyle/>
          <a:p>
            <a:r>
              <a:rPr lang="ko-KR" altLang="en-US"/>
              <a:t>마스터 제목 스타일 편집</a:t>
            </a:r>
            <a:endParaRPr lang="en-US"/>
          </a:p>
        </p:txBody>
      </p:sp>
      <p:sp>
        <p:nvSpPr>
          <p:cNvPr id="3" name="날짜 개체 틀 2">
            <a:extLst>
              <a:ext uri="{FF2B5EF4-FFF2-40B4-BE49-F238E27FC236}">
                <a16:creationId xmlns:a16="http://schemas.microsoft.com/office/drawing/2014/main" id="{7AE0E5B3-D27E-4B0B-A82F-85B74A4375AF}"/>
              </a:ext>
            </a:extLst>
          </p:cNvPr>
          <p:cNvSpPr>
            <a:spLocks noGrp="1"/>
          </p:cNvSpPr>
          <p:nvPr>
            <p:ph type="dt" sz="half" idx="10"/>
          </p:nvPr>
        </p:nvSpPr>
        <p:spPr/>
        <p:txBody>
          <a:bodyPr/>
          <a:lstStyle/>
          <a:p>
            <a:fld id="{6B51CB8E-6F81-4EA9-97B5-248BF9D22C8A}" type="datetimeFigureOut">
              <a:rPr lang="en-US" smtClean="0"/>
              <a:t>4/11/2018</a:t>
            </a:fld>
            <a:endParaRPr lang="en-US"/>
          </a:p>
        </p:txBody>
      </p:sp>
      <p:sp>
        <p:nvSpPr>
          <p:cNvPr id="4" name="바닥글 개체 틀 3">
            <a:extLst>
              <a:ext uri="{FF2B5EF4-FFF2-40B4-BE49-F238E27FC236}">
                <a16:creationId xmlns:a16="http://schemas.microsoft.com/office/drawing/2014/main" id="{55F03F2D-2E51-47B2-9792-4A28229B2DA9}"/>
              </a:ext>
            </a:extLst>
          </p:cNvPr>
          <p:cNvSpPr>
            <a:spLocks noGrp="1"/>
          </p:cNvSpPr>
          <p:nvPr>
            <p:ph type="ftr" sz="quarter" idx="11"/>
          </p:nvPr>
        </p:nvSpPr>
        <p:spPr/>
        <p:txBody>
          <a:bodyPr/>
          <a:lstStyle/>
          <a:p>
            <a:endParaRPr lang="en-US"/>
          </a:p>
        </p:txBody>
      </p:sp>
      <p:sp>
        <p:nvSpPr>
          <p:cNvPr id="5" name="슬라이드 번호 개체 틀 4">
            <a:extLst>
              <a:ext uri="{FF2B5EF4-FFF2-40B4-BE49-F238E27FC236}">
                <a16:creationId xmlns:a16="http://schemas.microsoft.com/office/drawing/2014/main" id="{940E86D9-06A5-423D-9C31-F9F01177E1DF}"/>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1642341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000617D2-FE63-4DB6-BD5C-11EE21791A69}"/>
              </a:ext>
            </a:extLst>
          </p:cNvPr>
          <p:cNvSpPr>
            <a:spLocks noGrp="1"/>
          </p:cNvSpPr>
          <p:nvPr>
            <p:ph type="dt" sz="half" idx="10"/>
          </p:nvPr>
        </p:nvSpPr>
        <p:spPr/>
        <p:txBody>
          <a:bodyPr/>
          <a:lstStyle/>
          <a:p>
            <a:fld id="{6B51CB8E-6F81-4EA9-97B5-248BF9D22C8A}" type="datetimeFigureOut">
              <a:rPr lang="en-US" smtClean="0"/>
              <a:t>4/11/2018</a:t>
            </a:fld>
            <a:endParaRPr lang="en-US"/>
          </a:p>
        </p:txBody>
      </p:sp>
      <p:sp>
        <p:nvSpPr>
          <p:cNvPr id="3" name="바닥글 개체 틀 2">
            <a:extLst>
              <a:ext uri="{FF2B5EF4-FFF2-40B4-BE49-F238E27FC236}">
                <a16:creationId xmlns:a16="http://schemas.microsoft.com/office/drawing/2014/main" id="{1711279F-9A6E-47B3-9E75-B09142F8F915}"/>
              </a:ext>
            </a:extLst>
          </p:cNvPr>
          <p:cNvSpPr>
            <a:spLocks noGrp="1"/>
          </p:cNvSpPr>
          <p:nvPr>
            <p:ph type="ftr" sz="quarter" idx="11"/>
          </p:nvPr>
        </p:nvSpPr>
        <p:spPr/>
        <p:txBody>
          <a:bodyPr/>
          <a:lstStyle/>
          <a:p>
            <a:endParaRPr lang="en-US"/>
          </a:p>
        </p:txBody>
      </p:sp>
      <p:sp>
        <p:nvSpPr>
          <p:cNvPr id="4" name="슬라이드 번호 개체 틀 3">
            <a:extLst>
              <a:ext uri="{FF2B5EF4-FFF2-40B4-BE49-F238E27FC236}">
                <a16:creationId xmlns:a16="http://schemas.microsoft.com/office/drawing/2014/main" id="{FCC0ED18-147D-426B-9BDD-47F0CE69CC37}"/>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177732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74A789-8FA9-42C2-BEFB-69AD8A34321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BCE60AB4-FE26-42E4-A180-FA71B0343B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텍스트 개체 틀 3">
            <a:extLst>
              <a:ext uri="{FF2B5EF4-FFF2-40B4-BE49-F238E27FC236}">
                <a16:creationId xmlns:a16="http://schemas.microsoft.com/office/drawing/2014/main" id="{2B10925E-B44B-4012-8EC7-A74A62A742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05E7592C-F6DE-4074-8536-7C84DF98C4F4}"/>
              </a:ext>
            </a:extLst>
          </p:cNvPr>
          <p:cNvSpPr>
            <a:spLocks noGrp="1"/>
          </p:cNvSpPr>
          <p:nvPr>
            <p:ph type="dt" sz="half" idx="10"/>
          </p:nvPr>
        </p:nvSpPr>
        <p:spPr/>
        <p:txBody>
          <a:bodyPr/>
          <a:lstStyle/>
          <a:p>
            <a:fld id="{6B51CB8E-6F81-4EA9-97B5-248BF9D22C8A}" type="datetimeFigureOut">
              <a:rPr lang="en-US" smtClean="0"/>
              <a:t>4/11/2018</a:t>
            </a:fld>
            <a:endParaRPr lang="en-US"/>
          </a:p>
        </p:txBody>
      </p:sp>
      <p:sp>
        <p:nvSpPr>
          <p:cNvPr id="6" name="바닥글 개체 틀 5">
            <a:extLst>
              <a:ext uri="{FF2B5EF4-FFF2-40B4-BE49-F238E27FC236}">
                <a16:creationId xmlns:a16="http://schemas.microsoft.com/office/drawing/2014/main" id="{8BFFF679-1D3C-43D1-879D-9C72BEF3F3F5}"/>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80A742E1-198A-4145-A47C-D4260E3C8138}"/>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40021617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E69BCFA-8E3D-45E0-A5E3-B6C5C7EAF26B}"/>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그림 개체 틀 2">
            <a:extLst>
              <a:ext uri="{FF2B5EF4-FFF2-40B4-BE49-F238E27FC236}">
                <a16:creationId xmlns:a16="http://schemas.microsoft.com/office/drawing/2014/main" id="{A4E60FB5-BCE8-4367-A632-8ACED77684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텍스트 개체 틀 3">
            <a:extLst>
              <a:ext uri="{FF2B5EF4-FFF2-40B4-BE49-F238E27FC236}">
                <a16:creationId xmlns:a16="http://schemas.microsoft.com/office/drawing/2014/main" id="{AE884AB8-4C1E-4530-9662-D640EA6EF7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142870E-9785-42DB-AFAE-67F54B4C5585}"/>
              </a:ext>
            </a:extLst>
          </p:cNvPr>
          <p:cNvSpPr>
            <a:spLocks noGrp="1"/>
          </p:cNvSpPr>
          <p:nvPr>
            <p:ph type="dt" sz="half" idx="10"/>
          </p:nvPr>
        </p:nvSpPr>
        <p:spPr/>
        <p:txBody>
          <a:bodyPr/>
          <a:lstStyle/>
          <a:p>
            <a:fld id="{6B51CB8E-6F81-4EA9-97B5-248BF9D22C8A}" type="datetimeFigureOut">
              <a:rPr lang="en-US" smtClean="0"/>
              <a:t>4/11/2018</a:t>
            </a:fld>
            <a:endParaRPr lang="en-US"/>
          </a:p>
        </p:txBody>
      </p:sp>
      <p:sp>
        <p:nvSpPr>
          <p:cNvPr id="6" name="바닥글 개체 틀 5">
            <a:extLst>
              <a:ext uri="{FF2B5EF4-FFF2-40B4-BE49-F238E27FC236}">
                <a16:creationId xmlns:a16="http://schemas.microsoft.com/office/drawing/2014/main" id="{894BBD24-2034-4783-814F-E89080E8BF95}"/>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DE4CF8DE-F01A-4779-9306-48C82822047E}"/>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6240449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B82F0D-D432-49E7-9257-67F148EFBE20}"/>
              </a:ext>
            </a:extLst>
          </p:cNvPr>
          <p:cNvSpPr>
            <a:spLocks noGrp="1"/>
          </p:cNvSpPr>
          <p:nvPr>
            <p:ph type="title"/>
          </p:nvPr>
        </p:nvSpPr>
        <p:spPr/>
        <p:txBody>
          <a:bodyPr/>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50BB3D6E-B8FE-40AC-9CE1-EE9EAC32405E}"/>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6C986245-99D4-4649-AC16-BA8FCD2187BF}"/>
              </a:ext>
            </a:extLst>
          </p:cNvPr>
          <p:cNvSpPr>
            <a:spLocks noGrp="1"/>
          </p:cNvSpPr>
          <p:nvPr>
            <p:ph type="dt" sz="half" idx="10"/>
          </p:nvPr>
        </p:nvSpPr>
        <p:spPr/>
        <p:txBody>
          <a:bodyPr/>
          <a:lstStyle/>
          <a:p>
            <a:fld id="{6B51CB8E-6F81-4EA9-97B5-248BF9D22C8A}" type="datetimeFigureOut">
              <a:rPr lang="en-US" smtClean="0"/>
              <a:t>4/11/2018</a:t>
            </a:fld>
            <a:endParaRPr lang="en-US"/>
          </a:p>
        </p:txBody>
      </p:sp>
      <p:sp>
        <p:nvSpPr>
          <p:cNvPr id="5" name="바닥글 개체 틀 4">
            <a:extLst>
              <a:ext uri="{FF2B5EF4-FFF2-40B4-BE49-F238E27FC236}">
                <a16:creationId xmlns:a16="http://schemas.microsoft.com/office/drawing/2014/main" id="{05575F22-0CA1-46F3-8E0C-39BE6690750D}"/>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B40E33A0-8EEF-46E0-BCCB-52BD11470EF7}"/>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5131457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13BE6CC-C1FF-4C17-B34B-0A76B083633E}"/>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A4585AA7-3746-4B4D-AF4D-FCC51BCC64BD}"/>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6E4FA8AE-CD0B-461D-82D3-C07B14B5B226}"/>
              </a:ext>
            </a:extLst>
          </p:cNvPr>
          <p:cNvSpPr>
            <a:spLocks noGrp="1"/>
          </p:cNvSpPr>
          <p:nvPr>
            <p:ph type="dt" sz="half" idx="10"/>
          </p:nvPr>
        </p:nvSpPr>
        <p:spPr/>
        <p:txBody>
          <a:bodyPr/>
          <a:lstStyle/>
          <a:p>
            <a:fld id="{6B51CB8E-6F81-4EA9-97B5-248BF9D22C8A}" type="datetimeFigureOut">
              <a:rPr lang="en-US" smtClean="0"/>
              <a:t>4/11/2018</a:t>
            </a:fld>
            <a:endParaRPr lang="en-US"/>
          </a:p>
        </p:txBody>
      </p:sp>
      <p:sp>
        <p:nvSpPr>
          <p:cNvPr id="5" name="바닥글 개체 틀 4">
            <a:extLst>
              <a:ext uri="{FF2B5EF4-FFF2-40B4-BE49-F238E27FC236}">
                <a16:creationId xmlns:a16="http://schemas.microsoft.com/office/drawing/2014/main" id="{E224693C-45D0-4197-81DE-EFF297EB1530}"/>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52520C0C-F115-4D8E-9B96-6D53880C9C33}"/>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797209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fld id="{6B51CB8E-6F81-4EA9-97B5-248BF9D22C8A}" type="datetimeFigureOut">
              <a:rPr lang="en-US" smtClean="0"/>
              <a:t>4/11/2018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ADDC7EB3-5AE8-4FED-A667-9442F52E7975}" type="slidenum">
              <a:rPr lang="en-US" smtClean="0"/>
              <a:t>‹#›</a:t>
            </a:fld>
            <a:endParaRPr lang="en-US"/>
          </a:p>
        </p:txBody>
      </p:sp>
    </p:spTree>
    <p:extLst>
      <p:ext uri="{BB962C8B-B14F-4D97-AF65-F5344CB8AC3E}">
        <p14:creationId xmlns:p14="http://schemas.microsoft.com/office/powerpoint/2010/main" val="398897856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3279CF3A-34F9-4D70-B5AF-11E9FE85AF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BFEA94A1-E614-4C83-97E7-4191D86595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2B4E1FAA-6D6A-4AA7-9C6D-935F7F5DF9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51CB8E-6F81-4EA9-97B5-248BF9D22C8A}" type="datetimeFigureOut">
              <a:rPr lang="en-US" smtClean="0"/>
              <a:t>4/11/2018</a:t>
            </a:fld>
            <a:endParaRPr lang="en-US"/>
          </a:p>
        </p:txBody>
      </p:sp>
      <p:sp>
        <p:nvSpPr>
          <p:cNvPr id="5" name="바닥글 개체 틀 4">
            <a:extLst>
              <a:ext uri="{FF2B5EF4-FFF2-40B4-BE49-F238E27FC236}">
                <a16:creationId xmlns:a16="http://schemas.microsoft.com/office/drawing/2014/main" id="{CF9DAEA3-9658-4897-9B7E-6310FDF243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슬라이드 번호 개체 틀 5">
            <a:extLst>
              <a:ext uri="{FF2B5EF4-FFF2-40B4-BE49-F238E27FC236}">
                <a16:creationId xmlns:a16="http://schemas.microsoft.com/office/drawing/2014/main" id="{8B099C83-9D8F-49C9-BAC8-4DA77C413E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DC7EB3-5AE8-4FED-A667-9442F52E7975}" type="slidenum">
              <a:rPr lang="en-US" smtClean="0"/>
              <a:t>‹#›</a:t>
            </a:fld>
            <a:endParaRPr lang="en-US"/>
          </a:p>
        </p:txBody>
      </p:sp>
    </p:spTree>
    <p:extLst>
      <p:ext uri="{BB962C8B-B14F-4D97-AF65-F5344CB8AC3E}">
        <p14:creationId xmlns:p14="http://schemas.microsoft.com/office/powerpoint/2010/main" val="176567202"/>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2.png"/><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20.png"/><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76D051-E4B5-482E-B56D-9743B8F63B61}"/>
              </a:ext>
            </a:extLst>
          </p:cNvPr>
          <p:cNvSpPr>
            <a:spLocks noGrp="1"/>
          </p:cNvSpPr>
          <p:nvPr>
            <p:ph type="ctrTitle"/>
          </p:nvPr>
        </p:nvSpPr>
        <p:spPr>
          <a:xfrm>
            <a:off x="1162975" y="1839318"/>
            <a:ext cx="9866050" cy="820029"/>
          </a:xfrm>
        </p:spPr>
        <p:txBody>
          <a:bodyPr>
            <a:noAutofit/>
          </a:bodyPr>
          <a:lstStyle/>
          <a:p>
            <a:r>
              <a:rPr lang="en-US" dirty="0"/>
              <a:t>Social Network Analysis</a:t>
            </a:r>
          </a:p>
        </p:txBody>
      </p:sp>
      <p:sp>
        <p:nvSpPr>
          <p:cNvPr id="3" name="부제목 2">
            <a:extLst>
              <a:ext uri="{FF2B5EF4-FFF2-40B4-BE49-F238E27FC236}">
                <a16:creationId xmlns:a16="http://schemas.microsoft.com/office/drawing/2014/main" id="{9C1003AF-8E5C-46DF-8B69-6FDCCB43535B}"/>
              </a:ext>
            </a:extLst>
          </p:cNvPr>
          <p:cNvSpPr>
            <a:spLocks noGrp="1"/>
          </p:cNvSpPr>
          <p:nvPr>
            <p:ph type="subTitle" idx="1"/>
          </p:nvPr>
        </p:nvSpPr>
        <p:spPr>
          <a:xfrm>
            <a:off x="3311370" y="5032044"/>
            <a:ext cx="8528482" cy="1655762"/>
          </a:xfrm>
        </p:spPr>
        <p:txBody>
          <a:bodyPr>
            <a:normAutofit fontScale="92500" lnSpcReduction="20000"/>
          </a:bodyPr>
          <a:lstStyle/>
          <a:p>
            <a:pPr algn="r"/>
            <a:r>
              <a:rPr lang="en-US" dirty="0"/>
              <a:t>Prof. </a:t>
            </a:r>
            <a:r>
              <a:rPr lang="en-US" dirty="0" err="1"/>
              <a:t>Keeheon</a:t>
            </a:r>
            <a:r>
              <a:rPr lang="en-US" dirty="0"/>
              <a:t> Lee</a:t>
            </a:r>
          </a:p>
          <a:p>
            <a:pPr algn="r"/>
            <a:endParaRPr lang="en-US" dirty="0"/>
          </a:p>
          <a:p>
            <a:pPr algn="r"/>
            <a:r>
              <a:rPr lang="en-US" dirty="0"/>
              <a:t>TA. </a:t>
            </a:r>
            <a:r>
              <a:rPr lang="en-US" dirty="0" err="1"/>
              <a:t>Jaekeun</a:t>
            </a:r>
            <a:r>
              <a:rPr lang="en-US" dirty="0"/>
              <a:t> Lee</a:t>
            </a:r>
            <a:br>
              <a:rPr lang="en-US" dirty="0"/>
            </a:br>
            <a:r>
              <a:rPr lang="en-US" dirty="0"/>
              <a:t>010-5599-9411</a:t>
            </a:r>
            <a:br>
              <a:rPr lang="en-US" dirty="0"/>
            </a:br>
            <a:r>
              <a:rPr lang="en-US" dirty="0"/>
              <a:t>agdal1125@gmail.com</a:t>
            </a:r>
          </a:p>
        </p:txBody>
      </p:sp>
      <p:sp>
        <p:nvSpPr>
          <p:cNvPr id="4" name="제목 1">
            <a:extLst>
              <a:ext uri="{FF2B5EF4-FFF2-40B4-BE49-F238E27FC236}">
                <a16:creationId xmlns:a16="http://schemas.microsoft.com/office/drawing/2014/main" id="{2FBAF3C4-19D9-4DA7-8BC8-3BB32DC4E825}"/>
              </a:ext>
            </a:extLst>
          </p:cNvPr>
          <p:cNvSpPr txBox="1">
            <a:spLocks/>
          </p:cNvSpPr>
          <p:nvPr/>
        </p:nvSpPr>
        <p:spPr>
          <a:xfrm>
            <a:off x="838200" y="2249333"/>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t>Game Theory</a:t>
            </a:r>
          </a:p>
        </p:txBody>
      </p:sp>
    </p:spTree>
    <p:extLst>
      <p:ext uri="{BB962C8B-B14F-4D97-AF65-F5344CB8AC3E}">
        <p14:creationId xmlns:p14="http://schemas.microsoft.com/office/powerpoint/2010/main" val="2579392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88DDFD7D-610F-4AE3-9776-3F48FEC95545}"/>
              </a:ext>
            </a:extLst>
          </p:cNvPr>
          <p:cNvSpPr>
            <a:spLocks noGrp="1"/>
          </p:cNvSpPr>
          <p:nvPr>
            <p:ph type="title"/>
          </p:nvPr>
        </p:nvSpPr>
        <p:spPr>
          <a:xfrm>
            <a:off x="838198" y="834501"/>
            <a:ext cx="9930415" cy="4074850"/>
          </a:xfrm>
        </p:spPr>
        <p:txBody>
          <a:bodyPr>
            <a:normAutofit/>
          </a:bodyPr>
          <a:lstStyle/>
          <a:p>
            <a:r>
              <a:rPr lang="en-US" dirty="0"/>
              <a:t>Table of Contents</a:t>
            </a:r>
            <a:br>
              <a:rPr lang="en-US" dirty="0"/>
            </a:br>
            <a:br>
              <a:rPr lang="en-US" dirty="0"/>
            </a:br>
            <a:r>
              <a:rPr lang="en-US" sz="3600" dirty="0"/>
              <a:t>- Games</a:t>
            </a:r>
            <a:br>
              <a:rPr lang="en-US" sz="3600" dirty="0"/>
            </a:br>
            <a:r>
              <a:rPr lang="en-US" sz="3600" dirty="0"/>
              <a:t>- Evolutionary Game Theory</a:t>
            </a:r>
            <a:br>
              <a:rPr lang="en-US" sz="3600" dirty="0"/>
            </a:br>
            <a:r>
              <a:rPr lang="en-US" sz="3600" dirty="0"/>
              <a:t>- Modeling </a:t>
            </a:r>
            <a:r>
              <a:rPr lang="en-US" sz="3600" dirty="0" err="1"/>
              <a:t>Netowkr</a:t>
            </a:r>
            <a:r>
              <a:rPr lang="en-US" sz="3600" dirty="0"/>
              <a:t> Traffic Using Game Theory</a:t>
            </a:r>
            <a:br>
              <a:rPr lang="en-US" sz="3600" dirty="0"/>
            </a:br>
            <a:br>
              <a:rPr lang="en-US" dirty="0"/>
            </a:br>
            <a:endParaRPr lang="en-US" dirty="0"/>
          </a:p>
        </p:txBody>
      </p:sp>
    </p:spTree>
    <p:extLst>
      <p:ext uri="{BB962C8B-B14F-4D97-AF65-F5344CB8AC3E}">
        <p14:creationId xmlns:p14="http://schemas.microsoft.com/office/powerpoint/2010/main" val="3491649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137DCE1-86B7-4714-91A2-8AEE73D48EAF}"/>
              </a:ext>
            </a:extLst>
          </p:cNvPr>
          <p:cNvSpPr>
            <a:spLocks noGrp="1"/>
          </p:cNvSpPr>
          <p:nvPr>
            <p:ph type="title"/>
          </p:nvPr>
        </p:nvSpPr>
        <p:spPr>
          <a:xfrm>
            <a:off x="4753253" y="2664442"/>
            <a:ext cx="10515600" cy="1325563"/>
          </a:xfrm>
        </p:spPr>
        <p:txBody>
          <a:bodyPr/>
          <a:lstStyle/>
          <a:p>
            <a:r>
              <a:rPr lang="en-US" b="1" dirty="0"/>
              <a:t>Games</a:t>
            </a:r>
          </a:p>
        </p:txBody>
      </p:sp>
    </p:spTree>
    <p:extLst>
      <p:ext uri="{BB962C8B-B14F-4D97-AF65-F5344CB8AC3E}">
        <p14:creationId xmlns:p14="http://schemas.microsoft.com/office/powerpoint/2010/main" val="753801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38200" y="365125"/>
            <a:ext cx="10515600" cy="1325563"/>
          </a:xfrm>
        </p:spPr>
        <p:txBody>
          <a:bodyPr/>
          <a:lstStyle/>
          <a:p>
            <a:r>
              <a:rPr lang="en-US" dirty="0"/>
              <a:t>Definition of Game</a:t>
            </a:r>
          </a:p>
        </p:txBody>
      </p:sp>
      <p:sp>
        <p:nvSpPr>
          <p:cNvPr id="3" name="내용 개체 틀 2">
            <a:extLst>
              <a:ext uri="{FF2B5EF4-FFF2-40B4-BE49-F238E27FC236}">
                <a16:creationId xmlns:a16="http://schemas.microsoft.com/office/drawing/2014/main" id="{38CC2954-A864-4FFA-8ED8-6E91B7655A77}"/>
              </a:ext>
            </a:extLst>
          </p:cNvPr>
          <p:cNvSpPr>
            <a:spLocks noGrp="1"/>
          </p:cNvSpPr>
          <p:nvPr>
            <p:ph idx="1"/>
          </p:nvPr>
        </p:nvSpPr>
        <p:spPr>
          <a:xfrm>
            <a:off x="838199" y="1580250"/>
            <a:ext cx="11208799" cy="2494599"/>
          </a:xfrm>
        </p:spPr>
        <p:txBody>
          <a:bodyPr>
            <a:normAutofit fontScale="85000" lnSpcReduction="20000"/>
          </a:bodyPr>
          <a:lstStyle/>
          <a:p>
            <a:pPr marL="0" indent="0">
              <a:buNone/>
            </a:pPr>
            <a:r>
              <a:rPr lang="en-US" i="1" dirty="0"/>
              <a:t>Basic components of a Game</a:t>
            </a:r>
          </a:p>
          <a:p>
            <a:pPr marL="0" indent="0">
              <a:buNone/>
            </a:pPr>
            <a:endParaRPr lang="en-US" dirty="0"/>
          </a:p>
          <a:p>
            <a:pPr lvl="1"/>
            <a:r>
              <a:rPr lang="en-US" dirty="0"/>
              <a:t>a set of participants are called </a:t>
            </a:r>
            <a:r>
              <a:rPr lang="en-US" b="1" i="1" dirty="0"/>
              <a:t>players</a:t>
            </a:r>
          </a:p>
          <a:p>
            <a:pPr lvl="1"/>
            <a:endParaRPr lang="en-US" b="1" i="1" dirty="0"/>
          </a:p>
          <a:p>
            <a:pPr lvl="1"/>
            <a:r>
              <a:rPr lang="en-US" dirty="0"/>
              <a:t>each player has a set of options for how to behave: </a:t>
            </a:r>
            <a:r>
              <a:rPr lang="en-US" b="1" i="1" dirty="0"/>
              <a:t>possible strategies</a:t>
            </a:r>
          </a:p>
          <a:p>
            <a:pPr lvl="1"/>
            <a:endParaRPr lang="en-US" b="1" i="1" dirty="0"/>
          </a:p>
          <a:p>
            <a:pPr lvl="1"/>
            <a:r>
              <a:rPr lang="en-US" dirty="0"/>
              <a:t>for each choice of strategies, each player receives a </a:t>
            </a:r>
            <a:r>
              <a:rPr lang="en-US" b="1" i="1" dirty="0"/>
              <a:t>payoff</a:t>
            </a:r>
            <a:r>
              <a:rPr lang="en-US" dirty="0"/>
              <a:t> that can depend on other player’s strategies </a:t>
            </a:r>
          </a:p>
          <a:p>
            <a:pPr marL="0" indent="0">
              <a:buNone/>
            </a:pPr>
            <a:endParaRPr lang="en-US" dirty="0"/>
          </a:p>
        </p:txBody>
      </p:sp>
    </p:spTree>
    <p:extLst>
      <p:ext uri="{BB962C8B-B14F-4D97-AF65-F5344CB8AC3E}">
        <p14:creationId xmlns:p14="http://schemas.microsoft.com/office/powerpoint/2010/main" val="1856746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p:txBody>
          <a:bodyPr/>
          <a:lstStyle/>
          <a:p>
            <a:r>
              <a:rPr lang="en-US" dirty="0"/>
              <a:t>Reasoning about Behavior in a Game</a:t>
            </a:r>
          </a:p>
        </p:txBody>
      </p:sp>
      <p:sp>
        <p:nvSpPr>
          <p:cNvPr id="11" name="내용 개체 틀 2">
            <a:extLst>
              <a:ext uri="{FF2B5EF4-FFF2-40B4-BE49-F238E27FC236}">
                <a16:creationId xmlns:a16="http://schemas.microsoft.com/office/drawing/2014/main" id="{D85E04DE-D679-4A27-A4D3-85C706516B6E}"/>
              </a:ext>
            </a:extLst>
          </p:cNvPr>
          <p:cNvSpPr txBox="1">
            <a:spLocks/>
          </p:cNvSpPr>
          <p:nvPr/>
        </p:nvSpPr>
        <p:spPr>
          <a:xfrm>
            <a:off x="935855" y="1589781"/>
            <a:ext cx="10631750" cy="22992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Underlying Assumptions </a:t>
            </a:r>
            <a:r>
              <a:rPr lang="en-US" sz="2400" dirty="0"/>
              <a:t> </a:t>
            </a:r>
          </a:p>
          <a:p>
            <a:pPr lvl="1"/>
            <a:endParaRPr lang="en-US" sz="2000" dirty="0"/>
          </a:p>
          <a:p>
            <a:pPr lvl="1"/>
            <a:r>
              <a:rPr lang="en-US" sz="2000" dirty="0"/>
              <a:t>Everything that a player cares about is summarized in the player’s payoffs</a:t>
            </a:r>
          </a:p>
          <a:p>
            <a:pPr lvl="1"/>
            <a:r>
              <a:rPr lang="en-US" sz="2000" dirty="0"/>
              <a:t>Each player knows everything about the structure of the game</a:t>
            </a:r>
          </a:p>
          <a:p>
            <a:pPr lvl="1"/>
            <a:r>
              <a:rPr lang="en-US" sz="2000" dirty="0"/>
              <a:t>Individual chooses a strategy to maximize his or her own payoff - </a:t>
            </a:r>
            <a:r>
              <a:rPr lang="en-US" sz="2000" b="1" i="1" dirty="0"/>
              <a:t>rationality</a:t>
            </a:r>
          </a:p>
          <a:p>
            <a:pPr marL="0" indent="0">
              <a:buFont typeface="Arial" panose="020B0604020202020204" pitchFamily="34" charset="0"/>
              <a:buNone/>
            </a:pPr>
            <a:endParaRPr lang="en-US" dirty="0"/>
          </a:p>
        </p:txBody>
      </p:sp>
      <p:sp>
        <p:nvSpPr>
          <p:cNvPr id="12" name="내용 개체 틀 2">
            <a:extLst>
              <a:ext uri="{FF2B5EF4-FFF2-40B4-BE49-F238E27FC236}">
                <a16:creationId xmlns:a16="http://schemas.microsoft.com/office/drawing/2014/main" id="{D28E7DD5-1899-4C9B-9B4E-5DBD76DBC305}"/>
              </a:ext>
            </a:extLst>
          </p:cNvPr>
          <p:cNvSpPr txBox="1">
            <a:spLocks/>
          </p:cNvSpPr>
          <p:nvPr/>
        </p:nvSpPr>
        <p:spPr>
          <a:xfrm>
            <a:off x="935855" y="3627714"/>
            <a:ext cx="2757256" cy="5454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Prisoner’s Dilemma</a:t>
            </a:r>
          </a:p>
          <a:p>
            <a:pPr marL="0" indent="0">
              <a:buFont typeface="Arial" panose="020B0604020202020204" pitchFamily="34" charset="0"/>
              <a:buNone/>
            </a:pPr>
            <a:endParaRPr lang="en-US" sz="2400" i="1" dirty="0"/>
          </a:p>
        </p:txBody>
      </p:sp>
      <p:sp>
        <p:nvSpPr>
          <p:cNvPr id="6" name="직사각형 5">
            <a:extLst>
              <a:ext uri="{FF2B5EF4-FFF2-40B4-BE49-F238E27FC236}">
                <a16:creationId xmlns:a16="http://schemas.microsoft.com/office/drawing/2014/main" id="{448EF969-7191-44F5-9AC0-21E6306D9FD1}"/>
              </a:ext>
            </a:extLst>
          </p:cNvPr>
          <p:cNvSpPr/>
          <p:nvPr/>
        </p:nvSpPr>
        <p:spPr>
          <a:xfrm>
            <a:off x="935855" y="4258029"/>
            <a:ext cx="5562600" cy="923330"/>
          </a:xfrm>
          <a:prstGeom prst="rect">
            <a:avLst/>
          </a:prstGeom>
        </p:spPr>
        <p:txBody>
          <a:bodyPr wrap="square">
            <a:spAutoFit/>
          </a:bodyPr>
          <a:lstStyle/>
          <a:p>
            <a:pPr lvl="1"/>
            <a:r>
              <a:rPr lang="en-US" dirty="0"/>
              <a:t>Problem that discuss complexity and difficulty in establishing cooperation in the face of individual self-interest</a:t>
            </a:r>
            <a:endParaRPr lang="en-US" b="1" i="1" dirty="0"/>
          </a:p>
        </p:txBody>
      </p:sp>
      <p:pic>
        <p:nvPicPr>
          <p:cNvPr id="1026" name="Picture 2" descr="prisoner dilemmaì ëí ì´ë¯¸ì§ ê²ìê²°ê³¼">
            <a:extLst>
              <a:ext uri="{FF2B5EF4-FFF2-40B4-BE49-F238E27FC236}">
                <a16:creationId xmlns:a16="http://schemas.microsoft.com/office/drawing/2014/main" id="{A25BC2E6-FF9A-464D-8A3D-3B0D776E7B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4090" y="3808908"/>
            <a:ext cx="5301170" cy="2918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2265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p:txBody>
          <a:bodyPr/>
          <a:lstStyle/>
          <a:p>
            <a:r>
              <a:rPr lang="en-US" dirty="0"/>
              <a:t>Best Responses and Dominant Strategies</a:t>
            </a:r>
          </a:p>
        </p:txBody>
      </p:sp>
      <p:sp>
        <p:nvSpPr>
          <p:cNvPr id="11" name="내용 개체 틀 2">
            <a:extLst>
              <a:ext uri="{FF2B5EF4-FFF2-40B4-BE49-F238E27FC236}">
                <a16:creationId xmlns:a16="http://schemas.microsoft.com/office/drawing/2014/main" id="{D85E04DE-D679-4A27-A4D3-85C706516B6E}"/>
              </a:ext>
            </a:extLst>
          </p:cNvPr>
          <p:cNvSpPr txBox="1">
            <a:spLocks/>
          </p:cNvSpPr>
          <p:nvPr/>
        </p:nvSpPr>
        <p:spPr>
          <a:xfrm>
            <a:off x="935855" y="1589781"/>
            <a:ext cx="7165729" cy="22992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Best Response</a:t>
            </a:r>
            <a:br>
              <a:rPr lang="en-US" sz="2400" i="1" dirty="0"/>
            </a:br>
            <a:endParaRPr lang="en-US" sz="2400" i="1" dirty="0"/>
          </a:p>
          <a:p>
            <a:pPr marL="0" indent="0">
              <a:buFont typeface="Arial" panose="020B0604020202020204" pitchFamily="34" charset="0"/>
              <a:buNone/>
            </a:pPr>
            <a:r>
              <a:rPr lang="en-US" sz="2000" dirty="0"/>
              <a:t>The best choice of one player, given a belief about what the other player will do.</a:t>
            </a:r>
          </a:p>
          <a:p>
            <a:pPr marL="0" indent="0">
              <a:buFont typeface="Arial" panose="020B0604020202020204" pitchFamily="34" charset="0"/>
              <a:buNone/>
            </a:pPr>
            <a:r>
              <a:rPr lang="en-US" sz="2000" dirty="0"/>
              <a:t>If, one choice is uniquely the best against, it is called strict best response* </a:t>
            </a:r>
          </a:p>
          <a:p>
            <a:pPr marL="0" indent="0">
              <a:buFont typeface="Arial" panose="020B0604020202020204" pitchFamily="34" charset="0"/>
              <a:buNone/>
            </a:pPr>
            <a:endParaRPr lang="en-US" sz="1800" dirty="0"/>
          </a:p>
        </p:txBody>
      </p:sp>
      <p:sp>
        <p:nvSpPr>
          <p:cNvPr id="12" name="내용 개체 틀 2">
            <a:extLst>
              <a:ext uri="{FF2B5EF4-FFF2-40B4-BE49-F238E27FC236}">
                <a16:creationId xmlns:a16="http://schemas.microsoft.com/office/drawing/2014/main" id="{D28E7DD5-1899-4C9B-9B4E-5DBD76DBC305}"/>
              </a:ext>
            </a:extLst>
          </p:cNvPr>
          <p:cNvSpPr txBox="1">
            <a:spLocks/>
          </p:cNvSpPr>
          <p:nvPr/>
        </p:nvSpPr>
        <p:spPr>
          <a:xfrm>
            <a:off x="935855" y="3889071"/>
            <a:ext cx="2757256" cy="5454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Dominant Strategy</a:t>
            </a:r>
          </a:p>
          <a:p>
            <a:pPr marL="0" indent="0">
              <a:buFont typeface="Arial" panose="020B0604020202020204" pitchFamily="34" charset="0"/>
              <a:buNone/>
            </a:pPr>
            <a:endParaRPr lang="en-US" sz="2400" i="1"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8E7FF38-6B31-4A63-9BAA-4F33D79AC961}"/>
                  </a:ext>
                </a:extLst>
              </p:cNvPr>
              <p:cNvSpPr txBox="1"/>
              <p:nvPr/>
            </p:nvSpPr>
            <p:spPr>
              <a:xfrm>
                <a:off x="3290355" y="1690688"/>
                <a:ext cx="206934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𝟏</m:t>
                          </m:r>
                        </m:sub>
                      </m:sSub>
                      <m:d>
                        <m:dPr>
                          <m:ctrlPr>
                            <a:rPr lang="en-US" b="1" i="1" smtClean="0">
                              <a:latin typeface="Cambria Math" panose="02040503050406030204" pitchFamily="18" charset="0"/>
                            </a:rPr>
                          </m:ctrlPr>
                        </m:dPr>
                        <m:e>
                          <m:r>
                            <a:rPr lang="en-US" b="1" i="1" smtClean="0">
                              <a:latin typeface="Cambria Math" panose="02040503050406030204" pitchFamily="18" charset="0"/>
                            </a:rPr>
                            <m:t>𝑺</m:t>
                          </m:r>
                          <m:r>
                            <a:rPr lang="en-US" b="1" i="1" smtClean="0">
                              <a:latin typeface="Cambria Math" panose="02040503050406030204" pitchFamily="18" charset="0"/>
                            </a:rPr>
                            <m:t>,</m:t>
                          </m:r>
                          <m:r>
                            <a:rPr lang="en-US" b="1" i="1" smtClean="0">
                              <a:latin typeface="Cambria Math" panose="02040503050406030204" pitchFamily="18" charset="0"/>
                            </a:rPr>
                            <m:t>𝑻</m:t>
                          </m:r>
                        </m:e>
                      </m:d>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𝑷</m:t>
                          </m:r>
                        </m:e>
                        <m:sub>
                          <m:r>
                            <a:rPr lang="en-US" b="1" i="1">
                              <a:latin typeface="Cambria Math" panose="02040503050406030204" pitchFamily="18" charset="0"/>
                            </a:rPr>
                            <m:t>𝟏</m:t>
                          </m:r>
                        </m:sub>
                      </m:sSub>
                      <m:d>
                        <m:dPr>
                          <m:ctrlPr>
                            <a:rPr lang="en-US" b="1" i="1">
                              <a:latin typeface="Cambria Math" panose="02040503050406030204" pitchFamily="18" charset="0"/>
                            </a:rPr>
                          </m:ctrlPr>
                        </m:dPr>
                        <m:e>
                          <m:sSup>
                            <m:sSupPr>
                              <m:ctrlPr>
                                <a:rPr lang="en-US" b="1" i="1" smtClean="0">
                                  <a:latin typeface="Cambria Math" panose="02040503050406030204" pitchFamily="18" charset="0"/>
                                </a:rPr>
                              </m:ctrlPr>
                            </m:sSupPr>
                            <m:e>
                              <m:r>
                                <a:rPr lang="en-US" b="1" i="1" smtClean="0">
                                  <a:latin typeface="Cambria Math" panose="02040503050406030204" pitchFamily="18" charset="0"/>
                                </a:rPr>
                                <m:t>𝑺</m:t>
                              </m:r>
                            </m:e>
                            <m:sup>
                              <m:r>
                                <a:rPr lang="en-US" b="1" i="1" smtClean="0">
                                  <a:latin typeface="Cambria Math" panose="02040503050406030204" pitchFamily="18" charset="0"/>
                                </a:rPr>
                                <m:t>′</m:t>
                              </m:r>
                            </m:sup>
                          </m:sSup>
                          <m:r>
                            <a:rPr lang="en-US" b="1" i="1">
                              <a:latin typeface="Cambria Math" panose="02040503050406030204" pitchFamily="18" charset="0"/>
                            </a:rPr>
                            <m:t>,</m:t>
                          </m:r>
                          <m:r>
                            <a:rPr lang="en-US" b="1" i="1">
                              <a:latin typeface="Cambria Math" panose="02040503050406030204" pitchFamily="18" charset="0"/>
                            </a:rPr>
                            <m:t>𝑻</m:t>
                          </m:r>
                        </m:e>
                      </m:d>
                    </m:oMath>
                  </m:oMathPara>
                </a14:m>
                <a:endParaRPr lang="en-US" b="1" dirty="0"/>
              </a:p>
            </p:txBody>
          </p:sp>
        </mc:Choice>
        <mc:Fallback xmlns="">
          <p:sp>
            <p:nvSpPr>
              <p:cNvPr id="3" name="TextBox 2">
                <a:extLst>
                  <a:ext uri="{FF2B5EF4-FFF2-40B4-BE49-F238E27FC236}">
                    <a16:creationId xmlns:a16="http://schemas.microsoft.com/office/drawing/2014/main" id="{48E7FF38-6B31-4A63-9BAA-4F33D79AC961}"/>
                  </a:ext>
                </a:extLst>
              </p:cNvPr>
              <p:cNvSpPr txBox="1">
                <a:spLocks noRot="1" noChangeAspect="1" noMove="1" noResize="1" noEditPoints="1" noAdjustHandles="1" noChangeArrowheads="1" noChangeShapeType="1" noTextEdit="1"/>
              </p:cNvSpPr>
              <p:nvPr/>
            </p:nvSpPr>
            <p:spPr>
              <a:xfrm>
                <a:off x="3290355" y="1690688"/>
                <a:ext cx="2069349" cy="276999"/>
              </a:xfrm>
              <a:prstGeom prst="rect">
                <a:avLst/>
              </a:prstGeom>
              <a:blipFill>
                <a:blip r:embed="rId2"/>
                <a:stretch>
                  <a:fillRect l="-2360"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0C8EC3E-AC1B-4A18-8991-8A74AFEB637C}"/>
                  </a:ext>
                </a:extLst>
              </p:cNvPr>
              <p:cNvSpPr txBox="1"/>
              <p:nvPr/>
            </p:nvSpPr>
            <p:spPr>
              <a:xfrm>
                <a:off x="5868962" y="1688053"/>
                <a:ext cx="2131866" cy="276999"/>
              </a:xfrm>
              <a:prstGeom prst="rect">
                <a:avLst/>
              </a:prstGeom>
              <a:noFill/>
            </p:spPr>
            <p:txBody>
              <a:bodyPr wrap="none" lIns="0" tIns="0" rIns="0" bIns="0" rtlCol="0">
                <a:spAutoFit/>
              </a:bodyPr>
              <a:lstStyle/>
              <a:p>
                <a:r>
                  <a:rPr lang="en-US" b="1" dirty="0"/>
                  <a:t>*</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𝟏</m:t>
                        </m:r>
                      </m:sub>
                    </m:sSub>
                    <m:d>
                      <m:dPr>
                        <m:ctrlPr>
                          <a:rPr lang="en-US" b="1" i="1" smtClean="0">
                            <a:latin typeface="Cambria Math" panose="02040503050406030204" pitchFamily="18" charset="0"/>
                          </a:rPr>
                        </m:ctrlPr>
                      </m:dPr>
                      <m:e>
                        <m:r>
                          <a:rPr lang="en-US" b="1" i="1" smtClean="0">
                            <a:latin typeface="Cambria Math" panose="02040503050406030204" pitchFamily="18" charset="0"/>
                          </a:rPr>
                          <m:t>𝑺</m:t>
                        </m:r>
                        <m:r>
                          <a:rPr lang="en-US" b="1" i="1" smtClean="0">
                            <a:latin typeface="Cambria Math" panose="02040503050406030204" pitchFamily="18" charset="0"/>
                          </a:rPr>
                          <m:t>,</m:t>
                        </m:r>
                        <m:r>
                          <a:rPr lang="en-US" b="1" i="1" smtClean="0">
                            <a:latin typeface="Cambria Math" panose="02040503050406030204" pitchFamily="18" charset="0"/>
                          </a:rPr>
                          <m:t>𝑻</m:t>
                        </m:r>
                      </m:e>
                    </m:d>
                    <m:r>
                      <a:rPr lang="en-US" b="1" i="1" smtClean="0">
                        <a:latin typeface="Cambria Math" panose="02040503050406030204" pitchFamily="18" charset="0"/>
                      </a:rPr>
                      <m:t>&gt;</m:t>
                    </m:r>
                    <m:sSub>
                      <m:sSubPr>
                        <m:ctrlPr>
                          <a:rPr lang="en-US" b="1" i="1">
                            <a:latin typeface="Cambria Math" panose="02040503050406030204" pitchFamily="18" charset="0"/>
                          </a:rPr>
                        </m:ctrlPr>
                      </m:sSubPr>
                      <m:e>
                        <m:r>
                          <a:rPr lang="en-US" b="1" i="1">
                            <a:latin typeface="Cambria Math" panose="02040503050406030204" pitchFamily="18" charset="0"/>
                          </a:rPr>
                          <m:t>𝑷</m:t>
                        </m:r>
                      </m:e>
                      <m:sub>
                        <m:r>
                          <a:rPr lang="en-US" b="1" i="1">
                            <a:latin typeface="Cambria Math" panose="02040503050406030204" pitchFamily="18" charset="0"/>
                          </a:rPr>
                          <m:t>𝟏</m:t>
                        </m:r>
                      </m:sub>
                    </m:sSub>
                    <m:d>
                      <m:dPr>
                        <m:ctrlPr>
                          <a:rPr lang="en-US" b="1" i="1">
                            <a:latin typeface="Cambria Math" panose="02040503050406030204" pitchFamily="18" charset="0"/>
                          </a:rPr>
                        </m:ctrlPr>
                      </m:dPr>
                      <m:e>
                        <m:sSup>
                          <m:sSupPr>
                            <m:ctrlPr>
                              <a:rPr lang="en-US" b="1" i="1" smtClean="0">
                                <a:latin typeface="Cambria Math" panose="02040503050406030204" pitchFamily="18" charset="0"/>
                              </a:rPr>
                            </m:ctrlPr>
                          </m:sSupPr>
                          <m:e>
                            <m:r>
                              <a:rPr lang="en-US" b="1" i="1" smtClean="0">
                                <a:latin typeface="Cambria Math" panose="02040503050406030204" pitchFamily="18" charset="0"/>
                              </a:rPr>
                              <m:t>𝑺</m:t>
                            </m:r>
                          </m:e>
                          <m:sup>
                            <m:r>
                              <a:rPr lang="en-US" b="1" i="1" smtClean="0">
                                <a:latin typeface="Cambria Math" panose="02040503050406030204" pitchFamily="18" charset="0"/>
                              </a:rPr>
                              <m:t>′</m:t>
                            </m:r>
                          </m:sup>
                        </m:sSup>
                        <m:r>
                          <a:rPr lang="en-US" b="1" i="1">
                            <a:latin typeface="Cambria Math" panose="02040503050406030204" pitchFamily="18" charset="0"/>
                          </a:rPr>
                          <m:t>,</m:t>
                        </m:r>
                        <m:r>
                          <a:rPr lang="en-US" b="1" i="1">
                            <a:latin typeface="Cambria Math" panose="02040503050406030204" pitchFamily="18" charset="0"/>
                          </a:rPr>
                          <m:t>𝑻</m:t>
                        </m:r>
                      </m:e>
                    </m:d>
                  </m:oMath>
                </a14:m>
                <a:endParaRPr lang="en-US" b="1" dirty="0"/>
              </a:p>
            </p:txBody>
          </p:sp>
        </mc:Choice>
        <mc:Fallback xmlns="">
          <p:sp>
            <p:nvSpPr>
              <p:cNvPr id="8" name="TextBox 7">
                <a:extLst>
                  <a:ext uri="{FF2B5EF4-FFF2-40B4-BE49-F238E27FC236}">
                    <a16:creationId xmlns:a16="http://schemas.microsoft.com/office/drawing/2014/main" id="{C0C8EC3E-AC1B-4A18-8991-8A74AFEB637C}"/>
                  </a:ext>
                </a:extLst>
              </p:cNvPr>
              <p:cNvSpPr txBox="1">
                <a:spLocks noRot="1" noChangeAspect="1" noMove="1" noResize="1" noEditPoints="1" noAdjustHandles="1" noChangeArrowheads="1" noChangeShapeType="1" noTextEdit="1"/>
              </p:cNvSpPr>
              <p:nvPr/>
            </p:nvSpPr>
            <p:spPr>
              <a:xfrm>
                <a:off x="5868962" y="1688053"/>
                <a:ext cx="2131866" cy="276999"/>
              </a:xfrm>
              <a:prstGeom prst="rect">
                <a:avLst/>
              </a:prstGeom>
              <a:blipFill>
                <a:blip r:embed="rId3"/>
                <a:stretch>
                  <a:fillRect l="-6877" t="-28889" b="-51111"/>
                </a:stretch>
              </a:blipFill>
            </p:spPr>
            <p:txBody>
              <a:bodyPr/>
              <a:lstStyle/>
              <a:p>
                <a:r>
                  <a:rPr lang="en-US">
                    <a:noFill/>
                  </a:rPr>
                  <a:t> </a:t>
                </a:r>
              </a:p>
            </p:txBody>
          </p:sp>
        </mc:Fallback>
      </mc:AlternateContent>
      <p:grpSp>
        <p:nvGrpSpPr>
          <p:cNvPr id="4" name="그룹 3">
            <a:extLst>
              <a:ext uri="{FF2B5EF4-FFF2-40B4-BE49-F238E27FC236}">
                <a16:creationId xmlns:a16="http://schemas.microsoft.com/office/drawing/2014/main" id="{0119120C-8FB0-477D-90DB-755CBDD2BD8B}"/>
              </a:ext>
            </a:extLst>
          </p:cNvPr>
          <p:cNvGrpSpPr/>
          <p:nvPr/>
        </p:nvGrpSpPr>
        <p:grpSpPr>
          <a:xfrm>
            <a:off x="8999454" y="1688053"/>
            <a:ext cx="2863604" cy="849352"/>
            <a:chOff x="9185394" y="3350715"/>
            <a:chExt cx="2863604" cy="849352"/>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17409D1-E64E-4462-9A5D-0432DFCDBCD0}"/>
                    </a:ext>
                  </a:extLst>
                </p:cNvPr>
                <p:cNvSpPr txBox="1"/>
                <p:nvPr/>
              </p:nvSpPr>
              <p:spPr>
                <a:xfrm>
                  <a:off x="9185394" y="3350715"/>
                  <a:ext cx="2850780" cy="276999"/>
                </a:xfrm>
                <a:prstGeom prst="rect">
                  <a:avLst/>
                </a:prstGeom>
                <a:noFill/>
              </p:spPr>
              <p:txBody>
                <a:bodyPr wrap="none" lIns="0" tIns="0" rIns="0" bIns="0" rtlCol="0">
                  <a:spAutoFit/>
                </a:bodyPr>
                <a:lstStyle/>
                <a:p>
                  <a14:m>
                    <m:oMath xmlns:m="http://schemas.openxmlformats.org/officeDocument/2006/math">
                      <m:r>
                        <a:rPr lang="en-US" b="1" i="1" smtClean="0">
                          <a:latin typeface="Cambria Math" panose="02040503050406030204" pitchFamily="18" charset="0"/>
                        </a:rPr>
                        <m:t>𝑺</m:t>
                      </m:r>
                    </m:oMath>
                  </a14:m>
                  <a:r>
                    <a:rPr lang="en-US" b="1" dirty="0"/>
                    <a:t> </a:t>
                  </a:r>
                  <a:r>
                    <a:rPr lang="en-US" dirty="0"/>
                    <a:t>= strategy chosen by player1</a:t>
                  </a:r>
                  <a:endParaRPr lang="en-US" b="1" dirty="0"/>
                </a:p>
              </p:txBody>
            </p:sp>
          </mc:Choice>
          <mc:Fallback xmlns="">
            <p:sp>
              <p:nvSpPr>
                <p:cNvPr id="9" name="TextBox 8">
                  <a:extLst>
                    <a:ext uri="{FF2B5EF4-FFF2-40B4-BE49-F238E27FC236}">
                      <a16:creationId xmlns:a16="http://schemas.microsoft.com/office/drawing/2014/main" id="{E17409D1-E64E-4462-9A5D-0432DFCDBCD0}"/>
                    </a:ext>
                  </a:extLst>
                </p:cNvPr>
                <p:cNvSpPr txBox="1">
                  <a:spLocks noRot="1" noChangeAspect="1" noMove="1" noResize="1" noEditPoints="1" noAdjustHandles="1" noChangeArrowheads="1" noChangeShapeType="1" noTextEdit="1"/>
                </p:cNvSpPr>
                <p:nvPr/>
              </p:nvSpPr>
              <p:spPr>
                <a:xfrm>
                  <a:off x="9185394" y="3350715"/>
                  <a:ext cx="2850780" cy="276999"/>
                </a:xfrm>
                <a:prstGeom prst="rect">
                  <a:avLst/>
                </a:prstGeom>
                <a:blipFill>
                  <a:blip r:embed="rId4"/>
                  <a:stretch>
                    <a:fillRect l="-2778" t="-28889" r="-4274"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73A1898-58F7-4CCB-9F22-BF5CFB240C67}"/>
                    </a:ext>
                  </a:extLst>
                </p:cNvPr>
                <p:cNvSpPr txBox="1"/>
                <p:nvPr/>
              </p:nvSpPr>
              <p:spPr>
                <a:xfrm>
                  <a:off x="9185394" y="3635456"/>
                  <a:ext cx="2863604" cy="276999"/>
                </a:xfrm>
                <a:prstGeom prst="rect">
                  <a:avLst/>
                </a:prstGeom>
                <a:noFill/>
              </p:spPr>
              <p:txBody>
                <a:bodyPr wrap="none" lIns="0" tIns="0" rIns="0" bIns="0" rtlCol="0">
                  <a:spAutoFit/>
                </a:bodyPr>
                <a:lstStyle/>
                <a:p>
                  <a14:m>
                    <m:oMath xmlns:m="http://schemas.openxmlformats.org/officeDocument/2006/math">
                      <m:r>
                        <a:rPr lang="en-US" b="1" i="1" smtClean="0">
                          <a:latin typeface="Cambria Math" panose="02040503050406030204" pitchFamily="18" charset="0"/>
                        </a:rPr>
                        <m:t>𝑻</m:t>
                      </m:r>
                    </m:oMath>
                  </a14:m>
                  <a:r>
                    <a:rPr lang="en-US" b="1" dirty="0"/>
                    <a:t> </a:t>
                  </a:r>
                  <a:r>
                    <a:rPr lang="en-US" dirty="0"/>
                    <a:t>= strategy chosen by player2</a:t>
                  </a:r>
                  <a:endParaRPr lang="en-US" b="1" dirty="0"/>
                </a:p>
              </p:txBody>
            </p:sp>
          </mc:Choice>
          <mc:Fallback xmlns="">
            <p:sp>
              <p:nvSpPr>
                <p:cNvPr id="10" name="TextBox 9">
                  <a:extLst>
                    <a:ext uri="{FF2B5EF4-FFF2-40B4-BE49-F238E27FC236}">
                      <a16:creationId xmlns:a16="http://schemas.microsoft.com/office/drawing/2014/main" id="{173A1898-58F7-4CCB-9F22-BF5CFB240C67}"/>
                    </a:ext>
                  </a:extLst>
                </p:cNvPr>
                <p:cNvSpPr txBox="1">
                  <a:spLocks noRot="1" noChangeAspect="1" noMove="1" noResize="1" noEditPoints="1" noAdjustHandles="1" noChangeArrowheads="1" noChangeShapeType="1" noTextEdit="1"/>
                </p:cNvSpPr>
                <p:nvPr/>
              </p:nvSpPr>
              <p:spPr>
                <a:xfrm>
                  <a:off x="9185394" y="3635456"/>
                  <a:ext cx="2863604" cy="276999"/>
                </a:xfrm>
                <a:prstGeom prst="rect">
                  <a:avLst/>
                </a:prstGeom>
                <a:blipFill>
                  <a:blip r:embed="rId5"/>
                  <a:stretch>
                    <a:fillRect l="-2766" t="-28889" r="-4255"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01BBD88-83AB-4A80-9B43-E9E4C9B4F5E4}"/>
                    </a:ext>
                  </a:extLst>
                </p:cNvPr>
                <p:cNvSpPr txBox="1"/>
                <p:nvPr/>
              </p:nvSpPr>
              <p:spPr>
                <a:xfrm>
                  <a:off x="9185394" y="3923068"/>
                  <a:ext cx="2130968" cy="276999"/>
                </a:xfrm>
                <a:prstGeom prst="rect">
                  <a:avLst/>
                </a:prstGeom>
                <a:noFill/>
              </p:spPr>
              <p:txBody>
                <a:bodyPr wrap="none" lIns="0" tIns="0" rIns="0" bIns="0" rtlCol="0">
                  <a:spAutoFit/>
                </a:bodyPr>
                <a:lstStyle/>
                <a:p>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𝟏</m:t>
                          </m:r>
                        </m:sub>
                      </m:sSub>
                    </m:oMath>
                  </a14:m>
                  <a:r>
                    <a:rPr lang="en-US" b="1" dirty="0"/>
                    <a:t> </a:t>
                  </a:r>
                  <a:r>
                    <a:rPr lang="en-US" dirty="0"/>
                    <a:t>= payoff to player 1</a:t>
                  </a:r>
                  <a:endParaRPr lang="en-US" b="1" dirty="0"/>
                </a:p>
              </p:txBody>
            </p:sp>
          </mc:Choice>
          <mc:Fallback xmlns="">
            <p:sp>
              <p:nvSpPr>
                <p:cNvPr id="13" name="TextBox 12">
                  <a:extLst>
                    <a:ext uri="{FF2B5EF4-FFF2-40B4-BE49-F238E27FC236}">
                      <a16:creationId xmlns:a16="http://schemas.microsoft.com/office/drawing/2014/main" id="{401BBD88-83AB-4A80-9B43-E9E4C9B4F5E4}"/>
                    </a:ext>
                  </a:extLst>
                </p:cNvPr>
                <p:cNvSpPr txBox="1">
                  <a:spLocks noRot="1" noChangeAspect="1" noMove="1" noResize="1" noEditPoints="1" noAdjustHandles="1" noChangeArrowheads="1" noChangeShapeType="1" noTextEdit="1"/>
                </p:cNvSpPr>
                <p:nvPr/>
              </p:nvSpPr>
              <p:spPr>
                <a:xfrm>
                  <a:off x="9185394" y="3923068"/>
                  <a:ext cx="2130968" cy="276999"/>
                </a:xfrm>
                <a:prstGeom prst="rect">
                  <a:avLst/>
                </a:prstGeom>
                <a:blipFill>
                  <a:blip r:embed="rId6"/>
                  <a:stretch>
                    <a:fillRect l="-3714" t="-28889" r="-5714" b="-51111"/>
                  </a:stretch>
                </a:blipFill>
              </p:spPr>
              <p:txBody>
                <a:bodyPr/>
                <a:lstStyle/>
                <a:p>
                  <a:r>
                    <a:rPr lang="en-US">
                      <a:noFill/>
                    </a:rPr>
                    <a:t> </a:t>
                  </a:r>
                </a:p>
              </p:txBody>
            </p:sp>
          </mc:Fallback>
        </mc:AlternateContent>
      </p:grpSp>
      <p:sp>
        <p:nvSpPr>
          <p:cNvPr id="5" name="직사각형 4">
            <a:extLst>
              <a:ext uri="{FF2B5EF4-FFF2-40B4-BE49-F238E27FC236}">
                <a16:creationId xmlns:a16="http://schemas.microsoft.com/office/drawing/2014/main" id="{236C4E88-33EA-4CF7-8A6E-D0781DC3FB8C}"/>
              </a:ext>
            </a:extLst>
          </p:cNvPr>
          <p:cNvSpPr/>
          <p:nvPr/>
        </p:nvSpPr>
        <p:spPr>
          <a:xfrm>
            <a:off x="935854" y="4443894"/>
            <a:ext cx="7476625" cy="400110"/>
          </a:xfrm>
          <a:prstGeom prst="rect">
            <a:avLst/>
          </a:prstGeom>
        </p:spPr>
        <p:txBody>
          <a:bodyPr wrap="square">
            <a:spAutoFit/>
          </a:bodyPr>
          <a:lstStyle/>
          <a:p>
            <a:r>
              <a:rPr lang="en-US" sz="2000" dirty="0"/>
              <a:t>Strategy that is a best response to every strategy of the other player</a:t>
            </a:r>
          </a:p>
        </p:txBody>
      </p:sp>
    </p:spTree>
    <p:extLst>
      <p:ext uri="{BB962C8B-B14F-4D97-AF65-F5344CB8AC3E}">
        <p14:creationId xmlns:p14="http://schemas.microsoft.com/office/powerpoint/2010/main" val="758009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38200" y="137047"/>
            <a:ext cx="10515600" cy="1325563"/>
          </a:xfrm>
        </p:spPr>
        <p:txBody>
          <a:bodyPr/>
          <a:lstStyle/>
          <a:p>
            <a:r>
              <a:rPr lang="en-US" dirty="0"/>
              <a:t>Nash Equilibrium</a:t>
            </a:r>
          </a:p>
        </p:txBody>
      </p:sp>
      <p:sp>
        <p:nvSpPr>
          <p:cNvPr id="23" name="직사각형 22">
            <a:extLst>
              <a:ext uri="{FF2B5EF4-FFF2-40B4-BE49-F238E27FC236}">
                <a16:creationId xmlns:a16="http://schemas.microsoft.com/office/drawing/2014/main" id="{84E5B69D-2F99-4124-BE73-3A2F0CF5C46F}"/>
              </a:ext>
            </a:extLst>
          </p:cNvPr>
          <p:cNvSpPr/>
          <p:nvPr/>
        </p:nvSpPr>
        <p:spPr>
          <a:xfrm>
            <a:off x="696157" y="1309890"/>
            <a:ext cx="10010313" cy="2246769"/>
          </a:xfrm>
          <a:prstGeom prst="rect">
            <a:avLst/>
          </a:prstGeom>
        </p:spPr>
        <p:txBody>
          <a:bodyPr wrap="square">
            <a:spAutoFit/>
          </a:bodyPr>
          <a:lstStyle/>
          <a:p>
            <a:pPr marL="342900" indent="-342900">
              <a:buFont typeface="Arial" panose="020B0604020202020204" pitchFamily="34" charset="0"/>
              <a:buChar char="•"/>
            </a:pPr>
            <a:r>
              <a:rPr lang="en-US" sz="2000" dirty="0"/>
              <a:t>When neither player in 2-player game has a strictly dominant strategy, there is another way to predict what is likely to happen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If player 1’s strategy is </a:t>
            </a:r>
            <a:r>
              <a:rPr lang="en-US" sz="2000" b="1" i="1" dirty="0"/>
              <a:t>S </a:t>
            </a:r>
            <a:r>
              <a:rPr lang="en-US" sz="2000" dirty="0"/>
              <a:t>and player 2’s strategy is </a:t>
            </a:r>
            <a:r>
              <a:rPr lang="en-US" sz="2000" b="1" i="1" dirty="0"/>
              <a:t>T </a:t>
            </a:r>
            <a:r>
              <a:rPr lang="en-US" sz="2000" dirty="0"/>
              <a:t>and both are equally best responses to each other, these pair of strategies is a </a:t>
            </a:r>
            <a:r>
              <a:rPr lang="en-US" sz="2000" i="1" dirty="0"/>
              <a:t>Nash Equilibrium</a:t>
            </a:r>
          </a:p>
          <a:p>
            <a:pPr marL="342900" indent="-342900">
              <a:buFont typeface="Arial" panose="020B0604020202020204" pitchFamily="34" charset="0"/>
              <a:buChar char="•"/>
            </a:pPr>
            <a:endParaRPr lang="en-US" sz="2000" i="1" dirty="0"/>
          </a:p>
          <a:p>
            <a:pPr marL="342900" indent="-342900">
              <a:buFont typeface="Arial" panose="020B0604020202020204" pitchFamily="34" charset="0"/>
              <a:buChar char="•"/>
            </a:pPr>
            <a:r>
              <a:rPr lang="en-US" sz="2000" dirty="0"/>
              <a:t>No players have incentives to deviate from this Equilibrium.</a:t>
            </a:r>
            <a:r>
              <a:rPr lang="en-US" sz="2000" i="1" dirty="0"/>
              <a:t> </a:t>
            </a:r>
          </a:p>
        </p:txBody>
      </p:sp>
      <p:pic>
        <p:nvPicPr>
          <p:cNvPr id="24" name="Picture 2" descr="prisoner dilemmaì ëí ì´ë¯¸ì§ ê²ìê²°ê³¼">
            <a:extLst>
              <a:ext uri="{FF2B5EF4-FFF2-40B4-BE49-F238E27FC236}">
                <a16:creationId xmlns:a16="http://schemas.microsoft.com/office/drawing/2014/main" id="{320DD1C7-1A4F-4164-978B-00EE625433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5909" y="3822282"/>
            <a:ext cx="5301170" cy="2918622"/>
          </a:xfrm>
          <a:prstGeom prst="rect">
            <a:avLst/>
          </a:prstGeom>
          <a:noFill/>
          <a:extLst>
            <a:ext uri="{909E8E84-426E-40DD-AFC4-6F175D3DCCD1}">
              <a14:hiddenFill xmlns:a14="http://schemas.microsoft.com/office/drawing/2010/main">
                <a:solidFill>
                  <a:srgbClr val="FFFFFF"/>
                </a:solidFill>
              </a14:hiddenFill>
            </a:ext>
          </a:extLst>
        </p:spPr>
      </p:pic>
      <p:sp>
        <p:nvSpPr>
          <p:cNvPr id="7" name="직사각형 6">
            <a:extLst>
              <a:ext uri="{FF2B5EF4-FFF2-40B4-BE49-F238E27FC236}">
                <a16:creationId xmlns:a16="http://schemas.microsoft.com/office/drawing/2014/main" id="{0A976FCF-94A8-44E8-B9AF-C91E9BB1286D}"/>
              </a:ext>
            </a:extLst>
          </p:cNvPr>
          <p:cNvSpPr/>
          <p:nvPr/>
        </p:nvSpPr>
        <p:spPr>
          <a:xfrm>
            <a:off x="8889895" y="4673826"/>
            <a:ext cx="1562470" cy="94991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그룹 30">
            <a:extLst>
              <a:ext uri="{FF2B5EF4-FFF2-40B4-BE49-F238E27FC236}">
                <a16:creationId xmlns:a16="http://schemas.microsoft.com/office/drawing/2014/main" id="{986D8AB3-4FAA-4CD4-BEDC-3B6669AFAA32}"/>
              </a:ext>
            </a:extLst>
          </p:cNvPr>
          <p:cNvGrpSpPr/>
          <p:nvPr/>
        </p:nvGrpSpPr>
        <p:grpSpPr>
          <a:xfrm>
            <a:off x="337005" y="4039977"/>
            <a:ext cx="5099088" cy="615005"/>
            <a:chOff x="150438" y="4161182"/>
            <a:chExt cx="5099088" cy="615005"/>
          </a:xfrm>
        </p:grpSpPr>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97812777-63A8-4E9D-B79D-187525D7716C}"/>
                    </a:ext>
                  </a:extLst>
                </p:cNvPr>
                <p:cNvSpPr txBox="1"/>
                <p:nvPr/>
              </p:nvSpPr>
              <p:spPr>
                <a:xfrm>
                  <a:off x="150438" y="4161182"/>
                  <a:ext cx="50990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𝑷𝒓𝒊𝒔𝒐𝒏𝒆𝒓</m:t>
                            </m:r>
                          </m:e>
                          <m:sub>
                            <m:r>
                              <a:rPr lang="en-US" b="1" i="1" smtClean="0">
                                <a:latin typeface="Cambria Math" panose="02040503050406030204" pitchFamily="18" charset="0"/>
                              </a:rPr>
                              <m:t>𝟏</m:t>
                            </m:r>
                          </m:sub>
                        </m:sSub>
                        <m:d>
                          <m:dPr>
                            <m:ctrlPr>
                              <a:rPr lang="en-US" b="1" i="1" smtClean="0">
                                <a:latin typeface="Cambria Math" panose="02040503050406030204" pitchFamily="18" charset="0"/>
                              </a:rPr>
                            </m:ctrlPr>
                          </m:dPr>
                          <m:e>
                            <m:r>
                              <a:rPr lang="en-US" b="1" i="1" smtClean="0">
                                <a:latin typeface="Cambria Math" panose="02040503050406030204" pitchFamily="18" charset="0"/>
                              </a:rPr>
                              <m:t>𝑪𝒐𝒏𝒇𝒆𝒔𝒔</m:t>
                            </m:r>
                            <m:r>
                              <a:rPr lang="en-US" b="1" i="1" smtClean="0">
                                <a:latin typeface="Cambria Math" panose="02040503050406030204" pitchFamily="18" charset="0"/>
                              </a:rPr>
                              <m:t>,</m:t>
                            </m:r>
                            <m:r>
                              <a:rPr lang="en-US" b="1" i="1" smtClean="0">
                                <a:latin typeface="Cambria Math" panose="02040503050406030204" pitchFamily="18" charset="0"/>
                              </a:rPr>
                              <m:t>𝑳𝒊𝒆</m:t>
                            </m:r>
                          </m:e>
                        </m:d>
                        <m:r>
                          <a:rPr lang="en-US" b="1" i="1" smtClean="0">
                            <a:latin typeface="Cambria Math" panose="02040503050406030204" pitchFamily="18" charset="0"/>
                          </a:rPr>
                          <m:t>&gt;</m:t>
                        </m:r>
                        <m:sSub>
                          <m:sSubPr>
                            <m:ctrlPr>
                              <a:rPr lang="en-US" b="1" i="1">
                                <a:latin typeface="Cambria Math" panose="02040503050406030204" pitchFamily="18" charset="0"/>
                              </a:rPr>
                            </m:ctrlPr>
                          </m:sSubPr>
                          <m:e>
                            <m:r>
                              <a:rPr lang="en-US" b="1" i="1">
                                <a:latin typeface="Cambria Math" panose="02040503050406030204" pitchFamily="18" charset="0"/>
                              </a:rPr>
                              <m:t>𝑷</m:t>
                            </m:r>
                            <m:r>
                              <a:rPr lang="en-US" b="1" i="1" smtClean="0">
                                <a:latin typeface="Cambria Math" panose="02040503050406030204" pitchFamily="18" charset="0"/>
                              </a:rPr>
                              <m:t>𝒓𝒊𝒔𝒐𝒏𝒆𝒓</m:t>
                            </m:r>
                          </m:e>
                          <m:sub>
                            <m:r>
                              <a:rPr lang="en-US" b="1" i="1">
                                <a:latin typeface="Cambria Math" panose="02040503050406030204" pitchFamily="18" charset="0"/>
                              </a:rPr>
                              <m:t>𝟏</m:t>
                            </m:r>
                          </m:sub>
                        </m:sSub>
                        <m:d>
                          <m:dPr>
                            <m:ctrlPr>
                              <a:rPr lang="en-US" b="1" i="1">
                                <a:latin typeface="Cambria Math" panose="02040503050406030204" pitchFamily="18" charset="0"/>
                              </a:rPr>
                            </m:ctrlPr>
                          </m:dPr>
                          <m:e>
                            <m:r>
                              <a:rPr lang="en-US" b="1" i="1" smtClean="0">
                                <a:latin typeface="Cambria Math" panose="02040503050406030204" pitchFamily="18" charset="0"/>
                              </a:rPr>
                              <m:t>𝑳𝒊𝒆</m:t>
                            </m:r>
                            <m:r>
                              <a:rPr lang="en-US" b="1" i="1">
                                <a:latin typeface="Cambria Math" panose="02040503050406030204" pitchFamily="18" charset="0"/>
                              </a:rPr>
                              <m:t>,</m:t>
                            </m:r>
                            <m:r>
                              <a:rPr lang="en-US" b="1" i="1" smtClean="0">
                                <a:latin typeface="Cambria Math" panose="02040503050406030204" pitchFamily="18" charset="0"/>
                              </a:rPr>
                              <m:t>𝑳𝒊𝒆</m:t>
                            </m:r>
                          </m:e>
                        </m:d>
                      </m:oMath>
                    </m:oMathPara>
                  </a14:m>
                  <a:endParaRPr lang="en-US" b="1" dirty="0"/>
                </a:p>
              </p:txBody>
            </p:sp>
          </mc:Choice>
          <mc:Fallback xmlns="">
            <p:sp>
              <p:nvSpPr>
                <p:cNvPr id="25" name="TextBox 24">
                  <a:extLst>
                    <a:ext uri="{FF2B5EF4-FFF2-40B4-BE49-F238E27FC236}">
                      <a16:creationId xmlns:a16="http://schemas.microsoft.com/office/drawing/2014/main" id="{97812777-63A8-4E9D-B79D-187525D7716C}"/>
                    </a:ext>
                  </a:extLst>
                </p:cNvPr>
                <p:cNvSpPr txBox="1">
                  <a:spLocks noRot="1" noChangeAspect="1" noMove="1" noResize="1" noEditPoints="1" noAdjustHandles="1" noChangeArrowheads="1" noChangeShapeType="1" noTextEdit="1"/>
                </p:cNvSpPr>
                <p:nvPr/>
              </p:nvSpPr>
              <p:spPr>
                <a:xfrm>
                  <a:off x="150438" y="4161182"/>
                  <a:ext cx="5099088" cy="276999"/>
                </a:xfrm>
                <a:prstGeom prst="rect">
                  <a:avLst/>
                </a:prstGeom>
                <a:blipFill>
                  <a:blip r:embed="rId3"/>
                  <a:stretch>
                    <a:fillRect l="-597" t="-4444" b="-35556"/>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5192B612-64CA-4E86-88FA-DA7089940C0D}"/>
                </a:ext>
              </a:extLst>
            </p:cNvPr>
            <p:cNvSpPr txBox="1"/>
            <p:nvPr/>
          </p:nvSpPr>
          <p:spPr>
            <a:xfrm>
              <a:off x="1589104" y="4406855"/>
              <a:ext cx="399495" cy="369332"/>
            </a:xfrm>
            <a:prstGeom prst="rect">
              <a:avLst/>
            </a:prstGeom>
            <a:noFill/>
          </p:spPr>
          <p:txBody>
            <a:bodyPr wrap="square" rtlCol="0">
              <a:spAutoFit/>
            </a:bodyPr>
            <a:lstStyle/>
            <a:p>
              <a:r>
                <a:rPr lang="en-US" dirty="0"/>
                <a:t>0</a:t>
              </a:r>
            </a:p>
          </p:txBody>
        </p:sp>
        <p:sp>
          <p:nvSpPr>
            <p:cNvPr id="28" name="TextBox 27">
              <a:extLst>
                <a:ext uri="{FF2B5EF4-FFF2-40B4-BE49-F238E27FC236}">
                  <a16:creationId xmlns:a16="http://schemas.microsoft.com/office/drawing/2014/main" id="{BD41C767-922F-4E51-BC9B-A7038689DA7D}"/>
                </a:ext>
              </a:extLst>
            </p:cNvPr>
            <p:cNvSpPr txBox="1"/>
            <p:nvPr/>
          </p:nvSpPr>
          <p:spPr>
            <a:xfrm>
              <a:off x="4060056" y="4406855"/>
              <a:ext cx="399495" cy="369332"/>
            </a:xfrm>
            <a:prstGeom prst="rect">
              <a:avLst/>
            </a:prstGeom>
            <a:noFill/>
          </p:spPr>
          <p:txBody>
            <a:bodyPr wrap="square" rtlCol="0">
              <a:spAutoFit/>
            </a:bodyPr>
            <a:lstStyle/>
            <a:p>
              <a:r>
                <a:rPr lang="en-US" dirty="0"/>
                <a:t>-1</a:t>
              </a:r>
            </a:p>
          </p:txBody>
        </p:sp>
      </p:grpSp>
      <p:grpSp>
        <p:nvGrpSpPr>
          <p:cNvPr id="32" name="그룹 31">
            <a:extLst>
              <a:ext uri="{FF2B5EF4-FFF2-40B4-BE49-F238E27FC236}">
                <a16:creationId xmlns:a16="http://schemas.microsoft.com/office/drawing/2014/main" id="{6A944725-0FCC-4438-AA85-0E8A199C1E92}"/>
              </a:ext>
            </a:extLst>
          </p:cNvPr>
          <p:cNvGrpSpPr/>
          <p:nvPr/>
        </p:nvGrpSpPr>
        <p:grpSpPr>
          <a:xfrm>
            <a:off x="337005" y="4871783"/>
            <a:ext cx="6243632" cy="615005"/>
            <a:chOff x="150438" y="4858929"/>
            <a:chExt cx="6243632" cy="615005"/>
          </a:xfrm>
        </p:grpSpPr>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1479D37-CAC1-4FA9-8B51-E5F5ED444987}"/>
                    </a:ext>
                  </a:extLst>
                </p:cNvPr>
                <p:cNvSpPr txBox="1"/>
                <p:nvPr/>
              </p:nvSpPr>
              <p:spPr>
                <a:xfrm>
                  <a:off x="150438" y="4858929"/>
                  <a:ext cx="624363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𝑷𝒓𝒊𝒔𝒐𝒏𝒆𝒓</m:t>
                            </m:r>
                          </m:e>
                          <m:sub>
                            <m:r>
                              <a:rPr lang="en-US" b="1" i="1" smtClean="0">
                                <a:latin typeface="Cambria Math" panose="02040503050406030204" pitchFamily="18" charset="0"/>
                              </a:rPr>
                              <m:t>𝟏</m:t>
                            </m:r>
                          </m:sub>
                        </m:sSub>
                        <m:d>
                          <m:dPr>
                            <m:ctrlPr>
                              <a:rPr lang="en-US" b="1" i="1" smtClean="0">
                                <a:latin typeface="Cambria Math" panose="02040503050406030204" pitchFamily="18" charset="0"/>
                              </a:rPr>
                            </m:ctrlPr>
                          </m:dPr>
                          <m:e>
                            <m:r>
                              <a:rPr lang="en-US" b="1" i="1" smtClean="0">
                                <a:latin typeface="Cambria Math" panose="02040503050406030204" pitchFamily="18" charset="0"/>
                              </a:rPr>
                              <m:t>𝑪𝒐𝒏𝒇𝒆𝒔𝒔</m:t>
                            </m:r>
                            <m:r>
                              <a:rPr lang="en-US" b="1" i="1" smtClean="0">
                                <a:latin typeface="Cambria Math" panose="02040503050406030204" pitchFamily="18" charset="0"/>
                              </a:rPr>
                              <m:t>,</m:t>
                            </m:r>
                            <m:r>
                              <a:rPr lang="en-US" b="1" i="1" smtClean="0">
                                <a:latin typeface="Cambria Math" panose="02040503050406030204" pitchFamily="18" charset="0"/>
                              </a:rPr>
                              <m:t>𝑪𝒐𝒏𝒇𝒆𝒔𝒔</m:t>
                            </m:r>
                          </m:e>
                        </m:d>
                        <m:r>
                          <a:rPr lang="en-US" b="1" i="1" smtClean="0">
                            <a:latin typeface="Cambria Math" panose="02040503050406030204" pitchFamily="18" charset="0"/>
                          </a:rPr>
                          <m:t>&gt;</m:t>
                        </m:r>
                        <m:sSub>
                          <m:sSubPr>
                            <m:ctrlPr>
                              <a:rPr lang="en-US" b="1" i="1">
                                <a:latin typeface="Cambria Math" panose="02040503050406030204" pitchFamily="18" charset="0"/>
                              </a:rPr>
                            </m:ctrlPr>
                          </m:sSubPr>
                          <m:e>
                            <m:r>
                              <a:rPr lang="en-US" b="1" i="1">
                                <a:latin typeface="Cambria Math" panose="02040503050406030204" pitchFamily="18" charset="0"/>
                              </a:rPr>
                              <m:t>𝑷</m:t>
                            </m:r>
                            <m:r>
                              <a:rPr lang="en-US" b="1" i="1" smtClean="0">
                                <a:latin typeface="Cambria Math" panose="02040503050406030204" pitchFamily="18" charset="0"/>
                              </a:rPr>
                              <m:t>𝒓𝒊𝒔𝒐𝒏𝒆𝒓</m:t>
                            </m:r>
                          </m:e>
                          <m:sub>
                            <m:r>
                              <a:rPr lang="en-US" b="1" i="1">
                                <a:latin typeface="Cambria Math" panose="02040503050406030204" pitchFamily="18" charset="0"/>
                              </a:rPr>
                              <m:t>𝟏</m:t>
                            </m:r>
                          </m:sub>
                        </m:sSub>
                        <m:d>
                          <m:dPr>
                            <m:ctrlPr>
                              <a:rPr lang="en-US" b="1" i="1">
                                <a:latin typeface="Cambria Math" panose="02040503050406030204" pitchFamily="18" charset="0"/>
                              </a:rPr>
                            </m:ctrlPr>
                          </m:dPr>
                          <m:e>
                            <m:r>
                              <a:rPr lang="en-US" b="1" i="1" smtClean="0">
                                <a:latin typeface="Cambria Math" panose="02040503050406030204" pitchFamily="18" charset="0"/>
                              </a:rPr>
                              <m:t>𝑪𝒐𝒏𝒇𝒆𝒔𝒔</m:t>
                            </m:r>
                            <m:r>
                              <a:rPr lang="en-US" b="1" i="1">
                                <a:latin typeface="Cambria Math" panose="02040503050406030204" pitchFamily="18" charset="0"/>
                              </a:rPr>
                              <m:t>,</m:t>
                            </m:r>
                            <m:r>
                              <a:rPr lang="en-US" b="1" i="1" smtClean="0">
                                <a:latin typeface="Cambria Math" panose="02040503050406030204" pitchFamily="18" charset="0"/>
                              </a:rPr>
                              <m:t>𝑳𝒊𝒆</m:t>
                            </m:r>
                          </m:e>
                        </m:d>
                      </m:oMath>
                    </m:oMathPara>
                  </a14:m>
                  <a:endParaRPr lang="en-US" b="1" dirty="0"/>
                </a:p>
              </p:txBody>
            </p:sp>
          </mc:Choice>
          <mc:Fallback xmlns="">
            <p:sp>
              <p:nvSpPr>
                <p:cNvPr id="26" name="TextBox 25">
                  <a:extLst>
                    <a:ext uri="{FF2B5EF4-FFF2-40B4-BE49-F238E27FC236}">
                      <a16:creationId xmlns:a16="http://schemas.microsoft.com/office/drawing/2014/main" id="{E1479D37-CAC1-4FA9-8B51-E5F5ED444987}"/>
                    </a:ext>
                  </a:extLst>
                </p:cNvPr>
                <p:cNvSpPr txBox="1">
                  <a:spLocks noRot="1" noChangeAspect="1" noMove="1" noResize="1" noEditPoints="1" noAdjustHandles="1" noChangeArrowheads="1" noChangeShapeType="1" noTextEdit="1"/>
                </p:cNvSpPr>
                <p:nvPr/>
              </p:nvSpPr>
              <p:spPr>
                <a:xfrm>
                  <a:off x="150438" y="4858929"/>
                  <a:ext cx="6243632" cy="276999"/>
                </a:xfrm>
                <a:prstGeom prst="rect">
                  <a:avLst/>
                </a:prstGeom>
                <a:blipFill>
                  <a:blip r:embed="rId4"/>
                  <a:stretch>
                    <a:fillRect l="-390" t="-2174" b="-32609"/>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2A807FED-36CB-458D-9C83-A72B2129F5AC}"/>
                </a:ext>
              </a:extLst>
            </p:cNvPr>
            <p:cNvSpPr txBox="1"/>
            <p:nvPr/>
          </p:nvSpPr>
          <p:spPr>
            <a:xfrm>
              <a:off x="1562470" y="5104602"/>
              <a:ext cx="399495" cy="369332"/>
            </a:xfrm>
            <a:prstGeom prst="rect">
              <a:avLst/>
            </a:prstGeom>
            <a:noFill/>
          </p:spPr>
          <p:txBody>
            <a:bodyPr wrap="square" rtlCol="0">
              <a:spAutoFit/>
            </a:bodyPr>
            <a:lstStyle/>
            <a:p>
              <a:r>
                <a:rPr lang="en-US" dirty="0"/>
                <a:t>-8</a:t>
              </a:r>
            </a:p>
          </p:txBody>
        </p:sp>
        <p:sp>
          <p:nvSpPr>
            <p:cNvPr id="30" name="TextBox 29">
              <a:extLst>
                <a:ext uri="{FF2B5EF4-FFF2-40B4-BE49-F238E27FC236}">
                  <a16:creationId xmlns:a16="http://schemas.microsoft.com/office/drawing/2014/main" id="{2484E890-0D8A-4A25-8E79-6DFDC20E4B33}"/>
                </a:ext>
              </a:extLst>
            </p:cNvPr>
            <p:cNvSpPr txBox="1"/>
            <p:nvPr/>
          </p:nvSpPr>
          <p:spPr>
            <a:xfrm>
              <a:off x="4033421" y="5104602"/>
              <a:ext cx="689498" cy="369332"/>
            </a:xfrm>
            <a:prstGeom prst="rect">
              <a:avLst/>
            </a:prstGeom>
            <a:noFill/>
          </p:spPr>
          <p:txBody>
            <a:bodyPr wrap="square" rtlCol="0">
              <a:spAutoFit/>
            </a:bodyPr>
            <a:lstStyle/>
            <a:p>
              <a:r>
                <a:rPr lang="en-US" dirty="0"/>
                <a:t>-10</a:t>
              </a:r>
            </a:p>
          </p:txBody>
        </p:sp>
      </p:grpSp>
      <p:sp>
        <p:nvSpPr>
          <p:cNvPr id="33" name="TextBox 32">
            <a:extLst>
              <a:ext uri="{FF2B5EF4-FFF2-40B4-BE49-F238E27FC236}">
                <a16:creationId xmlns:a16="http://schemas.microsoft.com/office/drawing/2014/main" id="{0C9E965F-960C-4054-9BFF-62A694094DA5}"/>
              </a:ext>
            </a:extLst>
          </p:cNvPr>
          <p:cNvSpPr txBox="1"/>
          <p:nvPr/>
        </p:nvSpPr>
        <p:spPr>
          <a:xfrm>
            <a:off x="758867" y="5797623"/>
            <a:ext cx="5399907" cy="923330"/>
          </a:xfrm>
          <a:prstGeom prst="rect">
            <a:avLst/>
          </a:prstGeom>
          <a:noFill/>
        </p:spPr>
        <p:txBody>
          <a:bodyPr wrap="square" rtlCol="0">
            <a:spAutoFit/>
          </a:bodyPr>
          <a:lstStyle/>
          <a:p>
            <a:r>
              <a:rPr lang="en-US" dirty="0"/>
              <a:t>The outcome is same for prisoner2. Thus, for both players, </a:t>
            </a:r>
            <a:r>
              <a:rPr lang="en-US" b="1" dirty="0"/>
              <a:t>confess</a:t>
            </a:r>
            <a:r>
              <a:rPr lang="en-US" dirty="0"/>
              <a:t> is a strictly dominant strategy, and the Nash Equilibrium establishes at (Confess, Confess)</a:t>
            </a:r>
            <a:endParaRPr lang="en-US" b="1" dirty="0"/>
          </a:p>
        </p:txBody>
      </p:sp>
    </p:spTree>
    <p:extLst>
      <p:ext uri="{BB962C8B-B14F-4D97-AF65-F5344CB8AC3E}">
        <p14:creationId xmlns:p14="http://schemas.microsoft.com/office/powerpoint/2010/main" val="3548914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79A317B6-2002-422D-95B9-175F079C988B}"/>
              </a:ext>
            </a:extLst>
          </p:cNvPr>
          <p:cNvPicPr>
            <a:picLocks noChangeAspect="1"/>
          </p:cNvPicPr>
          <p:nvPr/>
        </p:nvPicPr>
        <p:blipFill>
          <a:blip r:embed="rId2"/>
          <a:stretch>
            <a:fillRect/>
          </a:stretch>
        </p:blipFill>
        <p:spPr>
          <a:xfrm>
            <a:off x="5143286" y="3440625"/>
            <a:ext cx="6888421" cy="2107485"/>
          </a:xfrm>
          <a:prstGeom prst="rect">
            <a:avLst/>
          </a:prstGeom>
        </p:spPr>
      </p:pic>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38200" y="137047"/>
            <a:ext cx="10515600" cy="1325563"/>
          </a:xfrm>
        </p:spPr>
        <p:txBody>
          <a:bodyPr/>
          <a:lstStyle/>
          <a:p>
            <a:r>
              <a:rPr lang="en-US" dirty="0"/>
              <a:t>Multiple Equilibria: Coordination Games</a:t>
            </a:r>
          </a:p>
        </p:txBody>
      </p:sp>
      <p:sp>
        <p:nvSpPr>
          <p:cNvPr id="23" name="직사각형 22">
            <a:extLst>
              <a:ext uri="{FF2B5EF4-FFF2-40B4-BE49-F238E27FC236}">
                <a16:creationId xmlns:a16="http://schemas.microsoft.com/office/drawing/2014/main" id="{84E5B69D-2F99-4124-BE73-3A2F0CF5C46F}"/>
              </a:ext>
            </a:extLst>
          </p:cNvPr>
          <p:cNvSpPr/>
          <p:nvPr/>
        </p:nvSpPr>
        <p:spPr>
          <a:xfrm>
            <a:off x="696157" y="1309890"/>
            <a:ext cx="10010313" cy="1631216"/>
          </a:xfrm>
          <a:prstGeom prst="rect">
            <a:avLst/>
          </a:prstGeom>
        </p:spPr>
        <p:txBody>
          <a:bodyPr wrap="square">
            <a:spAutoFit/>
          </a:bodyPr>
          <a:lstStyle/>
          <a:p>
            <a:pPr marL="342900" indent="-342900">
              <a:buFont typeface="Arial" panose="020B0604020202020204" pitchFamily="34" charset="0"/>
              <a:buChar char="•"/>
            </a:pPr>
            <a:r>
              <a:rPr lang="en-US" sz="2000" dirty="0"/>
              <a:t>For a game with a single Nash Equilibrium, it is predictable that the players will play the strategies in this equilibrium</a:t>
            </a:r>
            <a:endParaRPr lang="en-US" sz="2000" i="1" dirty="0"/>
          </a:p>
          <a:p>
            <a:pPr marL="342900" indent="-342900">
              <a:buFont typeface="Arial" panose="020B0604020202020204" pitchFamily="34" charset="0"/>
              <a:buChar char="•"/>
            </a:pPr>
            <a:endParaRPr lang="en-US" sz="2000" i="1" dirty="0"/>
          </a:p>
          <a:p>
            <a:pPr marL="342900" indent="-342900">
              <a:buFont typeface="Arial" panose="020B0604020202020204" pitchFamily="34" charset="0"/>
              <a:buChar char="•"/>
            </a:pPr>
            <a:r>
              <a:rPr lang="en-US" sz="2000" dirty="0"/>
              <a:t>Some games however, there are multiple Nash equilibrium, which makes it difficult to predict how rational players will behave in the game</a:t>
            </a:r>
          </a:p>
        </p:txBody>
      </p:sp>
      <p:sp>
        <p:nvSpPr>
          <p:cNvPr id="16" name="직사각형 15">
            <a:extLst>
              <a:ext uri="{FF2B5EF4-FFF2-40B4-BE49-F238E27FC236}">
                <a16:creationId xmlns:a16="http://schemas.microsoft.com/office/drawing/2014/main" id="{922A3A42-DE2A-4A5E-B32C-EB31694488D6}"/>
              </a:ext>
            </a:extLst>
          </p:cNvPr>
          <p:cNvSpPr/>
          <p:nvPr/>
        </p:nvSpPr>
        <p:spPr>
          <a:xfrm>
            <a:off x="8588055" y="4425252"/>
            <a:ext cx="1718920" cy="49387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직사각형 19">
            <a:extLst>
              <a:ext uri="{FF2B5EF4-FFF2-40B4-BE49-F238E27FC236}">
                <a16:creationId xmlns:a16="http://schemas.microsoft.com/office/drawing/2014/main" id="{7902B578-45B1-4993-B671-A03AEDFD18E2}"/>
              </a:ext>
            </a:extLst>
          </p:cNvPr>
          <p:cNvSpPr/>
          <p:nvPr/>
        </p:nvSpPr>
        <p:spPr>
          <a:xfrm>
            <a:off x="10312787" y="4919121"/>
            <a:ext cx="1718920" cy="49387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1C4505B-4B7B-49DC-8F18-DAEDE6D235F9}"/>
              </a:ext>
            </a:extLst>
          </p:cNvPr>
          <p:cNvSpPr txBox="1"/>
          <p:nvPr/>
        </p:nvSpPr>
        <p:spPr>
          <a:xfrm>
            <a:off x="838199" y="3417375"/>
            <a:ext cx="4879019" cy="3170099"/>
          </a:xfrm>
          <a:prstGeom prst="rect">
            <a:avLst/>
          </a:prstGeom>
          <a:noFill/>
        </p:spPr>
        <p:txBody>
          <a:bodyPr wrap="square" rtlCol="0">
            <a:spAutoFit/>
          </a:bodyPr>
          <a:lstStyle/>
          <a:p>
            <a:r>
              <a:rPr lang="en-US" sz="2000" i="1" dirty="0"/>
              <a:t>Coordination Game </a:t>
            </a:r>
          </a:p>
          <a:p>
            <a:endParaRPr lang="en-US" sz="2000" i="1" dirty="0"/>
          </a:p>
          <a:p>
            <a:pPr marL="342900" indent="-342900">
              <a:buFont typeface="Arial" panose="020B0604020202020204" pitchFamily="34" charset="0"/>
              <a:buChar char="•"/>
            </a:pPr>
            <a:r>
              <a:rPr lang="en-US" sz="2000" i="1" dirty="0"/>
              <a:t> </a:t>
            </a:r>
            <a:r>
              <a:rPr lang="en-US" sz="2000" dirty="0"/>
              <a:t>two player’s shared goal is really to coordinate on the same strategy</a:t>
            </a:r>
          </a:p>
          <a:p>
            <a:pPr marL="342900" indent="-342900">
              <a:buFont typeface="Arial" panose="020B0604020202020204" pitchFamily="34" charset="0"/>
              <a:buChar char="•"/>
            </a:pPr>
            <a:endParaRPr lang="en-US" sz="2000" b="1" i="1" dirty="0"/>
          </a:p>
          <a:p>
            <a:pPr marL="342900" indent="-342900">
              <a:buFont typeface="Arial" panose="020B0604020202020204" pitchFamily="34" charset="0"/>
              <a:buChar char="•"/>
            </a:pPr>
            <a:r>
              <a:rPr lang="en-US" sz="2000" dirty="0"/>
              <a:t>Social convention can play an important role when choosing a strategy</a:t>
            </a:r>
          </a:p>
          <a:p>
            <a:pPr marL="342900" indent="-342900">
              <a:buFont typeface="Arial" panose="020B0604020202020204" pitchFamily="34" charset="0"/>
              <a:buChar char="•"/>
            </a:pPr>
            <a:endParaRPr lang="en-US" sz="2000" dirty="0"/>
          </a:p>
          <a:p>
            <a:r>
              <a:rPr lang="en-US" sz="2000" dirty="0"/>
              <a:t> </a:t>
            </a:r>
            <a:r>
              <a:rPr lang="en-US" sz="1600" dirty="0"/>
              <a:t>ex) drivers turn handle right when about to collide (US)</a:t>
            </a:r>
          </a:p>
          <a:p>
            <a:r>
              <a:rPr lang="en-US" sz="1600" dirty="0"/>
              <a:t>       drivers turn handle left when about to collide (UK)</a:t>
            </a:r>
            <a:endParaRPr lang="en-US" sz="2000" dirty="0"/>
          </a:p>
        </p:txBody>
      </p:sp>
    </p:spTree>
    <p:extLst>
      <p:ext uri="{BB962C8B-B14F-4D97-AF65-F5344CB8AC3E}">
        <p14:creationId xmlns:p14="http://schemas.microsoft.com/office/powerpoint/2010/main" val="1395964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38200" y="137047"/>
            <a:ext cx="10515600" cy="1325563"/>
          </a:xfrm>
        </p:spPr>
        <p:txBody>
          <a:bodyPr/>
          <a:lstStyle/>
          <a:p>
            <a:r>
              <a:rPr lang="en-US" dirty="0"/>
              <a:t>Matching Pennies – </a:t>
            </a:r>
            <a:r>
              <a:rPr lang="en-US" sz="3600" b="1" dirty="0"/>
              <a:t>zero sum game</a:t>
            </a:r>
            <a:endParaRPr lang="en-US" b="1" dirty="0"/>
          </a:p>
        </p:txBody>
      </p:sp>
      <p:sp>
        <p:nvSpPr>
          <p:cNvPr id="21" name="TextBox 20">
            <a:extLst>
              <a:ext uri="{FF2B5EF4-FFF2-40B4-BE49-F238E27FC236}">
                <a16:creationId xmlns:a16="http://schemas.microsoft.com/office/drawing/2014/main" id="{E1C4505B-4B7B-49DC-8F18-DAEDE6D235F9}"/>
              </a:ext>
            </a:extLst>
          </p:cNvPr>
          <p:cNvSpPr txBox="1"/>
          <p:nvPr/>
        </p:nvSpPr>
        <p:spPr>
          <a:xfrm>
            <a:off x="838200" y="1462610"/>
            <a:ext cx="10244959" cy="1938992"/>
          </a:xfrm>
          <a:prstGeom prst="rect">
            <a:avLst/>
          </a:prstGeom>
          <a:noFill/>
        </p:spPr>
        <p:txBody>
          <a:bodyPr wrap="square" rtlCol="0">
            <a:spAutoFit/>
          </a:bodyPr>
          <a:lstStyle/>
          <a:p>
            <a:pPr marL="342900" indent="-342900">
              <a:buFont typeface="Arial" panose="020B0604020202020204" pitchFamily="34" charset="0"/>
              <a:buChar char="•"/>
            </a:pPr>
            <a:r>
              <a:rPr lang="en-US" sz="2400" dirty="0"/>
              <a:t>Players simultaneously reveal a penny</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If both pennies show heads or tails, player 1 pays player 2</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If both pennies are different, player 2 pays player 1</a:t>
            </a:r>
            <a:endParaRPr lang="en-US" sz="2000" dirty="0"/>
          </a:p>
        </p:txBody>
      </p:sp>
      <p:graphicFrame>
        <p:nvGraphicFramePr>
          <p:cNvPr id="3" name="표 2">
            <a:extLst>
              <a:ext uri="{FF2B5EF4-FFF2-40B4-BE49-F238E27FC236}">
                <a16:creationId xmlns:a16="http://schemas.microsoft.com/office/drawing/2014/main" id="{C27FE2F5-A94E-4D3C-B9AB-22FC98CA82A2}"/>
              </a:ext>
            </a:extLst>
          </p:cNvPr>
          <p:cNvGraphicFramePr>
            <a:graphicFrameLocks noGrp="1"/>
          </p:cNvGraphicFramePr>
          <p:nvPr>
            <p:extLst>
              <p:ext uri="{D42A27DB-BD31-4B8C-83A1-F6EECF244321}">
                <p14:modId xmlns:p14="http://schemas.microsoft.com/office/powerpoint/2010/main" val="582870972"/>
              </p:ext>
            </p:extLst>
          </p:nvPr>
        </p:nvGraphicFramePr>
        <p:xfrm>
          <a:off x="-362129" y="4727165"/>
          <a:ext cx="8989932" cy="1720655"/>
        </p:xfrm>
        <a:graphic>
          <a:graphicData uri="http://schemas.openxmlformats.org/drawingml/2006/table">
            <a:tbl>
              <a:tblPr firstRow="1" bandRow="1">
                <a:tableStyleId>{5C22544A-7EE6-4342-B048-85BDC9FD1C3A}</a:tableStyleId>
              </a:tblPr>
              <a:tblGrid>
                <a:gridCol w="3639406">
                  <a:extLst>
                    <a:ext uri="{9D8B030D-6E8A-4147-A177-3AD203B41FA5}">
                      <a16:colId xmlns:a16="http://schemas.microsoft.com/office/drawing/2014/main" val="1578897497"/>
                    </a:ext>
                  </a:extLst>
                </a:gridCol>
                <a:gridCol w="855560">
                  <a:extLst>
                    <a:ext uri="{9D8B030D-6E8A-4147-A177-3AD203B41FA5}">
                      <a16:colId xmlns:a16="http://schemas.microsoft.com/office/drawing/2014/main" val="2674801575"/>
                    </a:ext>
                  </a:extLst>
                </a:gridCol>
                <a:gridCol w="2247483">
                  <a:extLst>
                    <a:ext uri="{9D8B030D-6E8A-4147-A177-3AD203B41FA5}">
                      <a16:colId xmlns:a16="http://schemas.microsoft.com/office/drawing/2014/main" val="1651428689"/>
                    </a:ext>
                  </a:extLst>
                </a:gridCol>
                <a:gridCol w="2247483">
                  <a:extLst>
                    <a:ext uri="{9D8B030D-6E8A-4147-A177-3AD203B41FA5}">
                      <a16:colId xmlns:a16="http://schemas.microsoft.com/office/drawing/2014/main" val="1152776637"/>
                    </a:ext>
                  </a:extLst>
                </a:gridCol>
              </a:tblGrid>
              <a:tr h="385399">
                <a:tc>
                  <a:txBody>
                    <a:bodyPr/>
                    <a:lstStyle/>
                    <a:p>
                      <a:endParaRPr lang="en-US" dirty="0"/>
                    </a:p>
                  </a:txBody>
                  <a:tcPr>
                    <a:noFill/>
                  </a:tcPr>
                </a:tc>
                <a:tc>
                  <a:txBody>
                    <a:bodyPr/>
                    <a:lstStyle/>
                    <a:p>
                      <a:endParaRPr lang="en-US"/>
                    </a:p>
                  </a:txBody>
                  <a:tcPr>
                    <a:noFill/>
                  </a:tcPr>
                </a:tc>
                <a:tc gridSpan="2">
                  <a:txBody>
                    <a:bodyPr/>
                    <a:lstStyle/>
                    <a:p>
                      <a:pPr algn="ctr"/>
                      <a:r>
                        <a:rPr lang="en-US" dirty="0">
                          <a:solidFill>
                            <a:schemeClr val="tx1"/>
                          </a:solidFill>
                        </a:rPr>
                        <a:t>Player 2</a:t>
                      </a:r>
                    </a:p>
                  </a:txBody>
                  <a:tcPr>
                    <a:noFill/>
                  </a:tcPr>
                </a:tc>
                <a:tc hMerge="1">
                  <a:txBody>
                    <a:bodyPr/>
                    <a:lstStyle/>
                    <a:p>
                      <a:endParaRPr lang="en-US" dirty="0"/>
                    </a:p>
                  </a:txBody>
                  <a:tcPr>
                    <a:noFill/>
                  </a:tcPr>
                </a:tc>
                <a:extLst>
                  <a:ext uri="{0D108BD9-81ED-4DB2-BD59-A6C34878D82A}">
                    <a16:rowId xmlns:a16="http://schemas.microsoft.com/office/drawing/2014/main" val="1375946987"/>
                  </a:ext>
                </a:extLst>
              </a:tr>
              <a:tr h="239697">
                <a:tc>
                  <a:txBody>
                    <a:bodyPr/>
                    <a:lstStyle/>
                    <a:p>
                      <a:endParaRPr lang="en-US" dirty="0"/>
                    </a:p>
                  </a:txBody>
                  <a:tcPr>
                    <a:noFill/>
                  </a:tcPr>
                </a:tc>
                <a:tc>
                  <a:txBody>
                    <a:bodyPr/>
                    <a:lstStyle/>
                    <a:p>
                      <a:endParaRPr lang="en-US" dirty="0"/>
                    </a:p>
                  </a:txBody>
                  <a:tcPr>
                    <a:noFill/>
                  </a:tcPr>
                </a:tc>
                <a:tc>
                  <a:txBody>
                    <a:bodyPr/>
                    <a:lstStyle/>
                    <a:p>
                      <a:pPr algn="ctr"/>
                      <a:r>
                        <a:rPr lang="en-US" dirty="0"/>
                        <a:t>Heads</a:t>
                      </a:r>
                    </a:p>
                  </a:txBody>
                  <a:tcPr anchor="ctr">
                    <a:lnB w="12700" cap="flat" cmpd="sng" algn="ctr">
                      <a:solidFill>
                        <a:schemeClr val="tx1"/>
                      </a:solidFill>
                      <a:prstDash val="solid"/>
                      <a:round/>
                      <a:headEnd type="none" w="med" len="med"/>
                      <a:tailEnd type="none" w="med" len="med"/>
                    </a:lnB>
                    <a:noFill/>
                  </a:tcPr>
                </a:tc>
                <a:tc>
                  <a:txBody>
                    <a:bodyPr/>
                    <a:lstStyle/>
                    <a:p>
                      <a:pPr algn="ctr"/>
                      <a:r>
                        <a:rPr lang="en-US" dirty="0"/>
                        <a:t>Tails</a:t>
                      </a:r>
                    </a:p>
                  </a:txBody>
                  <a:tcPr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4641097"/>
                  </a:ext>
                </a:extLst>
              </a:tr>
              <a:tr h="484748">
                <a:tc rowSpan="2">
                  <a:txBody>
                    <a:bodyPr/>
                    <a:lstStyle/>
                    <a:p>
                      <a:pPr algn="r"/>
                      <a:r>
                        <a:rPr lang="en-US" b="1" dirty="0">
                          <a:solidFill>
                            <a:schemeClr val="tx1"/>
                          </a:solidFill>
                        </a:rPr>
                        <a:t>Player 1</a:t>
                      </a:r>
                    </a:p>
                  </a:txBody>
                  <a:tcPr anchor="ctr">
                    <a:noFill/>
                  </a:tcPr>
                </a:tc>
                <a:tc>
                  <a:txBody>
                    <a:bodyPr/>
                    <a:lstStyle/>
                    <a:p>
                      <a:pPr algn="r"/>
                      <a:r>
                        <a:rPr lang="en-US" dirty="0"/>
                        <a:t>Heads</a:t>
                      </a:r>
                    </a:p>
                  </a:txBody>
                  <a:tcPr>
                    <a:lnR w="12700" cap="flat" cmpd="sng" algn="ctr">
                      <a:solidFill>
                        <a:schemeClr val="tx1"/>
                      </a:solidFill>
                      <a:prstDash val="solid"/>
                      <a:round/>
                      <a:headEnd type="none" w="med" len="med"/>
                      <a:tailEnd type="none" w="med" len="med"/>
                    </a:lnR>
                    <a:noFill/>
                  </a:tcPr>
                </a:tc>
                <a:tc>
                  <a:txBody>
                    <a:bodyPr/>
                    <a:lstStyle/>
                    <a:p>
                      <a:pPr algn="ctr"/>
                      <a:r>
                        <a:rPr lang="en-US" dirty="0"/>
                        <a:t>-1, 1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1 ,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1251569"/>
                  </a:ext>
                </a:extLst>
              </a:tr>
              <a:tr h="484748">
                <a:tc vMerge="1">
                  <a:txBody>
                    <a:bodyPr/>
                    <a:lstStyle/>
                    <a:p>
                      <a:endParaRPr lang="en-US" dirty="0"/>
                    </a:p>
                  </a:txBody>
                  <a:tcPr>
                    <a:noFill/>
                  </a:tcPr>
                </a:tc>
                <a:tc>
                  <a:txBody>
                    <a:bodyPr/>
                    <a:lstStyle/>
                    <a:p>
                      <a:pPr algn="r"/>
                      <a:r>
                        <a:rPr lang="en-US" dirty="0"/>
                        <a:t>Tails</a:t>
                      </a:r>
                    </a:p>
                  </a:txBody>
                  <a:tcPr>
                    <a:lnR w="12700" cap="flat" cmpd="sng" algn="ctr">
                      <a:solidFill>
                        <a:schemeClr val="tx1"/>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 ,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051726"/>
                  </a:ext>
                </a:extLst>
              </a:tr>
            </a:tbl>
          </a:graphicData>
        </a:graphic>
      </p:graphicFrame>
      <p:sp>
        <p:nvSpPr>
          <p:cNvPr id="4" name="직사각형 3">
            <a:extLst>
              <a:ext uri="{FF2B5EF4-FFF2-40B4-BE49-F238E27FC236}">
                <a16:creationId xmlns:a16="http://schemas.microsoft.com/office/drawing/2014/main" id="{5C6EBE87-482C-4930-9657-720821D2952F}"/>
              </a:ext>
            </a:extLst>
          </p:cNvPr>
          <p:cNvSpPr/>
          <p:nvPr/>
        </p:nvSpPr>
        <p:spPr>
          <a:xfrm>
            <a:off x="1069366" y="3709638"/>
            <a:ext cx="9292737" cy="369332"/>
          </a:xfrm>
          <a:prstGeom prst="rect">
            <a:avLst/>
          </a:prstGeom>
        </p:spPr>
        <p:txBody>
          <a:bodyPr wrap="none">
            <a:spAutoFit/>
          </a:bodyPr>
          <a:lstStyle/>
          <a:p>
            <a:r>
              <a:rPr lang="en-US" b="1" dirty="0"/>
              <a:t>zero sum game: </a:t>
            </a:r>
            <a:r>
              <a:rPr lang="en-US" dirty="0"/>
              <a:t>game with property that the payoffs of the players sum to zero in every outcome</a:t>
            </a:r>
          </a:p>
        </p:txBody>
      </p:sp>
    </p:spTree>
    <p:extLst>
      <p:ext uri="{BB962C8B-B14F-4D97-AF65-F5344CB8AC3E}">
        <p14:creationId xmlns:p14="http://schemas.microsoft.com/office/powerpoint/2010/main" val="1551374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38200" y="137047"/>
            <a:ext cx="10515600" cy="1325563"/>
          </a:xfrm>
        </p:spPr>
        <p:txBody>
          <a:bodyPr/>
          <a:lstStyle/>
          <a:p>
            <a:r>
              <a:rPr lang="en-US" dirty="0"/>
              <a:t>Pure Strategy vs Mixed Strategy</a:t>
            </a:r>
          </a:p>
        </p:txBody>
      </p:sp>
      <p:sp>
        <p:nvSpPr>
          <p:cNvPr id="21" name="TextBox 20">
            <a:extLst>
              <a:ext uri="{FF2B5EF4-FFF2-40B4-BE49-F238E27FC236}">
                <a16:creationId xmlns:a16="http://schemas.microsoft.com/office/drawing/2014/main" id="{E1C4505B-4B7B-49DC-8F18-DAEDE6D235F9}"/>
              </a:ext>
            </a:extLst>
          </p:cNvPr>
          <p:cNvSpPr txBox="1"/>
          <p:nvPr/>
        </p:nvSpPr>
        <p:spPr>
          <a:xfrm>
            <a:off x="838200" y="1462610"/>
            <a:ext cx="10244959" cy="1261884"/>
          </a:xfrm>
          <a:prstGeom prst="rect">
            <a:avLst/>
          </a:prstGeom>
          <a:noFill/>
        </p:spPr>
        <p:txBody>
          <a:bodyPr wrap="square" rtlCol="0">
            <a:spAutoFit/>
          </a:bodyPr>
          <a:lstStyle/>
          <a:p>
            <a:r>
              <a:rPr lang="en-US" sz="2000" i="1" dirty="0"/>
              <a:t>Pure Strategy</a:t>
            </a:r>
          </a:p>
          <a:p>
            <a:endParaRPr lang="en-US" sz="2000" i="1" dirty="0"/>
          </a:p>
          <a:p>
            <a:pPr marL="285750" indent="-285750">
              <a:buFontTx/>
              <a:buChar char="-"/>
            </a:pPr>
            <a:r>
              <a:rPr lang="en-US" dirty="0"/>
              <a:t>A complete plan of action for playing a game</a:t>
            </a:r>
          </a:p>
          <a:p>
            <a:pPr marL="285750" indent="-285750">
              <a:buFontTx/>
              <a:buChar char="-"/>
            </a:pPr>
            <a:r>
              <a:rPr lang="en-US" dirty="0"/>
              <a:t>Select a single action and play it</a:t>
            </a:r>
          </a:p>
        </p:txBody>
      </p:sp>
      <p:sp>
        <p:nvSpPr>
          <p:cNvPr id="8" name="TextBox 7">
            <a:extLst>
              <a:ext uri="{FF2B5EF4-FFF2-40B4-BE49-F238E27FC236}">
                <a16:creationId xmlns:a16="http://schemas.microsoft.com/office/drawing/2014/main" id="{EF0E126E-D376-4371-90C2-49CEAA6A6D17}"/>
              </a:ext>
            </a:extLst>
          </p:cNvPr>
          <p:cNvSpPr txBox="1"/>
          <p:nvPr/>
        </p:nvSpPr>
        <p:spPr>
          <a:xfrm>
            <a:off x="838200" y="3417375"/>
            <a:ext cx="4879019" cy="2369880"/>
          </a:xfrm>
          <a:prstGeom prst="rect">
            <a:avLst/>
          </a:prstGeom>
          <a:noFill/>
        </p:spPr>
        <p:txBody>
          <a:bodyPr wrap="square" rtlCol="0">
            <a:spAutoFit/>
          </a:bodyPr>
          <a:lstStyle/>
          <a:p>
            <a:r>
              <a:rPr lang="en-US" sz="2000" i="1" dirty="0"/>
              <a:t>Mixed Strategy</a:t>
            </a:r>
          </a:p>
          <a:p>
            <a:endParaRPr lang="en-US" sz="2000" i="1" dirty="0"/>
          </a:p>
          <a:p>
            <a:pPr marL="285750" indent="-285750">
              <a:buFontTx/>
              <a:buChar char="-"/>
            </a:pPr>
            <a:r>
              <a:rPr lang="en-US" dirty="0"/>
              <a:t>Randomize over the set of actions in relevance to probability distribution</a:t>
            </a:r>
          </a:p>
          <a:p>
            <a:pPr marL="285750" indent="-285750">
              <a:buFontTx/>
              <a:buChar char="-"/>
            </a:pPr>
            <a:r>
              <a:rPr lang="en-US" dirty="0"/>
              <a:t>Players chooses to “randomize” between pure strategies</a:t>
            </a:r>
          </a:p>
          <a:p>
            <a:pPr marL="285750" indent="-285750">
              <a:buFontTx/>
              <a:buChar char="-"/>
            </a:pPr>
            <a:r>
              <a:rPr lang="en-US" dirty="0"/>
              <a:t>Equilibrium in mixed strategies is to decide in accordance to  expected payoff </a:t>
            </a:r>
          </a:p>
        </p:txBody>
      </p:sp>
    </p:spTree>
    <p:extLst>
      <p:ext uri="{BB962C8B-B14F-4D97-AF65-F5344CB8AC3E}">
        <p14:creationId xmlns:p14="http://schemas.microsoft.com/office/powerpoint/2010/main" val="4200364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79A317B6-2002-422D-95B9-175F079C988B}"/>
              </a:ext>
            </a:extLst>
          </p:cNvPr>
          <p:cNvPicPr>
            <a:picLocks noChangeAspect="1"/>
          </p:cNvPicPr>
          <p:nvPr/>
        </p:nvPicPr>
        <p:blipFill>
          <a:blip r:embed="rId2"/>
          <a:stretch>
            <a:fillRect/>
          </a:stretch>
        </p:blipFill>
        <p:spPr>
          <a:xfrm>
            <a:off x="5143286" y="3440625"/>
            <a:ext cx="6888421" cy="2107485"/>
          </a:xfrm>
          <a:prstGeom prst="rect">
            <a:avLst/>
          </a:prstGeom>
        </p:spPr>
      </p:pic>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38200" y="137047"/>
            <a:ext cx="10515600" cy="1325563"/>
          </a:xfrm>
        </p:spPr>
        <p:txBody>
          <a:bodyPr/>
          <a:lstStyle/>
          <a:p>
            <a:r>
              <a:rPr lang="en-US" dirty="0"/>
              <a:t>Finding all Nash Equilibria</a:t>
            </a:r>
          </a:p>
        </p:txBody>
      </p:sp>
      <p:sp>
        <p:nvSpPr>
          <p:cNvPr id="23" name="직사각형 22">
            <a:extLst>
              <a:ext uri="{FF2B5EF4-FFF2-40B4-BE49-F238E27FC236}">
                <a16:creationId xmlns:a16="http://schemas.microsoft.com/office/drawing/2014/main" id="{84E5B69D-2F99-4124-BE73-3A2F0CF5C46F}"/>
              </a:ext>
            </a:extLst>
          </p:cNvPr>
          <p:cNvSpPr/>
          <p:nvPr/>
        </p:nvSpPr>
        <p:spPr>
          <a:xfrm>
            <a:off x="696157" y="1309890"/>
            <a:ext cx="10010313" cy="1631216"/>
          </a:xfrm>
          <a:prstGeom prst="rect">
            <a:avLst/>
          </a:prstGeom>
        </p:spPr>
        <p:txBody>
          <a:bodyPr wrap="square">
            <a:spAutoFit/>
          </a:bodyPr>
          <a:lstStyle/>
          <a:p>
            <a:pPr marL="342900" indent="-342900">
              <a:buFont typeface="Arial" panose="020B0604020202020204" pitchFamily="34" charset="0"/>
              <a:buChar char="•"/>
            </a:pPr>
            <a:r>
              <a:rPr lang="en-US" sz="2000" dirty="0"/>
              <a:t>For a game with a single Nash Equilibrium, it is predictable that the players will play the strategies in this equilibrium</a:t>
            </a:r>
            <a:endParaRPr lang="en-US" sz="2000" i="1" dirty="0"/>
          </a:p>
          <a:p>
            <a:pPr marL="342900" indent="-342900">
              <a:buFont typeface="Arial" panose="020B0604020202020204" pitchFamily="34" charset="0"/>
              <a:buChar char="•"/>
            </a:pPr>
            <a:endParaRPr lang="en-US" sz="2000" i="1" dirty="0"/>
          </a:p>
          <a:p>
            <a:pPr marL="342900" indent="-342900">
              <a:buFont typeface="Arial" panose="020B0604020202020204" pitchFamily="34" charset="0"/>
              <a:buChar char="•"/>
            </a:pPr>
            <a:r>
              <a:rPr lang="en-US" sz="2000" dirty="0"/>
              <a:t>Some games however, there are multiple Nash equilibrium, which makes it difficult to predict how rational players will behave in the game</a:t>
            </a:r>
          </a:p>
        </p:txBody>
      </p:sp>
      <p:sp>
        <p:nvSpPr>
          <p:cNvPr id="16" name="직사각형 15">
            <a:extLst>
              <a:ext uri="{FF2B5EF4-FFF2-40B4-BE49-F238E27FC236}">
                <a16:creationId xmlns:a16="http://schemas.microsoft.com/office/drawing/2014/main" id="{922A3A42-DE2A-4A5E-B32C-EB31694488D6}"/>
              </a:ext>
            </a:extLst>
          </p:cNvPr>
          <p:cNvSpPr/>
          <p:nvPr/>
        </p:nvSpPr>
        <p:spPr>
          <a:xfrm>
            <a:off x="8588055" y="4425252"/>
            <a:ext cx="1718920" cy="49387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직사각형 19">
            <a:extLst>
              <a:ext uri="{FF2B5EF4-FFF2-40B4-BE49-F238E27FC236}">
                <a16:creationId xmlns:a16="http://schemas.microsoft.com/office/drawing/2014/main" id="{7902B578-45B1-4993-B671-A03AEDFD18E2}"/>
              </a:ext>
            </a:extLst>
          </p:cNvPr>
          <p:cNvSpPr/>
          <p:nvPr/>
        </p:nvSpPr>
        <p:spPr>
          <a:xfrm>
            <a:off x="10312787" y="4919121"/>
            <a:ext cx="1718920" cy="49387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1C4505B-4B7B-49DC-8F18-DAEDE6D235F9}"/>
              </a:ext>
            </a:extLst>
          </p:cNvPr>
          <p:cNvSpPr txBox="1"/>
          <p:nvPr/>
        </p:nvSpPr>
        <p:spPr>
          <a:xfrm>
            <a:off x="838199" y="3417375"/>
            <a:ext cx="4879019" cy="3170099"/>
          </a:xfrm>
          <a:prstGeom prst="rect">
            <a:avLst/>
          </a:prstGeom>
          <a:noFill/>
        </p:spPr>
        <p:txBody>
          <a:bodyPr wrap="square" rtlCol="0">
            <a:spAutoFit/>
          </a:bodyPr>
          <a:lstStyle/>
          <a:p>
            <a:r>
              <a:rPr lang="en-US" sz="2000" i="1" dirty="0"/>
              <a:t>Coordination Game </a:t>
            </a:r>
          </a:p>
          <a:p>
            <a:endParaRPr lang="en-US" sz="2000" i="1" dirty="0"/>
          </a:p>
          <a:p>
            <a:pPr marL="342900" indent="-342900">
              <a:buFont typeface="Arial" panose="020B0604020202020204" pitchFamily="34" charset="0"/>
              <a:buChar char="•"/>
            </a:pPr>
            <a:r>
              <a:rPr lang="en-US" sz="2000" i="1" dirty="0"/>
              <a:t> </a:t>
            </a:r>
            <a:r>
              <a:rPr lang="en-US" sz="2000" dirty="0"/>
              <a:t>two player’s shared goal is really to coordinate on the same strategy</a:t>
            </a:r>
          </a:p>
          <a:p>
            <a:pPr marL="342900" indent="-342900">
              <a:buFont typeface="Arial" panose="020B0604020202020204" pitchFamily="34" charset="0"/>
              <a:buChar char="•"/>
            </a:pPr>
            <a:endParaRPr lang="en-US" sz="2000" b="1" i="1" dirty="0"/>
          </a:p>
          <a:p>
            <a:pPr marL="342900" indent="-342900">
              <a:buFont typeface="Arial" panose="020B0604020202020204" pitchFamily="34" charset="0"/>
              <a:buChar char="•"/>
            </a:pPr>
            <a:r>
              <a:rPr lang="en-US" sz="2000" dirty="0"/>
              <a:t>Social convention can play an important role when choosing a strategy</a:t>
            </a:r>
          </a:p>
          <a:p>
            <a:pPr marL="342900" indent="-342900">
              <a:buFont typeface="Arial" panose="020B0604020202020204" pitchFamily="34" charset="0"/>
              <a:buChar char="•"/>
            </a:pPr>
            <a:endParaRPr lang="en-US" sz="2000" dirty="0"/>
          </a:p>
          <a:p>
            <a:r>
              <a:rPr lang="en-US" sz="2000" dirty="0"/>
              <a:t> </a:t>
            </a:r>
            <a:r>
              <a:rPr lang="en-US" sz="1600" dirty="0"/>
              <a:t>ex) drivers turn handle right when about to collide (US)</a:t>
            </a:r>
          </a:p>
          <a:p>
            <a:r>
              <a:rPr lang="en-US" sz="1600" dirty="0"/>
              <a:t>       drivers turn handle left when about to collide (UK)</a:t>
            </a:r>
            <a:endParaRPr lang="en-US" sz="2000" dirty="0"/>
          </a:p>
        </p:txBody>
      </p:sp>
    </p:spTree>
    <p:extLst>
      <p:ext uri="{BB962C8B-B14F-4D97-AF65-F5344CB8AC3E}">
        <p14:creationId xmlns:p14="http://schemas.microsoft.com/office/powerpoint/2010/main" val="142020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타원 5">
            <a:extLst>
              <a:ext uri="{FF2B5EF4-FFF2-40B4-BE49-F238E27FC236}">
                <a16:creationId xmlns:a16="http://schemas.microsoft.com/office/drawing/2014/main" id="{04555D1C-BEE9-43EB-9097-83DBC8A66E4A}"/>
              </a:ext>
            </a:extLst>
          </p:cNvPr>
          <p:cNvSpPr/>
          <p:nvPr/>
        </p:nvSpPr>
        <p:spPr>
          <a:xfrm>
            <a:off x="541538" y="1462610"/>
            <a:ext cx="11097087" cy="4973701"/>
          </a:xfrm>
          <a:prstGeom prst="ellipse">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타원 6">
            <a:extLst>
              <a:ext uri="{FF2B5EF4-FFF2-40B4-BE49-F238E27FC236}">
                <a16:creationId xmlns:a16="http://schemas.microsoft.com/office/drawing/2014/main" id="{8783C488-16FA-4025-8C4D-097F38D4B81B}"/>
              </a:ext>
            </a:extLst>
          </p:cNvPr>
          <p:cNvSpPr/>
          <p:nvPr/>
        </p:nvSpPr>
        <p:spPr>
          <a:xfrm>
            <a:off x="2539014" y="2094214"/>
            <a:ext cx="6909046" cy="2104924"/>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38200" y="137047"/>
            <a:ext cx="10515600" cy="1325563"/>
          </a:xfrm>
        </p:spPr>
        <p:txBody>
          <a:bodyPr/>
          <a:lstStyle/>
          <a:p>
            <a:r>
              <a:rPr lang="en-US" dirty="0"/>
              <a:t>Pareto Optimality and Social Optimality</a:t>
            </a:r>
          </a:p>
        </p:txBody>
      </p:sp>
      <p:sp>
        <p:nvSpPr>
          <p:cNvPr id="8" name="TextBox 7">
            <a:extLst>
              <a:ext uri="{FF2B5EF4-FFF2-40B4-BE49-F238E27FC236}">
                <a16:creationId xmlns:a16="http://schemas.microsoft.com/office/drawing/2014/main" id="{A9E12E3B-7FAF-463B-AA19-2A5666EAFC0C}"/>
              </a:ext>
            </a:extLst>
          </p:cNvPr>
          <p:cNvSpPr txBox="1"/>
          <p:nvPr/>
        </p:nvSpPr>
        <p:spPr>
          <a:xfrm>
            <a:off x="4151789" y="4365208"/>
            <a:ext cx="5296271" cy="1815882"/>
          </a:xfrm>
          <a:prstGeom prst="rect">
            <a:avLst/>
          </a:prstGeom>
          <a:noFill/>
        </p:spPr>
        <p:txBody>
          <a:bodyPr wrap="square" rtlCol="0">
            <a:spAutoFit/>
          </a:bodyPr>
          <a:lstStyle/>
          <a:p>
            <a:r>
              <a:rPr lang="en-US" sz="2000" b="1" i="1" dirty="0"/>
              <a:t>Pareto Optimality</a:t>
            </a:r>
          </a:p>
          <a:p>
            <a:endParaRPr lang="en-US" sz="2000" b="1" i="1" dirty="0"/>
          </a:p>
          <a:p>
            <a:r>
              <a:rPr lang="en-US" dirty="0"/>
              <a:t>A choice of strategies is pareto-optimal if there is no other choice of strategies where all players receive payoffs as least as high, and at least one player receives a strictly higher payoff</a:t>
            </a:r>
            <a:endParaRPr lang="en-US" sz="1600" dirty="0"/>
          </a:p>
        </p:txBody>
      </p:sp>
      <p:sp>
        <p:nvSpPr>
          <p:cNvPr id="9" name="TextBox 8">
            <a:extLst>
              <a:ext uri="{FF2B5EF4-FFF2-40B4-BE49-F238E27FC236}">
                <a16:creationId xmlns:a16="http://schemas.microsoft.com/office/drawing/2014/main" id="{EF8EFC1F-9121-4EC9-87AC-2C1176245F01}"/>
              </a:ext>
            </a:extLst>
          </p:cNvPr>
          <p:cNvSpPr txBox="1"/>
          <p:nvPr/>
        </p:nvSpPr>
        <p:spPr>
          <a:xfrm>
            <a:off x="4151789" y="2440111"/>
            <a:ext cx="4879019" cy="1538883"/>
          </a:xfrm>
          <a:prstGeom prst="rect">
            <a:avLst/>
          </a:prstGeom>
          <a:noFill/>
        </p:spPr>
        <p:txBody>
          <a:bodyPr wrap="square" rtlCol="0">
            <a:spAutoFit/>
          </a:bodyPr>
          <a:lstStyle/>
          <a:p>
            <a:r>
              <a:rPr lang="en-US" sz="2000" b="1" i="1" dirty="0"/>
              <a:t>Social Optimality</a:t>
            </a:r>
          </a:p>
          <a:p>
            <a:endParaRPr lang="en-US" sz="2000" i="1" dirty="0"/>
          </a:p>
          <a:p>
            <a:r>
              <a:rPr lang="en-US" dirty="0"/>
              <a:t>A choice of strategies is social-optimal, or social welfare maximizer if it maximizes the sum of the player’s payoffs</a:t>
            </a:r>
          </a:p>
        </p:txBody>
      </p:sp>
    </p:spTree>
    <p:extLst>
      <p:ext uri="{BB962C8B-B14F-4D97-AF65-F5344CB8AC3E}">
        <p14:creationId xmlns:p14="http://schemas.microsoft.com/office/powerpoint/2010/main" val="3123983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137DCE1-86B7-4714-91A2-8AEE73D48EAF}"/>
              </a:ext>
            </a:extLst>
          </p:cNvPr>
          <p:cNvSpPr>
            <a:spLocks noGrp="1"/>
          </p:cNvSpPr>
          <p:nvPr>
            <p:ph type="title"/>
          </p:nvPr>
        </p:nvSpPr>
        <p:spPr>
          <a:xfrm>
            <a:off x="3153053" y="2664442"/>
            <a:ext cx="6221766" cy="1325563"/>
          </a:xfrm>
        </p:spPr>
        <p:txBody>
          <a:bodyPr/>
          <a:lstStyle/>
          <a:p>
            <a:r>
              <a:rPr lang="en-US" b="1" dirty="0"/>
              <a:t>Evolutionary Game Theory</a:t>
            </a:r>
          </a:p>
        </p:txBody>
      </p:sp>
    </p:spTree>
    <p:extLst>
      <p:ext uri="{BB962C8B-B14F-4D97-AF65-F5344CB8AC3E}">
        <p14:creationId xmlns:p14="http://schemas.microsoft.com/office/powerpoint/2010/main" val="37259207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38200" y="-105392"/>
            <a:ext cx="10515600" cy="1325563"/>
          </a:xfrm>
        </p:spPr>
        <p:txBody>
          <a:bodyPr/>
          <a:lstStyle/>
          <a:p>
            <a:r>
              <a:rPr lang="en-US" dirty="0"/>
              <a:t>Evolutionary biology &amp; Game Theory</a:t>
            </a:r>
          </a:p>
        </p:txBody>
      </p:sp>
      <p:pic>
        <p:nvPicPr>
          <p:cNvPr id="4" name="그림 3">
            <a:extLst>
              <a:ext uri="{FF2B5EF4-FFF2-40B4-BE49-F238E27FC236}">
                <a16:creationId xmlns:a16="http://schemas.microsoft.com/office/drawing/2014/main" id="{5B016BA5-C84E-4D4A-88AC-25D7850DE772}"/>
              </a:ext>
            </a:extLst>
          </p:cNvPr>
          <p:cNvPicPr>
            <a:picLocks noChangeAspect="1"/>
          </p:cNvPicPr>
          <p:nvPr/>
        </p:nvPicPr>
        <p:blipFill>
          <a:blip r:embed="rId2"/>
          <a:stretch>
            <a:fillRect/>
          </a:stretch>
        </p:blipFill>
        <p:spPr>
          <a:xfrm>
            <a:off x="8946992" y="5449948"/>
            <a:ext cx="3091636" cy="1325564"/>
          </a:xfrm>
          <a:prstGeom prst="rect">
            <a:avLst/>
          </a:prstGeom>
        </p:spPr>
      </p:pic>
      <p:sp>
        <p:nvSpPr>
          <p:cNvPr id="5" name="직사각형 4">
            <a:extLst>
              <a:ext uri="{FF2B5EF4-FFF2-40B4-BE49-F238E27FC236}">
                <a16:creationId xmlns:a16="http://schemas.microsoft.com/office/drawing/2014/main" id="{EE7350D5-71C9-488E-8582-9BA98CA84369}"/>
              </a:ext>
            </a:extLst>
          </p:cNvPr>
          <p:cNvSpPr/>
          <p:nvPr/>
        </p:nvSpPr>
        <p:spPr>
          <a:xfrm>
            <a:off x="696157" y="1327267"/>
            <a:ext cx="10838618" cy="1938992"/>
          </a:xfrm>
          <a:prstGeom prst="rect">
            <a:avLst/>
          </a:prstGeom>
        </p:spPr>
        <p:txBody>
          <a:bodyPr wrap="square">
            <a:spAutoFit/>
          </a:bodyPr>
          <a:lstStyle/>
          <a:p>
            <a:pPr marL="342900" indent="-342900">
              <a:buFont typeface="Arial" panose="020B0604020202020204" pitchFamily="34" charset="0"/>
              <a:buChar char="•"/>
            </a:pPr>
            <a:r>
              <a:rPr lang="en-US" sz="2000" dirty="0"/>
              <a:t>Many behaviors involve the interaction of multiple organisms in a population</a:t>
            </a:r>
          </a:p>
          <a:p>
            <a:pPr marL="342900" indent="-342900">
              <a:buFont typeface="Arial" panose="020B0604020202020204" pitchFamily="34" charset="0"/>
              <a:buChar char="•"/>
            </a:pPr>
            <a:r>
              <a:rPr lang="en-US" sz="2000" dirty="0"/>
              <a:t>The success of any one of these organisms depend on how its behaviors interacts with that of others</a:t>
            </a:r>
          </a:p>
          <a:p>
            <a:pPr marL="342900" indent="-342900">
              <a:buFont typeface="Arial" panose="020B0604020202020204" pitchFamily="34" charset="0"/>
              <a:buChar char="•"/>
            </a:pPr>
            <a:r>
              <a:rPr lang="en-US" sz="2000" dirty="0"/>
              <a:t>Organism’s genetically determined characteristics and behaviors are like its strategy in a game</a:t>
            </a:r>
          </a:p>
          <a:p>
            <a:pPr marL="342900" indent="-342900">
              <a:buFont typeface="Arial" panose="020B0604020202020204" pitchFamily="34" charset="0"/>
              <a:buChar char="•"/>
            </a:pPr>
            <a:r>
              <a:rPr lang="en-US" sz="2000" dirty="0"/>
              <a:t>Fitness acts as a payoff, and the payoff depends on the characteristics (strategies) of the organisms</a:t>
            </a:r>
          </a:p>
          <a:p>
            <a:pPr marL="342900" indent="-342900">
              <a:buFont typeface="Arial" panose="020B0604020202020204" pitchFamily="34" charset="0"/>
              <a:buChar char="•"/>
            </a:pPr>
            <a:r>
              <a:rPr lang="en-US" sz="2000" dirty="0"/>
              <a:t>Individuals cannot choose their strategy.. it is inherited</a:t>
            </a:r>
          </a:p>
        </p:txBody>
      </p:sp>
      <p:graphicFrame>
        <p:nvGraphicFramePr>
          <p:cNvPr id="6" name="표 5">
            <a:extLst>
              <a:ext uri="{FF2B5EF4-FFF2-40B4-BE49-F238E27FC236}">
                <a16:creationId xmlns:a16="http://schemas.microsoft.com/office/drawing/2014/main" id="{83781DC2-A1E3-468B-8D7F-5A78DC5B0FCC}"/>
              </a:ext>
            </a:extLst>
          </p:cNvPr>
          <p:cNvGraphicFramePr>
            <a:graphicFrameLocks noGrp="1"/>
          </p:cNvGraphicFramePr>
          <p:nvPr>
            <p:extLst>
              <p:ext uri="{D42A27DB-BD31-4B8C-83A1-F6EECF244321}">
                <p14:modId xmlns:p14="http://schemas.microsoft.com/office/powerpoint/2010/main" val="4202082987"/>
              </p:ext>
            </p:extLst>
          </p:nvPr>
        </p:nvGraphicFramePr>
        <p:xfrm>
          <a:off x="-1755923" y="3574036"/>
          <a:ext cx="8989932" cy="1720655"/>
        </p:xfrm>
        <a:graphic>
          <a:graphicData uri="http://schemas.openxmlformats.org/drawingml/2006/table">
            <a:tbl>
              <a:tblPr firstRow="1" bandRow="1">
                <a:tableStyleId>{5C22544A-7EE6-4342-B048-85BDC9FD1C3A}</a:tableStyleId>
              </a:tblPr>
              <a:tblGrid>
                <a:gridCol w="3639406">
                  <a:extLst>
                    <a:ext uri="{9D8B030D-6E8A-4147-A177-3AD203B41FA5}">
                      <a16:colId xmlns:a16="http://schemas.microsoft.com/office/drawing/2014/main" val="1578897497"/>
                    </a:ext>
                  </a:extLst>
                </a:gridCol>
                <a:gridCol w="855560">
                  <a:extLst>
                    <a:ext uri="{9D8B030D-6E8A-4147-A177-3AD203B41FA5}">
                      <a16:colId xmlns:a16="http://schemas.microsoft.com/office/drawing/2014/main" val="2674801575"/>
                    </a:ext>
                  </a:extLst>
                </a:gridCol>
                <a:gridCol w="2247483">
                  <a:extLst>
                    <a:ext uri="{9D8B030D-6E8A-4147-A177-3AD203B41FA5}">
                      <a16:colId xmlns:a16="http://schemas.microsoft.com/office/drawing/2014/main" val="1651428689"/>
                    </a:ext>
                  </a:extLst>
                </a:gridCol>
                <a:gridCol w="2247483">
                  <a:extLst>
                    <a:ext uri="{9D8B030D-6E8A-4147-A177-3AD203B41FA5}">
                      <a16:colId xmlns:a16="http://schemas.microsoft.com/office/drawing/2014/main" val="1152776637"/>
                    </a:ext>
                  </a:extLst>
                </a:gridCol>
              </a:tblGrid>
              <a:tr h="385399">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US" dirty="0"/>
                    </a:p>
                  </a:txBody>
                  <a:tcPr>
                    <a:lnL w="12700" cmpd="sng">
                      <a:noFill/>
                    </a:lnL>
                    <a:noFill/>
                  </a:tcPr>
                </a:tc>
                <a:tc gridSpan="2">
                  <a:txBody>
                    <a:bodyPr/>
                    <a:lstStyle/>
                    <a:p>
                      <a:pPr algn="ctr"/>
                      <a:r>
                        <a:rPr lang="en-US" dirty="0">
                          <a:solidFill>
                            <a:schemeClr val="tx1"/>
                          </a:solidFill>
                        </a:rPr>
                        <a:t>Beetle 2</a:t>
                      </a:r>
                    </a:p>
                  </a:txBody>
                  <a:tcPr>
                    <a:noFill/>
                  </a:tcPr>
                </a:tc>
                <a:tc hMerge="1">
                  <a:txBody>
                    <a:bodyPr/>
                    <a:lstStyle/>
                    <a:p>
                      <a:endParaRPr lang="en-US" dirty="0"/>
                    </a:p>
                  </a:txBody>
                  <a:tcPr>
                    <a:noFill/>
                  </a:tcPr>
                </a:tc>
                <a:extLst>
                  <a:ext uri="{0D108BD9-81ED-4DB2-BD59-A6C34878D82A}">
                    <a16:rowId xmlns:a16="http://schemas.microsoft.com/office/drawing/2014/main" val="1375946987"/>
                  </a:ext>
                </a:extLst>
              </a:tr>
              <a:tr h="239697">
                <a:tc>
                  <a:txBody>
                    <a:bodyPr/>
                    <a:lstStyle/>
                    <a:p>
                      <a:endParaRPr 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US" dirty="0"/>
                    </a:p>
                  </a:txBody>
                  <a:tcPr>
                    <a:lnL w="12700" cmpd="sng">
                      <a:noFill/>
                    </a:lnL>
                    <a:noFill/>
                  </a:tcPr>
                </a:tc>
                <a:tc>
                  <a:txBody>
                    <a:bodyPr/>
                    <a:lstStyle/>
                    <a:p>
                      <a:pPr algn="ctr"/>
                      <a:r>
                        <a:rPr lang="en-US" dirty="0"/>
                        <a:t>Small</a:t>
                      </a:r>
                    </a:p>
                  </a:txBody>
                  <a:tcPr anchor="ctr">
                    <a:lnB w="12700" cap="flat" cmpd="sng" algn="ctr">
                      <a:solidFill>
                        <a:schemeClr val="tx1"/>
                      </a:solidFill>
                      <a:prstDash val="solid"/>
                      <a:round/>
                      <a:headEnd type="none" w="med" len="med"/>
                      <a:tailEnd type="none" w="med" len="med"/>
                    </a:lnB>
                    <a:noFill/>
                  </a:tcPr>
                </a:tc>
                <a:tc>
                  <a:txBody>
                    <a:bodyPr/>
                    <a:lstStyle/>
                    <a:p>
                      <a:pPr algn="ctr"/>
                      <a:r>
                        <a:rPr lang="en-US" dirty="0"/>
                        <a:t>Large</a:t>
                      </a:r>
                    </a:p>
                  </a:txBody>
                  <a:tcPr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4641097"/>
                  </a:ext>
                </a:extLst>
              </a:tr>
              <a:tr h="484748">
                <a:tc rowSpan="2">
                  <a:txBody>
                    <a:bodyPr/>
                    <a:lstStyle/>
                    <a:p>
                      <a:pPr algn="r"/>
                      <a:r>
                        <a:rPr lang="en-US" b="1" dirty="0">
                          <a:solidFill>
                            <a:schemeClr val="tx1"/>
                          </a:solidFill>
                        </a:rPr>
                        <a:t>Beetle 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lang="en-US" dirty="0"/>
                        <a:t>Small</a:t>
                      </a:r>
                    </a:p>
                  </a:txBody>
                  <a:tcPr>
                    <a:lnL w="12700" cmpd="sng">
                      <a:noFill/>
                    </a:lnL>
                    <a:lnR w="12700" cap="flat" cmpd="sng" algn="ctr">
                      <a:solidFill>
                        <a:schemeClr val="tx1"/>
                      </a:solidFill>
                      <a:prstDash val="solid"/>
                      <a:round/>
                      <a:headEnd type="none" w="med" len="med"/>
                      <a:tailEnd type="none" w="med" len="med"/>
                    </a:lnR>
                    <a:noFill/>
                  </a:tcPr>
                </a:tc>
                <a:tc>
                  <a:txBody>
                    <a:bodyPr/>
                    <a:lstStyle/>
                    <a:p>
                      <a:pPr algn="ctr"/>
                      <a:r>
                        <a:rPr lang="en-US" dirty="0"/>
                        <a:t>5 , 5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1 , 8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1251569"/>
                  </a:ext>
                </a:extLst>
              </a:tr>
              <a:tr h="484748">
                <a:tc vMerge="1">
                  <a:txBody>
                    <a:bodyPr/>
                    <a:lstStyle/>
                    <a:p>
                      <a:endParaRPr lang="en-US" dirty="0"/>
                    </a:p>
                  </a:txBody>
                  <a:tcPr>
                    <a:noFill/>
                  </a:tcPr>
                </a:tc>
                <a:tc>
                  <a:txBody>
                    <a:bodyPr/>
                    <a:lstStyle/>
                    <a:p>
                      <a:pPr algn="r"/>
                      <a:r>
                        <a:rPr lang="en-US" dirty="0"/>
                        <a:t>Large</a:t>
                      </a:r>
                    </a:p>
                  </a:txBody>
                  <a:tcPr>
                    <a:lnL w="12700" cmpd="sng">
                      <a:noFill/>
                    </a:lnL>
                    <a:lnR w="12700" cap="flat" cmpd="sng" algn="ctr">
                      <a:solidFill>
                        <a:schemeClr val="tx1"/>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8 , 1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3 , 3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051726"/>
                  </a:ext>
                </a:extLst>
              </a:tr>
            </a:tbl>
          </a:graphicData>
        </a:graphic>
      </p:graphicFrame>
      <p:sp>
        <p:nvSpPr>
          <p:cNvPr id="7" name="직사각형 6">
            <a:extLst>
              <a:ext uri="{FF2B5EF4-FFF2-40B4-BE49-F238E27FC236}">
                <a16:creationId xmlns:a16="http://schemas.microsoft.com/office/drawing/2014/main" id="{7312DE78-29FF-4BEC-9872-7C4FFAFBB56B}"/>
              </a:ext>
            </a:extLst>
          </p:cNvPr>
          <p:cNvSpPr/>
          <p:nvPr/>
        </p:nvSpPr>
        <p:spPr>
          <a:xfrm>
            <a:off x="1438743" y="5390596"/>
            <a:ext cx="6754350" cy="338554"/>
          </a:xfrm>
          <a:prstGeom prst="rect">
            <a:avLst/>
          </a:prstGeom>
        </p:spPr>
        <p:txBody>
          <a:bodyPr wrap="none">
            <a:spAutoFit/>
          </a:bodyPr>
          <a:lstStyle/>
          <a:p>
            <a:r>
              <a:rPr lang="en-US" sz="1600" dirty="0"/>
              <a:t>Payoff matrix summarizing what happens when two beetles compete for food*</a:t>
            </a:r>
          </a:p>
        </p:txBody>
      </p:sp>
      <p:sp>
        <p:nvSpPr>
          <p:cNvPr id="8" name="직사각형 7">
            <a:extLst>
              <a:ext uri="{FF2B5EF4-FFF2-40B4-BE49-F238E27FC236}">
                <a16:creationId xmlns:a16="http://schemas.microsoft.com/office/drawing/2014/main" id="{0355DFED-E8B4-494B-BEB0-AE324055F723}"/>
              </a:ext>
            </a:extLst>
          </p:cNvPr>
          <p:cNvSpPr/>
          <p:nvPr/>
        </p:nvSpPr>
        <p:spPr>
          <a:xfrm>
            <a:off x="0" y="6226646"/>
            <a:ext cx="7096425" cy="584775"/>
          </a:xfrm>
          <a:prstGeom prst="rect">
            <a:avLst/>
          </a:prstGeom>
        </p:spPr>
        <p:txBody>
          <a:bodyPr wrap="square">
            <a:spAutoFit/>
          </a:bodyPr>
          <a:lstStyle/>
          <a:p>
            <a:r>
              <a:rPr lang="en-US" sz="1600" dirty="0"/>
              <a:t>* However, each beetles are already genetically wired, and cannot change their size. The idea of choosing strategy is rather done in a longer time scale.</a:t>
            </a:r>
          </a:p>
        </p:txBody>
      </p:sp>
    </p:spTree>
    <p:extLst>
      <p:ext uri="{BB962C8B-B14F-4D97-AF65-F5344CB8AC3E}">
        <p14:creationId xmlns:p14="http://schemas.microsoft.com/office/powerpoint/2010/main" val="691875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38200" y="-105392"/>
            <a:ext cx="10515600" cy="1325563"/>
          </a:xfrm>
        </p:spPr>
        <p:txBody>
          <a:bodyPr/>
          <a:lstStyle/>
          <a:p>
            <a:r>
              <a:rPr lang="en-US" dirty="0"/>
              <a:t>Evolutionarily Stable Strategies</a:t>
            </a:r>
          </a:p>
        </p:txBody>
      </p:sp>
      <p:sp>
        <p:nvSpPr>
          <p:cNvPr id="5" name="직사각형 4">
            <a:extLst>
              <a:ext uri="{FF2B5EF4-FFF2-40B4-BE49-F238E27FC236}">
                <a16:creationId xmlns:a16="http://schemas.microsoft.com/office/drawing/2014/main" id="{EE7350D5-71C9-488E-8582-9BA98CA84369}"/>
              </a:ext>
            </a:extLst>
          </p:cNvPr>
          <p:cNvSpPr/>
          <p:nvPr/>
        </p:nvSpPr>
        <p:spPr>
          <a:xfrm>
            <a:off x="696157" y="1327267"/>
            <a:ext cx="10010313" cy="3600986"/>
          </a:xfrm>
          <a:prstGeom prst="rect">
            <a:avLst/>
          </a:prstGeom>
        </p:spPr>
        <p:txBody>
          <a:bodyPr wrap="square">
            <a:spAutoFit/>
          </a:bodyPr>
          <a:lstStyle/>
          <a:p>
            <a:r>
              <a:rPr lang="en-US" sz="2400" dirty="0"/>
              <a:t>Evolutionarily stable strategy</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000" dirty="0"/>
              <a:t>a genetically determined strategy that tends to persist once it is prevalent in a population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when a whole population is using the strategy and any small group of invaders using a different strategy will eventually die off over multiple generations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reproduction and survival is objective, and individuals are subject to the forces of natural selection with the payoffs of the game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Nash Equilibrium that is “evolutionarily stable”</a:t>
            </a:r>
          </a:p>
        </p:txBody>
      </p:sp>
    </p:spTree>
    <p:extLst>
      <p:ext uri="{BB962C8B-B14F-4D97-AF65-F5344CB8AC3E}">
        <p14:creationId xmlns:p14="http://schemas.microsoft.com/office/powerpoint/2010/main" val="1646379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137DCE1-86B7-4714-91A2-8AEE73D48EAF}"/>
              </a:ext>
            </a:extLst>
          </p:cNvPr>
          <p:cNvSpPr>
            <a:spLocks noGrp="1"/>
          </p:cNvSpPr>
          <p:nvPr>
            <p:ph type="title"/>
          </p:nvPr>
        </p:nvSpPr>
        <p:spPr>
          <a:xfrm>
            <a:off x="3153053" y="2664442"/>
            <a:ext cx="6286222" cy="1325563"/>
          </a:xfrm>
        </p:spPr>
        <p:txBody>
          <a:bodyPr/>
          <a:lstStyle/>
          <a:p>
            <a:pPr algn="ctr"/>
            <a:r>
              <a:rPr lang="en-US" b="1" dirty="0"/>
              <a:t>Modeling Network Traffic Using Game Theory</a:t>
            </a:r>
          </a:p>
        </p:txBody>
      </p:sp>
    </p:spTree>
    <p:extLst>
      <p:ext uri="{BB962C8B-B14F-4D97-AF65-F5344CB8AC3E}">
        <p14:creationId xmlns:p14="http://schemas.microsoft.com/office/powerpoint/2010/main" val="4221729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696157" y="1704"/>
            <a:ext cx="10515600" cy="1325563"/>
          </a:xfrm>
        </p:spPr>
        <p:txBody>
          <a:bodyPr/>
          <a:lstStyle/>
          <a:p>
            <a:r>
              <a:rPr lang="en-US" dirty="0"/>
              <a:t>Traffic at Equilibrium</a:t>
            </a:r>
          </a:p>
        </p:txBody>
      </p:sp>
      <p:sp>
        <p:nvSpPr>
          <p:cNvPr id="5" name="직사각형 4">
            <a:extLst>
              <a:ext uri="{FF2B5EF4-FFF2-40B4-BE49-F238E27FC236}">
                <a16:creationId xmlns:a16="http://schemas.microsoft.com/office/drawing/2014/main" id="{EE7350D5-71C9-488E-8582-9BA98CA84369}"/>
              </a:ext>
            </a:extLst>
          </p:cNvPr>
          <p:cNvSpPr/>
          <p:nvPr/>
        </p:nvSpPr>
        <p:spPr>
          <a:xfrm>
            <a:off x="696158" y="1327267"/>
            <a:ext cx="9028868" cy="923330"/>
          </a:xfrm>
          <a:prstGeom prst="rect">
            <a:avLst/>
          </a:prstGeom>
        </p:spPr>
        <p:txBody>
          <a:bodyPr wrap="square">
            <a:spAutoFit/>
          </a:bodyPr>
          <a:lstStyle/>
          <a:p>
            <a:r>
              <a:rPr lang="en-US" dirty="0"/>
              <a:t>Traveling through a transportation network, or sending packets through the Internet, involves fundamentally </a:t>
            </a:r>
            <a:r>
              <a:rPr lang="en-US" b="1" dirty="0"/>
              <a:t>game-theoretic reasoning</a:t>
            </a:r>
            <a:r>
              <a:rPr lang="en-US" dirty="0"/>
              <a:t>: individuals must evaluate routes in the presence of congestion resulting from the decisions made by themselves and others</a:t>
            </a:r>
            <a:endParaRPr lang="en-US" sz="1600" dirty="0"/>
          </a:p>
        </p:txBody>
      </p:sp>
      <p:grpSp>
        <p:nvGrpSpPr>
          <p:cNvPr id="23" name="그룹 22">
            <a:extLst>
              <a:ext uri="{FF2B5EF4-FFF2-40B4-BE49-F238E27FC236}">
                <a16:creationId xmlns:a16="http://schemas.microsoft.com/office/drawing/2014/main" id="{7EB4A1EE-65D1-4F51-B742-3864484F81A9}"/>
              </a:ext>
            </a:extLst>
          </p:cNvPr>
          <p:cNvGrpSpPr/>
          <p:nvPr/>
        </p:nvGrpSpPr>
        <p:grpSpPr>
          <a:xfrm>
            <a:off x="3590925" y="2805230"/>
            <a:ext cx="4500562" cy="2411891"/>
            <a:chOff x="1866900" y="2466975"/>
            <a:chExt cx="4500562" cy="2411891"/>
          </a:xfrm>
        </p:grpSpPr>
        <p:sp>
          <p:nvSpPr>
            <p:cNvPr id="3" name="타원 2">
              <a:extLst>
                <a:ext uri="{FF2B5EF4-FFF2-40B4-BE49-F238E27FC236}">
                  <a16:creationId xmlns:a16="http://schemas.microsoft.com/office/drawing/2014/main" id="{0C601A5C-DFFF-4BA9-9F46-99D500A5A59C}"/>
                </a:ext>
              </a:extLst>
            </p:cNvPr>
            <p:cNvSpPr/>
            <p:nvPr/>
          </p:nvSpPr>
          <p:spPr>
            <a:xfrm>
              <a:off x="1866900" y="3429000"/>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6" name="타원 5">
              <a:extLst>
                <a:ext uri="{FF2B5EF4-FFF2-40B4-BE49-F238E27FC236}">
                  <a16:creationId xmlns:a16="http://schemas.microsoft.com/office/drawing/2014/main" id="{67AFDE70-0A35-4661-A2AB-DBC38EA04E96}"/>
                </a:ext>
              </a:extLst>
            </p:cNvPr>
            <p:cNvSpPr/>
            <p:nvPr/>
          </p:nvSpPr>
          <p:spPr>
            <a:xfrm>
              <a:off x="3790950" y="2466975"/>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 name="타원 6">
              <a:extLst>
                <a:ext uri="{FF2B5EF4-FFF2-40B4-BE49-F238E27FC236}">
                  <a16:creationId xmlns:a16="http://schemas.microsoft.com/office/drawing/2014/main" id="{BE91330D-FFA0-4819-A314-3948E9755FC9}"/>
                </a:ext>
              </a:extLst>
            </p:cNvPr>
            <p:cNvSpPr/>
            <p:nvPr/>
          </p:nvSpPr>
          <p:spPr>
            <a:xfrm>
              <a:off x="3790950" y="4335941"/>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 name="타원 7">
              <a:extLst>
                <a:ext uri="{FF2B5EF4-FFF2-40B4-BE49-F238E27FC236}">
                  <a16:creationId xmlns:a16="http://schemas.microsoft.com/office/drawing/2014/main" id="{D5B3D41C-804F-4C44-9E8F-29E5F45C06AD}"/>
                </a:ext>
              </a:extLst>
            </p:cNvPr>
            <p:cNvSpPr/>
            <p:nvPr/>
          </p:nvSpPr>
          <p:spPr>
            <a:xfrm>
              <a:off x="5824537" y="3428999"/>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9" name="직선 화살표 연결선 8">
              <a:extLst>
                <a:ext uri="{FF2B5EF4-FFF2-40B4-BE49-F238E27FC236}">
                  <a16:creationId xmlns:a16="http://schemas.microsoft.com/office/drawing/2014/main" id="{633C9EED-A48E-4CF7-A04B-07047928FB40}"/>
                </a:ext>
              </a:extLst>
            </p:cNvPr>
            <p:cNvCxnSpPr>
              <a:stCxn id="3" idx="7"/>
              <a:endCxn id="6" idx="2"/>
            </p:cNvCxnSpPr>
            <p:nvPr/>
          </p:nvCxnSpPr>
          <p:spPr>
            <a:xfrm flipV="1">
              <a:off x="2330315" y="2738438"/>
              <a:ext cx="1460635" cy="770072"/>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0" name="직선 화살표 연결선 9">
              <a:extLst>
                <a:ext uri="{FF2B5EF4-FFF2-40B4-BE49-F238E27FC236}">
                  <a16:creationId xmlns:a16="http://schemas.microsoft.com/office/drawing/2014/main" id="{4E827350-357C-4980-856B-06FD827F8FF5}"/>
                </a:ext>
              </a:extLst>
            </p:cNvPr>
            <p:cNvCxnSpPr>
              <a:cxnSpLocks/>
              <a:stCxn id="3" idx="5"/>
              <a:endCxn id="7" idx="2"/>
            </p:cNvCxnSpPr>
            <p:nvPr/>
          </p:nvCxnSpPr>
          <p:spPr>
            <a:xfrm>
              <a:off x="2330315" y="3892415"/>
              <a:ext cx="1460635" cy="714989"/>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3" name="직선 화살표 연결선 12">
              <a:extLst>
                <a:ext uri="{FF2B5EF4-FFF2-40B4-BE49-F238E27FC236}">
                  <a16:creationId xmlns:a16="http://schemas.microsoft.com/office/drawing/2014/main" id="{34AC8847-FC4C-4D02-9F3B-560EAE7F7635}"/>
                </a:ext>
              </a:extLst>
            </p:cNvPr>
            <p:cNvCxnSpPr>
              <a:cxnSpLocks/>
              <a:stCxn id="6" idx="6"/>
              <a:endCxn id="8" idx="1"/>
            </p:cNvCxnSpPr>
            <p:nvPr/>
          </p:nvCxnSpPr>
          <p:spPr>
            <a:xfrm>
              <a:off x="4333875" y="2738438"/>
              <a:ext cx="1570172" cy="770071"/>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6" name="직선 화살표 연결선 15">
              <a:extLst>
                <a:ext uri="{FF2B5EF4-FFF2-40B4-BE49-F238E27FC236}">
                  <a16:creationId xmlns:a16="http://schemas.microsoft.com/office/drawing/2014/main" id="{0C770082-98F7-4390-A43D-422270639D8D}"/>
                </a:ext>
              </a:extLst>
            </p:cNvPr>
            <p:cNvCxnSpPr>
              <a:cxnSpLocks/>
              <a:stCxn id="7" idx="6"/>
              <a:endCxn id="8" idx="3"/>
            </p:cNvCxnSpPr>
            <p:nvPr/>
          </p:nvCxnSpPr>
          <p:spPr>
            <a:xfrm flipV="1">
              <a:off x="4333875" y="3892414"/>
              <a:ext cx="1570172" cy="714990"/>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CF02BDD-24FA-4FBA-8016-90AF8168C842}"/>
                </a:ext>
              </a:extLst>
            </p:cNvPr>
            <p:cNvSpPr txBox="1"/>
            <p:nvPr/>
          </p:nvSpPr>
          <p:spPr>
            <a:xfrm>
              <a:off x="2714625" y="4232925"/>
              <a:ext cx="438150" cy="307777"/>
            </a:xfrm>
            <a:prstGeom prst="rect">
              <a:avLst/>
            </a:prstGeom>
            <a:noFill/>
          </p:spPr>
          <p:txBody>
            <a:bodyPr wrap="square" rtlCol="0">
              <a:spAutoFit/>
            </a:bodyPr>
            <a:lstStyle/>
            <a:p>
              <a:r>
                <a:rPr lang="en-US" sz="1400" dirty="0"/>
                <a:t>45</a:t>
              </a:r>
            </a:p>
          </p:txBody>
        </p:sp>
        <p:sp>
          <p:nvSpPr>
            <p:cNvPr id="20" name="TextBox 19">
              <a:extLst>
                <a:ext uri="{FF2B5EF4-FFF2-40B4-BE49-F238E27FC236}">
                  <a16:creationId xmlns:a16="http://schemas.microsoft.com/office/drawing/2014/main" id="{AF6F67C4-D413-4E59-B78F-8BED01DD3A6A}"/>
                </a:ext>
              </a:extLst>
            </p:cNvPr>
            <p:cNvSpPr txBox="1"/>
            <p:nvPr/>
          </p:nvSpPr>
          <p:spPr>
            <a:xfrm>
              <a:off x="5150643" y="4232925"/>
              <a:ext cx="673894" cy="307777"/>
            </a:xfrm>
            <a:prstGeom prst="rect">
              <a:avLst/>
            </a:prstGeom>
            <a:noFill/>
          </p:spPr>
          <p:txBody>
            <a:bodyPr wrap="square" rtlCol="0">
              <a:spAutoFit/>
            </a:bodyPr>
            <a:lstStyle/>
            <a:p>
              <a:r>
                <a:rPr lang="en-US" sz="1400" dirty="0"/>
                <a:t>x/100</a:t>
              </a:r>
            </a:p>
          </p:txBody>
        </p:sp>
        <p:sp>
          <p:nvSpPr>
            <p:cNvPr id="21" name="TextBox 20">
              <a:extLst>
                <a:ext uri="{FF2B5EF4-FFF2-40B4-BE49-F238E27FC236}">
                  <a16:creationId xmlns:a16="http://schemas.microsoft.com/office/drawing/2014/main" id="{47CFABA7-B221-42C4-B581-9FE363643496}"/>
                </a:ext>
              </a:extLst>
            </p:cNvPr>
            <p:cNvSpPr txBox="1"/>
            <p:nvPr/>
          </p:nvSpPr>
          <p:spPr>
            <a:xfrm>
              <a:off x="5150643" y="2816261"/>
              <a:ext cx="438150" cy="307777"/>
            </a:xfrm>
            <a:prstGeom prst="rect">
              <a:avLst/>
            </a:prstGeom>
            <a:noFill/>
          </p:spPr>
          <p:txBody>
            <a:bodyPr wrap="square" rtlCol="0">
              <a:spAutoFit/>
            </a:bodyPr>
            <a:lstStyle/>
            <a:p>
              <a:r>
                <a:rPr lang="en-US" sz="1400" dirty="0"/>
                <a:t>45</a:t>
              </a:r>
            </a:p>
          </p:txBody>
        </p:sp>
        <p:sp>
          <p:nvSpPr>
            <p:cNvPr id="22" name="TextBox 21">
              <a:extLst>
                <a:ext uri="{FF2B5EF4-FFF2-40B4-BE49-F238E27FC236}">
                  <a16:creationId xmlns:a16="http://schemas.microsoft.com/office/drawing/2014/main" id="{A9C8E731-2EFB-4B57-8EEF-DBC9802773BB}"/>
                </a:ext>
              </a:extLst>
            </p:cNvPr>
            <p:cNvSpPr txBox="1"/>
            <p:nvPr/>
          </p:nvSpPr>
          <p:spPr>
            <a:xfrm>
              <a:off x="2548402" y="2803448"/>
              <a:ext cx="673894" cy="307777"/>
            </a:xfrm>
            <a:prstGeom prst="rect">
              <a:avLst/>
            </a:prstGeom>
            <a:noFill/>
          </p:spPr>
          <p:txBody>
            <a:bodyPr wrap="square" rtlCol="0">
              <a:spAutoFit/>
            </a:bodyPr>
            <a:lstStyle/>
            <a:p>
              <a:r>
                <a:rPr lang="en-US" sz="1400" dirty="0"/>
                <a:t>x/100</a:t>
              </a:r>
            </a:p>
          </p:txBody>
        </p:sp>
      </p:grpSp>
      <p:sp>
        <p:nvSpPr>
          <p:cNvPr id="24" name="직사각형 23">
            <a:extLst>
              <a:ext uri="{FF2B5EF4-FFF2-40B4-BE49-F238E27FC236}">
                <a16:creationId xmlns:a16="http://schemas.microsoft.com/office/drawing/2014/main" id="{6D5AB2C6-AD3F-4462-B1B1-4E3A73EF334A}"/>
              </a:ext>
            </a:extLst>
          </p:cNvPr>
          <p:cNvSpPr/>
          <p:nvPr/>
        </p:nvSpPr>
        <p:spPr>
          <a:xfrm>
            <a:off x="3077408" y="5534229"/>
            <a:ext cx="5663232" cy="646331"/>
          </a:xfrm>
          <a:prstGeom prst="rect">
            <a:avLst/>
          </a:prstGeom>
        </p:spPr>
        <p:txBody>
          <a:bodyPr wrap="square">
            <a:spAutoFit/>
          </a:bodyPr>
          <a:lstStyle/>
          <a:p>
            <a:r>
              <a:rPr lang="en-US" dirty="0"/>
              <a:t>A-C, B-D are sensitive to congestion: takes x/100 minutes</a:t>
            </a:r>
          </a:p>
          <a:p>
            <a:r>
              <a:rPr lang="en-US" dirty="0"/>
              <a:t>A-D, B-C are insensitive to congestion: takes 45minutes </a:t>
            </a:r>
            <a:endParaRPr lang="en-US" sz="1600" dirty="0"/>
          </a:p>
        </p:txBody>
      </p:sp>
      <p:sp>
        <p:nvSpPr>
          <p:cNvPr id="26" name="직사각형 25">
            <a:extLst>
              <a:ext uri="{FF2B5EF4-FFF2-40B4-BE49-F238E27FC236}">
                <a16:creationId xmlns:a16="http://schemas.microsoft.com/office/drawing/2014/main" id="{1266C2BC-F085-41D9-AF6C-0EBD13CE33B8}"/>
              </a:ext>
            </a:extLst>
          </p:cNvPr>
          <p:cNvSpPr/>
          <p:nvPr/>
        </p:nvSpPr>
        <p:spPr>
          <a:xfrm>
            <a:off x="3077407" y="6250774"/>
            <a:ext cx="6952417" cy="830997"/>
          </a:xfrm>
          <a:prstGeom prst="rect">
            <a:avLst/>
          </a:prstGeom>
        </p:spPr>
        <p:txBody>
          <a:bodyPr wrap="square">
            <a:spAutoFit/>
          </a:bodyPr>
          <a:lstStyle/>
          <a:p>
            <a:r>
              <a:rPr lang="en-US" sz="1600" b="1" dirty="0"/>
              <a:t>When 4000 cars want to get from A to B, X = 2000 is the Nash Equilibria.</a:t>
            </a:r>
          </a:p>
          <a:p>
            <a:r>
              <a:rPr lang="en-US" sz="1600" b="1" dirty="0"/>
              <a:t>Travel time is 65 (45 + 2000/100 )</a:t>
            </a:r>
          </a:p>
          <a:p>
            <a:endParaRPr lang="en-US" sz="1600" b="1" dirty="0"/>
          </a:p>
        </p:txBody>
      </p:sp>
    </p:spTree>
    <p:extLst>
      <p:ext uri="{BB962C8B-B14F-4D97-AF65-F5344CB8AC3E}">
        <p14:creationId xmlns:p14="http://schemas.microsoft.com/office/powerpoint/2010/main" val="3852434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696157" y="1704"/>
            <a:ext cx="10515600" cy="1325563"/>
          </a:xfrm>
        </p:spPr>
        <p:txBody>
          <a:bodyPr/>
          <a:lstStyle/>
          <a:p>
            <a:r>
              <a:rPr lang="en-US" dirty="0" err="1"/>
              <a:t>Braess’s</a:t>
            </a:r>
            <a:r>
              <a:rPr lang="en-US" dirty="0"/>
              <a:t> Paradox</a:t>
            </a:r>
          </a:p>
        </p:txBody>
      </p:sp>
      <p:sp>
        <p:nvSpPr>
          <p:cNvPr id="5" name="직사각형 4">
            <a:extLst>
              <a:ext uri="{FF2B5EF4-FFF2-40B4-BE49-F238E27FC236}">
                <a16:creationId xmlns:a16="http://schemas.microsoft.com/office/drawing/2014/main" id="{EE7350D5-71C9-488E-8582-9BA98CA84369}"/>
              </a:ext>
            </a:extLst>
          </p:cNvPr>
          <p:cNvSpPr/>
          <p:nvPr/>
        </p:nvSpPr>
        <p:spPr>
          <a:xfrm>
            <a:off x="696157" y="1327267"/>
            <a:ext cx="9832759" cy="1077218"/>
          </a:xfrm>
          <a:prstGeom prst="rect">
            <a:avLst/>
          </a:prstGeom>
        </p:spPr>
        <p:txBody>
          <a:bodyPr wrap="square">
            <a:spAutoFit/>
          </a:bodyPr>
          <a:lstStyle/>
          <a:p>
            <a:r>
              <a:rPr lang="en-US" sz="1600" dirty="0"/>
              <a:t>Adding resources to transportation network does not always increase efficiency.</a:t>
            </a:r>
          </a:p>
          <a:p>
            <a:r>
              <a:rPr lang="en-US" sz="1600" dirty="0"/>
              <a:t>It might hurt performance at equilibrium.</a:t>
            </a:r>
          </a:p>
          <a:p>
            <a:endParaRPr lang="en-US" sz="1600" dirty="0"/>
          </a:p>
          <a:p>
            <a:r>
              <a:rPr lang="en-US" sz="1600" dirty="0"/>
              <a:t>In Korea, destruction of 6-lane highway to build a public park actually improved travel time into and out of the city</a:t>
            </a:r>
          </a:p>
        </p:txBody>
      </p:sp>
      <p:grpSp>
        <p:nvGrpSpPr>
          <p:cNvPr id="23" name="그룹 22">
            <a:extLst>
              <a:ext uri="{FF2B5EF4-FFF2-40B4-BE49-F238E27FC236}">
                <a16:creationId xmlns:a16="http://schemas.microsoft.com/office/drawing/2014/main" id="{7EB4A1EE-65D1-4F51-B742-3864484F81A9}"/>
              </a:ext>
            </a:extLst>
          </p:cNvPr>
          <p:cNvGrpSpPr/>
          <p:nvPr/>
        </p:nvGrpSpPr>
        <p:grpSpPr>
          <a:xfrm>
            <a:off x="3590925" y="2805230"/>
            <a:ext cx="4500562" cy="2411891"/>
            <a:chOff x="1866900" y="2466975"/>
            <a:chExt cx="4500562" cy="2411891"/>
          </a:xfrm>
        </p:grpSpPr>
        <p:sp>
          <p:nvSpPr>
            <p:cNvPr id="3" name="타원 2">
              <a:extLst>
                <a:ext uri="{FF2B5EF4-FFF2-40B4-BE49-F238E27FC236}">
                  <a16:creationId xmlns:a16="http://schemas.microsoft.com/office/drawing/2014/main" id="{0C601A5C-DFFF-4BA9-9F46-99D500A5A59C}"/>
                </a:ext>
              </a:extLst>
            </p:cNvPr>
            <p:cNvSpPr/>
            <p:nvPr/>
          </p:nvSpPr>
          <p:spPr>
            <a:xfrm>
              <a:off x="1866900" y="3429000"/>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6" name="타원 5">
              <a:extLst>
                <a:ext uri="{FF2B5EF4-FFF2-40B4-BE49-F238E27FC236}">
                  <a16:creationId xmlns:a16="http://schemas.microsoft.com/office/drawing/2014/main" id="{67AFDE70-0A35-4661-A2AB-DBC38EA04E96}"/>
                </a:ext>
              </a:extLst>
            </p:cNvPr>
            <p:cNvSpPr/>
            <p:nvPr/>
          </p:nvSpPr>
          <p:spPr>
            <a:xfrm>
              <a:off x="3790950" y="2466975"/>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 name="타원 6">
              <a:extLst>
                <a:ext uri="{FF2B5EF4-FFF2-40B4-BE49-F238E27FC236}">
                  <a16:creationId xmlns:a16="http://schemas.microsoft.com/office/drawing/2014/main" id="{BE91330D-FFA0-4819-A314-3948E9755FC9}"/>
                </a:ext>
              </a:extLst>
            </p:cNvPr>
            <p:cNvSpPr/>
            <p:nvPr/>
          </p:nvSpPr>
          <p:spPr>
            <a:xfrm>
              <a:off x="3790950" y="4335941"/>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 name="타원 7">
              <a:extLst>
                <a:ext uri="{FF2B5EF4-FFF2-40B4-BE49-F238E27FC236}">
                  <a16:creationId xmlns:a16="http://schemas.microsoft.com/office/drawing/2014/main" id="{D5B3D41C-804F-4C44-9E8F-29E5F45C06AD}"/>
                </a:ext>
              </a:extLst>
            </p:cNvPr>
            <p:cNvSpPr/>
            <p:nvPr/>
          </p:nvSpPr>
          <p:spPr>
            <a:xfrm>
              <a:off x="5824537" y="3428999"/>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9" name="직선 화살표 연결선 8">
              <a:extLst>
                <a:ext uri="{FF2B5EF4-FFF2-40B4-BE49-F238E27FC236}">
                  <a16:creationId xmlns:a16="http://schemas.microsoft.com/office/drawing/2014/main" id="{633C9EED-A48E-4CF7-A04B-07047928FB40}"/>
                </a:ext>
              </a:extLst>
            </p:cNvPr>
            <p:cNvCxnSpPr>
              <a:stCxn id="3" idx="7"/>
              <a:endCxn id="6" idx="2"/>
            </p:cNvCxnSpPr>
            <p:nvPr/>
          </p:nvCxnSpPr>
          <p:spPr>
            <a:xfrm flipV="1">
              <a:off x="2330315" y="2738438"/>
              <a:ext cx="1460635" cy="770072"/>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0" name="직선 화살표 연결선 9">
              <a:extLst>
                <a:ext uri="{FF2B5EF4-FFF2-40B4-BE49-F238E27FC236}">
                  <a16:creationId xmlns:a16="http://schemas.microsoft.com/office/drawing/2014/main" id="{4E827350-357C-4980-856B-06FD827F8FF5}"/>
                </a:ext>
              </a:extLst>
            </p:cNvPr>
            <p:cNvCxnSpPr>
              <a:cxnSpLocks/>
              <a:stCxn id="3" idx="5"/>
              <a:endCxn id="7" idx="2"/>
            </p:cNvCxnSpPr>
            <p:nvPr/>
          </p:nvCxnSpPr>
          <p:spPr>
            <a:xfrm>
              <a:off x="2330315" y="3892415"/>
              <a:ext cx="1460635" cy="714989"/>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3" name="직선 화살표 연결선 12">
              <a:extLst>
                <a:ext uri="{FF2B5EF4-FFF2-40B4-BE49-F238E27FC236}">
                  <a16:creationId xmlns:a16="http://schemas.microsoft.com/office/drawing/2014/main" id="{34AC8847-FC4C-4D02-9F3B-560EAE7F7635}"/>
                </a:ext>
              </a:extLst>
            </p:cNvPr>
            <p:cNvCxnSpPr>
              <a:cxnSpLocks/>
              <a:stCxn id="6" idx="6"/>
              <a:endCxn id="8" idx="1"/>
            </p:cNvCxnSpPr>
            <p:nvPr/>
          </p:nvCxnSpPr>
          <p:spPr>
            <a:xfrm>
              <a:off x="4333875" y="2738438"/>
              <a:ext cx="1570172" cy="770071"/>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6" name="직선 화살표 연결선 15">
              <a:extLst>
                <a:ext uri="{FF2B5EF4-FFF2-40B4-BE49-F238E27FC236}">
                  <a16:creationId xmlns:a16="http://schemas.microsoft.com/office/drawing/2014/main" id="{0C770082-98F7-4390-A43D-422270639D8D}"/>
                </a:ext>
              </a:extLst>
            </p:cNvPr>
            <p:cNvCxnSpPr>
              <a:cxnSpLocks/>
              <a:stCxn id="7" idx="6"/>
              <a:endCxn id="8" idx="3"/>
            </p:cNvCxnSpPr>
            <p:nvPr/>
          </p:nvCxnSpPr>
          <p:spPr>
            <a:xfrm flipV="1">
              <a:off x="4333875" y="3892414"/>
              <a:ext cx="1570172" cy="714990"/>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CF02BDD-24FA-4FBA-8016-90AF8168C842}"/>
                </a:ext>
              </a:extLst>
            </p:cNvPr>
            <p:cNvSpPr txBox="1"/>
            <p:nvPr/>
          </p:nvSpPr>
          <p:spPr>
            <a:xfrm>
              <a:off x="2714625" y="4232925"/>
              <a:ext cx="438150" cy="307777"/>
            </a:xfrm>
            <a:prstGeom prst="rect">
              <a:avLst/>
            </a:prstGeom>
            <a:noFill/>
          </p:spPr>
          <p:txBody>
            <a:bodyPr wrap="square" rtlCol="0">
              <a:spAutoFit/>
            </a:bodyPr>
            <a:lstStyle/>
            <a:p>
              <a:r>
                <a:rPr lang="en-US" sz="1400" dirty="0"/>
                <a:t>45</a:t>
              </a:r>
            </a:p>
          </p:txBody>
        </p:sp>
        <p:sp>
          <p:nvSpPr>
            <p:cNvPr id="20" name="TextBox 19">
              <a:extLst>
                <a:ext uri="{FF2B5EF4-FFF2-40B4-BE49-F238E27FC236}">
                  <a16:creationId xmlns:a16="http://schemas.microsoft.com/office/drawing/2014/main" id="{AF6F67C4-D413-4E59-B78F-8BED01DD3A6A}"/>
                </a:ext>
              </a:extLst>
            </p:cNvPr>
            <p:cNvSpPr txBox="1"/>
            <p:nvPr/>
          </p:nvSpPr>
          <p:spPr>
            <a:xfrm>
              <a:off x="5150643" y="4232925"/>
              <a:ext cx="673894" cy="307777"/>
            </a:xfrm>
            <a:prstGeom prst="rect">
              <a:avLst/>
            </a:prstGeom>
            <a:noFill/>
          </p:spPr>
          <p:txBody>
            <a:bodyPr wrap="square" rtlCol="0">
              <a:spAutoFit/>
            </a:bodyPr>
            <a:lstStyle/>
            <a:p>
              <a:r>
                <a:rPr lang="en-US" sz="1400" dirty="0"/>
                <a:t>x/100</a:t>
              </a:r>
            </a:p>
          </p:txBody>
        </p:sp>
        <p:sp>
          <p:nvSpPr>
            <p:cNvPr id="21" name="TextBox 20">
              <a:extLst>
                <a:ext uri="{FF2B5EF4-FFF2-40B4-BE49-F238E27FC236}">
                  <a16:creationId xmlns:a16="http://schemas.microsoft.com/office/drawing/2014/main" id="{47CFABA7-B221-42C4-B581-9FE363643496}"/>
                </a:ext>
              </a:extLst>
            </p:cNvPr>
            <p:cNvSpPr txBox="1"/>
            <p:nvPr/>
          </p:nvSpPr>
          <p:spPr>
            <a:xfrm>
              <a:off x="5150643" y="2816261"/>
              <a:ext cx="438150" cy="307777"/>
            </a:xfrm>
            <a:prstGeom prst="rect">
              <a:avLst/>
            </a:prstGeom>
            <a:noFill/>
          </p:spPr>
          <p:txBody>
            <a:bodyPr wrap="square" rtlCol="0">
              <a:spAutoFit/>
            </a:bodyPr>
            <a:lstStyle/>
            <a:p>
              <a:r>
                <a:rPr lang="en-US" sz="1400" dirty="0"/>
                <a:t>45</a:t>
              </a:r>
            </a:p>
          </p:txBody>
        </p:sp>
        <p:sp>
          <p:nvSpPr>
            <p:cNvPr id="22" name="TextBox 21">
              <a:extLst>
                <a:ext uri="{FF2B5EF4-FFF2-40B4-BE49-F238E27FC236}">
                  <a16:creationId xmlns:a16="http://schemas.microsoft.com/office/drawing/2014/main" id="{A9C8E731-2EFB-4B57-8EEF-DBC9802773BB}"/>
                </a:ext>
              </a:extLst>
            </p:cNvPr>
            <p:cNvSpPr txBox="1"/>
            <p:nvPr/>
          </p:nvSpPr>
          <p:spPr>
            <a:xfrm>
              <a:off x="2548402" y="2803448"/>
              <a:ext cx="673894" cy="307777"/>
            </a:xfrm>
            <a:prstGeom prst="rect">
              <a:avLst/>
            </a:prstGeom>
            <a:noFill/>
          </p:spPr>
          <p:txBody>
            <a:bodyPr wrap="square" rtlCol="0">
              <a:spAutoFit/>
            </a:bodyPr>
            <a:lstStyle/>
            <a:p>
              <a:r>
                <a:rPr lang="en-US" sz="1400" dirty="0"/>
                <a:t>x/100</a:t>
              </a:r>
            </a:p>
          </p:txBody>
        </p:sp>
        <p:cxnSp>
          <p:nvCxnSpPr>
            <p:cNvPr id="25" name="직선 화살표 연결선 24">
              <a:extLst>
                <a:ext uri="{FF2B5EF4-FFF2-40B4-BE49-F238E27FC236}">
                  <a16:creationId xmlns:a16="http://schemas.microsoft.com/office/drawing/2014/main" id="{794B606B-EB39-4D7A-A96C-920EFEFC797B}"/>
                </a:ext>
              </a:extLst>
            </p:cNvPr>
            <p:cNvCxnSpPr>
              <a:cxnSpLocks/>
              <a:stCxn id="6" idx="4"/>
              <a:endCxn id="7" idx="0"/>
            </p:cNvCxnSpPr>
            <p:nvPr/>
          </p:nvCxnSpPr>
          <p:spPr>
            <a:xfrm>
              <a:off x="4062413" y="3009900"/>
              <a:ext cx="0" cy="1326041"/>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3D335B18-C205-4A43-8F52-6E367CDAE3F2}"/>
                </a:ext>
              </a:extLst>
            </p:cNvPr>
            <p:cNvSpPr txBox="1"/>
            <p:nvPr/>
          </p:nvSpPr>
          <p:spPr>
            <a:xfrm>
              <a:off x="4152900" y="3472195"/>
              <a:ext cx="438150" cy="307777"/>
            </a:xfrm>
            <a:prstGeom prst="rect">
              <a:avLst/>
            </a:prstGeom>
            <a:noFill/>
          </p:spPr>
          <p:txBody>
            <a:bodyPr wrap="square" rtlCol="0">
              <a:spAutoFit/>
            </a:bodyPr>
            <a:lstStyle/>
            <a:p>
              <a:r>
                <a:rPr lang="en-US" sz="1400" dirty="0"/>
                <a:t>0</a:t>
              </a:r>
            </a:p>
          </p:txBody>
        </p:sp>
      </p:grpSp>
      <p:sp>
        <p:nvSpPr>
          <p:cNvPr id="24" name="직사각형 23">
            <a:extLst>
              <a:ext uri="{FF2B5EF4-FFF2-40B4-BE49-F238E27FC236}">
                <a16:creationId xmlns:a16="http://schemas.microsoft.com/office/drawing/2014/main" id="{6D5AB2C6-AD3F-4462-B1B1-4E3A73EF334A}"/>
              </a:ext>
            </a:extLst>
          </p:cNvPr>
          <p:cNvSpPr/>
          <p:nvPr/>
        </p:nvSpPr>
        <p:spPr>
          <a:xfrm>
            <a:off x="3077408" y="5534229"/>
            <a:ext cx="5663232" cy="369332"/>
          </a:xfrm>
          <a:prstGeom prst="rect">
            <a:avLst/>
          </a:prstGeom>
        </p:spPr>
        <p:txBody>
          <a:bodyPr wrap="square">
            <a:spAutoFit/>
          </a:bodyPr>
          <a:lstStyle/>
          <a:p>
            <a:r>
              <a:rPr lang="en-US" dirty="0"/>
              <a:t>All cars will use the route through both C and D</a:t>
            </a:r>
            <a:endParaRPr lang="en-US" sz="1600" dirty="0"/>
          </a:p>
        </p:txBody>
      </p:sp>
      <p:sp>
        <p:nvSpPr>
          <p:cNvPr id="26" name="직사각형 25">
            <a:extLst>
              <a:ext uri="{FF2B5EF4-FFF2-40B4-BE49-F238E27FC236}">
                <a16:creationId xmlns:a16="http://schemas.microsoft.com/office/drawing/2014/main" id="{1266C2BC-F085-41D9-AF6C-0EBD13CE33B8}"/>
              </a:ext>
            </a:extLst>
          </p:cNvPr>
          <p:cNvSpPr/>
          <p:nvPr/>
        </p:nvSpPr>
        <p:spPr>
          <a:xfrm>
            <a:off x="3077407" y="6250774"/>
            <a:ext cx="6952417" cy="830997"/>
          </a:xfrm>
          <a:prstGeom prst="rect">
            <a:avLst/>
          </a:prstGeom>
        </p:spPr>
        <p:txBody>
          <a:bodyPr wrap="square">
            <a:spAutoFit/>
          </a:bodyPr>
          <a:lstStyle/>
          <a:p>
            <a:r>
              <a:rPr lang="en-US" sz="1600" b="1" dirty="0"/>
              <a:t>When 4000 cars want to get from A to B, X = 4000 is the Nash Equilibria.</a:t>
            </a:r>
          </a:p>
          <a:p>
            <a:r>
              <a:rPr lang="en-US" sz="1600" b="1" dirty="0"/>
              <a:t>Travel time is 80 (4000/100 + 0 + 4000/100 )</a:t>
            </a:r>
          </a:p>
          <a:p>
            <a:endParaRPr lang="en-US" sz="1600" b="1" dirty="0"/>
          </a:p>
        </p:txBody>
      </p:sp>
      <p:pic>
        <p:nvPicPr>
          <p:cNvPr id="14" name="그림 13">
            <a:extLst>
              <a:ext uri="{FF2B5EF4-FFF2-40B4-BE49-F238E27FC236}">
                <a16:creationId xmlns:a16="http://schemas.microsoft.com/office/drawing/2014/main" id="{A0B7267E-5AF7-44F0-9D10-0E8CAD04E5C8}"/>
              </a:ext>
            </a:extLst>
          </p:cNvPr>
          <p:cNvPicPr>
            <a:picLocks noChangeAspect="1"/>
          </p:cNvPicPr>
          <p:nvPr/>
        </p:nvPicPr>
        <p:blipFill rotWithShape="1">
          <a:blip r:embed="rId2"/>
          <a:srcRect l="19351" t="33010" r="19758" b="10809"/>
          <a:stretch/>
        </p:blipFill>
        <p:spPr>
          <a:xfrm>
            <a:off x="8572806" y="180655"/>
            <a:ext cx="3483070" cy="1807656"/>
          </a:xfrm>
          <a:prstGeom prst="rect">
            <a:avLst/>
          </a:prstGeom>
        </p:spPr>
      </p:pic>
    </p:spTree>
    <p:extLst>
      <p:ext uri="{BB962C8B-B14F-4D97-AF65-F5344CB8AC3E}">
        <p14:creationId xmlns:p14="http://schemas.microsoft.com/office/powerpoint/2010/main" val="1657189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38200" y="-105392"/>
            <a:ext cx="10515600" cy="1325563"/>
          </a:xfrm>
        </p:spPr>
        <p:txBody>
          <a:bodyPr/>
          <a:lstStyle/>
          <a:p>
            <a:r>
              <a:rPr lang="en-US" dirty="0"/>
              <a:t>Social Cost of Traffic at Equilibrium</a:t>
            </a:r>
          </a:p>
        </p:txBody>
      </p:sp>
      <mc:AlternateContent xmlns:mc="http://schemas.openxmlformats.org/markup-compatibility/2006" xmlns:a14="http://schemas.microsoft.com/office/drawing/2010/main">
        <mc:Choice Requires="a14">
          <p:sp>
            <p:nvSpPr>
              <p:cNvPr id="5" name="직사각형 4">
                <a:extLst>
                  <a:ext uri="{FF2B5EF4-FFF2-40B4-BE49-F238E27FC236}">
                    <a16:creationId xmlns:a16="http://schemas.microsoft.com/office/drawing/2014/main" id="{EE7350D5-71C9-488E-8582-9BA98CA84369}"/>
                  </a:ext>
                </a:extLst>
              </p:cNvPr>
              <p:cNvSpPr/>
              <p:nvPr/>
            </p:nvSpPr>
            <p:spPr>
              <a:xfrm>
                <a:off x="838200" y="1025237"/>
                <a:ext cx="10010313" cy="369332"/>
              </a:xfrm>
              <a:prstGeom prst="rect">
                <a:avLst/>
              </a:prstGeom>
            </p:spPr>
            <p:txBody>
              <a:bodyPr wrap="square">
                <a:spAutoFit/>
              </a:bodyPr>
              <a:lstStyle/>
              <a:p>
                <a:r>
                  <a:rPr lang="en-US" dirty="0"/>
                  <a:t>Travel Time Function of edge </a:t>
                </a:r>
                <a:r>
                  <a:rPr lang="en-US" i="1" dirty="0"/>
                  <a:t>e</a:t>
                </a:r>
                <a:r>
                  <a:rPr lang="en-US" dirty="0"/>
                  <a:t> :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T</m:t>
                        </m:r>
                      </m:e>
                      <m:sub>
                        <m:r>
                          <a:rPr lang="en-US" b="0" i="1" smtClean="0">
                            <a:latin typeface="Cambria Math" panose="02040503050406030204" pitchFamily="18" charset="0"/>
                          </a:rPr>
                          <m:t>𝑒</m:t>
                        </m:r>
                      </m:sub>
                    </m:sSub>
                    <m:d>
                      <m:dPr>
                        <m:ctrlPr>
                          <a:rPr lang="en-US" i="1">
                            <a:latin typeface="Cambria Math" panose="02040503050406030204" pitchFamily="18" charset="0"/>
                          </a:rPr>
                        </m:ctrlPr>
                      </m:dPr>
                      <m:e>
                        <m:r>
                          <a:rPr lang="en-US" i="1">
                            <a:latin typeface="Cambria Math" panose="02040503050406030204" pitchFamily="18" charset="0"/>
                          </a:rPr>
                          <m:t>𝑥</m:t>
                        </m:r>
                      </m:e>
                    </m:d>
                  </m:oMath>
                </a14:m>
                <a:endParaRPr lang="en-US" dirty="0"/>
              </a:p>
            </p:txBody>
          </p:sp>
        </mc:Choice>
        <mc:Fallback xmlns="">
          <p:sp>
            <p:nvSpPr>
              <p:cNvPr id="5" name="직사각형 4">
                <a:extLst>
                  <a:ext uri="{FF2B5EF4-FFF2-40B4-BE49-F238E27FC236}">
                    <a16:creationId xmlns:a16="http://schemas.microsoft.com/office/drawing/2014/main" id="{EE7350D5-71C9-488E-8582-9BA98CA84369}"/>
                  </a:ext>
                </a:extLst>
              </p:cNvPr>
              <p:cNvSpPr>
                <a:spLocks noRot="1" noChangeAspect="1" noMove="1" noResize="1" noEditPoints="1" noAdjustHandles="1" noChangeArrowheads="1" noChangeShapeType="1" noTextEdit="1"/>
              </p:cNvSpPr>
              <p:nvPr/>
            </p:nvSpPr>
            <p:spPr>
              <a:xfrm>
                <a:off x="838200" y="1025237"/>
                <a:ext cx="10010313" cy="369332"/>
              </a:xfrm>
              <a:prstGeom prst="rect">
                <a:avLst/>
              </a:prstGeom>
              <a:blipFill>
                <a:blip r:embed="rId2"/>
                <a:stretch>
                  <a:fillRect l="-548" t="-8197" b="-24590"/>
                </a:stretch>
              </a:blipFill>
            </p:spPr>
            <p:txBody>
              <a:bodyPr/>
              <a:lstStyle/>
              <a:p>
                <a:r>
                  <a:rPr lang="en-US">
                    <a:noFill/>
                  </a:rPr>
                  <a:t> </a:t>
                </a:r>
              </a:p>
            </p:txBody>
          </p:sp>
        </mc:Fallback>
      </mc:AlternateContent>
      <p:grpSp>
        <p:nvGrpSpPr>
          <p:cNvPr id="4" name="그룹 3">
            <a:extLst>
              <a:ext uri="{FF2B5EF4-FFF2-40B4-BE49-F238E27FC236}">
                <a16:creationId xmlns:a16="http://schemas.microsoft.com/office/drawing/2014/main" id="{73E8DC56-6223-4D34-886F-9C4C9F76088B}"/>
              </a:ext>
            </a:extLst>
          </p:cNvPr>
          <p:cNvGrpSpPr/>
          <p:nvPr/>
        </p:nvGrpSpPr>
        <p:grpSpPr>
          <a:xfrm>
            <a:off x="708248" y="4101639"/>
            <a:ext cx="4500562" cy="2411891"/>
            <a:chOff x="1866900" y="2466975"/>
            <a:chExt cx="4500562" cy="2411891"/>
          </a:xfrm>
        </p:grpSpPr>
        <p:sp>
          <p:nvSpPr>
            <p:cNvPr id="6" name="타원 5">
              <a:extLst>
                <a:ext uri="{FF2B5EF4-FFF2-40B4-BE49-F238E27FC236}">
                  <a16:creationId xmlns:a16="http://schemas.microsoft.com/office/drawing/2014/main" id="{FC175F26-C95C-4C67-8C3D-CFA75F7C0D34}"/>
                </a:ext>
              </a:extLst>
            </p:cNvPr>
            <p:cNvSpPr/>
            <p:nvPr/>
          </p:nvSpPr>
          <p:spPr>
            <a:xfrm>
              <a:off x="1866900" y="3429000"/>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 name="타원 6">
              <a:extLst>
                <a:ext uri="{FF2B5EF4-FFF2-40B4-BE49-F238E27FC236}">
                  <a16:creationId xmlns:a16="http://schemas.microsoft.com/office/drawing/2014/main" id="{6F4FEA11-2CBB-4B1B-8B99-452A8B2341B4}"/>
                </a:ext>
              </a:extLst>
            </p:cNvPr>
            <p:cNvSpPr/>
            <p:nvPr/>
          </p:nvSpPr>
          <p:spPr>
            <a:xfrm>
              <a:off x="3790950" y="2466975"/>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8" name="타원 7">
              <a:extLst>
                <a:ext uri="{FF2B5EF4-FFF2-40B4-BE49-F238E27FC236}">
                  <a16:creationId xmlns:a16="http://schemas.microsoft.com/office/drawing/2014/main" id="{7F94CA6C-B8F3-430A-B8CB-DFE96941F9EB}"/>
                </a:ext>
              </a:extLst>
            </p:cNvPr>
            <p:cNvSpPr/>
            <p:nvPr/>
          </p:nvSpPr>
          <p:spPr>
            <a:xfrm>
              <a:off x="3790950" y="4335941"/>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9" name="타원 8">
              <a:extLst>
                <a:ext uri="{FF2B5EF4-FFF2-40B4-BE49-F238E27FC236}">
                  <a16:creationId xmlns:a16="http://schemas.microsoft.com/office/drawing/2014/main" id="{BD524509-B444-4279-AA7C-89CA4EC7F6E0}"/>
                </a:ext>
              </a:extLst>
            </p:cNvPr>
            <p:cNvSpPr/>
            <p:nvPr/>
          </p:nvSpPr>
          <p:spPr>
            <a:xfrm>
              <a:off x="5824537" y="3428999"/>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10" name="직선 화살표 연결선 9">
              <a:extLst>
                <a:ext uri="{FF2B5EF4-FFF2-40B4-BE49-F238E27FC236}">
                  <a16:creationId xmlns:a16="http://schemas.microsoft.com/office/drawing/2014/main" id="{A7947F29-764E-4C75-939C-E21A2BC5C1A7}"/>
                </a:ext>
              </a:extLst>
            </p:cNvPr>
            <p:cNvCxnSpPr>
              <a:stCxn id="6" idx="7"/>
              <a:endCxn id="7" idx="2"/>
            </p:cNvCxnSpPr>
            <p:nvPr/>
          </p:nvCxnSpPr>
          <p:spPr>
            <a:xfrm flipV="1">
              <a:off x="2330315" y="2738438"/>
              <a:ext cx="1460635" cy="770072"/>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1" name="직선 화살표 연결선 10">
              <a:extLst>
                <a:ext uri="{FF2B5EF4-FFF2-40B4-BE49-F238E27FC236}">
                  <a16:creationId xmlns:a16="http://schemas.microsoft.com/office/drawing/2014/main" id="{910430E5-816D-46DD-95DB-94E1666BAE88}"/>
                </a:ext>
              </a:extLst>
            </p:cNvPr>
            <p:cNvCxnSpPr>
              <a:cxnSpLocks/>
              <a:stCxn id="6" idx="5"/>
              <a:endCxn id="8" idx="2"/>
            </p:cNvCxnSpPr>
            <p:nvPr/>
          </p:nvCxnSpPr>
          <p:spPr>
            <a:xfrm>
              <a:off x="2330315" y="3892415"/>
              <a:ext cx="1460635" cy="714989"/>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2" name="직선 화살표 연결선 11">
              <a:extLst>
                <a:ext uri="{FF2B5EF4-FFF2-40B4-BE49-F238E27FC236}">
                  <a16:creationId xmlns:a16="http://schemas.microsoft.com/office/drawing/2014/main" id="{FC314B0B-647A-4C5E-BF41-D2CFE12CAD23}"/>
                </a:ext>
              </a:extLst>
            </p:cNvPr>
            <p:cNvCxnSpPr>
              <a:cxnSpLocks/>
              <a:stCxn id="7" idx="6"/>
              <a:endCxn id="9" idx="1"/>
            </p:cNvCxnSpPr>
            <p:nvPr/>
          </p:nvCxnSpPr>
          <p:spPr>
            <a:xfrm>
              <a:off x="4333875" y="2738438"/>
              <a:ext cx="1570172" cy="770071"/>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3" name="직선 화살표 연결선 12">
              <a:extLst>
                <a:ext uri="{FF2B5EF4-FFF2-40B4-BE49-F238E27FC236}">
                  <a16:creationId xmlns:a16="http://schemas.microsoft.com/office/drawing/2014/main" id="{43BEEB6D-A4A0-46D4-8983-CFC2666CFAF6}"/>
                </a:ext>
              </a:extLst>
            </p:cNvPr>
            <p:cNvCxnSpPr>
              <a:cxnSpLocks/>
              <a:stCxn id="8" idx="6"/>
              <a:endCxn id="9" idx="3"/>
            </p:cNvCxnSpPr>
            <p:nvPr/>
          </p:nvCxnSpPr>
          <p:spPr>
            <a:xfrm flipV="1">
              <a:off x="4333875" y="3892414"/>
              <a:ext cx="1570172" cy="714990"/>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7F37FD2-229A-48E1-8B19-F8DBEA4905CC}"/>
                    </a:ext>
                  </a:extLst>
                </p:cNvPr>
                <p:cNvSpPr txBox="1"/>
                <p:nvPr/>
              </p:nvSpPr>
              <p:spPr>
                <a:xfrm>
                  <a:off x="2015061" y="2803448"/>
                  <a:ext cx="1207235"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en-US" sz="1400" b="0" i="0" smtClean="0">
                                <a:latin typeface="Cambria Math" panose="02040503050406030204" pitchFamily="18" charset="0"/>
                              </a:rPr>
                              <m:t>T</m:t>
                            </m:r>
                          </m:e>
                          <m:sub>
                            <m:r>
                              <a:rPr lang="en-US" sz="1400" b="0" i="1" smtClean="0">
                                <a:latin typeface="Cambria Math" panose="02040503050406030204" pitchFamily="18" charset="0"/>
                              </a:rPr>
                              <m:t>𝐴𝐶</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𝑥</m:t>
                            </m:r>
                          </m:e>
                        </m:d>
                        <m:r>
                          <a:rPr lang="en-US" sz="1400" b="0" i="1" smtClean="0">
                            <a:latin typeface="Cambria Math" panose="02040503050406030204" pitchFamily="18" charset="0"/>
                          </a:rPr>
                          <m:t>=</m:t>
                        </m:r>
                        <m:r>
                          <a:rPr lang="en-US" sz="1400" b="0" i="1" smtClean="0">
                            <a:latin typeface="Cambria Math" panose="02040503050406030204" pitchFamily="18" charset="0"/>
                          </a:rPr>
                          <m:t>𝑥</m:t>
                        </m:r>
                      </m:oMath>
                    </m:oMathPara>
                  </a14:m>
                  <a:endParaRPr lang="en-US" sz="1400" dirty="0"/>
                </a:p>
              </p:txBody>
            </p:sp>
          </mc:Choice>
          <mc:Fallback xmlns="">
            <p:sp>
              <p:nvSpPr>
                <p:cNvPr id="17" name="TextBox 16">
                  <a:extLst>
                    <a:ext uri="{FF2B5EF4-FFF2-40B4-BE49-F238E27FC236}">
                      <a16:creationId xmlns:a16="http://schemas.microsoft.com/office/drawing/2014/main" id="{17F37FD2-229A-48E1-8B19-F8DBEA4905CC}"/>
                    </a:ext>
                  </a:extLst>
                </p:cNvPr>
                <p:cNvSpPr txBox="1">
                  <a:spLocks noRot="1" noChangeAspect="1" noMove="1" noResize="1" noEditPoints="1" noAdjustHandles="1" noChangeArrowheads="1" noChangeShapeType="1" noTextEdit="1"/>
                </p:cNvSpPr>
                <p:nvPr/>
              </p:nvSpPr>
              <p:spPr>
                <a:xfrm>
                  <a:off x="2015061" y="2803448"/>
                  <a:ext cx="1207235" cy="307777"/>
                </a:xfrm>
                <a:prstGeom prst="rect">
                  <a:avLst/>
                </a:prstGeom>
                <a:blipFill>
                  <a:blip r:embed="rId3"/>
                  <a:stretch>
                    <a:fillRect/>
                  </a:stretch>
                </a:blipFill>
              </p:spPr>
              <p:txBody>
                <a:bodyPr/>
                <a:lstStyle/>
                <a:p>
                  <a:r>
                    <a:rPr lang="en-US">
                      <a:noFill/>
                    </a:rPr>
                    <a:t> </a:t>
                  </a:r>
                </a:p>
              </p:txBody>
            </p:sp>
          </mc:Fallback>
        </mc:AlternateContent>
        <p:cxnSp>
          <p:nvCxnSpPr>
            <p:cNvPr id="18" name="직선 화살표 연결선 17">
              <a:extLst>
                <a:ext uri="{FF2B5EF4-FFF2-40B4-BE49-F238E27FC236}">
                  <a16:creationId xmlns:a16="http://schemas.microsoft.com/office/drawing/2014/main" id="{F438E9E4-8938-433F-B031-5084832F0CF7}"/>
                </a:ext>
              </a:extLst>
            </p:cNvPr>
            <p:cNvCxnSpPr>
              <a:cxnSpLocks/>
              <a:stCxn id="7" idx="4"/>
              <a:endCxn id="8" idx="0"/>
            </p:cNvCxnSpPr>
            <p:nvPr/>
          </p:nvCxnSpPr>
          <p:spPr>
            <a:xfrm>
              <a:off x="4062413" y="3009900"/>
              <a:ext cx="0" cy="1326041"/>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5535CFB-9A3A-4EDB-87C2-0F450716E12E}"/>
                    </a:ext>
                  </a:extLst>
                </p:cNvPr>
                <p:cNvSpPr txBox="1"/>
                <p:nvPr/>
              </p:nvSpPr>
              <p:spPr>
                <a:xfrm>
                  <a:off x="4968273" y="2803448"/>
                  <a:ext cx="1207235"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en-US" sz="1400" b="0" i="0" smtClean="0">
                                <a:latin typeface="Cambria Math" panose="02040503050406030204" pitchFamily="18" charset="0"/>
                              </a:rPr>
                              <m:t>T</m:t>
                            </m:r>
                          </m:e>
                          <m:sub>
                            <m:r>
                              <a:rPr lang="en-US" sz="1400" b="0" i="1" smtClean="0">
                                <a:latin typeface="Cambria Math" panose="02040503050406030204" pitchFamily="18" charset="0"/>
                              </a:rPr>
                              <m:t>𝐶𝐵</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𝑥</m:t>
                            </m:r>
                          </m:e>
                        </m:d>
                        <m:r>
                          <a:rPr lang="en-US" sz="1400" b="0" i="1" smtClean="0">
                            <a:latin typeface="Cambria Math" panose="02040503050406030204" pitchFamily="18" charset="0"/>
                          </a:rPr>
                          <m:t>=5</m:t>
                        </m:r>
                      </m:oMath>
                    </m:oMathPara>
                  </a14:m>
                  <a:endParaRPr lang="en-US" sz="1400" dirty="0"/>
                </a:p>
              </p:txBody>
            </p:sp>
          </mc:Choice>
          <mc:Fallback xmlns="">
            <p:sp>
              <p:nvSpPr>
                <p:cNvPr id="24" name="TextBox 23">
                  <a:extLst>
                    <a:ext uri="{FF2B5EF4-FFF2-40B4-BE49-F238E27FC236}">
                      <a16:creationId xmlns:a16="http://schemas.microsoft.com/office/drawing/2014/main" id="{C5535CFB-9A3A-4EDB-87C2-0F450716E12E}"/>
                    </a:ext>
                  </a:extLst>
                </p:cNvPr>
                <p:cNvSpPr txBox="1">
                  <a:spLocks noRot="1" noChangeAspect="1" noMove="1" noResize="1" noEditPoints="1" noAdjustHandles="1" noChangeArrowheads="1" noChangeShapeType="1" noTextEdit="1"/>
                </p:cNvSpPr>
                <p:nvPr/>
              </p:nvSpPr>
              <p:spPr>
                <a:xfrm>
                  <a:off x="4968273" y="2803448"/>
                  <a:ext cx="1207235"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B886337-6736-4499-A4B5-B7C9539115E6}"/>
                    </a:ext>
                  </a:extLst>
                </p:cNvPr>
                <p:cNvSpPr txBox="1"/>
                <p:nvPr/>
              </p:nvSpPr>
              <p:spPr>
                <a:xfrm>
                  <a:off x="4968273" y="4435358"/>
                  <a:ext cx="1207235"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en-US" sz="1400" b="0" i="0" smtClean="0">
                                <a:latin typeface="Cambria Math" panose="02040503050406030204" pitchFamily="18" charset="0"/>
                              </a:rPr>
                              <m:t>T</m:t>
                            </m:r>
                          </m:e>
                          <m:sub>
                            <m:r>
                              <a:rPr lang="en-US" sz="1400" b="0" i="1" smtClean="0">
                                <a:latin typeface="Cambria Math" panose="02040503050406030204" pitchFamily="18" charset="0"/>
                              </a:rPr>
                              <m:t>𝐷𝐵</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𝑥</m:t>
                            </m:r>
                          </m:e>
                        </m:d>
                        <m:r>
                          <a:rPr lang="en-US" sz="1400" b="0" i="1" smtClean="0">
                            <a:latin typeface="Cambria Math" panose="02040503050406030204" pitchFamily="18" charset="0"/>
                          </a:rPr>
                          <m:t>=</m:t>
                        </m:r>
                        <m:r>
                          <a:rPr lang="en-US" sz="1400" b="0" i="1" smtClean="0">
                            <a:latin typeface="Cambria Math" panose="02040503050406030204" pitchFamily="18" charset="0"/>
                          </a:rPr>
                          <m:t>𝑥</m:t>
                        </m:r>
                      </m:oMath>
                    </m:oMathPara>
                  </a14:m>
                  <a:endParaRPr lang="en-US" sz="1400" dirty="0"/>
                </a:p>
              </p:txBody>
            </p:sp>
          </mc:Choice>
          <mc:Fallback xmlns="">
            <p:sp>
              <p:nvSpPr>
                <p:cNvPr id="25" name="TextBox 24">
                  <a:extLst>
                    <a:ext uri="{FF2B5EF4-FFF2-40B4-BE49-F238E27FC236}">
                      <a16:creationId xmlns:a16="http://schemas.microsoft.com/office/drawing/2014/main" id="{4B886337-6736-4499-A4B5-B7C9539115E6}"/>
                    </a:ext>
                  </a:extLst>
                </p:cNvPr>
                <p:cNvSpPr txBox="1">
                  <a:spLocks noRot="1" noChangeAspect="1" noMove="1" noResize="1" noEditPoints="1" noAdjustHandles="1" noChangeArrowheads="1" noChangeShapeType="1" noTextEdit="1"/>
                </p:cNvSpPr>
                <p:nvPr/>
              </p:nvSpPr>
              <p:spPr>
                <a:xfrm>
                  <a:off x="4968273" y="4435358"/>
                  <a:ext cx="1207235"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7E08EAE-0215-4333-9A35-E130E61AD972}"/>
                    </a:ext>
                  </a:extLst>
                </p:cNvPr>
                <p:cNvSpPr txBox="1"/>
                <p:nvPr/>
              </p:nvSpPr>
              <p:spPr>
                <a:xfrm>
                  <a:off x="2138362" y="4435358"/>
                  <a:ext cx="1207235" cy="307777"/>
                </a:xfrm>
                <a:prstGeom prst="rect">
                  <a:avLst/>
                </a:prstGeom>
                <a:noFill/>
              </p:spPr>
              <p:txBody>
                <a:bodyPr wrap="square" rtlCol="0">
                  <a:spAutoFit/>
                </a:bodyPr>
                <a:lstStyle/>
                <a:p>
                  <a14:m>
                    <m:oMath xmlns:m="http://schemas.openxmlformats.org/officeDocument/2006/math">
                      <m:sSub>
                        <m:sSubPr>
                          <m:ctrlPr>
                            <a:rPr lang="en-US" sz="1400" i="1" smtClean="0">
                              <a:latin typeface="Cambria Math" panose="02040503050406030204" pitchFamily="18" charset="0"/>
                            </a:rPr>
                          </m:ctrlPr>
                        </m:sSubPr>
                        <m:e>
                          <m:r>
                            <m:rPr>
                              <m:sty m:val="p"/>
                            </m:rPr>
                            <a:rPr lang="en-US" sz="1400" b="0" i="0" smtClean="0">
                              <a:latin typeface="Cambria Math" panose="02040503050406030204" pitchFamily="18" charset="0"/>
                            </a:rPr>
                            <m:t>T</m:t>
                          </m:r>
                        </m:e>
                        <m:sub>
                          <m:r>
                            <a:rPr lang="en-US" sz="1400" b="0" i="1" smtClean="0">
                              <a:latin typeface="Cambria Math" panose="02040503050406030204" pitchFamily="18" charset="0"/>
                            </a:rPr>
                            <m:t>𝐴𝐷</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𝑥</m:t>
                          </m:r>
                        </m:e>
                      </m:d>
                      <m:r>
                        <a:rPr lang="en-US" sz="1400" b="0" i="1" smtClean="0">
                          <a:latin typeface="Cambria Math" panose="02040503050406030204" pitchFamily="18" charset="0"/>
                        </a:rPr>
                        <m:t>=</m:t>
                      </m:r>
                    </m:oMath>
                  </a14:m>
                  <a:r>
                    <a:rPr lang="en-US" sz="1400" dirty="0"/>
                    <a:t>5</a:t>
                  </a:r>
                </a:p>
              </p:txBody>
            </p:sp>
          </mc:Choice>
          <mc:Fallback xmlns="">
            <p:sp>
              <p:nvSpPr>
                <p:cNvPr id="26" name="TextBox 25">
                  <a:extLst>
                    <a:ext uri="{FF2B5EF4-FFF2-40B4-BE49-F238E27FC236}">
                      <a16:creationId xmlns:a16="http://schemas.microsoft.com/office/drawing/2014/main" id="{47E08EAE-0215-4333-9A35-E130E61AD972}"/>
                    </a:ext>
                  </a:extLst>
                </p:cNvPr>
                <p:cNvSpPr txBox="1">
                  <a:spLocks noRot="1" noChangeAspect="1" noMove="1" noResize="1" noEditPoints="1" noAdjustHandles="1" noChangeArrowheads="1" noChangeShapeType="1" noTextEdit="1"/>
                </p:cNvSpPr>
                <p:nvPr/>
              </p:nvSpPr>
              <p:spPr>
                <a:xfrm>
                  <a:off x="2138362" y="4435358"/>
                  <a:ext cx="1207235" cy="307777"/>
                </a:xfrm>
                <a:prstGeom prst="rect">
                  <a:avLst/>
                </a:prstGeom>
                <a:blipFill>
                  <a:blip r:embed="rId6"/>
                  <a:stretch>
                    <a:fillRect t="-3922" b="-19608"/>
                  </a:stretch>
                </a:blipFill>
              </p:spPr>
              <p:txBody>
                <a:bodyPr/>
                <a:lstStyle/>
                <a:p>
                  <a:r>
                    <a:rPr lang="en-US">
                      <a:noFill/>
                    </a:rPr>
                    <a:t> </a:t>
                  </a:r>
                </a:p>
              </p:txBody>
            </p:sp>
          </mc:Fallback>
        </mc:AlternateContent>
      </p:grpSp>
      <p:sp>
        <p:nvSpPr>
          <p:cNvPr id="27" name="직사각형 26">
            <a:extLst>
              <a:ext uri="{FF2B5EF4-FFF2-40B4-BE49-F238E27FC236}">
                <a16:creationId xmlns:a16="http://schemas.microsoft.com/office/drawing/2014/main" id="{74A9BFEC-09D9-490D-9406-E513BD00F673}"/>
              </a:ext>
            </a:extLst>
          </p:cNvPr>
          <p:cNvSpPr/>
          <p:nvPr/>
        </p:nvSpPr>
        <p:spPr>
          <a:xfrm>
            <a:off x="838200" y="1460557"/>
            <a:ext cx="10010313" cy="369332"/>
          </a:xfrm>
          <a:prstGeom prst="rect">
            <a:avLst/>
          </a:prstGeom>
        </p:spPr>
        <p:txBody>
          <a:bodyPr wrap="square">
            <a:spAutoFit/>
          </a:bodyPr>
          <a:lstStyle/>
          <a:p>
            <a:r>
              <a:rPr lang="en-US" dirty="0"/>
              <a:t>Travel Pattern: Choice of a path by each driver </a:t>
            </a:r>
          </a:p>
        </p:txBody>
      </p:sp>
      <p:sp>
        <p:nvSpPr>
          <p:cNvPr id="28" name="직사각형 27">
            <a:extLst>
              <a:ext uri="{FF2B5EF4-FFF2-40B4-BE49-F238E27FC236}">
                <a16:creationId xmlns:a16="http://schemas.microsoft.com/office/drawing/2014/main" id="{1165AE5D-D74C-43DD-A6D7-158F6CF0D4D4}"/>
              </a:ext>
            </a:extLst>
          </p:cNvPr>
          <p:cNvSpPr/>
          <p:nvPr/>
        </p:nvSpPr>
        <p:spPr>
          <a:xfrm>
            <a:off x="838200" y="1898655"/>
            <a:ext cx="10010313" cy="369332"/>
          </a:xfrm>
          <a:prstGeom prst="rect">
            <a:avLst/>
          </a:prstGeom>
        </p:spPr>
        <p:txBody>
          <a:bodyPr wrap="square">
            <a:spAutoFit/>
          </a:bodyPr>
          <a:lstStyle/>
          <a:p>
            <a:r>
              <a:rPr lang="en-US" dirty="0"/>
              <a:t>Social Cost: sum of the travel times incurred by all drivers in accordance to the travel pattern</a:t>
            </a:r>
          </a:p>
        </p:txBody>
      </p:sp>
      <p:grpSp>
        <p:nvGrpSpPr>
          <p:cNvPr id="70" name="그룹 69">
            <a:extLst>
              <a:ext uri="{FF2B5EF4-FFF2-40B4-BE49-F238E27FC236}">
                <a16:creationId xmlns:a16="http://schemas.microsoft.com/office/drawing/2014/main" id="{A5FA081A-9FDF-46D8-8E7F-B34BF716C6D7}"/>
              </a:ext>
            </a:extLst>
          </p:cNvPr>
          <p:cNvGrpSpPr/>
          <p:nvPr/>
        </p:nvGrpSpPr>
        <p:grpSpPr>
          <a:xfrm>
            <a:off x="7520707" y="2750501"/>
            <a:ext cx="2850704" cy="1998148"/>
            <a:chOff x="7737698" y="3004203"/>
            <a:chExt cx="2850704" cy="1998148"/>
          </a:xfrm>
        </p:grpSpPr>
        <p:grpSp>
          <p:nvGrpSpPr>
            <p:cNvPr id="29" name="그룹 28">
              <a:extLst>
                <a:ext uri="{FF2B5EF4-FFF2-40B4-BE49-F238E27FC236}">
                  <a16:creationId xmlns:a16="http://schemas.microsoft.com/office/drawing/2014/main" id="{5BC0E760-685B-464C-96EB-8BDF0812696D}"/>
                </a:ext>
              </a:extLst>
            </p:cNvPr>
            <p:cNvGrpSpPr/>
            <p:nvPr/>
          </p:nvGrpSpPr>
          <p:grpSpPr>
            <a:xfrm>
              <a:off x="7737698" y="3243468"/>
              <a:ext cx="2850704" cy="1527717"/>
              <a:chOff x="1866900" y="2466975"/>
              <a:chExt cx="4500562" cy="2411891"/>
            </a:xfrm>
          </p:grpSpPr>
          <p:sp>
            <p:nvSpPr>
              <p:cNvPr id="30" name="타원 29">
                <a:extLst>
                  <a:ext uri="{FF2B5EF4-FFF2-40B4-BE49-F238E27FC236}">
                    <a16:creationId xmlns:a16="http://schemas.microsoft.com/office/drawing/2014/main" id="{B6CC4A94-62EA-4D8B-BF5A-1FF2524EFCC7}"/>
                  </a:ext>
                </a:extLst>
              </p:cNvPr>
              <p:cNvSpPr/>
              <p:nvPr/>
            </p:nvSpPr>
            <p:spPr>
              <a:xfrm>
                <a:off x="1866900" y="3429000"/>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1" name="타원 30">
                <a:extLst>
                  <a:ext uri="{FF2B5EF4-FFF2-40B4-BE49-F238E27FC236}">
                    <a16:creationId xmlns:a16="http://schemas.microsoft.com/office/drawing/2014/main" id="{D4280000-60D7-4044-93BE-C53E6026844D}"/>
                  </a:ext>
                </a:extLst>
              </p:cNvPr>
              <p:cNvSpPr/>
              <p:nvPr/>
            </p:nvSpPr>
            <p:spPr>
              <a:xfrm>
                <a:off x="3790950" y="2466975"/>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2" name="타원 31">
                <a:extLst>
                  <a:ext uri="{FF2B5EF4-FFF2-40B4-BE49-F238E27FC236}">
                    <a16:creationId xmlns:a16="http://schemas.microsoft.com/office/drawing/2014/main" id="{FD5DDA4C-40AE-4353-86D8-14A869810D33}"/>
                  </a:ext>
                </a:extLst>
              </p:cNvPr>
              <p:cNvSpPr/>
              <p:nvPr/>
            </p:nvSpPr>
            <p:spPr>
              <a:xfrm>
                <a:off x="3790950" y="4335941"/>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3" name="타원 32">
                <a:extLst>
                  <a:ext uri="{FF2B5EF4-FFF2-40B4-BE49-F238E27FC236}">
                    <a16:creationId xmlns:a16="http://schemas.microsoft.com/office/drawing/2014/main" id="{8BB294D9-8D06-4799-AF92-23B5ED5F6595}"/>
                  </a:ext>
                </a:extLst>
              </p:cNvPr>
              <p:cNvSpPr/>
              <p:nvPr/>
            </p:nvSpPr>
            <p:spPr>
              <a:xfrm>
                <a:off x="5824537" y="3428999"/>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34" name="직선 화살표 연결선 33">
                <a:extLst>
                  <a:ext uri="{FF2B5EF4-FFF2-40B4-BE49-F238E27FC236}">
                    <a16:creationId xmlns:a16="http://schemas.microsoft.com/office/drawing/2014/main" id="{3D195B2C-D60E-49A8-94B5-D0B85F5AF6C7}"/>
                  </a:ext>
                </a:extLst>
              </p:cNvPr>
              <p:cNvCxnSpPr>
                <a:stCxn id="30" idx="7"/>
                <a:endCxn id="31" idx="2"/>
              </p:cNvCxnSpPr>
              <p:nvPr/>
            </p:nvCxnSpPr>
            <p:spPr>
              <a:xfrm flipV="1">
                <a:off x="2330315" y="2738438"/>
                <a:ext cx="1460635" cy="770072"/>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35" name="직선 화살표 연결선 34">
                <a:extLst>
                  <a:ext uri="{FF2B5EF4-FFF2-40B4-BE49-F238E27FC236}">
                    <a16:creationId xmlns:a16="http://schemas.microsoft.com/office/drawing/2014/main" id="{3BAE3A3B-19C0-417C-9CEE-72B7333DA04A}"/>
                  </a:ext>
                </a:extLst>
              </p:cNvPr>
              <p:cNvCxnSpPr>
                <a:cxnSpLocks/>
                <a:stCxn id="30" idx="5"/>
                <a:endCxn id="32" idx="2"/>
              </p:cNvCxnSpPr>
              <p:nvPr/>
            </p:nvCxnSpPr>
            <p:spPr>
              <a:xfrm>
                <a:off x="2330315" y="3892415"/>
                <a:ext cx="1460635" cy="714989"/>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36" name="직선 화살표 연결선 35">
                <a:extLst>
                  <a:ext uri="{FF2B5EF4-FFF2-40B4-BE49-F238E27FC236}">
                    <a16:creationId xmlns:a16="http://schemas.microsoft.com/office/drawing/2014/main" id="{02878EFA-15C1-4ACF-B586-09D4D3A06C16}"/>
                  </a:ext>
                </a:extLst>
              </p:cNvPr>
              <p:cNvCxnSpPr>
                <a:cxnSpLocks/>
                <a:stCxn id="31" idx="6"/>
                <a:endCxn id="33" idx="1"/>
              </p:cNvCxnSpPr>
              <p:nvPr/>
            </p:nvCxnSpPr>
            <p:spPr>
              <a:xfrm>
                <a:off x="4333875" y="2738438"/>
                <a:ext cx="1570172" cy="770071"/>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37" name="직선 화살표 연결선 36">
                <a:extLst>
                  <a:ext uri="{FF2B5EF4-FFF2-40B4-BE49-F238E27FC236}">
                    <a16:creationId xmlns:a16="http://schemas.microsoft.com/office/drawing/2014/main" id="{3E8594C3-9C41-4421-B8A4-820EAEA1E682}"/>
                  </a:ext>
                </a:extLst>
              </p:cNvPr>
              <p:cNvCxnSpPr>
                <a:cxnSpLocks/>
                <a:stCxn id="32" idx="6"/>
                <a:endCxn id="33" idx="3"/>
              </p:cNvCxnSpPr>
              <p:nvPr/>
            </p:nvCxnSpPr>
            <p:spPr>
              <a:xfrm flipV="1">
                <a:off x="4333875" y="3892414"/>
                <a:ext cx="1570172" cy="714990"/>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39" name="직선 화살표 연결선 38">
                <a:extLst>
                  <a:ext uri="{FF2B5EF4-FFF2-40B4-BE49-F238E27FC236}">
                    <a16:creationId xmlns:a16="http://schemas.microsoft.com/office/drawing/2014/main" id="{904EC3B7-6972-469E-BBAF-60FB832EED6A}"/>
                  </a:ext>
                </a:extLst>
              </p:cNvPr>
              <p:cNvCxnSpPr>
                <a:cxnSpLocks/>
                <a:stCxn id="31" idx="4"/>
                <a:endCxn id="32" idx="0"/>
              </p:cNvCxnSpPr>
              <p:nvPr/>
            </p:nvCxnSpPr>
            <p:spPr>
              <a:xfrm>
                <a:off x="4062413" y="3009900"/>
                <a:ext cx="0" cy="1326041"/>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grpSp>
        <p:grpSp>
          <p:nvGrpSpPr>
            <p:cNvPr id="59" name="그룹 58">
              <a:extLst>
                <a:ext uri="{FF2B5EF4-FFF2-40B4-BE49-F238E27FC236}">
                  <a16:creationId xmlns:a16="http://schemas.microsoft.com/office/drawing/2014/main" id="{20220902-270D-401D-BB3C-2EB61B5F5E2B}"/>
                </a:ext>
              </a:extLst>
            </p:cNvPr>
            <p:cNvGrpSpPr/>
            <p:nvPr/>
          </p:nvGrpSpPr>
          <p:grpSpPr>
            <a:xfrm>
              <a:off x="8278248" y="3004203"/>
              <a:ext cx="1973399" cy="563061"/>
              <a:chOff x="8278248" y="2852354"/>
              <a:chExt cx="1973399" cy="563061"/>
            </a:xfrm>
          </p:grpSpPr>
          <p:cxnSp>
            <p:nvCxnSpPr>
              <p:cNvPr id="54" name="직선 화살표 연결선 53">
                <a:extLst>
                  <a:ext uri="{FF2B5EF4-FFF2-40B4-BE49-F238E27FC236}">
                    <a16:creationId xmlns:a16="http://schemas.microsoft.com/office/drawing/2014/main" id="{7DBC3EF3-6723-410F-BC60-4D2D3FD9C59E}"/>
                  </a:ext>
                </a:extLst>
              </p:cNvPr>
              <p:cNvCxnSpPr/>
              <p:nvPr/>
            </p:nvCxnSpPr>
            <p:spPr>
              <a:xfrm>
                <a:off x="9128359" y="2981325"/>
                <a:ext cx="1116149" cy="43409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직선 화살표 연결선 54">
                <a:extLst>
                  <a:ext uri="{FF2B5EF4-FFF2-40B4-BE49-F238E27FC236}">
                    <a16:creationId xmlns:a16="http://schemas.microsoft.com/office/drawing/2014/main" id="{118BA65F-ECCD-40C0-97B3-D83042129CF1}"/>
                  </a:ext>
                </a:extLst>
              </p:cNvPr>
              <p:cNvCxnSpPr/>
              <p:nvPr/>
            </p:nvCxnSpPr>
            <p:spPr>
              <a:xfrm>
                <a:off x="9135498" y="2856800"/>
                <a:ext cx="1116149" cy="43409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직선 연결선 56">
                <a:extLst>
                  <a:ext uri="{FF2B5EF4-FFF2-40B4-BE49-F238E27FC236}">
                    <a16:creationId xmlns:a16="http://schemas.microsoft.com/office/drawing/2014/main" id="{DF4CC268-DB88-4659-816C-5ACEF86D8EC4}"/>
                  </a:ext>
                </a:extLst>
              </p:cNvPr>
              <p:cNvCxnSpPr/>
              <p:nvPr/>
            </p:nvCxnSpPr>
            <p:spPr>
              <a:xfrm flipH="1">
                <a:off x="8278248" y="2982036"/>
                <a:ext cx="857250" cy="419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직선 연결선 57">
                <a:extLst>
                  <a:ext uri="{FF2B5EF4-FFF2-40B4-BE49-F238E27FC236}">
                    <a16:creationId xmlns:a16="http://schemas.microsoft.com/office/drawing/2014/main" id="{7128E6AD-8C57-4765-93C3-3289E3FD1C88}"/>
                  </a:ext>
                </a:extLst>
              </p:cNvPr>
              <p:cNvCxnSpPr/>
              <p:nvPr/>
            </p:nvCxnSpPr>
            <p:spPr>
              <a:xfrm flipH="1">
                <a:off x="8287773" y="2852354"/>
                <a:ext cx="857250" cy="419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5" name="그룹 64">
              <a:extLst>
                <a:ext uri="{FF2B5EF4-FFF2-40B4-BE49-F238E27FC236}">
                  <a16:creationId xmlns:a16="http://schemas.microsoft.com/office/drawing/2014/main" id="{E86A1F6F-D8C4-4F19-9316-8B6AFB23F33D}"/>
                </a:ext>
              </a:extLst>
            </p:cNvPr>
            <p:cNvGrpSpPr/>
            <p:nvPr/>
          </p:nvGrpSpPr>
          <p:grpSpPr>
            <a:xfrm flipV="1">
              <a:off x="8278248" y="4439290"/>
              <a:ext cx="1973399" cy="563061"/>
              <a:chOff x="8278248" y="2852354"/>
              <a:chExt cx="1973399" cy="563061"/>
            </a:xfrm>
          </p:grpSpPr>
          <p:cxnSp>
            <p:nvCxnSpPr>
              <p:cNvPr id="66" name="직선 화살표 연결선 65">
                <a:extLst>
                  <a:ext uri="{FF2B5EF4-FFF2-40B4-BE49-F238E27FC236}">
                    <a16:creationId xmlns:a16="http://schemas.microsoft.com/office/drawing/2014/main" id="{E467650B-FF81-444D-93D6-E2F33D6A0971}"/>
                  </a:ext>
                </a:extLst>
              </p:cNvPr>
              <p:cNvCxnSpPr/>
              <p:nvPr/>
            </p:nvCxnSpPr>
            <p:spPr>
              <a:xfrm>
                <a:off x="9128359" y="2981325"/>
                <a:ext cx="1116149" cy="43409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직선 화살표 연결선 66">
                <a:extLst>
                  <a:ext uri="{FF2B5EF4-FFF2-40B4-BE49-F238E27FC236}">
                    <a16:creationId xmlns:a16="http://schemas.microsoft.com/office/drawing/2014/main" id="{550E2309-65FA-487B-9D0C-40C55DB471C4}"/>
                  </a:ext>
                </a:extLst>
              </p:cNvPr>
              <p:cNvCxnSpPr/>
              <p:nvPr/>
            </p:nvCxnSpPr>
            <p:spPr>
              <a:xfrm>
                <a:off x="9135498" y="2856800"/>
                <a:ext cx="1116149" cy="43409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직선 연결선 67">
                <a:extLst>
                  <a:ext uri="{FF2B5EF4-FFF2-40B4-BE49-F238E27FC236}">
                    <a16:creationId xmlns:a16="http://schemas.microsoft.com/office/drawing/2014/main" id="{E5F07D3D-8DE7-4B93-B278-57450318F8E4}"/>
                  </a:ext>
                </a:extLst>
              </p:cNvPr>
              <p:cNvCxnSpPr/>
              <p:nvPr/>
            </p:nvCxnSpPr>
            <p:spPr>
              <a:xfrm flipH="1">
                <a:off x="8278248" y="2982036"/>
                <a:ext cx="857250" cy="419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9" name="직선 연결선 68">
                <a:extLst>
                  <a:ext uri="{FF2B5EF4-FFF2-40B4-BE49-F238E27FC236}">
                    <a16:creationId xmlns:a16="http://schemas.microsoft.com/office/drawing/2014/main" id="{CA8FD1F9-F213-4C33-9964-734A0C8175B4}"/>
                  </a:ext>
                </a:extLst>
              </p:cNvPr>
              <p:cNvCxnSpPr/>
              <p:nvPr/>
            </p:nvCxnSpPr>
            <p:spPr>
              <a:xfrm flipH="1">
                <a:off x="8287773" y="2852354"/>
                <a:ext cx="857250" cy="419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91" name="그룹 90">
            <a:extLst>
              <a:ext uri="{FF2B5EF4-FFF2-40B4-BE49-F238E27FC236}">
                <a16:creationId xmlns:a16="http://schemas.microsoft.com/office/drawing/2014/main" id="{4E5F804E-77CB-4A8B-8866-629773511AE2}"/>
              </a:ext>
            </a:extLst>
          </p:cNvPr>
          <p:cNvGrpSpPr/>
          <p:nvPr/>
        </p:nvGrpSpPr>
        <p:grpSpPr>
          <a:xfrm>
            <a:off x="7584728" y="5011653"/>
            <a:ext cx="2864102" cy="1863870"/>
            <a:chOff x="7862887" y="4994130"/>
            <a:chExt cx="2864102" cy="1863870"/>
          </a:xfrm>
        </p:grpSpPr>
        <p:grpSp>
          <p:nvGrpSpPr>
            <p:cNvPr id="43" name="그룹 42">
              <a:extLst>
                <a:ext uri="{FF2B5EF4-FFF2-40B4-BE49-F238E27FC236}">
                  <a16:creationId xmlns:a16="http://schemas.microsoft.com/office/drawing/2014/main" id="{9C76F1FF-A1AA-496C-A515-2D19BF4ED7EB}"/>
                </a:ext>
              </a:extLst>
            </p:cNvPr>
            <p:cNvGrpSpPr/>
            <p:nvPr/>
          </p:nvGrpSpPr>
          <p:grpSpPr>
            <a:xfrm>
              <a:off x="7862887" y="5330283"/>
              <a:ext cx="2850704" cy="1527717"/>
              <a:chOff x="1866900" y="2466975"/>
              <a:chExt cx="4500562" cy="2411891"/>
            </a:xfrm>
          </p:grpSpPr>
          <p:sp>
            <p:nvSpPr>
              <p:cNvPr id="44" name="타원 43">
                <a:extLst>
                  <a:ext uri="{FF2B5EF4-FFF2-40B4-BE49-F238E27FC236}">
                    <a16:creationId xmlns:a16="http://schemas.microsoft.com/office/drawing/2014/main" id="{DF8994C9-8B44-4CD2-83DB-3331809DDA0D}"/>
                  </a:ext>
                </a:extLst>
              </p:cNvPr>
              <p:cNvSpPr/>
              <p:nvPr/>
            </p:nvSpPr>
            <p:spPr>
              <a:xfrm>
                <a:off x="1866900" y="3429000"/>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45" name="타원 44">
                <a:extLst>
                  <a:ext uri="{FF2B5EF4-FFF2-40B4-BE49-F238E27FC236}">
                    <a16:creationId xmlns:a16="http://schemas.microsoft.com/office/drawing/2014/main" id="{3E63DA0C-53F5-4FE9-9788-295A35C62118}"/>
                  </a:ext>
                </a:extLst>
              </p:cNvPr>
              <p:cNvSpPr/>
              <p:nvPr/>
            </p:nvSpPr>
            <p:spPr>
              <a:xfrm>
                <a:off x="3790950" y="2466975"/>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46" name="타원 45">
                <a:extLst>
                  <a:ext uri="{FF2B5EF4-FFF2-40B4-BE49-F238E27FC236}">
                    <a16:creationId xmlns:a16="http://schemas.microsoft.com/office/drawing/2014/main" id="{67DDD3F7-2CC8-45CB-84F0-338DE8D0E275}"/>
                  </a:ext>
                </a:extLst>
              </p:cNvPr>
              <p:cNvSpPr/>
              <p:nvPr/>
            </p:nvSpPr>
            <p:spPr>
              <a:xfrm>
                <a:off x="3790950" y="4335941"/>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47" name="타원 46">
                <a:extLst>
                  <a:ext uri="{FF2B5EF4-FFF2-40B4-BE49-F238E27FC236}">
                    <a16:creationId xmlns:a16="http://schemas.microsoft.com/office/drawing/2014/main" id="{B0FBCAE9-AEC3-4374-BB61-05FCFA77746D}"/>
                  </a:ext>
                </a:extLst>
              </p:cNvPr>
              <p:cNvSpPr/>
              <p:nvPr/>
            </p:nvSpPr>
            <p:spPr>
              <a:xfrm>
                <a:off x="5824537" y="3428999"/>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48" name="직선 화살표 연결선 47">
                <a:extLst>
                  <a:ext uri="{FF2B5EF4-FFF2-40B4-BE49-F238E27FC236}">
                    <a16:creationId xmlns:a16="http://schemas.microsoft.com/office/drawing/2014/main" id="{01023FDB-3840-43AE-91D3-D51722601087}"/>
                  </a:ext>
                </a:extLst>
              </p:cNvPr>
              <p:cNvCxnSpPr>
                <a:stCxn id="44" idx="7"/>
                <a:endCxn id="45" idx="2"/>
              </p:cNvCxnSpPr>
              <p:nvPr/>
            </p:nvCxnSpPr>
            <p:spPr>
              <a:xfrm flipV="1">
                <a:off x="2330315" y="2738438"/>
                <a:ext cx="1460635" cy="770072"/>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9" name="직선 화살표 연결선 48">
                <a:extLst>
                  <a:ext uri="{FF2B5EF4-FFF2-40B4-BE49-F238E27FC236}">
                    <a16:creationId xmlns:a16="http://schemas.microsoft.com/office/drawing/2014/main" id="{FBEA0F54-84C5-42F8-AE8C-183932CB0A77}"/>
                  </a:ext>
                </a:extLst>
              </p:cNvPr>
              <p:cNvCxnSpPr>
                <a:cxnSpLocks/>
                <a:stCxn id="44" idx="5"/>
                <a:endCxn id="46" idx="2"/>
              </p:cNvCxnSpPr>
              <p:nvPr/>
            </p:nvCxnSpPr>
            <p:spPr>
              <a:xfrm>
                <a:off x="2330315" y="3892415"/>
                <a:ext cx="1460635" cy="714989"/>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50" name="직선 화살표 연결선 49">
                <a:extLst>
                  <a:ext uri="{FF2B5EF4-FFF2-40B4-BE49-F238E27FC236}">
                    <a16:creationId xmlns:a16="http://schemas.microsoft.com/office/drawing/2014/main" id="{992099CE-1926-4DF8-9AF2-4371887FFEA5}"/>
                  </a:ext>
                </a:extLst>
              </p:cNvPr>
              <p:cNvCxnSpPr>
                <a:cxnSpLocks/>
                <a:stCxn id="45" idx="6"/>
                <a:endCxn id="47" idx="1"/>
              </p:cNvCxnSpPr>
              <p:nvPr/>
            </p:nvCxnSpPr>
            <p:spPr>
              <a:xfrm>
                <a:off x="4333875" y="2738438"/>
                <a:ext cx="1570172" cy="770071"/>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51" name="직선 화살표 연결선 50">
                <a:extLst>
                  <a:ext uri="{FF2B5EF4-FFF2-40B4-BE49-F238E27FC236}">
                    <a16:creationId xmlns:a16="http://schemas.microsoft.com/office/drawing/2014/main" id="{4882F6C6-42C1-4660-8B85-6DF962D81F82}"/>
                  </a:ext>
                </a:extLst>
              </p:cNvPr>
              <p:cNvCxnSpPr>
                <a:cxnSpLocks/>
                <a:stCxn id="46" idx="6"/>
                <a:endCxn id="47" idx="3"/>
              </p:cNvCxnSpPr>
              <p:nvPr/>
            </p:nvCxnSpPr>
            <p:spPr>
              <a:xfrm flipV="1">
                <a:off x="4333875" y="3892414"/>
                <a:ext cx="1570172" cy="714990"/>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52" name="직선 화살표 연결선 51">
                <a:extLst>
                  <a:ext uri="{FF2B5EF4-FFF2-40B4-BE49-F238E27FC236}">
                    <a16:creationId xmlns:a16="http://schemas.microsoft.com/office/drawing/2014/main" id="{FBF99F28-C6EE-4850-9469-F30C2DFFDC6A}"/>
                  </a:ext>
                </a:extLst>
              </p:cNvPr>
              <p:cNvCxnSpPr>
                <a:cxnSpLocks/>
                <a:stCxn id="45" idx="4"/>
                <a:endCxn id="46" idx="0"/>
              </p:cNvCxnSpPr>
              <p:nvPr/>
            </p:nvCxnSpPr>
            <p:spPr>
              <a:xfrm>
                <a:off x="4062413" y="3009900"/>
                <a:ext cx="0" cy="1326041"/>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grpSp>
        <p:grpSp>
          <p:nvGrpSpPr>
            <p:cNvPr id="78" name="그룹 77">
              <a:extLst>
                <a:ext uri="{FF2B5EF4-FFF2-40B4-BE49-F238E27FC236}">
                  <a16:creationId xmlns:a16="http://schemas.microsoft.com/office/drawing/2014/main" id="{ED7427AF-5EE9-43B4-9164-FCB75B071904}"/>
                </a:ext>
              </a:extLst>
            </p:cNvPr>
            <p:cNvGrpSpPr/>
            <p:nvPr/>
          </p:nvGrpSpPr>
          <p:grpSpPr>
            <a:xfrm>
              <a:off x="8375442" y="5243655"/>
              <a:ext cx="2206108" cy="1270450"/>
              <a:chOff x="8375442" y="5243655"/>
              <a:chExt cx="2206108" cy="1270450"/>
            </a:xfrm>
          </p:grpSpPr>
          <p:cxnSp>
            <p:nvCxnSpPr>
              <p:cNvPr id="71" name="직선 화살표 연결선 70">
                <a:extLst>
                  <a:ext uri="{FF2B5EF4-FFF2-40B4-BE49-F238E27FC236}">
                    <a16:creationId xmlns:a16="http://schemas.microsoft.com/office/drawing/2014/main" id="{A85DE872-8E7E-45A9-A5AF-34EF4E21FDF9}"/>
                  </a:ext>
                </a:extLst>
              </p:cNvPr>
              <p:cNvCxnSpPr>
                <a:cxnSpLocks/>
              </p:cNvCxnSpPr>
              <p:nvPr/>
            </p:nvCxnSpPr>
            <p:spPr>
              <a:xfrm flipV="1">
                <a:off x="9465401" y="6047696"/>
                <a:ext cx="1116149" cy="46640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직선 연결선 71">
                <a:extLst>
                  <a:ext uri="{FF2B5EF4-FFF2-40B4-BE49-F238E27FC236}">
                    <a16:creationId xmlns:a16="http://schemas.microsoft.com/office/drawing/2014/main" id="{11A66A5D-99C5-4593-B9B1-1270701AE846}"/>
                  </a:ext>
                </a:extLst>
              </p:cNvPr>
              <p:cNvCxnSpPr/>
              <p:nvPr/>
            </p:nvCxnSpPr>
            <p:spPr>
              <a:xfrm flipH="1">
                <a:off x="8375442" y="5259773"/>
                <a:ext cx="857250" cy="419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직선 연결선 73">
                <a:extLst>
                  <a:ext uri="{FF2B5EF4-FFF2-40B4-BE49-F238E27FC236}">
                    <a16:creationId xmlns:a16="http://schemas.microsoft.com/office/drawing/2014/main" id="{DF32642E-6CD5-489A-AE6F-09469847F9C0}"/>
                  </a:ext>
                </a:extLst>
              </p:cNvPr>
              <p:cNvCxnSpPr>
                <a:cxnSpLocks/>
              </p:cNvCxnSpPr>
              <p:nvPr/>
            </p:nvCxnSpPr>
            <p:spPr>
              <a:xfrm flipH="1" flipV="1">
                <a:off x="9235521" y="5243655"/>
                <a:ext cx="239405" cy="125433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9" name="그룹 78">
              <a:extLst>
                <a:ext uri="{FF2B5EF4-FFF2-40B4-BE49-F238E27FC236}">
                  <a16:creationId xmlns:a16="http://schemas.microsoft.com/office/drawing/2014/main" id="{FBB722C0-EDE5-4472-853C-CEADA92BDDA8}"/>
                </a:ext>
              </a:extLst>
            </p:cNvPr>
            <p:cNvGrpSpPr/>
            <p:nvPr/>
          </p:nvGrpSpPr>
          <p:grpSpPr>
            <a:xfrm>
              <a:off x="8427034" y="5110891"/>
              <a:ext cx="2206108" cy="1270450"/>
              <a:chOff x="8375442" y="5243655"/>
              <a:chExt cx="2206108" cy="1270450"/>
            </a:xfrm>
          </p:grpSpPr>
          <p:cxnSp>
            <p:nvCxnSpPr>
              <p:cNvPr id="80" name="직선 화살표 연결선 79">
                <a:extLst>
                  <a:ext uri="{FF2B5EF4-FFF2-40B4-BE49-F238E27FC236}">
                    <a16:creationId xmlns:a16="http://schemas.microsoft.com/office/drawing/2014/main" id="{5CA26A4D-83D2-41CF-A137-B96D41839B28}"/>
                  </a:ext>
                </a:extLst>
              </p:cNvPr>
              <p:cNvCxnSpPr>
                <a:cxnSpLocks/>
              </p:cNvCxnSpPr>
              <p:nvPr/>
            </p:nvCxnSpPr>
            <p:spPr>
              <a:xfrm flipV="1">
                <a:off x="9465401" y="6047696"/>
                <a:ext cx="1116149" cy="46640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직선 연결선 80">
                <a:extLst>
                  <a:ext uri="{FF2B5EF4-FFF2-40B4-BE49-F238E27FC236}">
                    <a16:creationId xmlns:a16="http://schemas.microsoft.com/office/drawing/2014/main" id="{E7CF3A3A-17F9-4D5F-A711-3B7CA4736BB5}"/>
                  </a:ext>
                </a:extLst>
              </p:cNvPr>
              <p:cNvCxnSpPr/>
              <p:nvPr/>
            </p:nvCxnSpPr>
            <p:spPr>
              <a:xfrm flipH="1">
                <a:off x="8375442" y="5259773"/>
                <a:ext cx="857250" cy="419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2" name="직선 연결선 81">
                <a:extLst>
                  <a:ext uri="{FF2B5EF4-FFF2-40B4-BE49-F238E27FC236}">
                    <a16:creationId xmlns:a16="http://schemas.microsoft.com/office/drawing/2014/main" id="{9F8CF427-8161-4AEF-AD34-A3FAFE259625}"/>
                  </a:ext>
                </a:extLst>
              </p:cNvPr>
              <p:cNvCxnSpPr>
                <a:cxnSpLocks/>
              </p:cNvCxnSpPr>
              <p:nvPr/>
            </p:nvCxnSpPr>
            <p:spPr>
              <a:xfrm flipH="1" flipV="1">
                <a:off x="9235521" y="5243655"/>
                <a:ext cx="239405" cy="125433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83" name="그룹 82">
              <a:extLst>
                <a:ext uri="{FF2B5EF4-FFF2-40B4-BE49-F238E27FC236}">
                  <a16:creationId xmlns:a16="http://schemas.microsoft.com/office/drawing/2014/main" id="{73B15CE5-5247-4CB5-934B-2E97294ED068}"/>
                </a:ext>
              </a:extLst>
            </p:cNvPr>
            <p:cNvGrpSpPr/>
            <p:nvPr/>
          </p:nvGrpSpPr>
          <p:grpSpPr>
            <a:xfrm>
              <a:off x="8500313" y="5079811"/>
              <a:ext cx="2206108" cy="1270450"/>
              <a:chOff x="8375442" y="5243655"/>
              <a:chExt cx="2206108" cy="1270450"/>
            </a:xfrm>
          </p:grpSpPr>
          <p:cxnSp>
            <p:nvCxnSpPr>
              <p:cNvPr id="84" name="직선 화살표 연결선 83">
                <a:extLst>
                  <a:ext uri="{FF2B5EF4-FFF2-40B4-BE49-F238E27FC236}">
                    <a16:creationId xmlns:a16="http://schemas.microsoft.com/office/drawing/2014/main" id="{7EFE45D7-8F07-4A58-BDD8-9D5CE5CE9D1A}"/>
                  </a:ext>
                </a:extLst>
              </p:cNvPr>
              <p:cNvCxnSpPr>
                <a:cxnSpLocks/>
              </p:cNvCxnSpPr>
              <p:nvPr/>
            </p:nvCxnSpPr>
            <p:spPr>
              <a:xfrm flipV="1">
                <a:off x="9465401" y="6047696"/>
                <a:ext cx="1116149" cy="46640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5" name="직선 연결선 84">
                <a:extLst>
                  <a:ext uri="{FF2B5EF4-FFF2-40B4-BE49-F238E27FC236}">
                    <a16:creationId xmlns:a16="http://schemas.microsoft.com/office/drawing/2014/main" id="{236FE64F-3B91-4AE2-BA90-38860D8F0EE9}"/>
                  </a:ext>
                </a:extLst>
              </p:cNvPr>
              <p:cNvCxnSpPr/>
              <p:nvPr/>
            </p:nvCxnSpPr>
            <p:spPr>
              <a:xfrm flipH="1">
                <a:off x="8375442" y="5259773"/>
                <a:ext cx="857250" cy="419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6" name="직선 연결선 85">
                <a:extLst>
                  <a:ext uri="{FF2B5EF4-FFF2-40B4-BE49-F238E27FC236}">
                    <a16:creationId xmlns:a16="http://schemas.microsoft.com/office/drawing/2014/main" id="{741F576D-150E-46D0-90D1-599B32A5672A}"/>
                  </a:ext>
                </a:extLst>
              </p:cNvPr>
              <p:cNvCxnSpPr>
                <a:cxnSpLocks/>
              </p:cNvCxnSpPr>
              <p:nvPr/>
            </p:nvCxnSpPr>
            <p:spPr>
              <a:xfrm flipH="1" flipV="1">
                <a:off x="9235521" y="5243655"/>
                <a:ext cx="239405" cy="125433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87" name="그룹 86">
              <a:extLst>
                <a:ext uri="{FF2B5EF4-FFF2-40B4-BE49-F238E27FC236}">
                  <a16:creationId xmlns:a16="http://schemas.microsoft.com/office/drawing/2014/main" id="{0DEA738F-8E20-47AD-A6ED-0F91F4BD5F0C}"/>
                </a:ext>
              </a:extLst>
            </p:cNvPr>
            <p:cNvGrpSpPr/>
            <p:nvPr/>
          </p:nvGrpSpPr>
          <p:grpSpPr>
            <a:xfrm>
              <a:off x="8520881" y="4994130"/>
              <a:ext cx="2206108" cy="1270450"/>
              <a:chOff x="8375442" y="5243655"/>
              <a:chExt cx="2206108" cy="1270450"/>
            </a:xfrm>
          </p:grpSpPr>
          <p:cxnSp>
            <p:nvCxnSpPr>
              <p:cNvPr id="88" name="직선 화살표 연결선 87">
                <a:extLst>
                  <a:ext uri="{FF2B5EF4-FFF2-40B4-BE49-F238E27FC236}">
                    <a16:creationId xmlns:a16="http://schemas.microsoft.com/office/drawing/2014/main" id="{9B47B4D8-1118-4374-9D41-BD6D30399406}"/>
                  </a:ext>
                </a:extLst>
              </p:cNvPr>
              <p:cNvCxnSpPr>
                <a:cxnSpLocks/>
              </p:cNvCxnSpPr>
              <p:nvPr/>
            </p:nvCxnSpPr>
            <p:spPr>
              <a:xfrm flipV="1">
                <a:off x="9465401" y="6047696"/>
                <a:ext cx="1116149" cy="46640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직선 연결선 88">
                <a:extLst>
                  <a:ext uri="{FF2B5EF4-FFF2-40B4-BE49-F238E27FC236}">
                    <a16:creationId xmlns:a16="http://schemas.microsoft.com/office/drawing/2014/main" id="{51D624B7-5D60-41C9-864B-4DF066887F4F}"/>
                  </a:ext>
                </a:extLst>
              </p:cNvPr>
              <p:cNvCxnSpPr/>
              <p:nvPr/>
            </p:nvCxnSpPr>
            <p:spPr>
              <a:xfrm flipH="1">
                <a:off x="8375442" y="5259773"/>
                <a:ext cx="857250" cy="419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직선 연결선 89">
                <a:extLst>
                  <a:ext uri="{FF2B5EF4-FFF2-40B4-BE49-F238E27FC236}">
                    <a16:creationId xmlns:a16="http://schemas.microsoft.com/office/drawing/2014/main" id="{468C9B20-0B65-4442-B0D2-83360FEFE08B}"/>
                  </a:ext>
                </a:extLst>
              </p:cNvPr>
              <p:cNvCxnSpPr>
                <a:cxnSpLocks/>
              </p:cNvCxnSpPr>
              <p:nvPr/>
            </p:nvCxnSpPr>
            <p:spPr>
              <a:xfrm flipH="1" flipV="1">
                <a:off x="9235521" y="5243655"/>
                <a:ext cx="239405" cy="125433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92" name="TextBox 91">
            <a:extLst>
              <a:ext uri="{FF2B5EF4-FFF2-40B4-BE49-F238E27FC236}">
                <a16:creationId xmlns:a16="http://schemas.microsoft.com/office/drawing/2014/main" id="{42C2E2B7-0066-49CA-838A-0A3605A372C4}"/>
              </a:ext>
            </a:extLst>
          </p:cNvPr>
          <p:cNvSpPr txBox="1"/>
          <p:nvPr/>
        </p:nvSpPr>
        <p:spPr>
          <a:xfrm>
            <a:off x="10024803" y="4295260"/>
            <a:ext cx="1656800" cy="369332"/>
          </a:xfrm>
          <a:prstGeom prst="rect">
            <a:avLst/>
          </a:prstGeom>
          <a:noFill/>
        </p:spPr>
        <p:txBody>
          <a:bodyPr wrap="none" rtlCol="0">
            <a:spAutoFit/>
          </a:bodyPr>
          <a:lstStyle/>
          <a:p>
            <a:r>
              <a:rPr lang="en-US" dirty="0"/>
              <a:t>Socially optimal</a:t>
            </a:r>
          </a:p>
        </p:txBody>
      </p:sp>
      <p:sp>
        <p:nvSpPr>
          <p:cNvPr id="93" name="TextBox 92">
            <a:extLst>
              <a:ext uri="{FF2B5EF4-FFF2-40B4-BE49-F238E27FC236}">
                <a16:creationId xmlns:a16="http://schemas.microsoft.com/office/drawing/2014/main" id="{15FF434F-2E38-4680-93A0-EF2349DCEEEF}"/>
              </a:ext>
            </a:extLst>
          </p:cNvPr>
          <p:cNvSpPr txBox="1"/>
          <p:nvPr/>
        </p:nvSpPr>
        <p:spPr>
          <a:xfrm>
            <a:off x="10024803" y="6361823"/>
            <a:ext cx="1781065" cy="369332"/>
          </a:xfrm>
          <a:prstGeom prst="rect">
            <a:avLst/>
          </a:prstGeom>
          <a:noFill/>
        </p:spPr>
        <p:txBody>
          <a:bodyPr wrap="none" rtlCol="0">
            <a:spAutoFit/>
          </a:bodyPr>
          <a:lstStyle/>
          <a:p>
            <a:r>
              <a:rPr lang="en-US" dirty="0"/>
              <a:t>Nash Equilibrium</a:t>
            </a:r>
          </a:p>
        </p:txBody>
      </p:sp>
      <p:cxnSp>
        <p:nvCxnSpPr>
          <p:cNvPr id="95" name="직선 연결선 94">
            <a:extLst>
              <a:ext uri="{FF2B5EF4-FFF2-40B4-BE49-F238E27FC236}">
                <a16:creationId xmlns:a16="http://schemas.microsoft.com/office/drawing/2014/main" id="{6D8216CC-029A-40E9-9341-F2AED0BB69E2}"/>
              </a:ext>
            </a:extLst>
          </p:cNvPr>
          <p:cNvCxnSpPr/>
          <p:nvPr/>
        </p:nvCxnSpPr>
        <p:spPr>
          <a:xfrm flipV="1">
            <a:off x="5676950" y="4345990"/>
            <a:ext cx="1533525" cy="934483"/>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직선 연결선 95">
            <a:extLst>
              <a:ext uri="{FF2B5EF4-FFF2-40B4-BE49-F238E27FC236}">
                <a16:creationId xmlns:a16="http://schemas.microsoft.com/office/drawing/2014/main" id="{8E614789-89C4-41FA-9C3F-4B2119EE1DB3}"/>
              </a:ext>
            </a:extLst>
          </p:cNvPr>
          <p:cNvCxnSpPr>
            <a:cxnSpLocks/>
          </p:cNvCxnSpPr>
          <p:nvPr/>
        </p:nvCxnSpPr>
        <p:spPr>
          <a:xfrm>
            <a:off x="5695950" y="5291009"/>
            <a:ext cx="1646245" cy="1037447"/>
          </a:xfrm>
          <a:prstGeom prst="line">
            <a:avLst/>
          </a:prstGeom>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BE04C201-C0AF-4FE1-899F-537114153B92}"/>
              </a:ext>
            </a:extLst>
          </p:cNvPr>
          <p:cNvSpPr txBox="1"/>
          <p:nvPr/>
        </p:nvSpPr>
        <p:spPr>
          <a:xfrm flipH="1">
            <a:off x="853345" y="2573611"/>
            <a:ext cx="5912551" cy="923330"/>
          </a:xfrm>
          <a:prstGeom prst="rect">
            <a:avLst/>
          </a:prstGeom>
          <a:noFill/>
        </p:spPr>
        <p:txBody>
          <a:bodyPr wrap="square" rtlCol="0">
            <a:spAutoFit/>
          </a:bodyPr>
          <a:lstStyle/>
          <a:p>
            <a:pPr marL="285750" indent="-285750">
              <a:buFont typeface="Arial" panose="020B0604020202020204" pitchFamily="34" charset="0"/>
              <a:buChar char="•"/>
            </a:pPr>
            <a:r>
              <a:rPr lang="en-US" b="1" dirty="0"/>
              <a:t>Equilibrium always exists</a:t>
            </a:r>
          </a:p>
          <a:p>
            <a:pPr marL="285750" indent="-285750">
              <a:buFont typeface="Arial" panose="020B0604020202020204" pitchFamily="34" charset="0"/>
              <a:buChar char="•"/>
            </a:pPr>
            <a:r>
              <a:rPr lang="en-US" b="1" dirty="0"/>
              <a:t>Equilibrium has more social cost than that of the social optimum (twice at most)</a:t>
            </a:r>
          </a:p>
        </p:txBody>
      </p:sp>
    </p:spTree>
    <p:extLst>
      <p:ext uri="{BB962C8B-B14F-4D97-AF65-F5344CB8AC3E}">
        <p14:creationId xmlns:p14="http://schemas.microsoft.com/office/powerpoint/2010/main" val="3244642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38200" y="-105392"/>
            <a:ext cx="10515600" cy="1325563"/>
          </a:xfrm>
        </p:spPr>
        <p:txBody>
          <a:bodyPr/>
          <a:lstStyle/>
          <a:p>
            <a:r>
              <a:rPr lang="en-US" dirty="0"/>
              <a:t>Finding a traffic pattern at Equilibrium</a:t>
            </a:r>
          </a:p>
        </p:txBody>
      </p:sp>
      <p:sp>
        <p:nvSpPr>
          <p:cNvPr id="75" name="직사각형 74">
            <a:extLst>
              <a:ext uri="{FF2B5EF4-FFF2-40B4-BE49-F238E27FC236}">
                <a16:creationId xmlns:a16="http://schemas.microsoft.com/office/drawing/2014/main" id="{A043AB42-B1A4-4A9B-A1BC-748EECB3E3E7}"/>
              </a:ext>
            </a:extLst>
          </p:cNvPr>
          <p:cNvSpPr/>
          <p:nvPr/>
        </p:nvSpPr>
        <p:spPr>
          <a:xfrm>
            <a:off x="838200" y="1025237"/>
            <a:ext cx="10010313" cy="400110"/>
          </a:xfrm>
          <a:prstGeom prst="rect">
            <a:avLst/>
          </a:prstGeom>
        </p:spPr>
        <p:txBody>
          <a:bodyPr wrap="square">
            <a:spAutoFit/>
          </a:bodyPr>
          <a:lstStyle/>
          <a:p>
            <a:r>
              <a:rPr lang="en-US" sz="2000" dirty="0"/>
              <a:t>Best response dynamics</a:t>
            </a:r>
          </a:p>
        </p:txBody>
      </p:sp>
      <p:sp>
        <p:nvSpPr>
          <p:cNvPr id="76" name="직사각형 75">
            <a:extLst>
              <a:ext uri="{FF2B5EF4-FFF2-40B4-BE49-F238E27FC236}">
                <a16:creationId xmlns:a16="http://schemas.microsoft.com/office/drawing/2014/main" id="{85185D31-DAFB-41AF-93A2-936CF7BFE71E}"/>
              </a:ext>
            </a:extLst>
          </p:cNvPr>
          <p:cNvSpPr/>
          <p:nvPr/>
        </p:nvSpPr>
        <p:spPr>
          <a:xfrm>
            <a:off x="1090843" y="1486902"/>
            <a:ext cx="11101157" cy="707886"/>
          </a:xfrm>
          <a:prstGeom prst="rect">
            <a:avLst/>
          </a:prstGeom>
        </p:spPr>
        <p:txBody>
          <a:bodyPr wrap="square">
            <a:spAutoFit/>
          </a:bodyPr>
          <a:lstStyle/>
          <a:p>
            <a:r>
              <a:rPr lang="en-US" sz="2000" dirty="0"/>
              <a:t>- If no player can do better </a:t>
            </a:r>
            <a:r>
              <a:rPr lang="en-US" sz="2000" dirty="0">
                <a:sym typeface="Wingdings" panose="05000000000000000000" pitchFamily="2" charset="2"/>
              </a:rPr>
              <a:t> Equilibrium</a:t>
            </a:r>
          </a:p>
          <a:p>
            <a:r>
              <a:rPr lang="en-US" sz="2000" dirty="0">
                <a:sym typeface="Wingdings" panose="05000000000000000000" pitchFamily="2" charset="2"/>
              </a:rPr>
              <a:t>- If at least one player can change  Reconfigure the player’s strategy to the better one</a:t>
            </a:r>
            <a:endParaRPr lang="en-US" sz="2000" dirty="0"/>
          </a:p>
        </p:txBody>
      </p:sp>
      <p:sp>
        <p:nvSpPr>
          <p:cNvPr id="77" name="직사각형 76">
            <a:extLst>
              <a:ext uri="{FF2B5EF4-FFF2-40B4-BE49-F238E27FC236}">
                <a16:creationId xmlns:a16="http://schemas.microsoft.com/office/drawing/2014/main" id="{FABF4618-AF94-48E0-BF08-4EF4A79F1F66}"/>
              </a:ext>
            </a:extLst>
          </p:cNvPr>
          <p:cNvSpPr/>
          <p:nvPr/>
        </p:nvSpPr>
        <p:spPr>
          <a:xfrm>
            <a:off x="838200" y="2472783"/>
            <a:ext cx="10010313" cy="954107"/>
          </a:xfrm>
          <a:prstGeom prst="rect">
            <a:avLst/>
          </a:prstGeom>
        </p:spPr>
        <p:txBody>
          <a:bodyPr wrap="square">
            <a:spAutoFit/>
          </a:bodyPr>
          <a:lstStyle/>
          <a:p>
            <a:r>
              <a:rPr lang="en-US" sz="2000" b="1" dirty="0"/>
              <a:t>Potential Energy: </a:t>
            </a:r>
            <a:endParaRPr lang="en-US" sz="2000" dirty="0"/>
          </a:p>
          <a:p>
            <a:r>
              <a:rPr lang="en-US" dirty="0"/>
              <a:t>Progress measurement that is used to track the process of the operation of best response dynamics. It decreases as best-response is updated by player</a:t>
            </a:r>
          </a:p>
        </p:txBody>
      </p:sp>
      <p:sp>
        <p:nvSpPr>
          <p:cNvPr id="97" name="직사각형 96">
            <a:extLst>
              <a:ext uri="{FF2B5EF4-FFF2-40B4-BE49-F238E27FC236}">
                <a16:creationId xmlns:a16="http://schemas.microsoft.com/office/drawing/2014/main" id="{F997B9FC-6E2E-43C3-8431-13E5111F06F7}"/>
              </a:ext>
            </a:extLst>
          </p:cNvPr>
          <p:cNvSpPr/>
          <p:nvPr/>
        </p:nvSpPr>
        <p:spPr>
          <a:xfrm>
            <a:off x="838200" y="3873537"/>
            <a:ext cx="10010313" cy="954107"/>
          </a:xfrm>
          <a:prstGeom prst="rect">
            <a:avLst/>
          </a:prstGeom>
        </p:spPr>
        <p:txBody>
          <a:bodyPr wrap="square">
            <a:spAutoFit/>
          </a:bodyPr>
          <a:lstStyle/>
          <a:p>
            <a:r>
              <a:rPr lang="en-US" sz="2000" b="1" dirty="0"/>
              <a:t>Potential Energy of an edge: </a:t>
            </a:r>
            <a:endParaRPr lang="en-US" sz="2000" dirty="0"/>
          </a:p>
          <a:p>
            <a:r>
              <a:rPr lang="en-US" dirty="0"/>
              <a:t>Cumulative quantity based on the assumption that drivers cross the edge one by one, and each driver only feels the delay caused by himself and the drivers who cross the edge in front of him</a:t>
            </a:r>
          </a:p>
        </p:txBody>
      </p:sp>
      <p:sp>
        <p:nvSpPr>
          <p:cNvPr id="98" name="직사각형 97">
            <a:extLst>
              <a:ext uri="{FF2B5EF4-FFF2-40B4-BE49-F238E27FC236}">
                <a16:creationId xmlns:a16="http://schemas.microsoft.com/office/drawing/2014/main" id="{8C510B72-79F5-493B-97D4-5992DA76576A}"/>
              </a:ext>
            </a:extLst>
          </p:cNvPr>
          <p:cNvSpPr/>
          <p:nvPr/>
        </p:nvSpPr>
        <p:spPr>
          <a:xfrm>
            <a:off x="838200" y="5371098"/>
            <a:ext cx="10010313" cy="677108"/>
          </a:xfrm>
          <a:prstGeom prst="rect">
            <a:avLst/>
          </a:prstGeom>
        </p:spPr>
        <p:txBody>
          <a:bodyPr wrap="square">
            <a:spAutoFit/>
          </a:bodyPr>
          <a:lstStyle/>
          <a:p>
            <a:r>
              <a:rPr lang="en-US" sz="2000" b="1" dirty="0"/>
              <a:t>Potential Energy of traffic: </a:t>
            </a:r>
          </a:p>
          <a:p>
            <a:r>
              <a:rPr lang="en-US" dirty="0"/>
              <a:t>Sum of the potential energies of all the edges </a:t>
            </a:r>
          </a:p>
        </p:txBody>
      </p:sp>
      <mc:AlternateContent xmlns:mc="http://schemas.openxmlformats.org/markup-compatibility/2006" xmlns:a14="http://schemas.microsoft.com/office/drawing/2010/main">
        <mc:Choice Requires="a14">
          <p:sp>
            <p:nvSpPr>
              <p:cNvPr id="3" name="직사각형 2">
                <a:extLst>
                  <a:ext uri="{FF2B5EF4-FFF2-40B4-BE49-F238E27FC236}">
                    <a16:creationId xmlns:a16="http://schemas.microsoft.com/office/drawing/2014/main" id="{398C7AF5-45B3-4EBE-BCDC-413D325931DD}"/>
                  </a:ext>
                </a:extLst>
              </p:cNvPr>
              <p:cNvSpPr/>
              <p:nvPr/>
            </p:nvSpPr>
            <p:spPr>
              <a:xfrm>
                <a:off x="4626902" y="3873537"/>
                <a:ext cx="3816942" cy="369332"/>
              </a:xfrm>
              <a:prstGeom prst="rect">
                <a:avLst/>
              </a:prstGeom>
            </p:spPr>
            <p:txBody>
              <a:bodyPr wrap="none">
                <a:spAutoFit/>
              </a:bodyPr>
              <a:lstStyle/>
              <a:p>
                <a14:m>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𝑻</m:t>
                        </m:r>
                      </m:e>
                      <m:sub>
                        <m:r>
                          <a:rPr lang="en-US" b="1" i="1">
                            <a:latin typeface="Cambria Math" panose="02040503050406030204" pitchFamily="18" charset="0"/>
                          </a:rPr>
                          <m:t>𝒆</m:t>
                        </m:r>
                      </m:sub>
                    </m:sSub>
                    <m:d>
                      <m:dPr>
                        <m:ctrlPr>
                          <a:rPr lang="en-US" b="1" i="1">
                            <a:latin typeface="Cambria Math" panose="02040503050406030204" pitchFamily="18" charset="0"/>
                          </a:rPr>
                        </m:ctrlPr>
                      </m:dPr>
                      <m:e>
                        <m:r>
                          <a:rPr lang="en-US" b="1" i="1" smtClean="0">
                            <a:latin typeface="Cambria Math" panose="02040503050406030204" pitchFamily="18" charset="0"/>
                          </a:rPr>
                          <m:t>𝟏</m:t>
                        </m:r>
                      </m:e>
                    </m:d>
                    <m:r>
                      <a:rPr lang="en-US" b="1" i="1" smtClean="0">
                        <a:latin typeface="Cambria Math" panose="02040503050406030204" pitchFamily="18" charset="0"/>
                      </a:rPr>
                      <m:t>+</m:t>
                    </m:r>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𝑻</m:t>
                        </m:r>
                      </m:e>
                      <m:sub>
                        <m:r>
                          <a:rPr lang="en-US" b="1" i="1">
                            <a:latin typeface="Cambria Math" panose="02040503050406030204" pitchFamily="18" charset="0"/>
                          </a:rPr>
                          <m:t>𝒆</m:t>
                        </m:r>
                      </m:sub>
                    </m:sSub>
                    <m:d>
                      <m:dPr>
                        <m:ctrlPr>
                          <a:rPr lang="en-US" b="1" i="1">
                            <a:latin typeface="Cambria Math" panose="02040503050406030204" pitchFamily="18" charset="0"/>
                          </a:rPr>
                        </m:ctrlPr>
                      </m:dPr>
                      <m:e>
                        <m:r>
                          <a:rPr lang="en-US" b="1" i="1" smtClean="0">
                            <a:latin typeface="Cambria Math" panose="02040503050406030204" pitchFamily="18" charset="0"/>
                          </a:rPr>
                          <m:t>𝟐</m:t>
                        </m:r>
                      </m:e>
                    </m:d>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𝑻</m:t>
                        </m:r>
                      </m:e>
                      <m:sub>
                        <m:r>
                          <a:rPr lang="en-US" b="1" i="1">
                            <a:latin typeface="Cambria Math" panose="02040503050406030204" pitchFamily="18" charset="0"/>
                          </a:rPr>
                          <m:t>𝒆</m:t>
                        </m:r>
                      </m:sub>
                    </m:sSub>
                    <m:d>
                      <m:dPr>
                        <m:ctrlPr>
                          <a:rPr lang="en-US" b="1" i="1">
                            <a:latin typeface="Cambria Math" panose="02040503050406030204" pitchFamily="18" charset="0"/>
                          </a:rPr>
                        </m:ctrlPr>
                      </m:dPr>
                      <m:e>
                        <m:r>
                          <a:rPr lang="en-US" b="1" i="1" smtClean="0">
                            <a:latin typeface="Cambria Math" panose="02040503050406030204" pitchFamily="18" charset="0"/>
                          </a:rPr>
                          <m:t>𝟑</m:t>
                        </m:r>
                      </m:e>
                    </m:d>
                    <m:r>
                      <a:rPr lang="en-US" b="1" i="1" smtClean="0">
                        <a:latin typeface="Cambria Math" panose="02040503050406030204" pitchFamily="18" charset="0"/>
                      </a:rPr>
                      <m:t>+ …+</m:t>
                    </m:r>
                    <m:sSub>
                      <m:sSubPr>
                        <m:ctrlPr>
                          <a:rPr lang="en-US" b="1" i="1">
                            <a:latin typeface="Cambria Math" panose="02040503050406030204" pitchFamily="18" charset="0"/>
                          </a:rPr>
                        </m:ctrlPr>
                      </m:sSubPr>
                      <m:e>
                        <m:r>
                          <a:rPr lang="en-US" b="1" i="1">
                            <a:latin typeface="Cambria Math" panose="02040503050406030204" pitchFamily="18" charset="0"/>
                          </a:rPr>
                          <m:t>𝑻</m:t>
                        </m:r>
                      </m:e>
                      <m:sub>
                        <m:r>
                          <a:rPr lang="en-US" b="1" i="1">
                            <a:latin typeface="Cambria Math" panose="02040503050406030204" pitchFamily="18" charset="0"/>
                          </a:rPr>
                          <m:t>𝒆</m:t>
                        </m:r>
                      </m:sub>
                    </m:sSub>
                    <m:d>
                      <m:dPr>
                        <m:ctrlPr>
                          <a:rPr lang="en-US" b="1" i="1">
                            <a:latin typeface="Cambria Math" panose="02040503050406030204" pitchFamily="18" charset="0"/>
                          </a:rPr>
                        </m:ctrlPr>
                      </m:dPr>
                      <m:e>
                        <m:r>
                          <a:rPr lang="en-US" b="1" i="1" smtClean="0">
                            <a:latin typeface="Cambria Math" panose="02040503050406030204" pitchFamily="18" charset="0"/>
                          </a:rPr>
                          <m:t>𝒏</m:t>
                        </m:r>
                      </m:e>
                    </m:d>
                  </m:oMath>
                </a14:m>
                <a:endParaRPr lang="en-US" b="1" dirty="0"/>
              </a:p>
            </p:txBody>
          </p:sp>
        </mc:Choice>
        <mc:Fallback xmlns="">
          <p:sp>
            <p:nvSpPr>
              <p:cNvPr id="3" name="직사각형 2">
                <a:extLst>
                  <a:ext uri="{FF2B5EF4-FFF2-40B4-BE49-F238E27FC236}">
                    <a16:creationId xmlns:a16="http://schemas.microsoft.com/office/drawing/2014/main" id="{398C7AF5-45B3-4EBE-BCDC-413D325931DD}"/>
                  </a:ext>
                </a:extLst>
              </p:cNvPr>
              <p:cNvSpPr>
                <a:spLocks noRot="1" noChangeAspect="1" noMove="1" noResize="1" noEditPoints="1" noAdjustHandles="1" noChangeArrowheads="1" noChangeShapeType="1" noTextEdit="1"/>
              </p:cNvSpPr>
              <p:nvPr/>
            </p:nvSpPr>
            <p:spPr>
              <a:xfrm>
                <a:off x="4626902" y="3873537"/>
                <a:ext cx="381694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직사각형 98">
                <a:extLst>
                  <a:ext uri="{FF2B5EF4-FFF2-40B4-BE49-F238E27FC236}">
                    <a16:creationId xmlns:a16="http://schemas.microsoft.com/office/drawing/2014/main" id="{9CD89A77-66E0-4AE2-A751-FE6A0CA303EA}"/>
                  </a:ext>
                </a:extLst>
              </p:cNvPr>
              <p:cNvSpPr/>
              <p:nvPr/>
            </p:nvSpPr>
            <p:spPr>
              <a:xfrm>
                <a:off x="4626902" y="5218143"/>
                <a:ext cx="2839495" cy="6140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sz="1400" b="1" i="1" smtClean="0">
                              <a:latin typeface="Cambria Math" panose="02040503050406030204" pitchFamily="18" charset="0"/>
                            </a:rPr>
                          </m:ctrlPr>
                        </m:naryPr>
                        <m:sub/>
                        <m:sup/>
                        <m:e>
                          <m:r>
                            <a:rPr lang="en-US" sz="1400" b="1" i="1" smtClean="0">
                              <a:latin typeface="Cambria Math" panose="02040503050406030204" pitchFamily="18" charset="0"/>
                            </a:rPr>
                            <m:t>𝑷𝒐𝒕𝒆𝒏𝒕𝒊𝒂𝒍</m:t>
                          </m:r>
                          <m:r>
                            <a:rPr lang="en-US" sz="1400" b="1" i="1" smtClean="0">
                              <a:latin typeface="Cambria Math" panose="02040503050406030204" pitchFamily="18" charset="0"/>
                            </a:rPr>
                            <m:t> </m:t>
                          </m:r>
                          <m:r>
                            <a:rPr lang="en-US" sz="1400" b="1" i="1" smtClean="0">
                              <a:latin typeface="Cambria Math" panose="02040503050406030204" pitchFamily="18" charset="0"/>
                            </a:rPr>
                            <m:t>𝑬𝒏𝒆𝒓𝒈𝒚</m:t>
                          </m:r>
                          <m:r>
                            <a:rPr lang="en-US" sz="1400" b="1" i="1" smtClean="0">
                              <a:latin typeface="Cambria Math" panose="02040503050406030204" pitchFamily="18" charset="0"/>
                            </a:rPr>
                            <m:t> </m:t>
                          </m:r>
                          <m:r>
                            <a:rPr lang="en-US" sz="1400" b="1" i="1" smtClean="0">
                              <a:latin typeface="Cambria Math" panose="02040503050406030204" pitchFamily="18" charset="0"/>
                            </a:rPr>
                            <m:t>𝒐𝒇</m:t>
                          </m:r>
                          <m:r>
                            <a:rPr lang="en-US" sz="1400" b="1" i="1" smtClean="0">
                              <a:latin typeface="Cambria Math" panose="02040503050406030204" pitchFamily="18" charset="0"/>
                            </a:rPr>
                            <m:t> </m:t>
                          </m:r>
                          <m:r>
                            <a:rPr lang="en-US" sz="1400" b="1" i="1" smtClean="0">
                              <a:latin typeface="Cambria Math" panose="02040503050406030204" pitchFamily="18" charset="0"/>
                            </a:rPr>
                            <m:t>𝒆𝒅𝒈𝒆𝒔</m:t>
                          </m:r>
                        </m:e>
                      </m:nary>
                    </m:oMath>
                  </m:oMathPara>
                </a14:m>
                <a:endParaRPr lang="en-US" sz="1400" b="1" dirty="0"/>
              </a:p>
            </p:txBody>
          </p:sp>
        </mc:Choice>
        <mc:Fallback xmlns="">
          <p:sp>
            <p:nvSpPr>
              <p:cNvPr id="99" name="직사각형 98">
                <a:extLst>
                  <a:ext uri="{FF2B5EF4-FFF2-40B4-BE49-F238E27FC236}">
                    <a16:creationId xmlns:a16="http://schemas.microsoft.com/office/drawing/2014/main" id="{9CD89A77-66E0-4AE2-A751-FE6A0CA303EA}"/>
                  </a:ext>
                </a:extLst>
              </p:cNvPr>
              <p:cNvSpPr>
                <a:spLocks noRot="1" noChangeAspect="1" noMove="1" noResize="1" noEditPoints="1" noAdjustHandles="1" noChangeArrowheads="1" noChangeShapeType="1" noTextEdit="1"/>
              </p:cNvSpPr>
              <p:nvPr/>
            </p:nvSpPr>
            <p:spPr>
              <a:xfrm>
                <a:off x="4626902" y="5218143"/>
                <a:ext cx="2839495" cy="614079"/>
              </a:xfrm>
              <a:prstGeom prst="rect">
                <a:avLst/>
              </a:prstGeom>
              <a:blipFill>
                <a:blip r:embed="rId3"/>
                <a:stretch>
                  <a:fillRect l="-19313" t="-115842" b="-166337"/>
                </a:stretch>
              </a:blipFill>
            </p:spPr>
            <p:txBody>
              <a:bodyPr/>
              <a:lstStyle/>
              <a:p>
                <a:r>
                  <a:rPr lang="en-US">
                    <a:noFill/>
                  </a:rPr>
                  <a:t> </a:t>
                </a:r>
              </a:p>
            </p:txBody>
          </p:sp>
        </mc:Fallback>
      </mc:AlternateContent>
    </p:spTree>
    <p:extLst>
      <p:ext uri="{BB962C8B-B14F-4D97-AF65-F5344CB8AC3E}">
        <p14:creationId xmlns:p14="http://schemas.microsoft.com/office/powerpoint/2010/main" val="37909661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38200" y="-105392"/>
            <a:ext cx="10515600" cy="1325563"/>
          </a:xfrm>
        </p:spPr>
        <p:txBody>
          <a:bodyPr/>
          <a:lstStyle/>
          <a:p>
            <a:r>
              <a:rPr lang="en-US" dirty="0"/>
              <a:t>Finding a traffic pattern at Equilibrium</a:t>
            </a:r>
          </a:p>
        </p:txBody>
      </p:sp>
      <p:grpSp>
        <p:nvGrpSpPr>
          <p:cNvPr id="8" name="그룹 7">
            <a:extLst>
              <a:ext uri="{FF2B5EF4-FFF2-40B4-BE49-F238E27FC236}">
                <a16:creationId xmlns:a16="http://schemas.microsoft.com/office/drawing/2014/main" id="{1044E3B2-215E-45CB-88E2-E5911A8B3254}"/>
              </a:ext>
            </a:extLst>
          </p:cNvPr>
          <p:cNvGrpSpPr/>
          <p:nvPr/>
        </p:nvGrpSpPr>
        <p:grpSpPr>
          <a:xfrm>
            <a:off x="708248" y="2737070"/>
            <a:ext cx="4500562" cy="2411891"/>
            <a:chOff x="1866900" y="2466975"/>
            <a:chExt cx="4500562" cy="2411891"/>
          </a:xfrm>
        </p:grpSpPr>
        <p:sp>
          <p:nvSpPr>
            <p:cNvPr id="9" name="타원 8">
              <a:extLst>
                <a:ext uri="{FF2B5EF4-FFF2-40B4-BE49-F238E27FC236}">
                  <a16:creationId xmlns:a16="http://schemas.microsoft.com/office/drawing/2014/main" id="{78F7844C-DA73-4BD2-9513-1BA7ECDE84A0}"/>
                </a:ext>
              </a:extLst>
            </p:cNvPr>
            <p:cNvSpPr/>
            <p:nvPr/>
          </p:nvSpPr>
          <p:spPr>
            <a:xfrm>
              <a:off x="1866900" y="3429000"/>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0" name="타원 9">
              <a:extLst>
                <a:ext uri="{FF2B5EF4-FFF2-40B4-BE49-F238E27FC236}">
                  <a16:creationId xmlns:a16="http://schemas.microsoft.com/office/drawing/2014/main" id="{2CBADF12-4413-429F-88B5-05DC777CD36A}"/>
                </a:ext>
              </a:extLst>
            </p:cNvPr>
            <p:cNvSpPr/>
            <p:nvPr/>
          </p:nvSpPr>
          <p:spPr>
            <a:xfrm>
              <a:off x="3790950" y="2466975"/>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 name="타원 10">
              <a:extLst>
                <a:ext uri="{FF2B5EF4-FFF2-40B4-BE49-F238E27FC236}">
                  <a16:creationId xmlns:a16="http://schemas.microsoft.com/office/drawing/2014/main" id="{08326197-FA8C-4278-8375-2303F1CBE8D3}"/>
                </a:ext>
              </a:extLst>
            </p:cNvPr>
            <p:cNvSpPr/>
            <p:nvPr/>
          </p:nvSpPr>
          <p:spPr>
            <a:xfrm>
              <a:off x="3790950" y="4335941"/>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2" name="타원 11">
              <a:extLst>
                <a:ext uri="{FF2B5EF4-FFF2-40B4-BE49-F238E27FC236}">
                  <a16:creationId xmlns:a16="http://schemas.microsoft.com/office/drawing/2014/main" id="{70CDED26-12F8-4710-8323-945F9D0DEEB1}"/>
                </a:ext>
              </a:extLst>
            </p:cNvPr>
            <p:cNvSpPr/>
            <p:nvPr/>
          </p:nvSpPr>
          <p:spPr>
            <a:xfrm>
              <a:off x="5824537" y="3428999"/>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13" name="직선 화살표 연결선 12">
              <a:extLst>
                <a:ext uri="{FF2B5EF4-FFF2-40B4-BE49-F238E27FC236}">
                  <a16:creationId xmlns:a16="http://schemas.microsoft.com/office/drawing/2014/main" id="{75A0488D-90AB-458F-A341-281AA529BF03}"/>
                </a:ext>
              </a:extLst>
            </p:cNvPr>
            <p:cNvCxnSpPr>
              <a:stCxn id="9" idx="7"/>
              <a:endCxn id="10" idx="2"/>
            </p:cNvCxnSpPr>
            <p:nvPr/>
          </p:nvCxnSpPr>
          <p:spPr>
            <a:xfrm flipV="1">
              <a:off x="2330315" y="2738438"/>
              <a:ext cx="1460635" cy="770072"/>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4" name="직선 화살표 연결선 13">
              <a:extLst>
                <a:ext uri="{FF2B5EF4-FFF2-40B4-BE49-F238E27FC236}">
                  <a16:creationId xmlns:a16="http://schemas.microsoft.com/office/drawing/2014/main" id="{7485BED1-0AF2-4C2E-8D2E-02583852098A}"/>
                </a:ext>
              </a:extLst>
            </p:cNvPr>
            <p:cNvCxnSpPr>
              <a:cxnSpLocks/>
              <a:stCxn id="9" idx="5"/>
              <a:endCxn id="11" idx="2"/>
            </p:cNvCxnSpPr>
            <p:nvPr/>
          </p:nvCxnSpPr>
          <p:spPr>
            <a:xfrm>
              <a:off x="2330315" y="3892415"/>
              <a:ext cx="1460635" cy="714989"/>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5" name="직선 화살표 연결선 14">
              <a:extLst>
                <a:ext uri="{FF2B5EF4-FFF2-40B4-BE49-F238E27FC236}">
                  <a16:creationId xmlns:a16="http://schemas.microsoft.com/office/drawing/2014/main" id="{CF88A952-1F70-43A3-B7C3-3870E9F76BAA}"/>
                </a:ext>
              </a:extLst>
            </p:cNvPr>
            <p:cNvCxnSpPr>
              <a:cxnSpLocks/>
              <a:stCxn id="10" idx="6"/>
              <a:endCxn id="12" idx="1"/>
            </p:cNvCxnSpPr>
            <p:nvPr/>
          </p:nvCxnSpPr>
          <p:spPr>
            <a:xfrm>
              <a:off x="4333875" y="2738438"/>
              <a:ext cx="1570172" cy="770071"/>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6" name="직선 화살표 연결선 15">
              <a:extLst>
                <a:ext uri="{FF2B5EF4-FFF2-40B4-BE49-F238E27FC236}">
                  <a16:creationId xmlns:a16="http://schemas.microsoft.com/office/drawing/2014/main" id="{139BCF22-5A85-4B34-902D-7DCB2856F1F1}"/>
                </a:ext>
              </a:extLst>
            </p:cNvPr>
            <p:cNvCxnSpPr>
              <a:cxnSpLocks/>
              <a:stCxn id="11" idx="6"/>
              <a:endCxn id="12" idx="3"/>
            </p:cNvCxnSpPr>
            <p:nvPr/>
          </p:nvCxnSpPr>
          <p:spPr>
            <a:xfrm flipV="1">
              <a:off x="4333875" y="3892414"/>
              <a:ext cx="1570172" cy="714990"/>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61FA07E-9AB5-44BC-9FBA-928C0C733F10}"/>
                    </a:ext>
                  </a:extLst>
                </p:cNvPr>
                <p:cNvSpPr txBox="1"/>
                <p:nvPr/>
              </p:nvSpPr>
              <p:spPr>
                <a:xfrm>
                  <a:off x="2015061" y="2803448"/>
                  <a:ext cx="1207235"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en-US" sz="1400" b="0" i="0" smtClean="0">
                                <a:latin typeface="Cambria Math" panose="02040503050406030204" pitchFamily="18" charset="0"/>
                              </a:rPr>
                              <m:t>T</m:t>
                            </m:r>
                          </m:e>
                          <m:sub>
                            <m:r>
                              <a:rPr lang="en-US" sz="1400" b="0" i="1" smtClean="0">
                                <a:latin typeface="Cambria Math" panose="02040503050406030204" pitchFamily="18" charset="0"/>
                              </a:rPr>
                              <m:t>𝐴𝐶</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𝑥</m:t>
                            </m:r>
                          </m:e>
                        </m:d>
                        <m:r>
                          <a:rPr lang="en-US" sz="1400" b="0" i="1" smtClean="0">
                            <a:latin typeface="Cambria Math" panose="02040503050406030204" pitchFamily="18" charset="0"/>
                          </a:rPr>
                          <m:t>=</m:t>
                        </m:r>
                        <m:r>
                          <a:rPr lang="en-US" sz="1400" b="0" i="1" smtClean="0">
                            <a:latin typeface="Cambria Math" panose="02040503050406030204" pitchFamily="18" charset="0"/>
                          </a:rPr>
                          <m:t>𝑥</m:t>
                        </m:r>
                      </m:oMath>
                    </m:oMathPara>
                  </a14:m>
                  <a:endParaRPr lang="en-US" sz="1400" dirty="0"/>
                </a:p>
              </p:txBody>
            </p:sp>
          </mc:Choice>
          <mc:Fallback xmlns="">
            <p:sp>
              <p:nvSpPr>
                <p:cNvPr id="17" name="TextBox 16">
                  <a:extLst>
                    <a:ext uri="{FF2B5EF4-FFF2-40B4-BE49-F238E27FC236}">
                      <a16:creationId xmlns:a16="http://schemas.microsoft.com/office/drawing/2014/main" id="{17F37FD2-229A-48E1-8B19-F8DBEA4905CC}"/>
                    </a:ext>
                  </a:extLst>
                </p:cNvPr>
                <p:cNvSpPr txBox="1">
                  <a:spLocks noRot="1" noChangeAspect="1" noMove="1" noResize="1" noEditPoints="1" noAdjustHandles="1" noChangeArrowheads="1" noChangeShapeType="1" noTextEdit="1"/>
                </p:cNvSpPr>
                <p:nvPr/>
              </p:nvSpPr>
              <p:spPr>
                <a:xfrm>
                  <a:off x="2015061" y="2803448"/>
                  <a:ext cx="1207235" cy="307777"/>
                </a:xfrm>
                <a:prstGeom prst="rect">
                  <a:avLst/>
                </a:prstGeom>
                <a:blipFill>
                  <a:blip r:embed="rId3"/>
                  <a:stretch>
                    <a:fillRect/>
                  </a:stretch>
                </a:blipFill>
              </p:spPr>
              <p:txBody>
                <a:bodyPr/>
                <a:lstStyle/>
                <a:p>
                  <a:r>
                    <a:rPr lang="en-US">
                      <a:noFill/>
                    </a:rPr>
                    <a:t> </a:t>
                  </a:r>
                </a:p>
              </p:txBody>
            </p:sp>
          </mc:Fallback>
        </mc:AlternateContent>
        <p:cxnSp>
          <p:nvCxnSpPr>
            <p:cNvPr id="18" name="직선 화살표 연결선 17">
              <a:extLst>
                <a:ext uri="{FF2B5EF4-FFF2-40B4-BE49-F238E27FC236}">
                  <a16:creationId xmlns:a16="http://schemas.microsoft.com/office/drawing/2014/main" id="{7AC98E9B-EC02-448A-97A3-5D4DE69BB56E}"/>
                </a:ext>
              </a:extLst>
            </p:cNvPr>
            <p:cNvCxnSpPr>
              <a:cxnSpLocks/>
              <a:stCxn id="10" idx="4"/>
              <a:endCxn id="11" idx="0"/>
            </p:cNvCxnSpPr>
            <p:nvPr/>
          </p:nvCxnSpPr>
          <p:spPr>
            <a:xfrm>
              <a:off x="4062413" y="3009900"/>
              <a:ext cx="0" cy="1326041"/>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C521ECE-AFFA-436F-B4B9-A973B21F0AD2}"/>
                    </a:ext>
                  </a:extLst>
                </p:cNvPr>
                <p:cNvSpPr txBox="1"/>
                <p:nvPr/>
              </p:nvSpPr>
              <p:spPr>
                <a:xfrm>
                  <a:off x="4968273" y="2803448"/>
                  <a:ext cx="1207235"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en-US" sz="1400" b="0" i="0" smtClean="0">
                                <a:latin typeface="Cambria Math" panose="02040503050406030204" pitchFamily="18" charset="0"/>
                              </a:rPr>
                              <m:t>T</m:t>
                            </m:r>
                          </m:e>
                          <m:sub>
                            <m:r>
                              <a:rPr lang="en-US" sz="1400" b="0" i="1" smtClean="0">
                                <a:latin typeface="Cambria Math" panose="02040503050406030204" pitchFamily="18" charset="0"/>
                              </a:rPr>
                              <m:t>𝐶𝐵</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𝑥</m:t>
                            </m:r>
                          </m:e>
                        </m:d>
                        <m:r>
                          <a:rPr lang="en-US" sz="1400" b="0" i="1" smtClean="0">
                            <a:latin typeface="Cambria Math" panose="02040503050406030204" pitchFamily="18" charset="0"/>
                          </a:rPr>
                          <m:t>=5</m:t>
                        </m:r>
                      </m:oMath>
                    </m:oMathPara>
                  </a14:m>
                  <a:endParaRPr lang="en-US" sz="1400" dirty="0"/>
                </a:p>
              </p:txBody>
            </p:sp>
          </mc:Choice>
          <mc:Fallback xmlns="">
            <p:sp>
              <p:nvSpPr>
                <p:cNvPr id="24" name="TextBox 23">
                  <a:extLst>
                    <a:ext uri="{FF2B5EF4-FFF2-40B4-BE49-F238E27FC236}">
                      <a16:creationId xmlns:a16="http://schemas.microsoft.com/office/drawing/2014/main" id="{C5535CFB-9A3A-4EDB-87C2-0F450716E12E}"/>
                    </a:ext>
                  </a:extLst>
                </p:cNvPr>
                <p:cNvSpPr txBox="1">
                  <a:spLocks noRot="1" noChangeAspect="1" noMove="1" noResize="1" noEditPoints="1" noAdjustHandles="1" noChangeArrowheads="1" noChangeShapeType="1" noTextEdit="1"/>
                </p:cNvSpPr>
                <p:nvPr/>
              </p:nvSpPr>
              <p:spPr>
                <a:xfrm>
                  <a:off x="4968273" y="2803448"/>
                  <a:ext cx="1207235"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2755572-1FA8-4057-BAAD-42B141D1257C}"/>
                    </a:ext>
                  </a:extLst>
                </p:cNvPr>
                <p:cNvSpPr txBox="1"/>
                <p:nvPr/>
              </p:nvSpPr>
              <p:spPr>
                <a:xfrm>
                  <a:off x="4968273" y="4435358"/>
                  <a:ext cx="1207235"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en-US" sz="1400" b="0" i="0" smtClean="0">
                                <a:latin typeface="Cambria Math" panose="02040503050406030204" pitchFamily="18" charset="0"/>
                              </a:rPr>
                              <m:t>T</m:t>
                            </m:r>
                          </m:e>
                          <m:sub>
                            <m:r>
                              <a:rPr lang="en-US" sz="1400" b="0" i="1" smtClean="0">
                                <a:latin typeface="Cambria Math" panose="02040503050406030204" pitchFamily="18" charset="0"/>
                              </a:rPr>
                              <m:t>𝐷𝐵</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𝑥</m:t>
                            </m:r>
                          </m:e>
                        </m:d>
                        <m:r>
                          <a:rPr lang="en-US" sz="1400" b="0" i="1" smtClean="0">
                            <a:latin typeface="Cambria Math" panose="02040503050406030204" pitchFamily="18" charset="0"/>
                          </a:rPr>
                          <m:t>=</m:t>
                        </m:r>
                        <m:r>
                          <a:rPr lang="en-US" sz="1400" b="0" i="1" smtClean="0">
                            <a:latin typeface="Cambria Math" panose="02040503050406030204" pitchFamily="18" charset="0"/>
                          </a:rPr>
                          <m:t>𝑥</m:t>
                        </m:r>
                      </m:oMath>
                    </m:oMathPara>
                  </a14:m>
                  <a:endParaRPr lang="en-US" sz="1400" dirty="0"/>
                </a:p>
              </p:txBody>
            </p:sp>
          </mc:Choice>
          <mc:Fallback xmlns="">
            <p:sp>
              <p:nvSpPr>
                <p:cNvPr id="25" name="TextBox 24">
                  <a:extLst>
                    <a:ext uri="{FF2B5EF4-FFF2-40B4-BE49-F238E27FC236}">
                      <a16:creationId xmlns:a16="http://schemas.microsoft.com/office/drawing/2014/main" id="{4B886337-6736-4499-A4B5-B7C9539115E6}"/>
                    </a:ext>
                  </a:extLst>
                </p:cNvPr>
                <p:cNvSpPr txBox="1">
                  <a:spLocks noRot="1" noChangeAspect="1" noMove="1" noResize="1" noEditPoints="1" noAdjustHandles="1" noChangeArrowheads="1" noChangeShapeType="1" noTextEdit="1"/>
                </p:cNvSpPr>
                <p:nvPr/>
              </p:nvSpPr>
              <p:spPr>
                <a:xfrm>
                  <a:off x="4968273" y="4435358"/>
                  <a:ext cx="1207235"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28425A6-424D-4A88-97F2-29F7EDDB3E8C}"/>
                    </a:ext>
                  </a:extLst>
                </p:cNvPr>
                <p:cNvSpPr txBox="1"/>
                <p:nvPr/>
              </p:nvSpPr>
              <p:spPr>
                <a:xfrm>
                  <a:off x="2138362" y="4435358"/>
                  <a:ext cx="1207235" cy="307777"/>
                </a:xfrm>
                <a:prstGeom prst="rect">
                  <a:avLst/>
                </a:prstGeom>
                <a:noFill/>
              </p:spPr>
              <p:txBody>
                <a:bodyPr wrap="square" rtlCol="0">
                  <a:spAutoFit/>
                </a:bodyPr>
                <a:lstStyle/>
                <a:p>
                  <a14:m>
                    <m:oMath xmlns:m="http://schemas.openxmlformats.org/officeDocument/2006/math">
                      <m:sSub>
                        <m:sSubPr>
                          <m:ctrlPr>
                            <a:rPr lang="en-US" sz="1400" i="1" smtClean="0">
                              <a:latin typeface="Cambria Math" panose="02040503050406030204" pitchFamily="18" charset="0"/>
                            </a:rPr>
                          </m:ctrlPr>
                        </m:sSubPr>
                        <m:e>
                          <m:r>
                            <m:rPr>
                              <m:sty m:val="p"/>
                            </m:rPr>
                            <a:rPr lang="en-US" sz="1400" b="0" i="0" smtClean="0">
                              <a:latin typeface="Cambria Math" panose="02040503050406030204" pitchFamily="18" charset="0"/>
                            </a:rPr>
                            <m:t>T</m:t>
                          </m:r>
                        </m:e>
                        <m:sub>
                          <m:r>
                            <a:rPr lang="en-US" sz="1400" b="0" i="1" smtClean="0">
                              <a:latin typeface="Cambria Math" panose="02040503050406030204" pitchFamily="18" charset="0"/>
                            </a:rPr>
                            <m:t>𝐴𝐷</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𝑥</m:t>
                          </m:r>
                        </m:e>
                      </m:d>
                      <m:r>
                        <a:rPr lang="en-US" sz="1400" b="0" i="1" smtClean="0">
                          <a:latin typeface="Cambria Math" panose="02040503050406030204" pitchFamily="18" charset="0"/>
                        </a:rPr>
                        <m:t>=</m:t>
                      </m:r>
                    </m:oMath>
                  </a14:m>
                  <a:r>
                    <a:rPr lang="en-US" sz="1400" dirty="0"/>
                    <a:t>5</a:t>
                  </a:r>
                </a:p>
              </p:txBody>
            </p:sp>
          </mc:Choice>
          <mc:Fallback xmlns="">
            <p:sp>
              <p:nvSpPr>
                <p:cNvPr id="26" name="TextBox 25">
                  <a:extLst>
                    <a:ext uri="{FF2B5EF4-FFF2-40B4-BE49-F238E27FC236}">
                      <a16:creationId xmlns:a16="http://schemas.microsoft.com/office/drawing/2014/main" id="{47E08EAE-0215-4333-9A35-E130E61AD972}"/>
                    </a:ext>
                  </a:extLst>
                </p:cNvPr>
                <p:cNvSpPr txBox="1">
                  <a:spLocks noRot="1" noChangeAspect="1" noMove="1" noResize="1" noEditPoints="1" noAdjustHandles="1" noChangeArrowheads="1" noChangeShapeType="1" noTextEdit="1"/>
                </p:cNvSpPr>
                <p:nvPr/>
              </p:nvSpPr>
              <p:spPr>
                <a:xfrm>
                  <a:off x="2138362" y="4435358"/>
                  <a:ext cx="1207235" cy="307777"/>
                </a:xfrm>
                <a:prstGeom prst="rect">
                  <a:avLst/>
                </a:prstGeom>
                <a:blipFill>
                  <a:blip r:embed="rId6"/>
                  <a:stretch>
                    <a:fillRect t="-3922" b="-19608"/>
                  </a:stretch>
                </a:blipFill>
              </p:spPr>
              <p:txBody>
                <a:bodyPr/>
                <a:lstStyle/>
                <a:p>
                  <a:r>
                    <a:rPr lang="en-US">
                      <a:noFill/>
                    </a:rPr>
                    <a:t> </a:t>
                  </a:r>
                </a:p>
              </p:txBody>
            </p:sp>
          </mc:Fallback>
        </mc:AlternateContent>
      </p:grpSp>
      <p:grpSp>
        <p:nvGrpSpPr>
          <p:cNvPr id="4" name="그룹 3">
            <a:extLst>
              <a:ext uri="{FF2B5EF4-FFF2-40B4-BE49-F238E27FC236}">
                <a16:creationId xmlns:a16="http://schemas.microsoft.com/office/drawing/2014/main" id="{24F2AAA3-4B03-47DF-A4D2-91B202F2BC03}"/>
              </a:ext>
            </a:extLst>
          </p:cNvPr>
          <p:cNvGrpSpPr/>
          <p:nvPr/>
        </p:nvGrpSpPr>
        <p:grpSpPr>
          <a:xfrm>
            <a:off x="7701057" y="1347127"/>
            <a:ext cx="3174363" cy="2225011"/>
            <a:chOff x="6795787" y="2381025"/>
            <a:chExt cx="4441984" cy="3113526"/>
          </a:xfrm>
        </p:grpSpPr>
        <p:grpSp>
          <p:nvGrpSpPr>
            <p:cNvPr id="22" name="그룹 21">
              <a:extLst>
                <a:ext uri="{FF2B5EF4-FFF2-40B4-BE49-F238E27FC236}">
                  <a16:creationId xmlns:a16="http://schemas.microsoft.com/office/drawing/2014/main" id="{E065B06B-F2CF-4DC2-8FF9-6984AEBF7E5B}"/>
                </a:ext>
              </a:extLst>
            </p:cNvPr>
            <p:cNvGrpSpPr/>
            <p:nvPr/>
          </p:nvGrpSpPr>
          <p:grpSpPr>
            <a:xfrm>
              <a:off x="6795787" y="2381025"/>
              <a:ext cx="4441984" cy="3113526"/>
              <a:chOff x="7737698" y="3004203"/>
              <a:chExt cx="2850704" cy="1998148"/>
            </a:xfrm>
          </p:grpSpPr>
          <p:grpSp>
            <p:nvGrpSpPr>
              <p:cNvPr id="23" name="그룹 22">
                <a:extLst>
                  <a:ext uri="{FF2B5EF4-FFF2-40B4-BE49-F238E27FC236}">
                    <a16:creationId xmlns:a16="http://schemas.microsoft.com/office/drawing/2014/main" id="{7BDA1C98-5F64-49CD-96AC-D9924053CFD8}"/>
                  </a:ext>
                </a:extLst>
              </p:cNvPr>
              <p:cNvGrpSpPr/>
              <p:nvPr/>
            </p:nvGrpSpPr>
            <p:grpSpPr>
              <a:xfrm>
                <a:off x="7737698" y="3243468"/>
                <a:ext cx="2850704" cy="1527717"/>
                <a:chOff x="1866900" y="2466975"/>
                <a:chExt cx="4500562" cy="2411891"/>
              </a:xfrm>
            </p:grpSpPr>
            <p:sp>
              <p:nvSpPr>
                <p:cNvPr id="34" name="타원 33">
                  <a:extLst>
                    <a:ext uri="{FF2B5EF4-FFF2-40B4-BE49-F238E27FC236}">
                      <a16:creationId xmlns:a16="http://schemas.microsoft.com/office/drawing/2014/main" id="{921D7149-A635-4A9E-9CF6-F1295E3B96BC}"/>
                    </a:ext>
                  </a:extLst>
                </p:cNvPr>
                <p:cNvSpPr/>
                <p:nvPr/>
              </p:nvSpPr>
              <p:spPr>
                <a:xfrm>
                  <a:off x="1866900" y="3429000"/>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타원 34">
                  <a:extLst>
                    <a:ext uri="{FF2B5EF4-FFF2-40B4-BE49-F238E27FC236}">
                      <a16:creationId xmlns:a16="http://schemas.microsoft.com/office/drawing/2014/main" id="{C0BC6475-517E-4F9C-B49B-4530FD7CAE0A}"/>
                    </a:ext>
                  </a:extLst>
                </p:cNvPr>
                <p:cNvSpPr/>
                <p:nvPr/>
              </p:nvSpPr>
              <p:spPr>
                <a:xfrm>
                  <a:off x="3790950" y="2466975"/>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6" name="타원 35">
                  <a:extLst>
                    <a:ext uri="{FF2B5EF4-FFF2-40B4-BE49-F238E27FC236}">
                      <a16:creationId xmlns:a16="http://schemas.microsoft.com/office/drawing/2014/main" id="{51696DE0-0A8E-45E0-827D-21C508A8B442}"/>
                    </a:ext>
                  </a:extLst>
                </p:cNvPr>
                <p:cNvSpPr/>
                <p:nvPr/>
              </p:nvSpPr>
              <p:spPr>
                <a:xfrm>
                  <a:off x="3790950" y="4335941"/>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7" name="타원 36">
                  <a:extLst>
                    <a:ext uri="{FF2B5EF4-FFF2-40B4-BE49-F238E27FC236}">
                      <a16:creationId xmlns:a16="http://schemas.microsoft.com/office/drawing/2014/main" id="{7DEFB23C-09FE-418A-806D-FFE180AA2EFB}"/>
                    </a:ext>
                  </a:extLst>
                </p:cNvPr>
                <p:cNvSpPr/>
                <p:nvPr/>
              </p:nvSpPr>
              <p:spPr>
                <a:xfrm>
                  <a:off x="5824537" y="3428999"/>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38" name="직선 화살표 연결선 37">
                  <a:extLst>
                    <a:ext uri="{FF2B5EF4-FFF2-40B4-BE49-F238E27FC236}">
                      <a16:creationId xmlns:a16="http://schemas.microsoft.com/office/drawing/2014/main" id="{DDF0482F-A46B-4D8D-854E-C6AE586EF347}"/>
                    </a:ext>
                  </a:extLst>
                </p:cNvPr>
                <p:cNvCxnSpPr>
                  <a:stCxn id="34" idx="7"/>
                  <a:endCxn id="35" idx="2"/>
                </p:cNvCxnSpPr>
                <p:nvPr/>
              </p:nvCxnSpPr>
              <p:spPr>
                <a:xfrm flipV="1">
                  <a:off x="2330315" y="2738438"/>
                  <a:ext cx="1460635" cy="770072"/>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39" name="직선 화살표 연결선 38">
                  <a:extLst>
                    <a:ext uri="{FF2B5EF4-FFF2-40B4-BE49-F238E27FC236}">
                      <a16:creationId xmlns:a16="http://schemas.microsoft.com/office/drawing/2014/main" id="{E14DCBBC-F3B5-4AEF-9107-D0A83D970FC9}"/>
                    </a:ext>
                  </a:extLst>
                </p:cNvPr>
                <p:cNvCxnSpPr>
                  <a:cxnSpLocks/>
                  <a:stCxn id="34" idx="5"/>
                  <a:endCxn id="36" idx="2"/>
                </p:cNvCxnSpPr>
                <p:nvPr/>
              </p:nvCxnSpPr>
              <p:spPr>
                <a:xfrm>
                  <a:off x="2330315" y="3892415"/>
                  <a:ext cx="1460635" cy="714989"/>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0" name="직선 화살표 연결선 39">
                  <a:extLst>
                    <a:ext uri="{FF2B5EF4-FFF2-40B4-BE49-F238E27FC236}">
                      <a16:creationId xmlns:a16="http://schemas.microsoft.com/office/drawing/2014/main" id="{E0CD2101-75BE-475A-8F4B-AA4160D41F3A}"/>
                    </a:ext>
                  </a:extLst>
                </p:cNvPr>
                <p:cNvCxnSpPr>
                  <a:cxnSpLocks/>
                  <a:stCxn id="35" idx="6"/>
                  <a:endCxn id="37" idx="1"/>
                </p:cNvCxnSpPr>
                <p:nvPr/>
              </p:nvCxnSpPr>
              <p:spPr>
                <a:xfrm>
                  <a:off x="4333875" y="2738438"/>
                  <a:ext cx="1570172" cy="770071"/>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1" name="직선 화살표 연결선 40">
                  <a:extLst>
                    <a:ext uri="{FF2B5EF4-FFF2-40B4-BE49-F238E27FC236}">
                      <a16:creationId xmlns:a16="http://schemas.microsoft.com/office/drawing/2014/main" id="{C28F3C8E-DCB0-4400-8930-4EEEF84769D3}"/>
                    </a:ext>
                  </a:extLst>
                </p:cNvPr>
                <p:cNvCxnSpPr>
                  <a:cxnSpLocks/>
                  <a:stCxn id="36" idx="6"/>
                  <a:endCxn id="37" idx="3"/>
                </p:cNvCxnSpPr>
                <p:nvPr/>
              </p:nvCxnSpPr>
              <p:spPr>
                <a:xfrm flipV="1">
                  <a:off x="4333875" y="3892414"/>
                  <a:ext cx="1570172" cy="714990"/>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2" name="직선 화살표 연결선 41">
                  <a:extLst>
                    <a:ext uri="{FF2B5EF4-FFF2-40B4-BE49-F238E27FC236}">
                      <a16:creationId xmlns:a16="http://schemas.microsoft.com/office/drawing/2014/main" id="{2C14F8C2-C9E6-44F4-8E9E-B91F5958C73D}"/>
                    </a:ext>
                  </a:extLst>
                </p:cNvPr>
                <p:cNvCxnSpPr>
                  <a:cxnSpLocks/>
                  <a:stCxn id="35" idx="4"/>
                  <a:endCxn id="36" idx="0"/>
                </p:cNvCxnSpPr>
                <p:nvPr/>
              </p:nvCxnSpPr>
              <p:spPr>
                <a:xfrm>
                  <a:off x="4062413" y="3009900"/>
                  <a:ext cx="0" cy="1326041"/>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grpSp>
          <p:grpSp>
            <p:nvGrpSpPr>
              <p:cNvPr id="24" name="그룹 23">
                <a:extLst>
                  <a:ext uri="{FF2B5EF4-FFF2-40B4-BE49-F238E27FC236}">
                    <a16:creationId xmlns:a16="http://schemas.microsoft.com/office/drawing/2014/main" id="{A0711902-02E7-45E7-9056-A7DD669EE871}"/>
                  </a:ext>
                </a:extLst>
              </p:cNvPr>
              <p:cNvGrpSpPr/>
              <p:nvPr/>
            </p:nvGrpSpPr>
            <p:grpSpPr>
              <a:xfrm>
                <a:off x="8278248" y="3004203"/>
                <a:ext cx="1973399" cy="563061"/>
                <a:chOff x="8278248" y="2852354"/>
                <a:chExt cx="1973399" cy="563061"/>
              </a:xfrm>
            </p:grpSpPr>
            <p:cxnSp>
              <p:nvCxnSpPr>
                <p:cNvPr id="30" name="직선 화살표 연결선 29">
                  <a:extLst>
                    <a:ext uri="{FF2B5EF4-FFF2-40B4-BE49-F238E27FC236}">
                      <a16:creationId xmlns:a16="http://schemas.microsoft.com/office/drawing/2014/main" id="{9806EF51-E11C-4011-A5A2-5DA389393690}"/>
                    </a:ext>
                  </a:extLst>
                </p:cNvPr>
                <p:cNvCxnSpPr/>
                <p:nvPr/>
              </p:nvCxnSpPr>
              <p:spPr>
                <a:xfrm>
                  <a:off x="9128359" y="2981325"/>
                  <a:ext cx="1116149" cy="43409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0C179380-C1B7-4476-BEE3-03DD9DA2EAE3}"/>
                    </a:ext>
                  </a:extLst>
                </p:cNvPr>
                <p:cNvCxnSpPr/>
                <p:nvPr/>
              </p:nvCxnSpPr>
              <p:spPr>
                <a:xfrm>
                  <a:off x="9135498" y="2856800"/>
                  <a:ext cx="1116149" cy="43409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E04A5971-4EB9-48F7-9E61-186D2AF8D15A}"/>
                    </a:ext>
                  </a:extLst>
                </p:cNvPr>
                <p:cNvCxnSpPr/>
                <p:nvPr/>
              </p:nvCxnSpPr>
              <p:spPr>
                <a:xfrm flipH="1">
                  <a:off x="8278248" y="2982036"/>
                  <a:ext cx="857250" cy="419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88BE83F0-32D3-4B37-9EC0-AEB3E888F144}"/>
                    </a:ext>
                  </a:extLst>
                </p:cNvPr>
                <p:cNvCxnSpPr/>
                <p:nvPr/>
              </p:nvCxnSpPr>
              <p:spPr>
                <a:xfrm flipH="1">
                  <a:off x="8287773" y="2852354"/>
                  <a:ext cx="857250" cy="419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5" name="그룹 24">
                <a:extLst>
                  <a:ext uri="{FF2B5EF4-FFF2-40B4-BE49-F238E27FC236}">
                    <a16:creationId xmlns:a16="http://schemas.microsoft.com/office/drawing/2014/main" id="{23BBB4CE-AC1E-426F-BCC5-1B155C99A415}"/>
                  </a:ext>
                </a:extLst>
              </p:cNvPr>
              <p:cNvGrpSpPr/>
              <p:nvPr/>
            </p:nvGrpSpPr>
            <p:grpSpPr>
              <a:xfrm flipV="1">
                <a:off x="8278248" y="4439290"/>
                <a:ext cx="1973399" cy="563061"/>
                <a:chOff x="8278248" y="2852354"/>
                <a:chExt cx="1973399" cy="563061"/>
              </a:xfrm>
            </p:grpSpPr>
            <p:cxnSp>
              <p:nvCxnSpPr>
                <p:cNvPr id="26" name="직선 화살표 연결선 25">
                  <a:extLst>
                    <a:ext uri="{FF2B5EF4-FFF2-40B4-BE49-F238E27FC236}">
                      <a16:creationId xmlns:a16="http://schemas.microsoft.com/office/drawing/2014/main" id="{F31CEE81-D8CA-452C-AE81-D8F14F06FDC4}"/>
                    </a:ext>
                  </a:extLst>
                </p:cNvPr>
                <p:cNvCxnSpPr/>
                <p:nvPr/>
              </p:nvCxnSpPr>
              <p:spPr>
                <a:xfrm>
                  <a:off x="9128359" y="2981325"/>
                  <a:ext cx="1116149" cy="43409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a:extLst>
                    <a:ext uri="{FF2B5EF4-FFF2-40B4-BE49-F238E27FC236}">
                      <a16:creationId xmlns:a16="http://schemas.microsoft.com/office/drawing/2014/main" id="{CC562C17-9CBB-4BD4-BC08-1F7C408765FC}"/>
                    </a:ext>
                  </a:extLst>
                </p:cNvPr>
                <p:cNvCxnSpPr/>
                <p:nvPr/>
              </p:nvCxnSpPr>
              <p:spPr>
                <a:xfrm>
                  <a:off x="9135498" y="2856800"/>
                  <a:ext cx="1116149" cy="43409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직선 연결선 27">
                  <a:extLst>
                    <a:ext uri="{FF2B5EF4-FFF2-40B4-BE49-F238E27FC236}">
                      <a16:creationId xmlns:a16="http://schemas.microsoft.com/office/drawing/2014/main" id="{34649C85-7B21-41AD-9A82-1AC0DF683F34}"/>
                    </a:ext>
                  </a:extLst>
                </p:cNvPr>
                <p:cNvCxnSpPr/>
                <p:nvPr/>
              </p:nvCxnSpPr>
              <p:spPr>
                <a:xfrm flipH="1">
                  <a:off x="8278248" y="2982036"/>
                  <a:ext cx="857250" cy="419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직선 연결선 28">
                  <a:extLst>
                    <a:ext uri="{FF2B5EF4-FFF2-40B4-BE49-F238E27FC236}">
                      <a16:creationId xmlns:a16="http://schemas.microsoft.com/office/drawing/2014/main" id="{9D2DC44B-E429-497F-84D3-B1DEAEDB1598}"/>
                    </a:ext>
                  </a:extLst>
                </p:cNvPr>
                <p:cNvCxnSpPr/>
                <p:nvPr/>
              </p:nvCxnSpPr>
              <p:spPr>
                <a:xfrm flipH="1">
                  <a:off x="8287773" y="2852354"/>
                  <a:ext cx="857250" cy="419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3" name="TextBox 2">
              <a:extLst>
                <a:ext uri="{FF2B5EF4-FFF2-40B4-BE49-F238E27FC236}">
                  <a16:creationId xmlns:a16="http://schemas.microsoft.com/office/drawing/2014/main" id="{7F1B7D72-A634-4CA8-A2E9-B7BB90618D93}"/>
                </a:ext>
              </a:extLst>
            </p:cNvPr>
            <p:cNvSpPr txBox="1"/>
            <p:nvPr/>
          </p:nvSpPr>
          <p:spPr>
            <a:xfrm>
              <a:off x="7747645" y="3371128"/>
              <a:ext cx="852421" cy="430682"/>
            </a:xfrm>
            <a:prstGeom prst="rect">
              <a:avLst/>
            </a:prstGeom>
            <a:noFill/>
          </p:spPr>
          <p:txBody>
            <a:bodyPr wrap="square" rtlCol="0">
              <a:spAutoFit/>
            </a:bodyPr>
            <a:lstStyle/>
            <a:p>
              <a:r>
                <a:rPr lang="en-US" sz="1400" dirty="0"/>
                <a:t>1+2</a:t>
              </a:r>
            </a:p>
          </p:txBody>
        </p:sp>
        <p:sp>
          <p:nvSpPr>
            <p:cNvPr id="44" name="TextBox 43">
              <a:extLst>
                <a:ext uri="{FF2B5EF4-FFF2-40B4-BE49-F238E27FC236}">
                  <a16:creationId xmlns:a16="http://schemas.microsoft.com/office/drawing/2014/main" id="{21FB3A6F-3CD3-474C-AEB1-C03D7F455143}"/>
                </a:ext>
              </a:extLst>
            </p:cNvPr>
            <p:cNvSpPr txBox="1"/>
            <p:nvPr/>
          </p:nvSpPr>
          <p:spPr>
            <a:xfrm>
              <a:off x="7800884" y="4179620"/>
              <a:ext cx="852421" cy="430682"/>
            </a:xfrm>
            <a:prstGeom prst="rect">
              <a:avLst/>
            </a:prstGeom>
            <a:noFill/>
          </p:spPr>
          <p:txBody>
            <a:bodyPr wrap="square" rtlCol="0">
              <a:spAutoFit/>
            </a:bodyPr>
            <a:lstStyle/>
            <a:p>
              <a:r>
                <a:rPr lang="en-US" sz="1400" dirty="0"/>
                <a:t>5+5</a:t>
              </a:r>
            </a:p>
          </p:txBody>
        </p:sp>
        <p:sp>
          <p:nvSpPr>
            <p:cNvPr id="45" name="TextBox 44">
              <a:extLst>
                <a:ext uri="{FF2B5EF4-FFF2-40B4-BE49-F238E27FC236}">
                  <a16:creationId xmlns:a16="http://schemas.microsoft.com/office/drawing/2014/main" id="{988EFCA7-1F07-4DAF-9262-606E50D6B6EE}"/>
                </a:ext>
              </a:extLst>
            </p:cNvPr>
            <p:cNvSpPr txBox="1"/>
            <p:nvPr/>
          </p:nvSpPr>
          <p:spPr>
            <a:xfrm>
              <a:off x="9540073" y="3361793"/>
              <a:ext cx="852421" cy="430682"/>
            </a:xfrm>
            <a:prstGeom prst="rect">
              <a:avLst/>
            </a:prstGeom>
            <a:noFill/>
          </p:spPr>
          <p:txBody>
            <a:bodyPr wrap="square" rtlCol="0">
              <a:spAutoFit/>
            </a:bodyPr>
            <a:lstStyle/>
            <a:p>
              <a:r>
                <a:rPr lang="en-US" sz="1400" dirty="0"/>
                <a:t>5+5</a:t>
              </a:r>
            </a:p>
          </p:txBody>
        </p:sp>
        <p:sp>
          <p:nvSpPr>
            <p:cNvPr id="46" name="TextBox 45">
              <a:extLst>
                <a:ext uri="{FF2B5EF4-FFF2-40B4-BE49-F238E27FC236}">
                  <a16:creationId xmlns:a16="http://schemas.microsoft.com/office/drawing/2014/main" id="{8741ADE1-0118-461D-B275-5E5A6DA309CD}"/>
                </a:ext>
              </a:extLst>
            </p:cNvPr>
            <p:cNvSpPr txBox="1"/>
            <p:nvPr/>
          </p:nvSpPr>
          <p:spPr>
            <a:xfrm>
              <a:off x="9540073" y="4177910"/>
              <a:ext cx="852421" cy="430682"/>
            </a:xfrm>
            <a:prstGeom prst="rect">
              <a:avLst/>
            </a:prstGeom>
            <a:noFill/>
          </p:spPr>
          <p:txBody>
            <a:bodyPr wrap="square" rtlCol="0">
              <a:spAutoFit/>
            </a:bodyPr>
            <a:lstStyle/>
            <a:p>
              <a:r>
                <a:rPr lang="en-US" sz="1400" dirty="0"/>
                <a:t>1+2</a:t>
              </a:r>
            </a:p>
          </p:txBody>
        </p:sp>
      </p:grpSp>
      <p:grpSp>
        <p:nvGrpSpPr>
          <p:cNvPr id="48" name="그룹 47">
            <a:extLst>
              <a:ext uri="{FF2B5EF4-FFF2-40B4-BE49-F238E27FC236}">
                <a16:creationId xmlns:a16="http://schemas.microsoft.com/office/drawing/2014/main" id="{8D2025ED-1C74-4E67-A08D-28B4E13EA5FF}"/>
              </a:ext>
            </a:extLst>
          </p:cNvPr>
          <p:cNvGrpSpPr/>
          <p:nvPr/>
        </p:nvGrpSpPr>
        <p:grpSpPr>
          <a:xfrm>
            <a:off x="7701057" y="3818511"/>
            <a:ext cx="3174363" cy="2454708"/>
            <a:chOff x="6795787" y="2206802"/>
            <a:chExt cx="4441984" cy="3434948"/>
          </a:xfrm>
        </p:grpSpPr>
        <p:grpSp>
          <p:nvGrpSpPr>
            <p:cNvPr id="49" name="그룹 48">
              <a:extLst>
                <a:ext uri="{FF2B5EF4-FFF2-40B4-BE49-F238E27FC236}">
                  <a16:creationId xmlns:a16="http://schemas.microsoft.com/office/drawing/2014/main" id="{A32DAFDC-1409-4940-8E4A-89A8B2B093EC}"/>
                </a:ext>
              </a:extLst>
            </p:cNvPr>
            <p:cNvGrpSpPr/>
            <p:nvPr/>
          </p:nvGrpSpPr>
          <p:grpSpPr>
            <a:xfrm>
              <a:off x="6795787" y="2206802"/>
              <a:ext cx="4441984" cy="3434948"/>
              <a:chOff x="7737698" y="2892393"/>
              <a:chExt cx="2850704" cy="2204425"/>
            </a:xfrm>
          </p:grpSpPr>
          <p:grpSp>
            <p:nvGrpSpPr>
              <p:cNvPr id="54" name="그룹 53">
                <a:extLst>
                  <a:ext uri="{FF2B5EF4-FFF2-40B4-BE49-F238E27FC236}">
                    <a16:creationId xmlns:a16="http://schemas.microsoft.com/office/drawing/2014/main" id="{C1A13743-2EA0-44E1-B542-32FBFB3C23C6}"/>
                  </a:ext>
                </a:extLst>
              </p:cNvPr>
              <p:cNvGrpSpPr/>
              <p:nvPr/>
            </p:nvGrpSpPr>
            <p:grpSpPr>
              <a:xfrm>
                <a:off x="7737698" y="3243468"/>
                <a:ext cx="2850704" cy="1527717"/>
                <a:chOff x="1866900" y="2466975"/>
                <a:chExt cx="4500562" cy="2411891"/>
              </a:xfrm>
            </p:grpSpPr>
            <p:sp>
              <p:nvSpPr>
                <p:cNvPr id="65" name="타원 64">
                  <a:extLst>
                    <a:ext uri="{FF2B5EF4-FFF2-40B4-BE49-F238E27FC236}">
                      <a16:creationId xmlns:a16="http://schemas.microsoft.com/office/drawing/2014/main" id="{03EC1C1C-86E2-429C-AFF1-C1A696BFBD4F}"/>
                    </a:ext>
                  </a:extLst>
                </p:cNvPr>
                <p:cNvSpPr/>
                <p:nvPr/>
              </p:nvSpPr>
              <p:spPr>
                <a:xfrm>
                  <a:off x="1866900" y="3429000"/>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66" name="타원 65">
                  <a:extLst>
                    <a:ext uri="{FF2B5EF4-FFF2-40B4-BE49-F238E27FC236}">
                      <a16:creationId xmlns:a16="http://schemas.microsoft.com/office/drawing/2014/main" id="{247B97A6-A893-44AF-BC4B-180848741B50}"/>
                    </a:ext>
                  </a:extLst>
                </p:cNvPr>
                <p:cNvSpPr/>
                <p:nvPr/>
              </p:nvSpPr>
              <p:spPr>
                <a:xfrm>
                  <a:off x="3790950" y="2466975"/>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67" name="타원 66">
                  <a:extLst>
                    <a:ext uri="{FF2B5EF4-FFF2-40B4-BE49-F238E27FC236}">
                      <a16:creationId xmlns:a16="http://schemas.microsoft.com/office/drawing/2014/main" id="{D4FF90EE-5863-4F12-9A36-4DA9CFCB4A65}"/>
                    </a:ext>
                  </a:extLst>
                </p:cNvPr>
                <p:cNvSpPr/>
                <p:nvPr/>
              </p:nvSpPr>
              <p:spPr>
                <a:xfrm>
                  <a:off x="3790950" y="4335941"/>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68" name="타원 67">
                  <a:extLst>
                    <a:ext uri="{FF2B5EF4-FFF2-40B4-BE49-F238E27FC236}">
                      <a16:creationId xmlns:a16="http://schemas.microsoft.com/office/drawing/2014/main" id="{D56C880E-AB8F-4B08-99EC-19FDDAD565A1}"/>
                    </a:ext>
                  </a:extLst>
                </p:cNvPr>
                <p:cNvSpPr/>
                <p:nvPr/>
              </p:nvSpPr>
              <p:spPr>
                <a:xfrm>
                  <a:off x="5824537" y="3428999"/>
                  <a:ext cx="542925" cy="542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69" name="직선 화살표 연결선 68">
                  <a:extLst>
                    <a:ext uri="{FF2B5EF4-FFF2-40B4-BE49-F238E27FC236}">
                      <a16:creationId xmlns:a16="http://schemas.microsoft.com/office/drawing/2014/main" id="{2E72145E-1305-4C4C-BE62-FED7F9006B53}"/>
                    </a:ext>
                  </a:extLst>
                </p:cNvPr>
                <p:cNvCxnSpPr>
                  <a:stCxn id="65" idx="7"/>
                  <a:endCxn id="66" idx="2"/>
                </p:cNvCxnSpPr>
                <p:nvPr/>
              </p:nvCxnSpPr>
              <p:spPr>
                <a:xfrm flipV="1">
                  <a:off x="2330315" y="2738438"/>
                  <a:ext cx="1460635" cy="770072"/>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70" name="직선 화살표 연결선 69">
                  <a:extLst>
                    <a:ext uri="{FF2B5EF4-FFF2-40B4-BE49-F238E27FC236}">
                      <a16:creationId xmlns:a16="http://schemas.microsoft.com/office/drawing/2014/main" id="{1D557BDD-32A2-479A-BE1F-79E278B95BC2}"/>
                    </a:ext>
                  </a:extLst>
                </p:cNvPr>
                <p:cNvCxnSpPr>
                  <a:cxnSpLocks/>
                  <a:stCxn id="65" idx="5"/>
                  <a:endCxn id="67" idx="2"/>
                </p:cNvCxnSpPr>
                <p:nvPr/>
              </p:nvCxnSpPr>
              <p:spPr>
                <a:xfrm>
                  <a:off x="2330315" y="3892415"/>
                  <a:ext cx="1460635" cy="714989"/>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71" name="직선 화살표 연결선 70">
                  <a:extLst>
                    <a:ext uri="{FF2B5EF4-FFF2-40B4-BE49-F238E27FC236}">
                      <a16:creationId xmlns:a16="http://schemas.microsoft.com/office/drawing/2014/main" id="{1FEB6245-DA99-464A-A6B6-FF6F312E762B}"/>
                    </a:ext>
                  </a:extLst>
                </p:cNvPr>
                <p:cNvCxnSpPr>
                  <a:cxnSpLocks/>
                  <a:stCxn id="66" idx="6"/>
                  <a:endCxn id="68" idx="1"/>
                </p:cNvCxnSpPr>
                <p:nvPr/>
              </p:nvCxnSpPr>
              <p:spPr>
                <a:xfrm>
                  <a:off x="4333875" y="2738438"/>
                  <a:ext cx="1570172" cy="770071"/>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72" name="직선 화살표 연결선 71">
                  <a:extLst>
                    <a:ext uri="{FF2B5EF4-FFF2-40B4-BE49-F238E27FC236}">
                      <a16:creationId xmlns:a16="http://schemas.microsoft.com/office/drawing/2014/main" id="{C218D788-C273-4DD8-990A-F54F0CB732B0}"/>
                    </a:ext>
                  </a:extLst>
                </p:cNvPr>
                <p:cNvCxnSpPr>
                  <a:cxnSpLocks/>
                  <a:stCxn id="67" idx="6"/>
                  <a:endCxn id="68" idx="3"/>
                </p:cNvCxnSpPr>
                <p:nvPr/>
              </p:nvCxnSpPr>
              <p:spPr>
                <a:xfrm flipV="1">
                  <a:off x="4333875" y="3892414"/>
                  <a:ext cx="1570172" cy="714990"/>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73" name="직선 화살표 연결선 72">
                  <a:extLst>
                    <a:ext uri="{FF2B5EF4-FFF2-40B4-BE49-F238E27FC236}">
                      <a16:creationId xmlns:a16="http://schemas.microsoft.com/office/drawing/2014/main" id="{A5B78CDF-E325-4C3D-BD44-29EA8A387E2F}"/>
                    </a:ext>
                  </a:extLst>
                </p:cNvPr>
                <p:cNvCxnSpPr>
                  <a:cxnSpLocks/>
                  <a:stCxn id="66" idx="4"/>
                  <a:endCxn id="67" idx="0"/>
                </p:cNvCxnSpPr>
                <p:nvPr/>
              </p:nvCxnSpPr>
              <p:spPr>
                <a:xfrm>
                  <a:off x="4062413" y="3009900"/>
                  <a:ext cx="0" cy="1326041"/>
                </a:xfrm>
                <a:prstGeom prst="straightConnector1">
                  <a:avLst/>
                </a:prstGeom>
                <a:ln w="28575">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grpSp>
          <p:grpSp>
            <p:nvGrpSpPr>
              <p:cNvPr id="55" name="그룹 54">
                <a:extLst>
                  <a:ext uri="{FF2B5EF4-FFF2-40B4-BE49-F238E27FC236}">
                    <a16:creationId xmlns:a16="http://schemas.microsoft.com/office/drawing/2014/main" id="{3274B488-A206-4928-AE32-2F16C5B0D0DC}"/>
                  </a:ext>
                </a:extLst>
              </p:cNvPr>
              <p:cNvGrpSpPr/>
              <p:nvPr/>
            </p:nvGrpSpPr>
            <p:grpSpPr>
              <a:xfrm>
                <a:off x="8278248" y="2892393"/>
                <a:ext cx="1973399" cy="674871"/>
                <a:chOff x="8278248" y="2740544"/>
                <a:chExt cx="1973399" cy="674871"/>
              </a:xfrm>
            </p:grpSpPr>
            <p:cxnSp>
              <p:nvCxnSpPr>
                <p:cNvPr id="61" name="직선 화살표 연결선 60">
                  <a:extLst>
                    <a:ext uri="{FF2B5EF4-FFF2-40B4-BE49-F238E27FC236}">
                      <a16:creationId xmlns:a16="http://schemas.microsoft.com/office/drawing/2014/main" id="{9F2C78AB-40DA-4412-AC94-29B5F9AAC26E}"/>
                    </a:ext>
                  </a:extLst>
                </p:cNvPr>
                <p:cNvCxnSpPr/>
                <p:nvPr/>
              </p:nvCxnSpPr>
              <p:spPr>
                <a:xfrm>
                  <a:off x="9128359" y="2981325"/>
                  <a:ext cx="1116149" cy="43409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직선 화살표 연결선 61">
                  <a:extLst>
                    <a:ext uri="{FF2B5EF4-FFF2-40B4-BE49-F238E27FC236}">
                      <a16:creationId xmlns:a16="http://schemas.microsoft.com/office/drawing/2014/main" id="{0AA2F9C7-BE9A-4E19-86D0-5686AA60378A}"/>
                    </a:ext>
                  </a:extLst>
                </p:cNvPr>
                <p:cNvCxnSpPr/>
                <p:nvPr/>
              </p:nvCxnSpPr>
              <p:spPr>
                <a:xfrm>
                  <a:off x="9135498" y="2856800"/>
                  <a:ext cx="1116149" cy="43409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813FFB2A-B943-4FDC-B051-36621E365BC8}"/>
                    </a:ext>
                  </a:extLst>
                </p:cNvPr>
                <p:cNvCxnSpPr/>
                <p:nvPr/>
              </p:nvCxnSpPr>
              <p:spPr>
                <a:xfrm flipH="1">
                  <a:off x="8278248" y="2982036"/>
                  <a:ext cx="857250" cy="419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F9D94D2F-847D-4E66-AB1B-DC32E5082A48}"/>
                    </a:ext>
                  </a:extLst>
                </p:cNvPr>
                <p:cNvCxnSpPr/>
                <p:nvPr/>
              </p:nvCxnSpPr>
              <p:spPr>
                <a:xfrm flipH="1">
                  <a:off x="8287773" y="2852354"/>
                  <a:ext cx="857250" cy="419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직선 화살표 연결선 73">
                  <a:extLst>
                    <a:ext uri="{FF2B5EF4-FFF2-40B4-BE49-F238E27FC236}">
                      <a16:creationId xmlns:a16="http://schemas.microsoft.com/office/drawing/2014/main" id="{03704052-69F6-4313-B0C2-895B031FAC0D}"/>
                    </a:ext>
                  </a:extLst>
                </p:cNvPr>
                <p:cNvCxnSpPr/>
                <p:nvPr/>
              </p:nvCxnSpPr>
              <p:spPr>
                <a:xfrm>
                  <a:off x="9135498" y="2744990"/>
                  <a:ext cx="1116149" cy="43409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직선 연결선 77">
                  <a:extLst>
                    <a:ext uri="{FF2B5EF4-FFF2-40B4-BE49-F238E27FC236}">
                      <a16:creationId xmlns:a16="http://schemas.microsoft.com/office/drawing/2014/main" id="{875F44F3-FAF4-489C-8F75-FCD252AE2B07}"/>
                    </a:ext>
                  </a:extLst>
                </p:cNvPr>
                <p:cNvCxnSpPr/>
                <p:nvPr/>
              </p:nvCxnSpPr>
              <p:spPr>
                <a:xfrm flipH="1">
                  <a:off x="8287773" y="2740544"/>
                  <a:ext cx="857250" cy="419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6" name="그룹 55">
                <a:extLst>
                  <a:ext uri="{FF2B5EF4-FFF2-40B4-BE49-F238E27FC236}">
                    <a16:creationId xmlns:a16="http://schemas.microsoft.com/office/drawing/2014/main" id="{1477B5A1-FC66-4F6C-8782-04EDBF347826}"/>
                  </a:ext>
                </a:extLst>
              </p:cNvPr>
              <p:cNvGrpSpPr/>
              <p:nvPr/>
            </p:nvGrpSpPr>
            <p:grpSpPr>
              <a:xfrm flipV="1">
                <a:off x="8278248" y="4439290"/>
                <a:ext cx="1973399" cy="657528"/>
                <a:chOff x="8278248" y="2757887"/>
                <a:chExt cx="1973399" cy="657528"/>
              </a:xfrm>
            </p:grpSpPr>
            <p:cxnSp>
              <p:nvCxnSpPr>
                <p:cNvPr id="57" name="직선 화살표 연결선 56">
                  <a:extLst>
                    <a:ext uri="{FF2B5EF4-FFF2-40B4-BE49-F238E27FC236}">
                      <a16:creationId xmlns:a16="http://schemas.microsoft.com/office/drawing/2014/main" id="{EA97898C-78CA-4F96-8AE2-984558B953EC}"/>
                    </a:ext>
                  </a:extLst>
                </p:cNvPr>
                <p:cNvCxnSpPr/>
                <p:nvPr/>
              </p:nvCxnSpPr>
              <p:spPr>
                <a:xfrm>
                  <a:off x="9128359" y="2981325"/>
                  <a:ext cx="1116149" cy="43409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직선 화살표 연결선 57">
                  <a:extLst>
                    <a:ext uri="{FF2B5EF4-FFF2-40B4-BE49-F238E27FC236}">
                      <a16:creationId xmlns:a16="http://schemas.microsoft.com/office/drawing/2014/main" id="{0EB52C45-634C-4964-A1FF-221BE8F7AC64}"/>
                    </a:ext>
                  </a:extLst>
                </p:cNvPr>
                <p:cNvCxnSpPr/>
                <p:nvPr/>
              </p:nvCxnSpPr>
              <p:spPr>
                <a:xfrm>
                  <a:off x="9135498" y="2856800"/>
                  <a:ext cx="1116149" cy="43409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CAC292F1-C8D9-4D8C-9FE6-28A284BD263E}"/>
                    </a:ext>
                  </a:extLst>
                </p:cNvPr>
                <p:cNvCxnSpPr/>
                <p:nvPr/>
              </p:nvCxnSpPr>
              <p:spPr>
                <a:xfrm flipH="1">
                  <a:off x="8278248" y="2982036"/>
                  <a:ext cx="857250" cy="419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D3AAC8-DBE5-45F5-97A3-9676A7C36751}"/>
                    </a:ext>
                  </a:extLst>
                </p:cNvPr>
                <p:cNvCxnSpPr/>
                <p:nvPr/>
              </p:nvCxnSpPr>
              <p:spPr>
                <a:xfrm flipH="1">
                  <a:off x="8287773" y="2852354"/>
                  <a:ext cx="857250" cy="419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9" name="직선 화살표 연결선 78">
                  <a:extLst>
                    <a:ext uri="{FF2B5EF4-FFF2-40B4-BE49-F238E27FC236}">
                      <a16:creationId xmlns:a16="http://schemas.microsoft.com/office/drawing/2014/main" id="{3CAB1BA1-F7C7-46D8-9222-71FCE978FAA0}"/>
                    </a:ext>
                  </a:extLst>
                </p:cNvPr>
                <p:cNvCxnSpPr/>
                <p:nvPr/>
              </p:nvCxnSpPr>
              <p:spPr>
                <a:xfrm>
                  <a:off x="9128359" y="2757887"/>
                  <a:ext cx="1116149" cy="43409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79CC9730-46A1-485C-906F-7DCB9396D26F}"/>
                    </a:ext>
                  </a:extLst>
                </p:cNvPr>
                <p:cNvCxnSpPr/>
                <p:nvPr/>
              </p:nvCxnSpPr>
              <p:spPr>
                <a:xfrm flipH="1">
                  <a:off x="8278248" y="2758598"/>
                  <a:ext cx="857250" cy="419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50" name="TextBox 49">
              <a:extLst>
                <a:ext uri="{FF2B5EF4-FFF2-40B4-BE49-F238E27FC236}">
                  <a16:creationId xmlns:a16="http://schemas.microsoft.com/office/drawing/2014/main" id="{19D7B66B-2EE0-4EFB-BE70-DD7088BE6C35}"/>
                </a:ext>
              </a:extLst>
            </p:cNvPr>
            <p:cNvSpPr txBox="1"/>
            <p:nvPr/>
          </p:nvSpPr>
          <p:spPr>
            <a:xfrm>
              <a:off x="7747645" y="3371128"/>
              <a:ext cx="1095114" cy="430682"/>
            </a:xfrm>
            <a:prstGeom prst="rect">
              <a:avLst/>
            </a:prstGeom>
            <a:noFill/>
          </p:spPr>
          <p:txBody>
            <a:bodyPr wrap="square" rtlCol="0">
              <a:spAutoFit/>
            </a:bodyPr>
            <a:lstStyle/>
            <a:p>
              <a:r>
                <a:rPr lang="en-US" sz="1400" dirty="0"/>
                <a:t>1+2+3</a:t>
              </a:r>
            </a:p>
          </p:txBody>
        </p:sp>
        <p:sp>
          <p:nvSpPr>
            <p:cNvPr id="51" name="TextBox 50">
              <a:extLst>
                <a:ext uri="{FF2B5EF4-FFF2-40B4-BE49-F238E27FC236}">
                  <a16:creationId xmlns:a16="http://schemas.microsoft.com/office/drawing/2014/main" id="{F3F6ED30-2109-44E4-89B8-B4D5299C74BE}"/>
                </a:ext>
              </a:extLst>
            </p:cNvPr>
            <p:cNvSpPr txBox="1"/>
            <p:nvPr/>
          </p:nvSpPr>
          <p:spPr>
            <a:xfrm>
              <a:off x="7800884" y="4179620"/>
              <a:ext cx="1135875" cy="430682"/>
            </a:xfrm>
            <a:prstGeom prst="rect">
              <a:avLst/>
            </a:prstGeom>
            <a:noFill/>
          </p:spPr>
          <p:txBody>
            <a:bodyPr wrap="square" rtlCol="0">
              <a:spAutoFit/>
            </a:bodyPr>
            <a:lstStyle/>
            <a:p>
              <a:r>
                <a:rPr lang="en-US" sz="1400" dirty="0"/>
                <a:t>5+5+5</a:t>
              </a:r>
            </a:p>
          </p:txBody>
        </p:sp>
        <p:sp>
          <p:nvSpPr>
            <p:cNvPr id="52" name="TextBox 51">
              <a:extLst>
                <a:ext uri="{FF2B5EF4-FFF2-40B4-BE49-F238E27FC236}">
                  <a16:creationId xmlns:a16="http://schemas.microsoft.com/office/drawing/2014/main" id="{3293C78D-C64D-43E5-9E80-DE1CBD57833E}"/>
                </a:ext>
              </a:extLst>
            </p:cNvPr>
            <p:cNvSpPr txBox="1"/>
            <p:nvPr/>
          </p:nvSpPr>
          <p:spPr>
            <a:xfrm>
              <a:off x="9258760" y="3361793"/>
              <a:ext cx="1133735" cy="430682"/>
            </a:xfrm>
            <a:prstGeom prst="rect">
              <a:avLst/>
            </a:prstGeom>
            <a:noFill/>
          </p:spPr>
          <p:txBody>
            <a:bodyPr wrap="square" rtlCol="0">
              <a:spAutoFit/>
            </a:bodyPr>
            <a:lstStyle/>
            <a:p>
              <a:r>
                <a:rPr lang="en-US" sz="1400" dirty="0"/>
                <a:t>5+5+5</a:t>
              </a:r>
            </a:p>
          </p:txBody>
        </p:sp>
        <p:sp>
          <p:nvSpPr>
            <p:cNvPr id="53" name="TextBox 52">
              <a:extLst>
                <a:ext uri="{FF2B5EF4-FFF2-40B4-BE49-F238E27FC236}">
                  <a16:creationId xmlns:a16="http://schemas.microsoft.com/office/drawing/2014/main" id="{E3E2BB0B-1F2F-4489-9F8C-CE278AE4E3FA}"/>
                </a:ext>
              </a:extLst>
            </p:cNvPr>
            <p:cNvSpPr txBox="1"/>
            <p:nvPr/>
          </p:nvSpPr>
          <p:spPr>
            <a:xfrm>
              <a:off x="9164035" y="4167807"/>
              <a:ext cx="1028684" cy="430682"/>
            </a:xfrm>
            <a:prstGeom prst="rect">
              <a:avLst/>
            </a:prstGeom>
            <a:noFill/>
          </p:spPr>
          <p:txBody>
            <a:bodyPr wrap="square" rtlCol="0">
              <a:spAutoFit/>
            </a:bodyPr>
            <a:lstStyle/>
            <a:p>
              <a:r>
                <a:rPr lang="en-US" sz="1400" dirty="0"/>
                <a:t>1+2+3</a:t>
              </a:r>
            </a:p>
          </p:txBody>
        </p:sp>
      </p:grpSp>
      <p:grpSp>
        <p:nvGrpSpPr>
          <p:cNvPr id="7" name="그룹 6">
            <a:extLst>
              <a:ext uri="{FF2B5EF4-FFF2-40B4-BE49-F238E27FC236}">
                <a16:creationId xmlns:a16="http://schemas.microsoft.com/office/drawing/2014/main" id="{A6C6D30D-848E-4241-81CC-A34116F84D07}"/>
              </a:ext>
            </a:extLst>
          </p:cNvPr>
          <p:cNvGrpSpPr/>
          <p:nvPr/>
        </p:nvGrpSpPr>
        <p:grpSpPr>
          <a:xfrm>
            <a:off x="5610687" y="3338624"/>
            <a:ext cx="1979721" cy="604392"/>
            <a:chOff x="5610687" y="3338624"/>
            <a:chExt cx="1979721" cy="604392"/>
          </a:xfrm>
        </p:grpSpPr>
        <p:sp>
          <p:nvSpPr>
            <p:cNvPr id="6" name="화살표: 줄무늬가 있는 오른쪽 5">
              <a:extLst>
                <a:ext uri="{FF2B5EF4-FFF2-40B4-BE49-F238E27FC236}">
                  <a16:creationId xmlns:a16="http://schemas.microsoft.com/office/drawing/2014/main" id="{DF8EE6F5-ABFF-4C97-AE08-2F21633A9B46}"/>
                </a:ext>
              </a:extLst>
            </p:cNvPr>
            <p:cNvSpPr/>
            <p:nvPr/>
          </p:nvSpPr>
          <p:spPr>
            <a:xfrm>
              <a:off x="5610687" y="3338624"/>
              <a:ext cx="1979721" cy="604392"/>
            </a:xfrm>
            <a:prstGeom prst="striped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p:txBody>
        </p:sp>
        <p:sp>
          <p:nvSpPr>
            <p:cNvPr id="5" name="직사각형 4">
              <a:extLst>
                <a:ext uri="{FF2B5EF4-FFF2-40B4-BE49-F238E27FC236}">
                  <a16:creationId xmlns:a16="http://schemas.microsoft.com/office/drawing/2014/main" id="{2FE9F4D6-A005-4BCA-9273-2478293856CC}"/>
                </a:ext>
              </a:extLst>
            </p:cNvPr>
            <p:cNvSpPr/>
            <p:nvPr/>
          </p:nvSpPr>
          <p:spPr>
            <a:xfrm>
              <a:off x="5737073" y="3449179"/>
              <a:ext cx="1749069" cy="369332"/>
            </a:xfrm>
            <a:prstGeom prst="rect">
              <a:avLst/>
            </a:prstGeom>
          </p:spPr>
          <p:txBody>
            <a:bodyPr wrap="none">
              <a:spAutoFit/>
            </a:bodyPr>
            <a:lstStyle/>
            <a:p>
              <a:r>
                <a:rPr lang="en-US" b="1" dirty="0"/>
                <a:t>Potential Energy</a:t>
              </a:r>
              <a:endParaRPr lang="en-US" dirty="0"/>
            </a:p>
          </p:txBody>
        </p:sp>
      </p:grpSp>
    </p:spTree>
    <p:extLst>
      <p:ext uri="{BB962C8B-B14F-4D97-AF65-F5344CB8AC3E}">
        <p14:creationId xmlns:p14="http://schemas.microsoft.com/office/powerpoint/2010/main" val="738338117"/>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TM02892315[[fn=줄기]]</Template>
  <TotalTime>6132</TotalTime>
  <Words>1381</Words>
  <Application>Microsoft Office PowerPoint</Application>
  <PresentationFormat>와이드스크린</PresentationFormat>
  <Paragraphs>228</Paragraphs>
  <Slides>21</Slides>
  <Notes>0</Notes>
  <HiddenSlides>0</HiddenSlides>
  <MMClips>0</MMClips>
  <ScaleCrop>false</ScaleCrop>
  <HeadingPairs>
    <vt:vector size="6" baseType="variant">
      <vt:variant>
        <vt:lpstr>사용한 글꼴</vt:lpstr>
      </vt:variant>
      <vt:variant>
        <vt:i4>7</vt:i4>
      </vt:variant>
      <vt:variant>
        <vt:lpstr>테마</vt:lpstr>
      </vt:variant>
      <vt:variant>
        <vt:i4>2</vt:i4>
      </vt:variant>
      <vt:variant>
        <vt:lpstr>슬라이드 제목</vt:lpstr>
      </vt:variant>
      <vt:variant>
        <vt:i4>21</vt:i4>
      </vt:variant>
    </vt:vector>
  </HeadingPairs>
  <TitlesOfParts>
    <vt:vector size="30" baseType="lpstr">
      <vt:lpstr>맑은 고딕</vt:lpstr>
      <vt:lpstr>Arial</vt:lpstr>
      <vt:lpstr>Calibri</vt:lpstr>
      <vt:lpstr>Calibri Light</vt:lpstr>
      <vt:lpstr>Cambria Math</vt:lpstr>
      <vt:lpstr>Wingdings</vt:lpstr>
      <vt:lpstr>Wingdings 2</vt:lpstr>
      <vt:lpstr>HDOfficeLightV0</vt:lpstr>
      <vt:lpstr>Office 테마</vt:lpstr>
      <vt:lpstr>Social Network Analysis</vt:lpstr>
      <vt:lpstr>Table of Contents  - Games - Evolutionary Game Theory - Modeling Netowkr Traffic Using Game Theory  </vt:lpstr>
      <vt:lpstr>Games</vt:lpstr>
      <vt:lpstr>Definition of Game</vt:lpstr>
      <vt:lpstr>Reasoning about Behavior in a Game</vt:lpstr>
      <vt:lpstr>Best Responses and Dominant Strategies</vt:lpstr>
      <vt:lpstr>Nash Equilibrium</vt:lpstr>
      <vt:lpstr>Multiple Equilibria: Coordination Games</vt:lpstr>
      <vt:lpstr>Matching Pennies – zero sum game</vt:lpstr>
      <vt:lpstr>Pure Strategy vs Mixed Strategy</vt:lpstr>
      <vt:lpstr>Finding all Nash Equilibria</vt:lpstr>
      <vt:lpstr>Pareto Optimality and Social Optimality</vt:lpstr>
      <vt:lpstr>Evolutionary Game Theory</vt:lpstr>
      <vt:lpstr>Evolutionary biology &amp; Game Theory</vt:lpstr>
      <vt:lpstr>Evolutionarily Stable Strategies</vt:lpstr>
      <vt:lpstr>Modeling Network Traffic Using Game Theory</vt:lpstr>
      <vt:lpstr>Traffic at Equilibrium</vt:lpstr>
      <vt:lpstr>Braess’s Paradox</vt:lpstr>
      <vt:lpstr>Social Cost of Traffic at Equilibrium</vt:lpstr>
      <vt:lpstr>Finding a traffic pattern at Equilibrium</vt:lpstr>
      <vt:lpstr>Finding a traffic pattern at Equilibrium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agdal1125@gmail.com</dc:creator>
  <cp:lastModifiedBy>agdal1125@gmail.com</cp:lastModifiedBy>
  <cp:revision>163</cp:revision>
  <dcterms:created xsi:type="dcterms:W3CDTF">2018-01-23T16:32:33Z</dcterms:created>
  <dcterms:modified xsi:type="dcterms:W3CDTF">2018-04-11T05:51:14Z</dcterms:modified>
</cp:coreProperties>
</file>