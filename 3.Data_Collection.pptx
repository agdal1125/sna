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 id="2147483828" r:id="rId2"/>
  </p:sldMasterIdLst>
  <p:sldIdLst>
    <p:sldId id="256" r:id="rId3"/>
    <p:sldId id="269" r:id="rId4"/>
    <p:sldId id="281" r:id="rId5"/>
    <p:sldId id="283" r:id="rId6"/>
    <p:sldId id="288" r:id="rId7"/>
    <p:sldId id="289" r:id="rId8"/>
    <p:sldId id="290" r:id="rId9"/>
    <p:sldId id="284" r:id="rId10"/>
    <p:sldId id="285" r:id="rId11"/>
    <p:sldId id="291" r:id="rId12"/>
    <p:sldId id="286" r:id="rId13"/>
    <p:sldId id="292" r:id="rId14"/>
    <p:sldId id="293" r:id="rId15"/>
    <p:sldId id="297" r:id="rId16"/>
    <p:sldId id="298" r:id="rId17"/>
    <p:sldId id="295" r:id="rId18"/>
    <p:sldId id="299" r:id="rId19"/>
    <p:sldId id="300" r:id="rId20"/>
    <p:sldId id="301" r:id="rId21"/>
    <p:sldId id="296" r:id="rId22"/>
    <p:sldId id="30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82310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9448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98489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6B51CB8E-6F81-4EA9-97B5-248BF9D22C8A}" type="datetimeFigureOut">
              <a:rPr lang="en-US" smtClean="0"/>
              <a:t>3/13/2018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9052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비교">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845127" y="2507550"/>
            <a:ext cx="5156200"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6172200" y="2507550"/>
            <a:ext cx="5181601"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Date Placeholder 6"/>
          <p:cNvSpPr>
            <a:spLocks noGrp="1"/>
          </p:cNvSpPr>
          <p:nvPr>
            <p:ph type="dt" sz="half" idx="10"/>
          </p:nvPr>
        </p:nvSpPr>
        <p:spPr/>
        <p:txBody>
          <a:bodyPr/>
          <a:lstStyle/>
          <a:p>
            <a:fld id="{6B51CB8E-6F81-4EA9-97B5-248BF9D22C8A}" type="datetimeFigureOut">
              <a:rPr lang="en-US" smtClean="0"/>
              <a:t>3/13/2018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DC7EB3-5AE8-4FED-A667-9442F52E7975}" type="slidenum">
              <a:rPr lang="en-US" smtClean="0"/>
              <a:t>‹#›</a:t>
            </a:fld>
            <a:endParaRPr lang="en-US"/>
          </a:p>
        </p:txBody>
      </p:sp>
      <p:sp>
        <p:nvSpPr>
          <p:cNvPr id="10" name="Title 9"/>
          <p:cNvSpPr>
            <a:spLocks noGrp="1"/>
          </p:cNvSpPr>
          <p:nvPr>
            <p:ph type="title"/>
          </p:nvPr>
        </p:nvSpPr>
        <p:spPr/>
        <p:txBody>
          <a:bodyPr/>
          <a:lstStyle/>
          <a:p>
            <a:r>
              <a:rPr lang="ko-KR" altLang="en-US"/>
              <a:t>마스터 제목 스타일 편집</a:t>
            </a:r>
            <a:endParaRPr lang="en-US" dirty="0"/>
          </a:p>
        </p:txBody>
      </p:sp>
    </p:spTree>
    <p:extLst>
      <p:ext uri="{BB962C8B-B14F-4D97-AF65-F5344CB8AC3E}">
        <p14:creationId xmlns:p14="http://schemas.microsoft.com/office/powerpoint/2010/main" val="418815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B51CB8E-6F81-4EA9-97B5-248BF9D22C8A}" type="datetimeFigureOut">
              <a:rPr lang="en-US" smtClean="0"/>
              <a:t>3/13/2018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DC7EB3-5AE8-4FED-A667-9442F52E7975}" type="slidenum">
              <a:rPr lang="en-US" smtClean="0"/>
              <a:t>‹#›</a:t>
            </a:fld>
            <a:endParaRPr lang="en-US"/>
          </a:p>
        </p:txBody>
      </p:sp>
      <p:sp>
        <p:nvSpPr>
          <p:cNvPr id="6" name="Title 5"/>
          <p:cNvSpPr>
            <a:spLocks noGrp="1"/>
          </p:cNvSpPr>
          <p:nvPr>
            <p:ph type="title"/>
          </p:nvPr>
        </p:nvSpPr>
        <p:spPr/>
        <p:txBody>
          <a:bodyPr/>
          <a:lstStyle/>
          <a:p>
            <a:r>
              <a:rPr lang="ko-KR" altLang="en-US"/>
              <a:t>마스터 제목 스타일 편집</a:t>
            </a:r>
            <a:endParaRPr lang="en-US"/>
          </a:p>
        </p:txBody>
      </p:sp>
    </p:spTree>
    <p:extLst>
      <p:ext uri="{BB962C8B-B14F-4D97-AF65-F5344CB8AC3E}">
        <p14:creationId xmlns:p14="http://schemas.microsoft.com/office/powerpoint/2010/main" val="277249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51CB8E-6F81-4EA9-97B5-248BF9D22C8A}" type="datetimeFigureOut">
              <a:rPr lang="en-US" smtClean="0"/>
              <a:t>3/13/2018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20478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ko-KR" altLang="en-US"/>
              <a:t>마스터 제목 스타일 편집</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3/13/2018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948338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ko-KR" altLang="en-US"/>
              <a:t>마스터 제목 스타일 편집</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3/13/2018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23229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929989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11158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E778D0-FFC8-41A2-B947-98DA5567D18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13FE50C6-4AE6-4854-9690-468A21E43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85CC4856-83A7-4A2E-94B0-9B59BEA46A6D}"/>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바닥글 개체 틀 4">
            <a:extLst>
              <a:ext uri="{FF2B5EF4-FFF2-40B4-BE49-F238E27FC236}">
                <a16:creationId xmlns:a16="http://schemas.microsoft.com/office/drawing/2014/main" id="{81ADA6B5-36DA-4622-977E-C5EE2D797A0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0D64629E-5C28-40C0-BE9C-C384FD89C126}"/>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283425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5390A2-6434-466B-B133-59B47A53BDF5}"/>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4BB85408-5405-43F3-A997-A5686CB94D15}"/>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AF144089-4D32-4F98-A7FB-1C2A8F3484AF}"/>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바닥글 개체 틀 4">
            <a:extLst>
              <a:ext uri="{FF2B5EF4-FFF2-40B4-BE49-F238E27FC236}">
                <a16:creationId xmlns:a16="http://schemas.microsoft.com/office/drawing/2014/main" id="{D7CE616D-41EF-418F-A2DB-F20A6BC0FC77}"/>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C9010034-811C-4DD9-A1C6-D621CFFF5C7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483869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68C6EF-60E1-435A-9C44-04A6091F806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AFD2ED5B-91D1-4F8A-8EF6-4279E4857B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78E68F84-151A-4C60-A3B2-A14C668FA552}"/>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바닥글 개체 틀 4">
            <a:extLst>
              <a:ext uri="{FF2B5EF4-FFF2-40B4-BE49-F238E27FC236}">
                <a16:creationId xmlns:a16="http://schemas.microsoft.com/office/drawing/2014/main" id="{A292B3AA-C5D3-4832-8649-68BDB7487DFE}"/>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386E432-659F-44D8-8A12-8103CF70B771}"/>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847945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32EB8B-677E-4694-A127-91719DD3DC5A}"/>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1ECDC3F7-1B55-4876-BD32-3ED444C9060F}"/>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a:extLst>
              <a:ext uri="{FF2B5EF4-FFF2-40B4-BE49-F238E27FC236}">
                <a16:creationId xmlns:a16="http://schemas.microsoft.com/office/drawing/2014/main" id="{92E494C3-D018-424F-9050-572713E91683}"/>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a:extLst>
              <a:ext uri="{FF2B5EF4-FFF2-40B4-BE49-F238E27FC236}">
                <a16:creationId xmlns:a16="http://schemas.microsoft.com/office/drawing/2014/main" id="{06A2F95C-92E5-4C9D-AC9B-2966B84EB5CE}"/>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6" name="바닥글 개체 틀 5">
            <a:extLst>
              <a:ext uri="{FF2B5EF4-FFF2-40B4-BE49-F238E27FC236}">
                <a16:creationId xmlns:a16="http://schemas.microsoft.com/office/drawing/2014/main" id="{584F9551-3C93-4A80-BDDC-AA1533934547}"/>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46AE71EF-8BA6-43D5-810C-030E0FD55C5B}"/>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34510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1A59D0-50BB-4170-BE00-42EF8EECFC9C}"/>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D9ED1FFE-B351-410A-9A93-BE911A56C5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837D3C85-3EEF-4978-B964-F1D03497B7C3}"/>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a:extLst>
              <a:ext uri="{FF2B5EF4-FFF2-40B4-BE49-F238E27FC236}">
                <a16:creationId xmlns:a16="http://schemas.microsoft.com/office/drawing/2014/main" id="{D5E88F12-E7A7-437A-AA0B-C98CD8E0E6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17898A3E-6654-40A8-A650-6E10B53188E7}"/>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a:extLst>
              <a:ext uri="{FF2B5EF4-FFF2-40B4-BE49-F238E27FC236}">
                <a16:creationId xmlns:a16="http://schemas.microsoft.com/office/drawing/2014/main" id="{78793AD4-71BB-44BC-A819-00BBEEC948B3}"/>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8" name="바닥글 개체 틀 7">
            <a:extLst>
              <a:ext uri="{FF2B5EF4-FFF2-40B4-BE49-F238E27FC236}">
                <a16:creationId xmlns:a16="http://schemas.microsoft.com/office/drawing/2014/main" id="{CC0C474A-9D29-4AC6-8099-6936A0E575AB}"/>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AC22D096-7FC8-4B85-8DD2-B78BD83B609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445372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9AB49E-DD91-4743-92FB-333855004BE6}"/>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7AE0E5B3-D27E-4B0B-A82F-85B74A4375AF}"/>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4" name="바닥글 개체 틀 3">
            <a:extLst>
              <a:ext uri="{FF2B5EF4-FFF2-40B4-BE49-F238E27FC236}">
                <a16:creationId xmlns:a16="http://schemas.microsoft.com/office/drawing/2014/main" id="{55F03F2D-2E51-47B2-9792-4A28229B2DA9}"/>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940E86D9-06A5-423D-9C31-F9F01177E1DF}"/>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164234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000617D2-FE63-4DB6-BD5C-11EE21791A69}"/>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3" name="바닥글 개체 틀 2">
            <a:extLst>
              <a:ext uri="{FF2B5EF4-FFF2-40B4-BE49-F238E27FC236}">
                <a16:creationId xmlns:a16="http://schemas.microsoft.com/office/drawing/2014/main" id="{1711279F-9A6E-47B3-9E75-B09142F8F915}"/>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FCC0ED18-147D-426B-9BDD-47F0CE69CC3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177732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74A789-8FA9-42C2-BEFB-69AD8A34321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BCE60AB4-FE26-42E4-A180-FA71B0343B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a:extLst>
              <a:ext uri="{FF2B5EF4-FFF2-40B4-BE49-F238E27FC236}">
                <a16:creationId xmlns:a16="http://schemas.microsoft.com/office/drawing/2014/main" id="{2B10925E-B44B-4012-8EC7-A74A62A74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05E7592C-F6DE-4074-8536-7C84DF98C4F4}"/>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6" name="바닥글 개체 틀 5">
            <a:extLst>
              <a:ext uri="{FF2B5EF4-FFF2-40B4-BE49-F238E27FC236}">
                <a16:creationId xmlns:a16="http://schemas.microsoft.com/office/drawing/2014/main" id="{8BFFF679-1D3C-43D1-879D-9C72BEF3F3F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80A742E1-198A-4145-A47C-D4260E3C8138}"/>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4002161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69BCFA-8E3D-45E0-A5E3-B6C5C7EAF26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A4E60FB5-BCE8-4367-A632-8ACED77684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AE884AB8-4C1E-4530-9662-D640EA6E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142870E-9785-42DB-AFAE-67F54B4C5585}"/>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6" name="바닥글 개체 틀 5">
            <a:extLst>
              <a:ext uri="{FF2B5EF4-FFF2-40B4-BE49-F238E27FC236}">
                <a16:creationId xmlns:a16="http://schemas.microsoft.com/office/drawing/2014/main" id="{894BBD24-2034-4783-814F-E89080E8BF9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DE4CF8DE-F01A-4779-9306-48C82822047E}"/>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240449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B82F0D-D432-49E7-9257-67F148EFBE20}"/>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50BB3D6E-B8FE-40AC-9CE1-EE9EAC32405E}"/>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C986245-99D4-4649-AC16-BA8FCD2187BF}"/>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바닥글 개체 틀 4">
            <a:extLst>
              <a:ext uri="{FF2B5EF4-FFF2-40B4-BE49-F238E27FC236}">
                <a16:creationId xmlns:a16="http://schemas.microsoft.com/office/drawing/2014/main" id="{05575F22-0CA1-46F3-8E0C-39BE6690750D}"/>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40E33A0-8EEF-46E0-BCCB-52BD11470EF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51314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13BE6CC-C1FF-4C17-B34B-0A76B083633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A4585AA7-3746-4B4D-AF4D-FCC51BCC64B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E4FA8AE-CD0B-461D-82D3-C07B14B5B226}"/>
              </a:ext>
            </a:extLst>
          </p:cNvPr>
          <p:cNvSpPr>
            <a:spLocks noGrp="1"/>
          </p:cNvSpPr>
          <p:nvPr>
            <p:ph type="dt" sz="half" idx="10"/>
          </p:nvPr>
        </p:nvSpPr>
        <p:spPr/>
        <p:txBody>
          <a:bodyPr/>
          <a:lstStyle/>
          <a:p>
            <a:fld id="{6B51CB8E-6F81-4EA9-97B5-248BF9D22C8A}" type="datetimeFigureOut">
              <a:rPr lang="en-US" smtClean="0"/>
              <a:t>3/13/2018</a:t>
            </a:fld>
            <a:endParaRPr lang="en-US"/>
          </a:p>
        </p:txBody>
      </p:sp>
      <p:sp>
        <p:nvSpPr>
          <p:cNvPr id="5" name="바닥글 개체 틀 4">
            <a:extLst>
              <a:ext uri="{FF2B5EF4-FFF2-40B4-BE49-F238E27FC236}">
                <a16:creationId xmlns:a16="http://schemas.microsoft.com/office/drawing/2014/main" id="{E224693C-45D0-4197-81DE-EFF297EB153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52520C0C-F115-4D8E-9B96-6D53880C9C33}"/>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797209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B51CB8E-6F81-4EA9-97B5-248BF9D22C8A}" type="datetimeFigureOut">
              <a:rPr lang="en-US" smtClean="0"/>
              <a:t>3/13/2018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398897856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279CF3A-34F9-4D70-B5AF-11E9FE85AF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FEA94A1-E614-4C83-97E7-4191D8659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2B4E1FAA-6D6A-4AA7-9C6D-935F7F5DF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51CB8E-6F81-4EA9-97B5-248BF9D22C8A}" type="datetimeFigureOut">
              <a:rPr lang="en-US" smtClean="0"/>
              <a:t>3/13/2018</a:t>
            </a:fld>
            <a:endParaRPr lang="en-US"/>
          </a:p>
        </p:txBody>
      </p:sp>
      <p:sp>
        <p:nvSpPr>
          <p:cNvPr id="5" name="바닥글 개체 틀 4">
            <a:extLst>
              <a:ext uri="{FF2B5EF4-FFF2-40B4-BE49-F238E27FC236}">
                <a16:creationId xmlns:a16="http://schemas.microsoft.com/office/drawing/2014/main" id="{CF9DAEA3-9658-4897-9B7E-6310FDF24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슬라이드 번호 개체 틀 5">
            <a:extLst>
              <a:ext uri="{FF2B5EF4-FFF2-40B4-BE49-F238E27FC236}">
                <a16:creationId xmlns:a16="http://schemas.microsoft.com/office/drawing/2014/main" id="{8B099C83-9D8F-49C9-BAC8-4DA77C413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17656720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76D051-E4B5-482E-B56D-9743B8F63B61}"/>
              </a:ext>
            </a:extLst>
          </p:cNvPr>
          <p:cNvSpPr>
            <a:spLocks noGrp="1"/>
          </p:cNvSpPr>
          <p:nvPr>
            <p:ph type="ctrTitle"/>
          </p:nvPr>
        </p:nvSpPr>
        <p:spPr>
          <a:xfrm>
            <a:off x="1162975" y="1839318"/>
            <a:ext cx="9866050" cy="820029"/>
          </a:xfrm>
        </p:spPr>
        <p:txBody>
          <a:bodyPr>
            <a:noAutofit/>
          </a:bodyPr>
          <a:lstStyle/>
          <a:p>
            <a:r>
              <a:rPr lang="en-US" dirty="0">
                <a:latin typeface="Franklin Gothic Medium" panose="020B0603020102020204" pitchFamily="34" charset="0"/>
              </a:rPr>
              <a:t>Social Network Analysis</a:t>
            </a:r>
          </a:p>
        </p:txBody>
      </p:sp>
      <p:sp>
        <p:nvSpPr>
          <p:cNvPr id="3" name="부제목 2">
            <a:extLst>
              <a:ext uri="{FF2B5EF4-FFF2-40B4-BE49-F238E27FC236}">
                <a16:creationId xmlns:a16="http://schemas.microsoft.com/office/drawing/2014/main" id="{9C1003AF-8E5C-46DF-8B69-6FDCCB43535B}"/>
              </a:ext>
            </a:extLst>
          </p:cNvPr>
          <p:cNvSpPr>
            <a:spLocks noGrp="1"/>
          </p:cNvSpPr>
          <p:nvPr>
            <p:ph type="subTitle" idx="1"/>
          </p:nvPr>
        </p:nvSpPr>
        <p:spPr>
          <a:xfrm>
            <a:off x="3311370" y="5032044"/>
            <a:ext cx="8528482" cy="1655762"/>
          </a:xfrm>
        </p:spPr>
        <p:txBody>
          <a:bodyPr>
            <a:normAutofit fontScale="92500" lnSpcReduction="20000"/>
          </a:bodyPr>
          <a:lstStyle/>
          <a:p>
            <a:pPr algn="r"/>
            <a:r>
              <a:rPr lang="en-US" dirty="0">
                <a:latin typeface="Franklin Gothic Medium" panose="020B0603020102020204" pitchFamily="34" charset="0"/>
              </a:rPr>
              <a:t>Prof. </a:t>
            </a:r>
            <a:r>
              <a:rPr lang="en-US" dirty="0" err="1">
                <a:latin typeface="Franklin Gothic Medium" panose="020B0603020102020204" pitchFamily="34" charset="0"/>
              </a:rPr>
              <a:t>Keeheon</a:t>
            </a:r>
            <a:r>
              <a:rPr lang="en-US" dirty="0">
                <a:latin typeface="Franklin Gothic Medium" panose="020B0603020102020204" pitchFamily="34" charset="0"/>
              </a:rPr>
              <a:t> Lee</a:t>
            </a:r>
          </a:p>
          <a:p>
            <a:pPr algn="r"/>
            <a:endParaRPr lang="en-US" dirty="0">
              <a:latin typeface="Franklin Gothic Medium" panose="020B0603020102020204" pitchFamily="34" charset="0"/>
            </a:endParaRPr>
          </a:p>
          <a:p>
            <a:pPr algn="r"/>
            <a:r>
              <a:rPr lang="en-US" dirty="0">
                <a:latin typeface="Franklin Gothic Medium" panose="020B0603020102020204" pitchFamily="34" charset="0"/>
              </a:rPr>
              <a:t>TA. </a:t>
            </a:r>
            <a:r>
              <a:rPr lang="en-US" dirty="0" err="1">
                <a:latin typeface="Franklin Gothic Medium" panose="020B0603020102020204" pitchFamily="34" charset="0"/>
              </a:rPr>
              <a:t>Jaekeun</a:t>
            </a:r>
            <a:r>
              <a:rPr lang="en-US" dirty="0">
                <a:latin typeface="Franklin Gothic Medium" panose="020B0603020102020204" pitchFamily="34" charset="0"/>
              </a:rPr>
              <a:t> Lee</a:t>
            </a:r>
            <a:br>
              <a:rPr lang="en-US" dirty="0">
                <a:latin typeface="Franklin Gothic Medium" panose="020B0603020102020204" pitchFamily="34" charset="0"/>
              </a:rPr>
            </a:br>
            <a:r>
              <a:rPr lang="en-US" dirty="0">
                <a:latin typeface="Franklin Gothic Medium" panose="020B0603020102020204" pitchFamily="34" charset="0"/>
              </a:rPr>
              <a:t>010-5599-9411</a:t>
            </a:r>
            <a:br>
              <a:rPr lang="en-US" dirty="0">
                <a:latin typeface="Franklin Gothic Medium" panose="020B0603020102020204" pitchFamily="34" charset="0"/>
              </a:rPr>
            </a:br>
            <a:r>
              <a:rPr lang="en-US" dirty="0">
                <a:latin typeface="Franklin Gothic Medium" panose="020B0603020102020204" pitchFamily="34" charset="0"/>
              </a:rPr>
              <a:t>agdal1125@gmail.com</a:t>
            </a:r>
          </a:p>
        </p:txBody>
      </p:sp>
      <p:sp>
        <p:nvSpPr>
          <p:cNvPr id="4" name="제목 1">
            <a:extLst>
              <a:ext uri="{FF2B5EF4-FFF2-40B4-BE49-F238E27FC236}">
                <a16:creationId xmlns:a16="http://schemas.microsoft.com/office/drawing/2014/main" id="{2FBAF3C4-19D9-4DA7-8BC8-3BB32DC4E825}"/>
              </a:ext>
            </a:extLst>
          </p:cNvPr>
          <p:cNvSpPr txBox="1">
            <a:spLocks/>
          </p:cNvSpPr>
          <p:nvPr/>
        </p:nvSpPr>
        <p:spPr>
          <a:xfrm>
            <a:off x="838200" y="224933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latin typeface="Franklin Gothic Medium" panose="020B0603020102020204" pitchFamily="34" charset="0"/>
              </a:rPr>
              <a:t>Data Collection</a:t>
            </a:r>
          </a:p>
        </p:txBody>
      </p:sp>
    </p:spTree>
    <p:extLst>
      <p:ext uri="{BB962C8B-B14F-4D97-AF65-F5344CB8AC3E}">
        <p14:creationId xmlns:p14="http://schemas.microsoft.com/office/powerpoint/2010/main" val="2579392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365125"/>
            <a:ext cx="12451672" cy="1339388"/>
          </a:xfrm>
        </p:spPr>
        <p:txBody>
          <a:bodyPr>
            <a:normAutofit/>
          </a:bodyPr>
          <a:lstStyle/>
          <a:p>
            <a:r>
              <a:rPr lang="en-US" sz="3800" dirty="0">
                <a:latin typeface="Franklin Gothic Medium" panose="020B0603020102020204" pitchFamily="34" charset="0"/>
              </a:rPr>
              <a:t>Contents</a:t>
            </a:r>
          </a:p>
        </p:txBody>
      </p:sp>
      <p:sp>
        <p:nvSpPr>
          <p:cNvPr id="4" name="직사각형 3">
            <a:extLst>
              <a:ext uri="{FF2B5EF4-FFF2-40B4-BE49-F238E27FC236}">
                <a16:creationId xmlns:a16="http://schemas.microsoft.com/office/drawing/2014/main" id="{4C2C6BA2-5B88-4692-833B-27E8DDA27143}"/>
              </a:ext>
            </a:extLst>
          </p:cNvPr>
          <p:cNvSpPr/>
          <p:nvPr/>
        </p:nvSpPr>
        <p:spPr>
          <a:xfrm>
            <a:off x="1000607" y="1781579"/>
            <a:ext cx="10738283" cy="4154984"/>
          </a:xfrm>
          <a:prstGeom prst="rect">
            <a:avLst/>
          </a:prstGeom>
        </p:spPr>
        <p:txBody>
          <a:bodyPr wrap="square">
            <a:spAutoFit/>
          </a:bodyPr>
          <a:lstStyle/>
          <a:p>
            <a:pPr marL="457200" indent="-457200">
              <a:buAutoNum type="arabicPeriod"/>
            </a:pPr>
            <a:r>
              <a:rPr lang="en-US" sz="2400" dirty="0">
                <a:latin typeface="Franklin Gothic Medium" panose="020B0603020102020204" pitchFamily="34" charset="0"/>
              </a:rPr>
              <a:t>Boundary Specification</a:t>
            </a:r>
          </a:p>
          <a:p>
            <a:pPr marL="457200" indent="-457200">
              <a:buAutoNum type="arabicPeriod"/>
            </a:pPr>
            <a:endParaRPr lang="en-US" sz="2400" dirty="0">
              <a:latin typeface="Franklin Gothic Medium" panose="020B0603020102020204" pitchFamily="34" charset="0"/>
            </a:endParaRPr>
          </a:p>
          <a:p>
            <a:pPr marL="457200" indent="-457200">
              <a:buAutoNum type="arabicPeriod"/>
            </a:pPr>
            <a:r>
              <a:rPr lang="en-US" sz="2400" dirty="0">
                <a:latin typeface="Franklin Gothic Medium" panose="020B0603020102020204" pitchFamily="34" charset="0"/>
              </a:rPr>
              <a:t>Data Collection Procedures</a:t>
            </a:r>
          </a:p>
          <a:p>
            <a:pPr marL="457200" indent="-457200">
              <a:buAutoNum type="arabicPeriod"/>
            </a:pPr>
            <a:endParaRPr lang="en-US" sz="2400" dirty="0">
              <a:latin typeface="Franklin Gothic Medium" panose="020B0603020102020204" pitchFamily="34" charset="0"/>
            </a:endParaRPr>
          </a:p>
          <a:p>
            <a:pPr marL="457200" indent="-457200">
              <a:buAutoNum type="arabicPeriod"/>
            </a:pPr>
            <a:r>
              <a:rPr lang="en-US" sz="2400" dirty="0">
                <a:latin typeface="Franklin Gothic Medium" panose="020B0603020102020204" pitchFamily="34" charset="0"/>
              </a:rPr>
              <a:t>Cognitive Social Structure</a:t>
            </a:r>
          </a:p>
          <a:p>
            <a:pPr marL="457200" indent="-457200">
              <a:buAutoNum type="arabicPeriod"/>
            </a:pPr>
            <a:endParaRPr lang="en-US" sz="2400" dirty="0">
              <a:latin typeface="Franklin Gothic Medium" panose="020B0603020102020204" pitchFamily="34" charset="0"/>
            </a:endParaRPr>
          </a:p>
          <a:p>
            <a:pPr marL="457200" indent="-457200">
              <a:buAutoNum type="arabicPeriod"/>
            </a:pPr>
            <a:r>
              <a:rPr lang="en-US" sz="2400" dirty="0">
                <a:latin typeface="Franklin Gothic Medium" panose="020B0603020102020204" pitchFamily="34" charset="0"/>
              </a:rPr>
              <a:t>Information Bias</a:t>
            </a:r>
          </a:p>
          <a:p>
            <a:pPr marL="457200" indent="-457200">
              <a:buAutoNum type="arabicPeriod"/>
            </a:pPr>
            <a:endParaRPr lang="en-US" sz="2400" dirty="0">
              <a:latin typeface="Franklin Gothic Medium" panose="020B0603020102020204" pitchFamily="34" charset="0"/>
            </a:endParaRPr>
          </a:p>
          <a:p>
            <a:pPr marL="457200" indent="-457200">
              <a:buAutoNum type="arabicPeriod"/>
            </a:pPr>
            <a:r>
              <a:rPr lang="en-US" sz="2400" dirty="0">
                <a:latin typeface="Franklin Gothic Medium" panose="020B0603020102020204" pitchFamily="34" charset="0"/>
              </a:rPr>
              <a:t>Reliability </a:t>
            </a:r>
          </a:p>
          <a:p>
            <a:pPr marL="457200" indent="-457200">
              <a:buAutoNum type="arabicPeriod"/>
            </a:pPr>
            <a:endParaRPr lang="en-US" sz="2400" dirty="0">
              <a:latin typeface="Franklin Gothic Medium" panose="020B0603020102020204" pitchFamily="34" charset="0"/>
            </a:endParaRPr>
          </a:p>
          <a:p>
            <a:pPr marL="457200" indent="-457200">
              <a:buAutoNum type="arabicPeriod"/>
            </a:pPr>
            <a:r>
              <a:rPr lang="en-US" sz="2400" dirty="0">
                <a:latin typeface="Franklin Gothic Medium" panose="020B0603020102020204" pitchFamily="34" charset="0"/>
              </a:rPr>
              <a:t>Missing Data</a:t>
            </a:r>
          </a:p>
        </p:txBody>
      </p:sp>
    </p:spTree>
    <p:extLst>
      <p:ext uri="{BB962C8B-B14F-4D97-AF65-F5344CB8AC3E}">
        <p14:creationId xmlns:p14="http://schemas.microsoft.com/office/powerpoint/2010/main" val="871865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5FF08D20-40C7-4B79-AFE3-74918123A09C}"/>
              </a:ext>
            </a:extLst>
          </p:cNvPr>
          <p:cNvSpPr/>
          <p:nvPr/>
        </p:nvSpPr>
        <p:spPr>
          <a:xfrm>
            <a:off x="566292" y="1682096"/>
            <a:ext cx="11192606" cy="584775"/>
          </a:xfrm>
          <a:prstGeom prst="rect">
            <a:avLst/>
          </a:prstGeom>
        </p:spPr>
        <p:txBody>
          <a:bodyPr wrap="square">
            <a:spAutoFit/>
          </a:bodyPr>
          <a:lstStyle/>
          <a:p>
            <a:r>
              <a:rPr lang="en-US" sz="1600" dirty="0">
                <a:latin typeface="Franklin Gothic Medium" panose="020B0603020102020204" pitchFamily="34" charset="0"/>
              </a:rPr>
              <a:t>In any empirical network research, investigators must initially attend to three important issues before beginning to collect data:</a:t>
            </a:r>
          </a:p>
          <a:p>
            <a:r>
              <a:rPr lang="en-US" sz="1600" dirty="0">
                <a:latin typeface="Franklin Gothic Medium" panose="020B0603020102020204" pitchFamily="34" charset="0"/>
              </a:rPr>
              <a:t>Boundary specification, network sampling, and measurement of relations.</a:t>
            </a:r>
          </a:p>
        </p:txBody>
      </p:sp>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t>1. Boundary Specification</a:t>
            </a:r>
            <a:endParaRPr lang="en-US" sz="3800" i="1" dirty="0"/>
          </a:p>
        </p:txBody>
      </p:sp>
      <p:sp>
        <p:nvSpPr>
          <p:cNvPr id="6" name="제목 4">
            <a:extLst>
              <a:ext uri="{FF2B5EF4-FFF2-40B4-BE49-F238E27FC236}">
                <a16:creationId xmlns:a16="http://schemas.microsoft.com/office/drawing/2014/main" id="{57D6EC72-98C7-48A9-A8F6-8EE8375BADE1}"/>
              </a:ext>
            </a:extLst>
          </p:cNvPr>
          <p:cNvSpPr txBox="1">
            <a:spLocks/>
          </p:cNvSpPr>
          <p:nvPr/>
        </p:nvSpPr>
        <p:spPr>
          <a:xfrm>
            <a:off x="140986" y="983087"/>
            <a:ext cx="3583620"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Before Data Collection</a:t>
            </a:r>
          </a:p>
        </p:txBody>
      </p:sp>
      <p:sp>
        <p:nvSpPr>
          <p:cNvPr id="10" name="제목 4">
            <a:extLst>
              <a:ext uri="{FF2B5EF4-FFF2-40B4-BE49-F238E27FC236}">
                <a16:creationId xmlns:a16="http://schemas.microsoft.com/office/drawing/2014/main" id="{03B75196-1163-4C46-B46B-1D8CAF4927FE}"/>
              </a:ext>
            </a:extLst>
          </p:cNvPr>
          <p:cNvSpPr txBox="1">
            <a:spLocks/>
          </p:cNvSpPr>
          <p:nvPr/>
        </p:nvSpPr>
        <p:spPr>
          <a:xfrm>
            <a:off x="140986" y="2232084"/>
            <a:ext cx="3583620"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Boundary Specification?</a:t>
            </a:r>
          </a:p>
        </p:txBody>
      </p:sp>
      <p:sp>
        <p:nvSpPr>
          <p:cNvPr id="11" name="직사각형 10">
            <a:extLst>
              <a:ext uri="{FF2B5EF4-FFF2-40B4-BE49-F238E27FC236}">
                <a16:creationId xmlns:a16="http://schemas.microsoft.com/office/drawing/2014/main" id="{2CA92D88-F629-4FC9-A960-B4C17C9CC4CD}"/>
              </a:ext>
            </a:extLst>
          </p:cNvPr>
          <p:cNvSpPr/>
          <p:nvPr/>
        </p:nvSpPr>
        <p:spPr>
          <a:xfrm>
            <a:off x="566292" y="2900003"/>
            <a:ext cx="11192606" cy="584775"/>
          </a:xfrm>
          <a:prstGeom prst="rect">
            <a:avLst/>
          </a:prstGeom>
        </p:spPr>
        <p:txBody>
          <a:bodyPr wrap="square">
            <a:spAutoFit/>
          </a:bodyPr>
          <a:lstStyle/>
          <a:p>
            <a:r>
              <a:rPr lang="en-US" sz="1600" dirty="0">
                <a:latin typeface="Franklin Gothic Medium" panose="020B0603020102020204" pitchFamily="34" charset="0"/>
              </a:rPr>
              <a:t>Where does a researcher set the limits when collecting data on social relations that may have no obvious limits?</a:t>
            </a:r>
          </a:p>
          <a:p>
            <a:endParaRPr lang="en-US" sz="1600" dirty="0">
              <a:latin typeface="Franklin Gothic Medium" panose="020B0603020102020204" pitchFamily="34" charset="0"/>
            </a:endParaRPr>
          </a:p>
        </p:txBody>
      </p:sp>
      <p:sp>
        <p:nvSpPr>
          <p:cNvPr id="12" name="제목 4">
            <a:extLst>
              <a:ext uri="{FF2B5EF4-FFF2-40B4-BE49-F238E27FC236}">
                <a16:creationId xmlns:a16="http://schemas.microsoft.com/office/drawing/2014/main" id="{6C6EC0DE-A7CA-4469-9649-524C2B1D9662}"/>
              </a:ext>
            </a:extLst>
          </p:cNvPr>
          <p:cNvSpPr txBox="1">
            <a:spLocks/>
          </p:cNvSpPr>
          <p:nvPr/>
        </p:nvSpPr>
        <p:spPr>
          <a:xfrm>
            <a:off x="433127" y="3528004"/>
            <a:ext cx="9803484" cy="156835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latin typeface="Franklin Gothic Medium" panose="020B0603020102020204" pitchFamily="34" charset="0"/>
              </a:rPr>
              <a:t>Realist vs. Nominalist Strategies</a:t>
            </a:r>
          </a:p>
          <a:p>
            <a:endParaRPr lang="en-US" sz="1400" b="1" dirty="0">
              <a:latin typeface="Franklin Gothic Medium" panose="020B0603020102020204" pitchFamily="34" charset="0"/>
            </a:endParaRPr>
          </a:p>
          <a:p>
            <a:r>
              <a:rPr lang="en-US" sz="1400" b="1" dirty="0">
                <a:latin typeface="Franklin Gothic Medium" panose="020B0603020102020204" pitchFamily="34" charset="0"/>
              </a:rPr>
              <a:t>Realist strategy </a:t>
            </a:r>
            <a:r>
              <a:rPr lang="en-US" sz="1400" dirty="0">
                <a:latin typeface="Franklin Gothic Medium" panose="020B0603020102020204" pitchFamily="34" charset="0"/>
              </a:rPr>
              <a:t>defines boundary as the limits that are consciously experienced by all or most actors in the entity. Actors and their relations are included or excluded depending on the relevance judged by other actors (subjective perception). </a:t>
            </a:r>
            <a:r>
              <a:rPr lang="en-US" sz="1400" b="1" dirty="0">
                <a:latin typeface="Franklin Gothic Medium" panose="020B0603020102020204" pitchFamily="34" charset="0"/>
              </a:rPr>
              <a:t>Nominalist strategy </a:t>
            </a:r>
            <a:r>
              <a:rPr lang="en-US" sz="1400" dirty="0">
                <a:latin typeface="Franklin Gothic Medium" panose="020B0603020102020204" pitchFamily="34" charset="0"/>
              </a:rPr>
              <a:t>closes its network by imposing an a priori conceptual framework that serves an analytic or theoretical purpose for a particular project (analytic imposition). </a:t>
            </a:r>
          </a:p>
          <a:p>
            <a:endParaRPr lang="en-US" sz="1600" dirty="0">
              <a:latin typeface="Franklin Gothic Medium" panose="020B0603020102020204" pitchFamily="34" charset="0"/>
            </a:endParaRPr>
          </a:p>
          <a:p>
            <a:endParaRPr lang="en-US" sz="1600" b="1" dirty="0">
              <a:latin typeface="Franklin Gothic Medium" panose="020B0603020102020204" pitchFamily="34" charset="0"/>
            </a:endParaRPr>
          </a:p>
        </p:txBody>
      </p:sp>
      <p:sp>
        <p:nvSpPr>
          <p:cNvPr id="13" name="직사각형 12">
            <a:extLst>
              <a:ext uri="{FF2B5EF4-FFF2-40B4-BE49-F238E27FC236}">
                <a16:creationId xmlns:a16="http://schemas.microsoft.com/office/drawing/2014/main" id="{38B6246A-BA9F-406D-9A7B-67ADAA474321}"/>
              </a:ext>
            </a:extLst>
          </p:cNvPr>
          <p:cNvSpPr/>
          <p:nvPr/>
        </p:nvSpPr>
        <p:spPr>
          <a:xfrm>
            <a:off x="0" y="5074694"/>
            <a:ext cx="12192000" cy="1600438"/>
          </a:xfrm>
          <a:prstGeom prst="rect">
            <a:avLst/>
          </a:prstGeom>
        </p:spPr>
        <p:txBody>
          <a:bodyPr wrap="square">
            <a:spAutoFit/>
          </a:bodyPr>
          <a:lstStyle/>
          <a:p>
            <a:pPr lvl="1"/>
            <a:r>
              <a:rPr lang="en-US" sz="1400" dirty="0">
                <a:latin typeface="Franklin Gothic Medium" panose="020B0603020102020204" pitchFamily="34" charset="0"/>
              </a:rPr>
              <a:t>ex) </a:t>
            </a:r>
            <a:r>
              <a:rPr lang="en-US" sz="1400" b="1" dirty="0">
                <a:latin typeface="Franklin Gothic Medium" panose="020B0603020102020204" pitchFamily="34" charset="0"/>
              </a:rPr>
              <a:t>Realist strategy</a:t>
            </a:r>
            <a:r>
              <a:rPr lang="en-US" sz="1400" dirty="0">
                <a:latin typeface="Franklin Gothic Medium" panose="020B0603020102020204" pitchFamily="34" charset="0"/>
              </a:rPr>
              <a:t> </a:t>
            </a:r>
          </a:p>
          <a:p>
            <a:pPr lvl="1"/>
            <a:r>
              <a:rPr lang="en-US" sz="1400" dirty="0">
                <a:latin typeface="Franklin Gothic Medium" panose="020B0603020102020204" pitchFamily="34" charset="0"/>
              </a:rPr>
              <a:t>       </a:t>
            </a:r>
            <a:r>
              <a:rPr lang="en-US" sz="1400" dirty="0" err="1">
                <a:latin typeface="Franklin Gothic Medium" panose="020B0603020102020204" pitchFamily="34" charset="0"/>
              </a:rPr>
              <a:t>Knoke</a:t>
            </a:r>
            <a:r>
              <a:rPr lang="en-US" sz="1400" dirty="0">
                <a:latin typeface="Franklin Gothic Medium" panose="020B0603020102020204" pitchFamily="34" charset="0"/>
              </a:rPr>
              <a:t> and </a:t>
            </a:r>
            <a:r>
              <a:rPr lang="en-US" sz="1400" dirty="0" err="1">
                <a:latin typeface="Franklin Gothic Medium" panose="020B0603020102020204" pitchFamily="34" charset="0"/>
              </a:rPr>
              <a:t>Laumann</a:t>
            </a:r>
            <a:r>
              <a:rPr lang="en-US" sz="1400" dirty="0">
                <a:latin typeface="Franklin Gothic Medium" panose="020B0603020102020204" pitchFamily="34" charset="0"/>
              </a:rPr>
              <a:t> applied this principle to select the core organizations of the U.S. energy and health national policy domains: </a:t>
            </a:r>
          </a:p>
          <a:p>
            <a:pPr lvl="1"/>
            <a:r>
              <a:rPr lang="en-US" sz="1400" dirty="0">
                <a:latin typeface="Franklin Gothic Medium" panose="020B0603020102020204" pitchFamily="34" charset="0"/>
              </a:rPr>
              <a:t>       they excluded any organizations that domain informants did not perceive as influential in national energy and health policy making</a:t>
            </a:r>
          </a:p>
          <a:p>
            <a:pPr lvl="1"/>
            <a:r>
              <a:rPr lang="en-US" sz="1400" dirty="0">
                <a:latin typeface="Franklin Gothic Medium" panose="020B0603020102020204" pitchFamily="34" charset="0"/>
              </a:rPr>
              <a:t>                     </a:t>
            </a:r>
          </a:p>
          <a:p>
            <a:pPr lvl="1"/>
            <a:r>
              <a:rPr lang="en-US" sz="1400" dirty="0">
                <a:latin typeface="Franklin Gothic Medium" panose="020B0603020102020204" pitchFamily="34" charset="0"/>
              </a:rPr>
              <a:t>       </a:t>
            </a:r>
            <a:r>
              <a:rPr lang="en-US" sz="1400" b="1" dirty="0">
                <a:latin typeface="Franklin Gothic Medium" panose="020B0603020102020204" pitchFamily="34" charset="0"/>
              </a:rPr>
              <a:t>Nominalist strategy</a:t>
            </a:r>
            <a:r>
              <a:rPr lang="en-US" sz="1400" dirty="0">
                <a:latin typeface="Franklin Gothic Medium" panose="020B0603020102020204" pitchFamily="34" charset="0"/>
              </a:rPr>
              <a:t>:</a:t>
            </a:r>
          </a:p>
          <a:p>
            <a:pPr lvl="1"/>
            <a:r>
              <a:rPr lang="en-US" sz="1400" dirty="0">
                <a:latin typeface="Franklin Gothic Medium" panose="020B0603020102020204" pitchFamily="34" charset="0"/>
              </a:rPr>
              <a:t>       Marxist researchers identify boundaries of the working class with following definition: all employees having a common relation to a mode of               </a:t>
            </a:r>
          </a:p>
          <a:p>
            <a:pPr lvl="1"/>
            <a:r>
              <a:rPr lang="en-US" sz="1400" dirty="0">
                <a:latin typeface="Franklin Gothic Medium" panose="020B0603020102020204" pitchFamily="34" charset="0"/>
              </a:rPr>
              <a:t>       production</a:t>
            </a:r>
            <a:endParaRPr lang="en-US" dirty="0">
              <a:latin typeface="Franklin Gothic Medium" panose="020B0603020102020204" pitchFamily="34" charset="0"/>
            </a:endParaRPr>
          </a:p>
        </p:txBody>
      </p:sp>
    </p:spTree>
    <p:extLst>
      <p:ext uri="{BB962C8B-B14F-4D97-AF65-F5344CB8AC3E}">
        <p14:creationId xmlns:p14="http://schemas.microsoft.com/office/powerpoint/2010/main" val="3403595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66292" y="-252019"/>
            <a:ext cx="8653591" cy="1255990"/>
          </a:xfrm>
        </p:spPr>
        <p:txBody>
          <a:bodyPr>
            <a:normAutofit/>
          </a:bodyPr>
          <a:lstStyle/>
          <a:p>
            <a:r>
              <a:rPr lang="en-US" sz="3800" dirty="0">
                <a:latin typeface="Franklin Gothic Medium" panose="020B0603020102020204" pitchFamily="34" charset="0"/>
              </a:rPr>
              <a:t>1. Boundary Specification - </a:t>
            </a:r>
            <a:r>
              <a:rPr lang="en-US" sz="3200" dirty="0">
                <a:latin typeface="Franklin Gothic Medium" panose="020B0603020102020204" pitchFamily="34" charset="0"/>
              </a:rPr>
              <a:t>Continued</a:t>
            </a:r>
            <a:endParaRPr lang="en-US" sz="3800" i="1" dirty="0">
              <a:latin typeface="Franklin Gothic Medium" panose="020B0603020102020204" pitchFamily="34" charset="0"/>
            </a:endParaRPr>
          </a:p>
        </p:txBody>
      </p:sp>
      <p:sp>
        <p:nvSpPr>
          <p:cNvPr id="10" name="제목 4">
            <a:extLst>
              <a:ext uri="{FF2B5EF4-FFF2-40B4-BE49-F238E27FC236}">
                <a16:creationId xmlns:a16="http://schemas.microsoft.com/office/drawing/2014/main" id="{03B75196-1163-4C46-B46B-1D8CAF4927FE}"/>
              </a:ext>
            </a:extLst>
          </p:cNvPr>
          <p:cNvSpPr txBox="1">
            <a:spLocks/>
          </p:cNvSpPr>
          <p:nvPr/>
        </p:nvSpPr>
        <p:spPr>
          <a:xfrm>
            <a:off x="460582" y="1303714"/>
            <a:ext cx="3583620"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Boundary Specification?</a:t>
            </a:r>
          </a:p>
        </p:txBody>
      </p:sp>
      <p:sp>
        <p:nvSpPr>
          <p:cNvPr id="11" name="직사각형 10">
            <a:extLst>
              <a:ext uri="{FF2B5EF4-FFF2-40B4-BE49-F238E27FC236}">
                <a16:creationId xmlns:a16="http://schemas.microsoft.com/office/drawing/2014/main" id="{2CA92D88-F629-4FC9-A960-B4C17C9CC4CD}"/>
              </a:ext>
            </a:extLst>
          </p:cNvPr>
          <p:cNvSpPr/>
          <p:nvPr/>
        </p:nvSpPr>
        <p:spPr>
          <a:xfrm>
            <a:off x="885888" y="1901203"/>
            <a:ext cx="11192606" cy="584775"/>
          </a:xfrm>
          <a:prstGeom prst="rect">
            <a:avLst/>
          </a:prstGeom>
        </p:spPr>
        <p:txBody>
          <a:bodyPr wrap="square">
            <a:spAutoFit/>
          </a:bodyPr>
          <a:lstStyle/>
          <a:p>
            <a:r>
              <a:rPr lang="en-US" sz="1600" dirty="0" err="1">
                <a:latin typeface="Franklin Gothic Medium" panose="020B0603020102020204" pitchFamily="34" charset="0"/>
              </a:rPr>
              <a:t>Laumann</a:t>
            </a:r>
            <a:r>
              <a:rPr lang="en-US" sz="1600" dirty="0">
                <a:latin typeface="Franklin Gothic Medium" panose="020B0603020102020204" pitchFamily="34" charset="0"/>
              </a:rPr>
              <a:t>, Marsden, and </a:t>
            </a:r>
            <a:r>
              <a:rPr lang="en-US" sz="1600" dirty="0" err="1">
                <a:latin typeface="Franklin Gothic Medium" panose="020B0603020102020204" pitchFamily="34" charset="0"/>
              </a:rPr>
              <a:t>Prensky</a:t>
            </a:r>
            <a:r>
              <a:rPr lang="en-US" sz="1600" dirty="0">
                <a:latin typeface="Franklin Gothic Medium" panose="020B0603020102020204" pitchFamily="34" charset="0"/>
              </a:rPr>
              <a:t> organized their initial answer around the two contrasting realist and nominalist strategies and replaced this with </a:t>
            </a:r>
            <a:r>
              <a:rPr lang="en-US" sz="1600" b="1" dirty="0">
                <a:latin typeface="Franklin Gothic Medium" panose="020B0603020102020204" pitchFamily="34" charset="0"/>
              </a:rPr>
              <a:t>three generic approaches</a:t>
            </a:r>
            <a:r>
              <a:rPr lang="en-US" sz="1600" dirty="0">
                <a:latin typeface="Franklin Gothic Medium" panose="020B0603020102020204" pitchFamily="34" charset="0"/>
              </a:rPr>
              <a:t> to identifying network boundaries: Positional, Relational, Event-based</a:t>
            </a:r>
          </a:p>
        </p:txBody>
      </p:sp>
      <p:sp>
        <p:nvSpPr>
          <p:cNvPr id="12" name="제목 4">
            <a:extLst>
              <a:ext uri="{FF2B5EF4-FFF2-40B4-BE49-F238E27FC236}">
                <a16:creationId xmlns:a16="http://schemas.microsoft.com/office/drawing/2014/main" id="{6C6EC0DE-A7CA-4469-9649-524C2B1D9662}"/>
              </a:ext>
            </a:extLst>
          </p:cNvPr>
          <p:cNvSpPr txBox="1">
            <a:spLocks/>
          </p:cNvSpPr>
          <p:nvPr/>
        </p:nvSpPr>
        <p:spPr>
          <a:xfrm>
            <a:off x="610681" y="2929443"/>
            <a:ext cx="8648730" cy="17313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Positional strategy</a:t>
            </a:r>
          </a:p>
          <a:p>
            <a:endParaRPr lang="en-US" sz="1800" b="1" dirty="0">
              <a:latin typeface="Franklin Gothic Medium" panose="020B0603020102020204" pitchFamily="34" charset="0"/>
            </a:endParaRPr>
          </a:p>
          <a:p>
            <a:r>
              <a:rPr lang="en-US" sz="1600" dirty="0">
                <a:latin typeface="Franklin Gothic Medium" panose="020B0603020102020204" pitchFamily="34" charset="0"/>
              </a:rPr>
              <a:t>This approach uses the attributes of actors, their membership or affiliation in a formal organization or their occupancy of a well-defined position for inclusion in a network. </a:t>
            </a:r>
            <a:endParaRPr lang="en-US" sz="1800" b="1" dirty="0">
              <a:latin typeface="Franklin Gothic Medium" panose="020B0603020102020204" pitchFamily="34" charset="0"/>
            </a:endParaRPr>
          </a:p>
        </p:txBody>
      </p:sp>
      <p:sp>
        <p:nvSpPr>
          <p:cNvPr id="18" name="제목 4">
            <a:extLst>
              <a:ext uri="{FF2B5EF4-FFF2-40B4-BE49-F238E27FC236}">
                <a16:creationId xmlns:a16="http://schemas.microsoft.com/office/drawing/2014/main" id="{24B21282-3633-4CDD-A609-35E14D702471}"/>
              </a:ext>
            </a:extLst>
          </p:cNvPr>
          <p:cNvSpPr txBox="1">
            <a:spLocks/>
          </p:cNvSpPr>
          <p:nvPr/>
        </p:nvSpPr>
        <p:spPr>
          <a:xfrm>
            <a:off x="610681" y="4471111"/>
            <a:ext cx="9074857" cy="1918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Event based strategy</a:t>
            </a:r>
          </a:p>
          <a:p>
            <a:endParaRPr lang="en-US" sz="1600" b="1" dirty="0">
              <a:latin typeface="Franklin Gothic Medium" panose="020B0603020102020204" pitchFamily="34" charset="0"/>
            </a:endParaRPr>
          </a:p>
          <a:p>
            <a:r>
              <a:rPr lang="en-US" sz="1600" dirty="0">
                <a:latin typeface="Franklin Gothic Medium" panose="020B0603020102020204" pitchFamily="34" charset="0"/>
              </a:rPr>
              <a:t>This method draws network boundaries by including actors who participate in a defined set of activities occurring at a specific times and places. In this sense, categorizing the event and such actions are crucial. This method is vulnerable to missing data by overlooking significant key players of activities. </a:t>
            </a:r>
            <a:endParaRPr lang="en-US" sz="1200" dirty="0">
              <a:latin typeface="Franklin Gothic Medium" panose="020B0603020102020204" pitchFamily="34" charset="0"/>
            </a:endParaRPr>
          </a:p>
        </p:txBody>
      </p:sp>
    </p:spTree>
    <p:extLst>
      <p:ext uri="{BB962C8B-B14F-4D97-AF65-F5344CB8AC3E}">
        <p14:creationId xmlns:p14="http://schemas.microsoft.com/office/powerpoint/2010/main" val="4189482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66292" y="-120698"/>
            <a:ext cx="8653591" cy="1255990"/>
          </a:xfrm>
        </p:spPr>
        <p:txBody>
          <a:bodyPr>
            <a:normAutofit/>
          </a:bodyPr>
          <a:lstStyle/>
          <a:p>
            <a:r>
              <a:rPr lang="en-US" sz="3800" dirty="0">
                <a:latin typeface="Franklin Gothic Medium" panose="020B0603020102020204" pitchFamily="34" charset="0"/>
              </a:rPr>
              <a:t>1. Boundary Specification - </a:t>
            </a:r>
            <a:r>
              <a:rPr lang="en-US" sz="3200" dirty="0">
                <a:latin typeface="Franklin Gothic Medium" panose="020B0603020102020204" pitchFamily="34" charset="0"/>
              </a:rPr>
              <a:t>Continued</a:t>
            </a:r>
            <a:endParaRPr lang="en-US" sz="3800" i="1" dirty="0">
              <a:latin typeface="Franklin Gothic Medium" panose="020B0603020102020204" pitchFamily="34" charset="0"/>
            </a:endParaRPr>
          </a:p>
        </p:txBody>
      </p:sp>
      <p:sp>
        <p:nvSpPr>
          <p:cNvPr id="10" name="제목 4">
            <a:extLst>
              <a:ext uri="{FF2B5EF4-FFF2-40B4-BE49-F238E27FC236}">
                <a16:creationId xmlns:a16="http://schemas.microsoft.com/office/drawing/2014/main" id="{03B75196-1163-4C46-B46B-1D8CAF4927FE}"/>
              </a:ext>
            </a:extLst>
          </p:cNvPr>
          <p:cNvSpPr txBox="1">
            <a:spLocks/>
          </p:cNvSpPr>
          <p:nvPr/>
        </p:nvSpPr>
        <p:spPr>
          <a:xfrm>
            <a:off x="140986" y="836547"/>
            <a:ext cx="3583620"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Boundary Specification?</a:t>
            </a:r>
          </a:p>
        </p:txBody>
      </p:sp>
      <p:sp>
        <p:nvSpPr>
          <p:cNvPr id="11" name="직사각형 10">
            <a:extLst>
              <a:ext uri="{FF2B5EF4-FFF2-40B4-BE49-F238E27FC236}">
                <a16:creationId xmlns:a16="http://schemas.microsoft.com/office/drawing/2014/main" id="{2CA92D88-F629-4FC9-A960-B4C17C9CC4CD}"/>
              </a:ext>
            </a:extLst>
          </p:cNvPr>
          <p:cNvSpPr/>
          <p:nvPr/>
        </p:nvSpPr>
        <p:spPr>
          <a:xfrm>
            <a:off x="566292" y="1434036"/>
            <a:ext cx="11192606" cy="584775"/>
          </a:xfrm>
          <a:prstGeom prst="rect">
            <a:avLst/>
          </a:prstGeom>
        </p:spPr>
        <p:txBody>
          <a:bodyPr wrap="square">
            <a:spAutoFit/>
          </a:bodyPr>
          <a:lstStyle/>
          <a:p>
            <a:r>
              <a:rPr lang="en-US" sz="1600" dirty="0" err="1">
                <a:latin typeface="Franklin Gothic Medium" panose="020B0603020102020204" pitchFamily="34" charset="0"/>
              </a:rPr>
              <a:t>Laumann</a:t>
            </a:r>
            <a:r>
              <a:rPr lang="en-US" sz="1600" dirty="0">
                <a:latin typeface="Franklin Gothic Medium" panose="020B0603020102020204" pitchFamily="34" charset="0"/>
              </a:rPr>
              <a:t>, Marsden, and </a:t>
            </a:r>
            <a:r>
              <a:rPr lang="en-US" sz="1600" dirty="0" err="1">
                <a:latin typeface="Franklin Gothic Medium" panose="020B0603020102020204" pitchFamily="34" charset="0"/>
              </a:rPr>
              <a:t>Prensky</a:t>
            </a:r>
            <a:r>
              <a:rPr lang="en-US" sz="1600" dirty="0">
                <a:latin typeface="Franklin Gothic Medium" panose="020B0603020102020204" pitchFamily="34" charset="0"/>
              </a:rPr>
              <a:t> organized their initial answer around the two contrasting realist and nominalist strategies and replaced this with </a:t>
            </a:r>
            <a:r>
              <a:rPr lang="en-US" sz="1600" b="1" dirty="0">
                <a:latin typeface="Franklin Gothic Medium" panose="020B0603020102020204" pitchFamily="34" charset="0"/>
              </a:rPr>
              <a:t>three generic approaches</a:t>
            </a:r>
            <a:r>
              <a:rPr lang="en-US" sz="1600" dirty="0">
                <a:latin typeface="Franklin Gothic Medium" panose="020B0603020102020204" pitchFamily="34" charset="0"/>
              </a:rPr>
              <a:t> to identifying network boundaries: Positional, Relational, Event-based</a:t>
            </a:r>
          </a:p>
        </p:txBody>
      </p:sp>
      <p:sp>
        <p:nvSpPr>
          <p:cNvPr id="15" name="제목 4">
            <a:extLst>
              <a:ext uri="{FF2B5EF4-FFF2-40B4-BE49-F238E27FC236}">
                <a16:creationId xmlns:a16="http://schemas.microsoft.com/office/drawing/2014/main" id="{08C9E63C-A976-4594-BDF9-24280513F538}"/>
              </a:ext>
            </a:extLst>
          </p:cNvPr>
          <p:cNvSpPr txBox="1">
            <a:spLocks/>
          </p:cNvSpPr>
          <p:nvPr/>
        </p:nvSpPr>
        <p:spPr>
          <a:xfrm>
            <a:off x="238639" y="2164661"/>
            <a:ext cx="10508107" cy="13862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Relational strategy</a:t>
            </a:r>
          </a:p>
          <a:p>
            <a:endParaRPr lang="en-US" sz="1800" b="1" dirty="0">
              <a:latin typeface="Franklin Gothic Medium" panose="020B0603020102020204" pitchFamily="34" charset="0"/>
            </a:endParaRPr>
          </a:p>
          <a:p>
            <a:r>
              <a:rPr lang="en-US" sz="1600" dirty="0">
                <a:latin typeface="Franklin Gothic Medium" panose="020B0603020102020204" pitchFamily="34" charset="0"/>
              </a:rPr>
              <a:t>This approach relies on knowledgeable informants or the network actors themselves to nominate additional actors for inclusion. Relational approaches embrace several procedures, including the </a:t>
            </a:r>
            <a:r>
              <a:rPr lang="en-US" sz="1600" i="1" dirty="0">
                <a:latin typeface="Franklin Gothic Medium" panose="020B0603020102020204" pitchFamily="34" charset="0"/>
              </a:rPr>
              <a:t>reputational method</a:t>
            </a:r>
            <a:r>
              <a:rPr lang="en-US" sz="1600" dirty="0">
                <a:latin typeface="Franklin Gothic Medium" panose="020B0603020102020204" pitchFamily="34" charset="0"/>
              </a:rPr>
              <a:t>, </a:t>
            </a:r>
            <a:r>
              <a:rPr lang="en-US" sz="1600" i="1" dirty="0">
                <a:latin typeface="Franklin Gothic Medium" panose="020B0603020102020204" pitchFamily="34" charset="0"/>
              </a:rPr>
              <a:t>snowball sampling</a:t>
            </a:r>
            <a:r>
              <a:rPr lang="en-US" sz="1600" dirty="0">
                <a:latin typeface="Franklin Gothic Medium" panose="020B0603020102020204" pitchFamily="34" charset="0"/>
              </a:rPr>
              <a:t>, </a:t>
            </a:r>
            <a:r>
              <a:rPr lang="en-US" sz="1600" i="1" dirty="0">
                <a:latin typeface="Franklin Gothic Medium" panose="020B0603020102020204" pitchFamily="34" charset="0"/>
              </a:rPr>
              <a:t>fixed list selection</a:t>
            </a:r>
            <a:r>
              <a:rPr lang="en-US" sz="1600" dirty="0">
                <a:latin typeface="Franklin Gothic Medium" panose="020B0603020102020204" pitchFamily="34" charset="0"/>
              </a:rPr>
              <a:t>, </a:t>
            </a:r>
            <a:r>
              <a:rPr lang="en-US" sz="1600" i="1" dirty="0">
                <a:latin typeface="Franklin Gothic Medium" panose="020B0603020102020204" pitchFamily="34" charset="0"/>
              </a:rPr>
              <a:t>expanding selection</a:t>
            </a:r>
            <a:r>
              <a:rPr lang="en-US" sz="1600" dirty="0">
                <a:latin typeface="Franklin Gothic Medium" panose="020B0603020102020204" pitchFamily="34" charset="0"/>
              </a:rPr>
              <a:t> and </a:t>
            </a:r>
            <a:r>
              <a:rPr lang="en-US" sz="1600" i="1" dirty="0">
                <a:latin typeface="Franklin Gothic Medium" panose="020B0603020102020204" pitchFamily="34" charset="0"/>
              </a:rPr>
              <a:t>k-core method</a:t>
            </a:r>
            <a:r>
              <a:rPr lang="en-US" sz="1600" dirty="0">
                <a:latin typeface="Franklin Gothic Medium" panose="020B0603020102020204" pitchFamily="34" charset="0"/>
              </a:rPr>
              <a:t>. </a:t>
            </a:r>
            <a:endParaRPr lang="en-US" sz="1800" b="1" dirty="0">
              <a:latin typeface="Franklin Gothic Medium" panose="020B0603020102020204" pitchFamily="34" charset="0"/>
            </a:endParaRPr>
          </a:p>
        </p:txBody>
      </p:sp>
      <p:graphicFrame>
        <p:nvGraphicFramePr>
          <p:cNvPr id="2" name="표 1">
            <a:extLst>
              <a:ext uri="{FF2B5EF4-FFF2-40B4-BE49-F238E27FC236}">
                <a16:creationId xmlns:a16="http://schemas.microsoft.com/office/drawing/2014/main" id="{86E99BDC-C926-491C-A59A-D4BA3D645413}"/>
              </a:ext>
            </a:extLst>
          </p:cNvPr>
          <p:cNvGraphicFramePr>
            <a:graphicFrameLocks noGrp="1"/>
          </p:cNvGraphicFramePr>
          <p:nvPr>
            <p:extLst>
              <p:ext uri="{D42A27DB-BD31-4B8C-83A1-F6EECF244321}">
                <p14:modId xmlns:p14="http://schemas.microsoft.com/office/powerpoint/2010/main" val="3868642903"/>
              </p:ext>
            </p:extLst>
          </p:nvPr>
        </p:nvGraphicFramePr>
        <p:xfrm>
          <a:off x="407385" y="3696769"/>
          <a:ext cx="11550836" cy="2753180"/>
        </p:xfrm>
        <a:graphic>
          <a:graphicData uri="http://schemas.openxmlformats.org/drawingml/2006/table">
            <a:tbl>
              <a:tblPr firstRow="1" bandRow="1">
                <a:tableStyleId>{2D5ABB26-0587-4C30-8999-92F81FD0307C}</a:tableStyleId>
              </a:tblPr>
              <a:tblGrid>
                <a:gridCol w="2089428">
                  <a:extLst>
                    <a:ext uri="{9D8B030D-6E8A-4147-A177-3AD203B41FA5}">
                      <a16:colId xmlns:a16="http://schemas.microsoft.com/office/drawing/2014/main" val="523361706"/>
                    </a:ext>
                  </a:extLst>
                </a:gridCol>
                <a:gridCol w="9461408">
                  <a:extLst>
                    <a:ext uri="{9D8B030D-6E8A-4147-A177-3AD203B41FA5}">
                      <a16:colId xmlns:a16="http://schemas.microsoft.com/office/drawing/2014/main" val="2954450279"/>
                    </a:ext>
                  </a:extLst>
                </a:gridCol>
              </a:tblGrid>
              <a:tr h="588257">
                <a:tc>
                  <a:txBody>
                    <a:bodyPr/>
                    <a:lstStyle/>
                    <a:p>
                      <a:r>
                        <a:rPr lang="en-US" sz="1600" dirty="0"/>
                        <a:t>Reputational method</a:t>
                      </a:r>
                    </a:p>
                  </a:txBody>
                  <a:tcPr/>
                </a:tc>
                <a:tc>
                  <a:txBody>
                    <a:bodyPr/>
                    <a:lstStyle/>
                    <a:p>
                      <a:r>
                        <a:rPr lang="en-US" sz="1600" dirty="0"/>
                        <a:t>Asking the most knowledgeable informants or experts to nominate a set of actors for the study</a:t>
                      </a:r>
                      <a:br>
                        <a:rPr lang="en-US" sz="1600" dirty="0"/>
                      </a:br>
                      <a:r>
                        <a:rPr lang="en-US" sz="1400" dirty="0"/>
                        <a:t>(There is a possibility of sampling bias)</a:t>
                      </a:r>
                      <a:endParaRPr lang="en-US" sz="1600" dirty="0"/>
                    </a:p>
                  </a:txBody>
                  <a:tcPr/>
                </a:tc>
                <a:extLst>
                  <a:ext uri="{0D108BD9-81ED-4DB2-BD59-A6C34878D82A}">
                    <a16:rowId xmlns:a16="http://schemas.microsoft.com/office/drawing/2014/main" val="1184035306"/>
                  </a:ext>
                </a:extLst>
              </a:tr>
              <a:tr h="625023">
                <a:tc>
                  <a:txBody>
                    <a:bodyPr/>
                    <a:lstStyle/>
                    <a:p>
                      <a:r>
                        <a:rPr lang="en-US" sz="1600" dirty="0"/>
                        <a:t>Snowball sampling</a:t>
                      </a:r>
                    </a:p>
                    <a:p>
                      <a:r>
                        <a:rPr lang="en-US" sz="1600" dirty="0"/>
                        <a:t>(Chain referral method)</a:t>
                      </a:r>
                    </a:p>
                  </a:txBody>
                  <a:tcPr/>
                </a:tc>
                <a:tc>
                  <a:txBody>
                    <a:bodyPr/>
                    <a:lstStyle/>
                    <a:p>
                      <a:r>
                        <a:rPr lang="en-US" sz="1600" dirty="0"/>
                        <a:t>Begin with a small set of network actors, then ask for nomination of others with specific kind of relation, than repeat this process. </a:t>
                      </a:r>
                    </a:p>
                  </a:txBody>
                  <a:tcPr/>
                </a:tc>
                <a:extLst>
                  <a:ext uri="{0D108BD9-81ED-4DB2-BD59-A6C34878D82A}">
                    <a16:rowId xmlns:a16="http://schemas.microsoft.com/office/drawing/2014/main" val="2583113559"/>
                  </a:ext>
                </a:extLst>
              </a:tr>
              <a:tr h="447321">
                <a:tc>
                  <a:txBody>
                    <a:bodyPr/>
                    <a:lstStyle/>
                    <a:p>
                      <a:r>
                        <a:rPr lang="en-US" sz="1600" dirty="0"/>
                        <a:t>Fixed list selection</a:t>
                      </a:r>
                    </a:p>
                  </a:txBody>
                  <a:tcPr/>
                </a:tc>
                <a:tc>
                  <a:txBody>
                    <a:bodyPr/>
                    <a:lstStyle/>
                    <a:p>
                      <a:r>
                        <a:rPr lang="en-US" sz="1600" dirty="0"/>
                        <a:t>Reporting ties involving a set of actors identified a priori by the researchers and their informants</a:t>
                      </a:r>
                    </a:p>
                  </a:txBody>
                  <a:tcPr/>
                </a:tc>
                <a:extLst>
                  <a:ext uri="{0D108BD9-81ED-4DB2-BD59-A6C34878D82A}">
                    <a16:rowId xmlns:a16="http://schemas.microsoft.com/office/drawing/2014/main" val="652487634"/>
                  </a:ext>
                </a:extLst>
              </a:tr>
              <a:tr h="447321">
                <a:tc>
                  <a:txBody>
                    <a:bodyPr/>
                    <a:lstStyle/>
                    <a:p>
                      <a:r>
                        <a:rPr lang="en-US" sz="1600" dirty="0"/>
                        <a:t>Expanding selection</a:t>
                      </a:r>
                    </a:p>
                  </a:txBody>
                  <a:tcPr/>
                </a:tc>
                <a:tc>
                  <a:txBody>
                    <a:bodyPr/>
                    <a:lstStyle/>
                    <a:p>
                      <a:r>
                        <a:rPr lang="en-US" sz="1600" dirty="0"/>
                        <a:t>Identify as many actors as they wish without referring to a list of names</a:t>
                      </a:r>
                    </a:p>
                  </a:txBody>
                  <a:tcPr/>
                </a:tc>
                <a:extLst>
                  <a:ext uri="{0D108BD9-81ED-4DB2-BD59-A6C34878D82A}">
                    <a16:rowId xmlns:a16="http://schemas.microsoft.com/office/drawing/2014/main" val="1961363031"/>
                  </a:ext>
                </a:extLst>
              </a:tr>
              <a:tr h="447321">
                <a:tc>
                  <a:txBody>
                    <a:bodyPr/>
                    <a:lstStyle/>
                    <a:p>
                      <a:r>
                        <a:rPr lang="en-US" sz="1600" dirty="0"/>
                        <a:t>K-core method</a:t>
                      </a:r>
                    </a:p>
                  </a:txBody>
                  <a:tcPr/>
                </a:tc>
                <a:tc>
                  <a:txBody>
                    <a:bodyPr/>
                    <a:lstStyle/>
                    <a:p>
                      <a:r>
                        <a:rPr lang="en-US" sz="1600" dirty="0"/>
                        <a:t>If every actors has ties with at least k</a:t>
                      </a:r>
                      <a:r>
                        <a:rPr lang="ko-KR" altLang="en-US" sz="1600" dirty="0"/>
                        <a:t> </a:t>
                      </a:r>
                      <a:r>
                        <a:rPr lang="en-US" altLang="ko-KR" sz="1600" dirty="0"/>
                        <a:t>other</a:t>
                      </a:r>
                      <a:r>
                        <a:rPr lang="ko-KR" altLang="en-US" sz="1600" dirty="0"/>
                        <a:t> </a:t>
                      </a:r>
                      <a:r>
                        <a:rPr lang="en-US" altLang="ko-KR" sz="1600" dirty="0"/>
                        <a:t>actors</a:t>
                      </a:r>
                      <a:r>
                        <a:rPr lang="ko-KR" altLang="en-US" sz="1600" dirty="0"/>
                        <a:t> </a:t>
                      </a:r>
                      <a:r>
                        <a:rPr lang="en-US" altLang="ko-KR" sz="1600" dirty="0"/>
                        <a:t>in</a:t>
                      </a:r>
                      <a:r>
                        <a:rPr lang="ko-KR" altLang="en-US" sz="1600" dirty="0"/>
                        <a:t> </a:t>
                      </a:r>
                      <a:r>
                        <a:rPr lang="en-US" altLang="ko-KR" sz="1600" dirty="0"/>
                        <a:t>the</a:t>
                      </a:r>
                      <a:r>
                        <a:rPr lang="ko-KR" altLang="en-US" sz="1600" dirty="0"/>
                        <a:t> </a:t>
                      </a:r>
                      <a:r>
                        <a:rPr lang="en-US" altLang="ko-KR" sz="1600" dirty="0"/>
                        <a:t>subgroup,</a:t>
                      </a:r>
                      <a:r>
                        <a:rPr lang="ko-KR" altLang="en-US" sz="1600" dirty="0"/>
                        <a:t> </a:t>
                      </a:r>
                      <a:r>
                        <a:rPr lang="en-US" altLang="ko-KR" sz="1600" dirty="0"/>
                        <a:t>the</a:t>
                      </a:r>
                      <a:r>
                        <a:rPr lang="ko-KR" altLang="en-US" sz="1600" dirty="0"/>
                        <a:t> </a:t>
                      </a:r>
                      <a:r>
                        <a:rPr lang="en-US" altLang="ko-KR" sz="1600" dirty="0"/>
                        <a:t>subgroup</a:t>
                      </a:r>
                      <a:r>
                        <a:rPr lang="ko-KR" altLang="en-US" sz="1600" dirty="0"/>
                        <a:t> </a:t>
                      </a:r>
                      <a:r>
                        <a:rPr lang="en-US" altLang="ko-KR" sz="1600" dirty="0"/>
                        <a:t>is</a:t>
                      </a:r>
                      <a:r>
                        <a:rPr lang="ko-KR" altLang="en-US" sz="1600" dirty="0"/>
                        <a:t> </a:t>
                      </a:r>
                      <a:r>
                        <a:rPr lang="en-US" altLang="ko-KR" sz="1600" dirty="0"/>
                        <a:t>k-core.</a:t>
                      </a:r>
                      <a:r>
                        <a:rPr lang="ko-KR" altLang="en-US" sz="1600" dirty="0"/>
                        <a:t> </a:t>
                      </a:r>
                      <a:endParaRPr lang="en-US" sz="1600" dirty="0"/>
                    </a:p>
                  </a:txBody>
                  <a:tcPr/>
                </a:tc>
                <a:extLst>
                  <a:ext uri="{0D108BD9-81ED-4DB2-BD59-A6C34878D82A}">
                    <a16:rowId xmlns:a16="http://schemas.microsoft.com/office/drawing/2014/main" val="3014690111"/>
                  </a:ext>
                </a:extLst>
              </a:tr>
            </a:tbl>
          </a:graphicData>
        </a:graphic>
      </p:graphicFrame>
    </p:spTree>
    <p:extLst>
      <p:ext uri="{BB962C8B-B14F-4D97-AF65-F5344CB8AC3E}">
        <p14:creationId xmlns:p14="http://schemas.microsoft.com/office/powerpoint/2010/main" val="1056801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5FF08D20-40C7-4B79-AFE3-74918123A09C}"/>
              </a:ext>
            </a:extLst>
          </p:cNvPr>
          <p:cNvSpPr/>
          <p:nvPr/>
        </p:nvSpPr>
        <p:spPr>
          <a:xfrm>
            <a:off x="566292" y="1682096"/>
            <a:ext cx="11192606" cy="1569660"/>
          </a:xfrm>
          <a:prstGeom prst="rect">
            <a:avLst/>
          </a:prstGeom>
        </p:spPr>
        <p:txBody>
          <a:bodyPr wrap="square">
            <a:spAutoFit/>
          </a:bodyPr>
          <a:lstStyle/>
          <a:p>
            <a:r>
              <a:rPr lang="en-US" sz="1600" dirty="0">
                <a:latin typeface="Franklin Gothic Medium" panose="020B0603020102020204" pitchFamily="34" charset="0"/>
              </a:rPr>
              <a:t>Name generators are mostly used in studies of egocentric networks where survey questionnaires collect information from each ego respondent about relationships among a set of alters with whom ego has direct contact. Egocentric network researchers rely on two survey instruments: </a:t>
            </a:r>
            <a:r>
              <a:rPr lang="en-US" sz="1600" b="1" i="1" dirty="0">
                <a:latin typeface="Franklin Gothic Medium" panose="020B0603020102020204" pitchFamily="34" charset="0"/>
              </a:rPr>
              <a:t>name generators</a:t>
            </a:r>
            <a:r>
              <a:rPr lang="en-US" sz="1600" dirty="0">
                <a:latin typeface="Franklin Gothic Medium" panose="020B0603020102020204" pitchFamily="34" charset="0"/>
              </a:rPr>
              <a:t> and </a:t>
            </a:r>
            <a:r>
              <a:rPr lang="en-US" sz="1600" b="1" i="1" dirty="0">
                <a:latin typeface="Franklin Gothic Medium" panose="020B0603020102020204" pitchFamily="34" charset="0"/>
              </a:rPr>
              <a:t>name interpreters.</a:t>
            </a:r>
          </a:p>
          <a:p>
            <a:endParaRPr lang="en-US" sz="1600" b="1" i="1" dirty="0">
              <a:latin typeface="Franklin Gothic Medium" panose="020B0603020102020204" pitchFamily="34" charset="0"/>
            </a:endParaRPr>
          </a:p>
          <a:p>
            <a:r>
              <a:rPr lang="en-US" sz="1600" dirty="0">
                <a:latin typeface="Franklin Gothic Medium" panose="020B0603020102020204" pitchFamily="34" charset="0"/>
              </a:rPr>
              <a:t>Name generator identifies a respondent’s alters. It</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is</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a</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survey</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item</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used</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to</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collect</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information</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of</a:t>
            </a:r>
            <a:r>
              <a:rPr lang="ko-KR" altLang="en-US" sz="1600" dirty="0">
                <a:latin typeface="Franklin Gothic Medium" panose="020B0603020102020204" pitchFamily="34" charset="0"/>
              </a:rPr>
              <a:t> </a:t>
            </a:r>
            <a:r>
              <a:rPr lang="en-US" altLang="ko-KR" sz="1600" dirty="0">
                <a:latin typeface="Franklin Gothic Medium" panose="020B0603020102020204" pitchFamily="34" charset="0"/>
              </a:rPr>
              <a:t>actors. N</a:t>
            </a:r>
            <a:r>
              <a:rPr lang="en-US" sz="1600" dirty="0">
                <a:latin typeface="Franklin Gothic Medium" panose="020B0603020102020204" pitchFamily="34" charset="0"/>
              </a:rPr>
              <a:t>ame interpreters obtain information on each alter and the relations among them and with ego. </a:t>
            </a:r>
            <a:endParaRPr lang="en-US" sz="1600" b="1" i="1" dirty="0">
              <a:latin typeface="Franklin Gothic Medium" panose="020B0603020102020204" pitchFamily="34" charset="0"/>
            </a:endParaRPr>
          </a:p>
        </p:txBody>
      </p:sp>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2. Data Collection Procedures</a:t>
            </a:r>
            <a:endParaRPr lang="en-US" sz="3800" i="1" dirty="0">
              <a:latin typeface="Franklin Gothic Medium" panose="020B0603020102020204" pitchFamily="34" charset="0"/>
            </a:endParaRPr>
          </a:p>
        </p:txBody>
      </p:sp>
      <p:sp>
        <p:nvSpPr>
          <p:cNvPr id="6" name="제목 4">
            <a:extLst>
              <a:ext uri="{FF2B5EF4-FFF2-40B4-BE49-F238E27FC236}">
                <a16:creationId xmlns:a16="http://schemas.microsoft.com/office/drawing/2014/main" id="{57D6EC72-98C7-48A9-A8F6-8EE8375BADE1}"/>
              </a:ext>
            </a:extLst>
          </p:cNvPr>
          <p:cNvSpPr txBox="1">
            <a:spLocks/>
          </p:cNvSpPr>
          <p:nvPr/>
        </p:nvSpPr>
        <p:spPr>
          <a:xfrm>
            <a:off x="140985" y="983087"/>
            <a:ext cx="4288971"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Single and Multiple Name Generators</a:t>
            </a:r>
          </a:p>
        </p:txBody>
      </p:sp>
      <p:sp>
        <p:nvSpPr>
          <p:cNvPr id="7" name="제목 4">
            <a:extLst>
              <a:ext uri="{FF2B5EF4-FFF2-40B4-BE49-F238E27FC236}">
                <a16:creationId xmlns:a16="http://schemas.microsoft.com/office/drawing/2014/main" id="{783FE57C-EEB0-4528-A166-85DE4C94830F}"/>
              </a:ext>
            </a:extLst>
          </p:cNvPr>
          <p:cNvSpPr txBox="1">
            <a:spLocks/>
          </p:cNvSpPr>
          <p:nvPr/>
        </p:nvSpPr>
        <p:spPr>
          <a:xfrm>
            <a:off x="308813" y="3251756"/>
            <a:ext cx="10680894" cy="20304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latin typeface="Franklin Gothic Medium" panose="020B0603020102020204" pitchFamily="34" charset="0"/>
              </a:rPr>
              <a:t>Single Name Generator: </a:t>
            </a:r>
            <a:r>
              <a:rPr lang="en-US" sz="1600" dirty="0">
                <a:latin typeface="Franklin Gothic Medium" panose="020B0603020102020204" pitchFamily="34" charset="0"/>
              </a:rPr>
              <a:t>Relies on one questionnaire item to elicit the alters’ names. It can produce a core set of alters, 		      but only fraction of the contacts identified by using multiple name generators.</a:t>
            </a:r>
          </a:p>
          <a:p>
            <a:endParaRPr lang="en-US" sz="1600" b="1" dirty="0">
              <a:latin typeface="Franklin Gothic Medium" panose="020B0603020102020204" pitchFamily="34" charset="0"/>
            </a:endParaRPr>
          </a:p>
          <a:p>
            <a:endParaRPr lang="en-US" sz="1600" b="1" dirty="0">
              <a:latin typeface="Franklin Gothic Medium" panose="020B0603020102020204" pitchFamily="34" charset="0"/>
            </a:endParaRPr>
          </a:p>
          <a:p>
            <a:r>
              <a:rPr lang="en-US" sz="1600" b="1" dirty="0">
                <a:latin typeface="Franklin Gothic Medium" panose="020B0603020102020204" pitchFamily="34" charset="0"/>
              </a:rPr>
              <a:t>Multiple Name Generator: </a:t>
            </a:r>
            <a:r>
              <a:rPr lang="en-US" sz="1600" dirty="0">
                <a:latin typeface="Franklin Gothic Medium" panose="020B0603020102020204" pitchFamily="34" charset="0"/>
              </a:rPr>
              <a:t>Includes multiple questionnaire items </a:t>
            </a:r>
            <a:endParaRPr lang="en-US" sz="1600" b="1" dirty="0">
              <a:latin typeface="Franklin Gothic Medium" panose="020B0603020102020204" pitchFamily="34" charset="0"/>
            </a:endParaRPr>
          </a:p>
        </p:txBody>
      </p:sp>
    </p:spTree>
    <p:extLst>
      <p:ext uri="{BB962C8B-B14F-4D97-AF65-F5344CB8AC3E}">
        <p14:creationId xmlns:p14="http://schemas.microsoft.com/office/powerpoint/2010/main" val="4026978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2. Data Collection Procedures</a:t>
            </a:r>
            <a:endParaRPr lang="en-US" sz="3800" i="1" dirty="0">
              <a:latin typeface="Franklin Gothic Medium" panose="020B0603020102020204" pitchFamily="34" charset="0"/>
            </a:endParaRPr>
          </a:p>
        </p:txBody>
      </p:sp>
      <p:sp>
        <p:nvSpPr>
          <p:cNvPr id="6" name="제목 4">
            <a:extLst>
              <a:ext uri="{FF2B5EF4-FFF2-40B4-BE49-F238E27FC236}">
                <a16:creationId xmlns:a16="http://schemas.microsoft.com/office/drawing/2014/main" id="{57D6EC72-98C7-48A9-A8F6-8EE8375BADE1}"/>
              </a:ext>
            </a:extLst>
          </p:cNvPr>
          <p:cNvSpPr txBox="1">
            <a:spLocks/>
          </p:cNvSpPr>
          <p:nvPr/>
        </p:nvSpPr>
        <p:spPr>
          <a:xfrm>
            <a:off x="140985" y="983087"/>
            <a:ext cx="4288971"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Single and Multiple Name Generators</a:t>
            </a:r>
          </a:p>
        </p:txBody>
      </p:sp>
      <p:sp>
        <p:nvSpPr>
          <p:cNvPr id="2" name="직사각형 1">
            <a:extLst>
              <a:ext uri="{FF2B5EF4-FFF2-40B4-BE49-F238E27FC236}">
                <a16:creationId xmlns:a16="http://schemas.microsoft.com/office/drawing/2014/main" id="{B51181F1-4965-4796-AFFB-2A612CE56518}"/>
              </a:ext>
            </a:extLst>
          </p:cNvPr>
          <p:cNvSpPr/>
          <p:nvPr/>
        </p:nvSpPr>
        <p:spPr>
          <a:xfrm>
            <a:off x="611502" y="1798599"/>
            <a:ext cx="10245888" cy="646331"/>
          </a:xfrm>
          <a:prstGeom prst="rect">
            <a:avLst/>
          </a:prstGeom>
        </p:spPr>
        <p:txBody>
          <a:bodyPr wrap="square">
            <a:spAutoFit/>
          </a:bodyPr>
          <a:lstStyle/>
          <a:p>
            <a:endParaRPr lang="en-US" b="1" dirty="0">
              <a:latin typeface="Franklin Gothic Medium" panose="020B0603020102020204" pitchFamily="34" charset="0"/>
            </a:endParaRPr>
          </a:p>
          <a:p>
            <a:r>
              <a:rPr lang="en-US" b="1" dirty="0">
                <a:latin typeface="Franklin Gothic Medium" panose="020B0603020102020204" pitchFamily="34" charset="0"/>
              </a:rPr>
              <a:t>4 types of constraints used to build name generators   </a:t>
            </a:r>
            <a:r>
              <a:rPr lang="en-US" sz="1400" i="1" dirty="0">
                <a:latin typeface="Franklin Gothic Medium" panose="020B0603020102020204" pitchFamily="34" charset="0"/>
              </a:rPr>
              <a:t>(Campbell &amp; Lee  1991)</a:t>
            </a:r>
            <a:endParaRPr lang="en-US" i="1" dirty="0">
              <a:latin typeface="Franklin Gothic Medium" panose="020B0603020102020204" pitchFamily="34" charset="0"/>
            </a:endParaRPr>
          </a:p>
        </p:txBody>
      </p:sp>
      <p:sp>
        <p:nvSpPr>
          <p:cNvPr id="8" name="직사각형 7">
            <a:extLst>
              <a:ext uri="{FF2B5EF4-FFF2-40B4-BE49-F238E27FC236}">
                <a16:creationId xmlns:a16="http://schemas.microsoft.com/office/drawing/2014/main" id="{50E23242-9263-4D32-B1F5-1E223CCE04DB}"/>
              </a:ext>
            </a:extLst>
          </p:cNvPr>
          <p:cNvSpPr/>
          <p:nvPr/>
        </p:nvSpPr>
        <p:spPr>
          <a:xfrm>
            <a:off x="543674" y="2593020"/>
            <a:ext cx="11290260" cy="2031325"/>
          </a:xfrm>
          <a:prstGeom prst="rect">
            <a:avLst/>
          </a:prstGeom>
        </p:spPr>
        <p:txBody>
          <a:bodyPr wrap="square">
            <a:spAutoFit/>
          </a:bodyPr>
          <a:lstStyle/>
          <a:p>
            <a:pPr marL="285750" indent="-285750">
              <a:buFontTx/>
              <a:buChar char="-"/>
            </a:pPr>
            <a:r>
              <a:rPr lang="en-US" dirty="0">
                <a:latin typeface="Franklin Gothic Medium" panose="020B0603020102020204" pitchFamily="34" charset="0"/>
              </a:rPr>
              <a:t>Role/content constraint:    </a:t>
            </a:r>
            <a:r>
              <a:rPr lang="en-US" sz="1600" dirty="0">
                <a:latin typeface="Franklin Gothic Medium" panose="020B0603020102020204" pitchFamily="34" charset="0"/>
              </a:rPr>
              <a:t>Guide respondents to focus on only one or few types of relations in nominating their contacts</a:t>
            </a:r>
            <a:endParaRPr lang="en-US" dirty="0">
              <a:latin typeface="Franklin Gothic Medium" panose="020B0603020102020204" pitchFamily="34" charset="0"/>
            </a:endParaRPr>
          </a:p>
          <a:p>
            <a:pPr marL="285750" indent="-285750">
              <a:buFontTx/>
              <a:buChar char="-"/>
            </a:pPr>
            <a:endParaRPr lang="en-US" dirty="0">
              <a:latin typeface="Franklin Gothic Medium" panose="020B0603020102020204" pitchFamily="34" charset="0"/>
            </a:endParaRPr>
          </a:p>
          <a:p>
            <a:pPr marL="285750" indent="-285750">
              <a:buFontTx/>
              <a:buChar char="-"/>
            </a:pPr>
            <a:r>
              <a:rPr lang="en-US" dirty="0">
                <a:latin typeface="Franklin Gothic Medium" panose="020B0603020102020204" pitchFamily="34" charset="0"/>
              </a:rPr>
              <a:t>Geographical constraint:    </a:t>
            </a:r>
            <a:r>
              <a:rPr lang="en-US" sz="1600" dirty="0">
                <a:latin typeface="Franklin Gothic Medium" panose="020B0603020102020204" pitchFamily="34" charset="0"/>
              </a:rPr>
              <a:t>Restrict nomination to people residing within specific area</a:t>
            </a:r>
            <a:endParaRPr lang="en-US" dirty="0">
              <a:latin typeface="Franklin Gothic Medium" panose="020B0603020102020204" pitchFamily="34" charset="0"/>
            </a:endParaRPr>
          </a:p>
          <a:p>
            <a:pPr marL="285750" indent="-285750">
              <a:buFontTx/>
              <a:buChar char="-"/>
            </a:pPr>
            <a:endParaRPr lang="en-US" dirty="0">
              <a:latin typeface="Franklin Gothic Medium" panose="020B0603020102020204" pitchFamily="34" charset="0"/>
            </a:endParaRPr>
          </a:p>
          <a:p>
            <a:pPr marL="285750" indent="-285750">
              <a:buFontTx/>
              <a:buChar char="-"/>
            </a:pPr>
            <a:r>
              <a:rPr lang="en-US" dirty="0">
                <a:latin typeface="Franklin Gothic Medium" panose="020B0603020102020204" pitchFamily="34" charset="0"/>
              </a:rPr>
              <a:t>Temporal constraint:           </a:t>
            </a:r>
            <a:r>
              <a:rPr lang="en-US" sz="1600" dirty="0">
                <a:latin typeface="Franklin Gothic Medium" panose="020B0603020102020204" pitchFamily="34" charset="0"/>
              </a:rPr>
              <a:t>Require respondent to name their contacts within a certain retrospective period</a:t>
            </a:r>
            <a:endParaRPr lang="en-US" dirty="0">
              <a:latin typeface="Franklin Gothic Medium" panose="020B0603020102020204" pitchFamily="34" charset="0"/>
            </a:endParaRPr>
          </a:p>
          <a:p>
            <a:pPr marL="285750" indent="-285750">
              <a:buFontTx/>
              <a:buChar char="-"/>
            </a:pPr>
            <a:endParaRPr lang="en-US" dirty="0">
              <a:latin typeface="Franklin Gothic Medium" panose="020B0603020102020204" pitchFamily="34" charset="0"/>
            </a:endParaRPr>
          </a:p>
          <a:p>
            <a:pPr marL="285750" indent="-285750">
              <a:buFontTx/>
              <a:buChar char="-"/>
            </a:pPr>
            <a:r>
              <a:rPr lang="en-US" dirty="0">
                <a:latin typeface="Franklin Gothic Medium" panose="020B0603020102020204" pitchFamily="34" charset="0"/>
              </a:rPr>
              <a:t>Numerical constraint:         </a:t>
            </a:r>
            <a:r>
              <a:rPr lang="en-US" sz="1600" dirty="0">
                <a:latin typeface="Franklin Gothic Medium" panose="020B0603020102020204" pitchFamily="34" charset="0"/>
              </a:rPr>
              <a:t>Limits respondent to name only N number of people to fit the criteria</a:t>
            </a:r>
          </a:p>
        </p:txBody>
      </p:sp>
    </p:spTree>
    <p:extLst>
      <p:ext uri="{BB962C8B-B14F-4D97-AF65-F5344CB8AC3E}">
        <p14:creationId xmlns:p14="http://schemas.microsoft.com/office/powerpoint/2010/main" val="780929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70307" y="89917"/>
            <a:ext cx="8653591" cy="1255990"/>
          </a:xfrm>
        </p:spPr>
        <p:txBody>
          <a:bodyPr>
            <a:normAutofit/>
          </a:bodyPr>
          <a:lstStyle/>
          <a:p>
            <a:r>
              <a:rPr lang="en-US" sz="3800" dirty="0">
                <a:latin typeface="Franklin Gothic Medium" panose="020B0603020102020204" pitchFamily="34" charset="0"/>
              </a:rPr>
              <a:t>2. Data Collection Procedures</a:t>
            </a:r>
            <a:endParaRPr lang="en-US" sz="3800" i="1" dirty="0">
              <a:latin typeface="Franklin Gothic Medium" panose="020B0603020102020204" pitchFamily="34" charset="0"/>
            </a:endParaRPr>
          </a:p>
        </p:txBody>
      </p:sp>
      <p:sp>
        <p:nvSpPr>
          <p:cNvPr id="9" name="제목 4">
            <a:extLst>
              <a:ext uri="{FF2B5EF4-FFF2-40B4-BE49-F238E27FC236}">
                <a16:creationId xmlns:a16="http://schemas.microsoft.com/office/drawing/2014/main" id="{9581314C-1D94-44DD-B390-F67836EC5847}"/>
              </a:ext>
            </a:extLst>
          </p:cNvPr>
          <p:cNvSpPr txBox="1">
            <a:spLocks/>
          </p:cNvSpPr>
          <p:nvPr/>
        </p:nvSpPr>
        <p:spPr>
          <a:xfrm>
            <a:off x="167618" y="1426507"/>
            <a:ext cx="6641555"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Positional Generators and Resource Generators</a:t>
            </a:r>
          </a:p>
        </p:txBody>
      </p:sp>
      <p:sp>
        <p:nvSpPr>
          <p:cNvPr id="7" name="직사각형 6">
            <a:extLst>
              <a:ext uri="{FF2B5EF4-FFF2-40B4-BE49-F238E27FC236}">
                <a16:creationId xmlns:a16="http://schemas.microsoft.com/office/drawing/2014/main" id="{F6673FF4-A656-4622-8E89-856E96D648C2}"/>
              </a:ext>
            </a:extLst>
          </p:cNvPr>
          <p:cNvSpPr/>
          <p:nvPr/>
        </p:nvSpPr>
        <p:spPr>
          <a:xfrm>
            <a:off x="362106" y="2789213"/>
            <a:ext cx="11192606" cy="584775"/>
          </a:xfrm>
          <a:prstGeom prst="rect">
            <a:avLst/>
          </a:prstGeom>
        </p:spPr>
        <p:txBody>
          <a:bodyPr wrap="square">
            <a:spAutoFit/>
          </a:bodyPr>
          <a:lstStyle/>
          <a:p>
            <a:r>
              <a:rPr lang="en-US" sz="1600" b="1" dirty="0">
                <a:latin typeface="Franklin Gothic Medium" panose="020B0603020102020204" pitchFamily="34" charset="0"/>
              </a:rPr>
              <a:t>Positional Generators:   </a:t>
            </a:r>
            <a:r>
              <a:rPr lang="en-US" sz="1600" dirty="0">
                <a:latin typeface="Franklin Gothic Medium" panose="020B0603020102020204" pitchFamily="34" charset="0"/>
              </a:rPr>
              <a:t>Ask respondents whether they have contacts in certain social positions. (Occupation, </a:t>
            </a:r>
            <a:r>
              <a:rPr lang="en-US" sz="1600" dirty="0" err="1">
                <a:latin typeface="Franklin Gothic Medium" panose="020B0603020102020204" pitchFamily="34" charset="0"/>
              </a:rPr>
              <a:t>etc</a:t>
            </a:r>
            <a:r>
              <a:rPr lang="en-US" sz="1600" dirty="0">
                <a:latin typeface="Franklin Gothic Medium" panose="020B0603020102020204" pitchFamily="34" charset="0"/>
              </a:rPr>
              <a:t>) It produces 			     egocentric networks measuring personal connections to several occupations in hierarchical ladders.</a:t>
            </a:r>
            <a:endParaRPr lang="en-US" sz="1600" b="1" i="1" dirty="0">
              <a:latin typeface="Franklin Gothic Medium" panose="020B0603020102020204" pitchFamily="34" charset="0"/>
            </a:endParaRPr>
          </a:p>
        </p:txBody>
      </p:sp>
      <p:sp>
        <p:nvSpPr>
          <p:cNvPr id="8" name="제목 4">
            <a:extLst>
              <a:ext uri="{FF2B5EF4-FFF2-40B4-BE49-F238E27FC236}">
                <a16:creationId xmlns:a16="http://schemas.microsoft.com/office/drawing/2014/main" id="{049B65F9-F5E1-4170-86E1-947EEC3CDCBD}"/>
              </a:ext>
            </a:extLst>
          </p:cNvPr>
          <p:cNvSpPr txBox="1">
            <a:spLocks/>
          </p:cNvSpPr>
          <p:nvPr/>
        </p:nvSpPr>
        <p:spPr>
          <a:xfrm>
            <a:off x="566292" y="2000727"/>
            <a:ext cx="11059416"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dirty="0">
                <a:latin typeface="Franklin Gothic Medium" panose="020B0603020102020204" pitchFamily="34" charset="0"/>
              </a:rPr>
              <a:t>These generators are used to identify ego’s network of social resources, which is defined as access to resources</a:t>
            </a:r>
          </a:p>
          <a:p>
            <a:r>
              <a:rPr lang="en-US" sz="1600" dirty="0">
                <a:latin typeface="Franklin Gothic Medium" panose="020B0603020102020204" pitchFamily="34" charset="0"/>
              </a:rPr>
              <a:t> that is embedded in hierarchical formation of wealth, power, and status</a:t>
            </a:r>
          </a:p>
        </p:txBody>
      </p:sp>
      <p:sp>
        <p:nvSpPr>
          <p:cNvPr id="10" name="직사각형 9">
            <a:extLst>
              <a:ext uri="{FF2B5EF4-FFF2-40B4-BE49-F238E27FC236}">
                <a16:creationId xmlns:a16="http://schemas.microsoft.com/office/drawing/2014/main" id="{93AACD0D-179D-427F-82F5-0E418A352083}"/>
              </a:ext>
            </a:extLst>
          </p:cNvPr>
          <p:cNvSpPr/>
          <p:nvPr/>
        </p:nvSpPr>
        <p:spPr>
          <a:xfrm>
            <a:off x="362106" y="3736420"/>
            <a:ext cx="11192606" cy="584775"/>
          </a:xfrm>
          <a:prstGeom prst="rect">
            <a:avLst/>
          </a:prstGeom>
        </p:spPr>
        <p:txBody>
          <a:bodyPr wrap="square">
            <a:spAutoFit/>
          </a:bodyPr>
          <a:lstStyle/>
          <a:p>
            <a:r>
              <a:rPr lang="en-US" sz="1600" b="1" dirty="0">
                <a:latin typeface="Franklin Gothic Medium" panose="020B0603020102020204" pitchFamily="34" charset="0"/>
              </a:rPr>
              <a:t>Resource Generators: </a:t>
            </a:r>
            <a:r>
              <a:rPr lang="en-US" sz="1600" dirty="0">
                <a:latin typeface="Franklin Gothic Medium" panose="020B0603020102020204" pitchFamily="34" charset="0"/>
              </a:rPr>
              <a:t> This generator is more resource-focused. It asks respondents whether people know anybody useful for 			   special purpose or resources. The question typically starts with, “Do you know anybody who can … “</a:t>
            </a:r>
            <a:endParaRPr lang="en-US" sz="1600" b="1" i="1" dirty="0">
              <a:latin typeface="Franklin Gothic Medium" panose="020B0603020102020204" pitchFamily="34" charset="0"/>
            </a:endParaRPr>
          </a:p>
        </p:txBody>
      </p:sp>
      <p:sp>
        <p:nvSpPr>
          <p:cNvPr id="11" name="제목 4">
            <a:extLst>
              <a:ext uri="{FF2B5EF4-FFF2-40B4-BE49-F238E27FC236}">
                <a16:creationId xmlns:a16="http://schemas.microsoft.com/office/drawing/2014/main" id="{35DFF206-DBC9-47BB-B779-0DF72B1CDC65}"/>
              </a:ext>
            </a:extLst>
          </p:cNvPr>
          <p:cNvSpPr txBox="1">
            <a:spLocks/>
          </p:cNvSpPr>
          <p:nvPr/>
        </p:nvSpPr>
        <p:spPr>
          <a:xfrm>
            <a:off x="495296" y="5077549"/>
            <a:ext cx="11383026" cy="11456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dirty="0">
                <a:latin typeface="Franklin Gothic Medium" panose="020B0603020102020204" pitchFamily="34" charset="0"/>
              </a:rPr>
              <a:t>The two generators may product similar result, but access to information (positional) and access to instrumental support (resource) sometimes correlates only weakly. Thus, it can be said that the two generators comprise distinct dimensions of social capital.                 </a:t>
            </a:r>
          </a:p>
          <a:p>
            <a:r>
              <a:rPr lang="en-US" sz="1400" i="1" dirty="0">
                <a:latin typeface="Franklin Gothic Medium" panose="020B0603020102020204" pitchFamily="34" charset="0"/>
              </a:rPr>
              <a:t>                            				  (Van der </a:t>
            </a:r>
            <a:r>
              <a:rPr lang="en-US" sz="1400" i="1" dirty="0" err="1">
                <a:latin typeface="Franklin Gothic Medium" panose="020B0603020102020204" pitchFamily="34" charset="0"/>
              </a:rPr>
              <a:t>Gaag</a:t>
            </a:r>
            <a:r>
              <a:rPr lang="en-US" sz="1400" i="1" dirty="0">
                <a:latin typeface="Franklin Gothic Medium" panose="020B0603020102020204" pitchFamily="34" charset="0"/>
              </a:rPr>
              <a:t> &amp; </a:t>
            </a:r>
            <a:r>
              <a:rPr lang="en-US" sz="1400" i="1" dirty="0" err="1">
                <a:latin typeface="Franklin Gothic Medium" panose="020B0603020102020204" pitchFamily="34" charset="0"/>
              </a:rPr>
              <a:t>Snijders</a:t>
            </a:r>
            <a:r>
              <a:rPr lang="en-US" sz="1400" i="1" dirty="0">
                <a:latin typeface="Franklin Gothic Medium" panose="020B0603020102020204" pitchFamily="34" charset="0"/>
              </a:rPr>
              <a:t>, 2004 / Lin and </a:t>
            </a:r>
            <a:r>
              <a:rPr lang="en-US" sz="1400" i="1" dirty="0" err="1">
                <a:latin typeface="Franklin Gothic Medium" panose="020B0603020102020204" pitchFamily="34" charset="0"/>
              </a:rPr>
              <a:t>Dumin’s</a:t>
            </a:r>
            <a:r>
              <a:rPr lang="en-US" sz="1400" i="1" dirty="0">
                <a:latin typeface="Franklin Gothic Medium" panose="020B0603020102020204" pitchFamily="34" charset="0"/>
              </a:rPr>
              <a:t> positional generator, 1986)</a:t>
            </a:r>
            <a:endParaRPr lang="en-US" sz="1600" i="1" dirty="0">
              <a:latin typeface="Franklin Gothic Medium" panose="020B0603020102020204" pitchFamily="34" charset="0"/>
            </a:endParaRPr>
          </a:p>
        </p:txBody>
      </p:sp>
    </p:spTree>
    <p:extLst>
      <p:ext uri="{BB962C8B-B14F-4D97-AF65-F5344CB8AC3E}">
        <p14:creationId xmlns:p14="http://schemas.microsoft.com/office/powerpoint/2010/main" val="1535150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2. Data Collection Procedures</a:t>
            </a:r>
            <a:endParaRPr lang="en-US" sz="3800" i="1" dirty="0">
              <a:latin typeface="Franklin Gothic Medium" panose="020B0603020102020204" pitchFamily="34" charset="0"/>
            </a:endParaRPr>
          </a:p>
        </p:txBody>
      </p:sp>
      <p:sp>
        <p:nvSpPr>
          <p:cNvPr id="14" name="제목 4">
            <a:extLst>
              <a:ext uri="{FF2B5EF4-FFF2-40B4-BE49-F238E27FC236}">
                <a16:creationId xmlns:a16="http://schemas.microsoft.com/office/drawing/2014/main" id="{506746E5-D9DC-4D3F-907C-57F94B82BDF0}"/>
              </a:ext>
            </a:extLst>
          </p:cNvPr>
          <p:cNvSpPr txBox="1">
            <a:spLocks/>
          </p:cNvSpPr>
          <p:nvPr/>
        </p:nvSpPr>
        <p:spPr>
          <a:xfrm>
            <a:off x="140984" y="1313522"/>
            <a:ext cx="6641555"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Measuring total personal network</a:t>
            </a:r>
          </a:p>
        </p:txBody>
      </p:sp>
      <p:sp>
        <p:nvSpPr>
          <p:cNvPr id="10" name="직사각형 9">
            <a:extLst>
              <a:ext uri="{FF2B5EF4-FFF2-40B4-BE49-F238E27FC236}">
                <a16:creationId xmlns:a16="http://schemas.microsoft.com/office/drawing/2014/main" id="{F22848C4-71D6-4714-AC33-E959A6D1BF95}"/>
              </a:ext>
            </a:extLst>
          </p:cNvPr>
          <p:cNvSpPr/>
          <p:nvPr/>
        </p:nvSpPr>
        <p:spPr>
          <a:xfrm>
            <a:off x="566292" y="2223340"/>
            <a:ext cx="11192606" cy="830997"/>
          </a:xfrm>
          <a:prstGeom prst="rect">
            <a:avLst/>
          </a:prstGeom>
        </p:spPr>
        <p:txBody>
          <a:bodyPr wrap="square">
            <a:spAutoFit/>
          </a:bodyPr>
          <a:lstStyle/>
          <a:p>
            <a:r>
              <a:rPr lang="en-US" sz="1600" b="1" i="1" dirty="0">
                <a:latin typeface="Franklin Gothic Medium" panose="020B0603020102020204" pitchFamily="34" charset="0"/>
              </a:rPr>
              <a:t>Total personal network </a:t>
            </a:r>
            <a:r>
              <a:rPr lang="en-US" sz="1600" dirty="0">
                <a:latin typeface="Franklin Gothic Medium" panose="020B0603020102020204" pitchFamily="34" charset="0"/>
              </a:rPr>
              <a:t>is defined as all the alters known to ego. There are two types of method used to measure the total personal network: checklist method and reverse small world method (RSW). In the checklist method, researchers randomly select several names and then interviewers read those names to randomly selected respondents </a:t>
            </a:r>
            <a:endParaRPr lang="en-US" sz="1600" b="1" i="1" dirty="0">
              <a:latin typeface="Franklin Gothic Medium" panose="020B0603020102020204" pitchFamily="34" charset="0"/>
            </a:endParaRPr>
          </a:p>
        </p:txBody>
      </p:sp>
      <p:sp>
        <p:nvSpPr>
          <p:cNvPr id="7" name="제목 4">
            <a:extLst>
              <a:ext uri="{FF2B5EF4-FFF2-40B4-BE49-F238E27FC236}">
                <a16:creationId xmlns:a16="http://schemas.microsoft.com/office/drawing/2014/main" id="{E65D5F2F-7881-4056-B802-79B9E08A10ED}"/>
              </a:ext>
            </a:extLst>
          </p:cNvPr>
          <p:cNvSpPr txBox="1">
            <a:spLocks/>
          </p:cNvSpPr>
          <p:nvPr/>
        </p:nvSpPr>
        <p:spPr>
          <a:xfrm>
            <a:off x="212006" y="3203560"/>
            <a:ext cx="2335885" cy="4416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Checklist method</a:t>
            </a:r>
          </a:p>
        </p:txBody>
      </p:sp>
      <p:sp>
        <p:nvSpPr>
          <p:cNvPr id="8" name="직사각형 7">
            <a:extLst>
              <a:ext uri="{FF2B5EF4-FFF2-40B4-BE49-F238E27FC236}">
                <a16:creationId xmlns:a16="http://schemas.microsoft.com/office/drawing/2014/main" id="{40699D71-7606-40FE-A117-B54A5B1376DD}"/>
              </a:ext>
            </a:extLst>
          </p:cNvPr>
          <p:cNvSpPr/>
          <p:nvPr/>
        </p:nvSpPr>
        <p:spPr>
          <a:xfrm>
            <a:off x="566292" y="3750588"/>
            <a:ext cx="11192606" cy="1077218"/>
          </a:xfrm>
          <a:prstGeom prst="rect">
            <a:avLst/>
          </a:prstGeom>
        </p:spPr>
        <p:txBody>
          <a:bodyPr wrap="square">
            <a:spAutoFit/>
          </a:bodyPr>
          <a:lstStyle/>
          <a:p>
            <a:r>
              <a:rPr lang="en-US" sz="1600" dirty="0">
                <a:latin typeface="Franklin Gothic Medium" panose="020B0603020102020204" pitchFamily="34" charset="0"/>
              </a:rPr>
              <a:t>Researchers first select several names and interviewers read those names to randomly selected respondents. If they do recognize, name interpreter is used to elicit information about that alter. This approach underrepresented blacks, Hispanics, and Asians, but it is superior to other approaches in capturing a much more representative sample. It can produce the largest network. </a:t>
            </a:r>
          </a:p>
        </p:txBody>
      </p:sp>
      <p:sp>
        <p:nvSpPr>
          <p:cNvPr id="9" name="제목 4">
            <a:extLst>
              <a:ext uri="{FF2B5EF4-FFF2-40B4-BE49-F238E27FC236}">
                <a16:creationId xmlns:a16="http://schemas.microsoft.com/office/drawing/2014/main" id="{74A913A7-28DE-4A9A-8B77-52AFDCDA3BC8}"/>
              </a:ext>
            </a:extLst>
          </p:cNvPr>
          <p:cNvSpPr txBox="1">
            <a:spLocks/>
          </p:cNvSpPr>
          <p:nvPr/>
        </p:nvSpPr>
        <p:spPr>
          <a:xfrm>
            <a:off x="212006" y="4686949"/>
            <a:ext cx="3072732" cy="9396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Reverse Small World Method (RSW)</a:t>
            </a:r>
          </a:p>
        </p:txBody>
      </p:sp>
      <p:sp>
        <p:nvSpPr>
          <p:cNvPr id="11" name="직사각형 10">
            <a:extLst>
              <a:ext uri="{FF2B5EF4-FFF2-40B4-BE49-F238E27FC236}">
                <a16:creationId xmlns:a16="http://schemas.microsoft.com/office/drawing/2014/main" id="{76FCA9FA-3372-4B0E-9CE1-92D423DF2B52}"/>
              </a:ext>
            </a:extLst>
          </p:cNvPr>
          <p:cNvSpPr/>
          <p:nvPr/>
        </p:nvSpPr>
        <p:spPr>
          <a:xfrm>
            <a:off x="566292" y="5481734"/>
            <a:ext cx="11192606" cy="830997"/>
          </a:xfrm>
          <a:prstGeom prst="rect">
            <a:avLst/>
          </a:prstGeom>
        </p:spPr>
        <p:txBody>
          <a:bodyPr wrap="square">
            <a:spAutoFit/>
          </a:bodyPr>
          <a:lstStyle/>
          <a:p>
            <a:r>
              <a:rPr lang="en-US" sz="1600" dirty="0">
                <a:latin typeface="Franklin Gothic Medium" panose="020B0603020102020204" pitchFamily="34" charset="0"/>
              </a:rPr>
              <a:t>Researchers create fictitious targets, persons with invented names and randomly assigned traits. Then, task informants to identify all alters whom they believe could either directly deliver message or be a link in a chain to the target. The RSW method can only capture a portion of individual’s total network. </a:t>
            </a:r>
            <a:r>
              <a:rPr lang="en-US" sz="1400" i="1" dirty="0">
                <a:latin typeface="Franklin Gothic Medium" panose="020B0603020102020204" pitchFamily="34" charset="0"/>
              </a:rPr>
              <a:t>(Freeman and Thompson 1989)</a:t>
            </a:r>
            <a:r>
              <a:rPr lang="en-US" sz="1600" dirty="0">
                <a:latin typeface="Franklin Gothic Medium" panose="020B0603020102020204" pitchFamily="34" charset="0"/>
              </a:rPr>
              <a:t> </a:t>
            </a:r>
          </a:p>
        </p:txBody>
      </p:sp>
    </p:spTree>
    <p:extLst>
      <p:ext uri="{BB962C8B-B14F-4D97-AF65-F5344CB8AC3E}">
        <p14:creationId xmlns:p14="http://schemas.microsoft.com/office/powerpoint/2010/main" val="3426212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2. Data Collection Procedures</a:t>
            </a:r>
            <a:endParaRPr lang="en-US" sz="3800" i="1" dirty="0">
              <a:latin typeface="Franklin Gothic Medium" panose="020B0603020102020204" pitchFamily="34" charset="0"/>
            </a:endParaRPr>
          </a:p>
        </p:txBody>
      </p:sp>
      <p:sp>
        <p:nvSpPr>
          <p:cNvPr id="15" name="제목 4">
            <a:extLst>
              <a:ext uri="{FF2B5EF4-FFF2-40B4-BE49-F238E27FC236}">
                <a16:creationId xmlns:a16="http://schemas.microsoft.com/office/drawing/2014/main" id="{558FA9FC-548E-4BF1-B178-FFD0DF7029C9}"/>
              </a:ext>
            </a:extLst>
          </p:cNvPr>
          <p:cNvSpPr txBox="1">
            <a:spLocks/>
          </p:cNvSpPr>
          <p:nvPr/>
        </p:nvSpPr>
        <p:spPr>
          <a:xfrm>
            <a:off x="140985" y="1448447"/>
            <a:ext cx="6641555"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Archival Documents</a:t>
            </a:r>
          </a:p>
        </p:txBody>
      </p:sp>
      <p:sp>
        <p:nvSpPr>
          <p:cNvPr id="16" name="직사각형 15">
            <a:extLst>
              <a:ext uri="{FF2B5EF4-FFF2-40B4-BE49-F238E27FC236}">
                <a16:creationId xmlns:a16="http://schemas.microsoft.com/office/drawing/2014/main" id="{8535EDF9-3067-47DE-840B-4B2BA60A74EA}"/>
              </a:ext>
            </a:extLst>
          </p:cNvPr>
          <p:cNvSpPr/>
          <p:nvPr/>
        </p:nvSpPr>
        <p:spPr>
          <a:xfrm>
            <a:off x="566292" y="2156333"/>
            <a:ext cx="11192606" cy="1323439"/>
          </a:xfrm>
          <a:prstGeom prst="rect">
            <a:avLst/>
          </a:prstGeom>
        </p:spPr>
        <p:txBody>
          <a:bodyPr wrap="square">
            <a:spAutoFit/>
          </a:bodyPr>
          <a:lstStyle/>
          <a:p>
            <a:r>
              <a:rPr lang="en-US" sz="1600" dirty="0">
                <a:latin typeface="Franklin Gothic Medium" panose="020B0603020102020204" pitchFamily="34" charset="0"/>
              </a:rPr>
              <a:t>Originally, the data was not collected for network studies, but it can provide useful information for social network analysis. </a:t>
            </a:r>
          </a:p>
          <a:p>
            <a:endParaRPr lang="en-US" sz="1600" dirty="0">
              <a:latin typeface="Franklin Gothic Medium" panose="020B0603020102020204" pitchFamily="34" charset="0"/>
            </a:endParaRPr>
          </a:p>
          <a:p>
            <a:r>
              <a:rPr lang="en-US" sz="1600" dirty="0">
                <a:latin typeface="Franklin Gothic Medium" panose="020B0603020102020204" pitchFamily="34" charset="0"/>
              </a:rPr>
              <a:t>It is relatively inexpensive compared to surveys, it poses no burden on informant time and efforts and may contain high-quality longitudinal information when data are maintained over time. Examples could be journal publications, patents, citation informations. </a:t>
            </a:r>
            <a:endParaRPr lang="en-US" sz="1600" b="1" i="1" dirty="0">
              <a:latin typeface="Franklin Gothic Medium" panose="020B0603020102020204" pitchFamily="34" charset="0"/>
            </a:endParaRPr>
          </a:p>
        </p:txBody>
      </p:sp>
    </p:spTree>
    <p:extLst>
      <p:ext uri="{BB962C8B-B14F-4D97-AF65-F5344CB8AC3E}">
        <p14:creationId xmlns:p14="http://schemas.microsoft.com/office/powerpoint/2010/main" val="1182088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3. Cognitive Social Structure</a:t>
            </a:r>
            <a:endParaRPr lang="en-US" sz="3800" i="1" dirty="0">
              <a:latin typeface="Franklin Gothic Medium" panose="020B0603020102020204" pitchFamily="34" charset="0"/>
            </a:endParaRPr>
          </a:p>
        </p:txBody>
      </p:sp>
      <p:sp>
        <p:nvSpPr>
          <p:cNvPr id="14" name="제목 4">
            <a:extLst>
              <a:ext uri="{FF2B5EF4-FFF2-40B4-BE49-F238E27FC236}">
                <a16:creationId xmlns:a16="http://schemas.microsoft.com/office/drawing/2014/main" id="{506746E5-D9DC-4D3F-907C-57F94B82BDF0}"/>
              </a:ext>
            </a:extLst>
          </p:cNvPr>
          <p:cNvSpPr txBox="1">
            <a:spLocks/>
          </p:cNvSpPr>
          <p:nvPr/>
        </p:nvSpPr>
        <p:spPr>
          <a:xfrm>
            <a:off x="274149" y="1218569"/>
            <a:ext cx="4670713" cy="6449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“Who knows, who knows whom?”</a:t>
            </a:r>
          </a:p>
        </p:txBody>
      </p:sp>
      <p:sp>
        <p:nvSpPr>
          <p:cNvPr id="10" name="직사각형 9">
            <a:extLst>
              <a:ext uri="{FF2B5EF4-FFF2-40B4-BE49-F238E27FC236}">
                <a16:creationId xmlns:a16="http://schemas.microsoft.com/office/drawing/2014/main" id="{F22848C4-71D6-4714-AC33-E959A6D1BF95}"/>
              </a:ext>
            </a:extLst>
          </p:cNvPr>
          <p:cNvSpPr/>
          <p:nvPr/>
        </p:nvSpPr>
        <p:spPr>
          <a:xfrm>
            <a:off x="132224" y="1741081"/>
            <a:ext cx="12322206" cy="584775"/>
          </a:xfrm>
          <a:prstGeom prst="rect">
            <a:avLst/>
          </a:prstGeom>
        </p:spPr>
        <p:txBody>
          <a:bodyPr wrap="square">
            <a:spAutoFit/>
          </a:bodyPr>
          <a:lstStyle/>
          <a:p>
            <a:r>
              <a:rPr lang="en-US" sz="1600" dirty="0">
                <a:latin typeface="Franklin Gothic Medium" panose="020B0603020102020204" pitchFamily="34" charset="0"/>
              </a:rPr>
              <a:t>In a network with N actors, a complete Cognitive Social Structure (CSS) dataset for one type of relationship consists of N </a:t>
            </a:r>
            <a:r>
              <a:rPr lang="en-US" sz="1600" b="1" i="1" dirty="0">
                <a:latin typeface="Franklin Gothic Medium" panose="020B0603020102020204" pitchFamily="34" charset="0"/>
              </a:rPr>
              <a:t>cognitive maps.</a:t>
            </a:r>
          </a:p>
          <a:p>
            <a:r>
              <a:rPr lang="en-US" sz="1600" dirty="0">
                <a:latin typeface="Franklin Gothic Medium" panose="020B0603020102020204" pitchFamily="34" charset="0"/>
              </a:rPr>
              <a:t>The cognitive maps show the presence and absence of ties from every participant-informant’s point of view</a:t>
            </a:r>
          </a:p>
        </p:txBody>
      </p:sp>
      <p:sp>
        <p:nvSpPr>
          <p:cNvPr id="7" name="제목 4">
            <a:extLst>
              <a:ext uri="{FF2B5EF4-FFF2-40B4-BE49-F238E27FC236}">
                <a16:creationId xmlns:a16="http://schemas.microsoft.com/office/drawing/2014/main" id="{2F4D1CF4-962F-4A3F-9EB2-151EB55FF9F0}"/>
              </a:ext>
            </a:extLst>
          </p:cNvPr>
          <p:cNvSpPr txBox="1">
            <a:spLocks/>
          </p:cNvSpPr>
          <p:nvPr/>
        </p:nvSpPr>
        <p:spPr>
          <a:xfrm>
            <a:off x="460580" y="2548605"/>
            <a:ext cx="2193843" cy="5692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CSS data collection</a:t>
            </a:r>
            <a:endParaRPr lang="en-US" sz="2000" b="1" dirty="0">
              <a:latin typeface="Franklin Gothic Medium" panose="020B0603020102020204" pitchFamily="34" charset="0"/>
            </a:endParaRPr>
          </a:p>
        </p:txBody>
      </p:sp>
      <mc:AlternateContent xmlns:mc="http://schemas.openxmlformats.org/markup-compatibility/2006">
        <mc:Choice xmlns:a14="http://schemas.microsoft.com/office/drawing/2010/main" Requires="a14">
          <p:sp>
            <p:nvSpPr>
              <p:cNvPr id="8" name="직사각형 7">
                <a:extLst>
                  <a:ext uri="{FF2B5EF4-FFF2-40B4-BE49-F238E27FC236}">
                    <a16:creationId xmlns:a16="http://schemas.microsoft.com/office/drawing/2014/main" id="{B953F8EE-10F8-49EC-A34A-61C839991618}"/>
                  </a:ext>
                </a:extLst>
              </p:cNvPr>
              <p:cNvSpPr/>
              <p:nvPr/>
            </p:nvSpPr>
            <p:spPr>
              <a:xfrm>
                <a:off x="566291" y="3152117"/>
                <a:ext cx="8231480" cy="584775"/>
              </a:xfrm>
              <a:prstGeom prst="rect">
                <a:avLst/>
              </a:prstGeom>
            </p:spPr>
            <p:txBody>
              <a:bodyPr wrap="square">
                <a:spAutoFit/>
              </a:bodyPr>
              <a:lstStyle/>
              <a:p>
                <a:r>
                  <a:rPr lang="en-US" sz="1600" dirty="0">
                    <a:latin typeface="Franklin Gothic Medium" panose="020B0603020102020204" pitchFamily="34" charset="0"/>
                  </a:rPr>
                  <a:t>Each informant must make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𝑁</m:t>
                        </m:r>
                      </m:e>
                      <m:sup>
                        <m:r>
                          <a:rPr lang="en-US" sz="1600" i="1" smtClean="0">
                            <a:latin typeface="Cambria Math" panose="02040503050406030204" pitchFamily="18" charset="0"/>
                          </a:rPr>
                          <m:t>2</m:t>
                        </m:r>
                      </m:sup>
                    </m:sSup>
                    <m:r>
                      <a:rPr lang="en-US" sz="1600" b="0" i="1" smtClean="0">
                        <a:latin typeface="Cambria Math" panose="02040503050406030204" pitchFamily="18" charset="0"/>
                      </a:rPr>
                      <m:t>−</m:t>
                    </m:r>
                    <m:r>
                      <a:rPr lang="en-US" sz="1600" b="0" i="1" smtClean="0">
                        <a:latin typeface="Cambria Math" panose="02040503050406030204" pitchFamily="18" charset="0"/>
                      </a:rPr>
                      <m:t>𝑁</m:t>
                    </m:r>
                  </m:oMath>
                </a14:m>
                <a:r>
                  <a:rPr lang="en-US" sz="1600" dirty="0">
                    <a:latin typeface="Franklin Gothic Medium" panose="020B0603020102020204" pitchFamily="34" charset="0"/>
                  </a:rPr>
                  <a:t> judgements about the specified dyadic relations. (directed) </a:t>
                </a:r>
              </a:p>
            </p:txBody>
          </p:sp>
        </mc:Choice>
        <mc:Fallback>
          <p:sp>
            <p:nvSpPr>
              <p:cNvPr id="8" name="직사각형 7">
                <a:extLst>
                  <a:ext uri="{FF2B5EF4-FFF2-40B4-BE49-F238E27FC236}">
                    <a16:creationId xmlns:a16="http://schemas.microsoft.com/office/drawing/2014/main" id="{B953F8EE-10F8-49EC-A34A-61C839991618}"/>
                  </a:ext>
                </a:extLst>
              </p:cNvPr>
              <p:cNvSpPr>
                <a:spLocks noRot="1" noChangeAspect="1" noMove="1" noResize="1" noEditPoints="1" noAdjustHandles="1" noChangeArrowheads="1" noChangeShapeType="1" noTextEdit="1"/>
              </p:cNvSpPr>
              <p:nvPr/>
            </p:nvSpPr>
            <p:spPr>
              <a:xfrm>
                <a:off x="566291" y="3152117"/>
                <a:ext cx="8231480" cy="584775"/>
              </a:xfrm>
              <a:prstGeom prst="rect">
                <a:avLst/>
              </a:prstGeom>
              <a:blipFill>
                <a:blip r:embed="rId2"/>
                <a:stretch>
                  <a:fillRect l="-444" t="-3125" b="-12500"/>
                </a:stretch>
              </a:blipFill>
            </p:spPr>
            <p:txBody>
              <a:bodyPr/>
              <a:lstStyle/>
              <a:p>
                <a:r>
                  <a:rPr lang="en-US">
                    <a:noFill/>
                  </a:rPr>
                  <a:t> </a:t>
                </a:r>
              </a:p>
            </p:txBody>
          </p:sp>
        </mc:Fallback>
      </mc:AlternateContent>
      <p:sp>
        <p:nvSpPr>
          <p:cNvPr id="9" name="제목 4">
            <a:extLst>
              <a:ext uri="{FF2B5EF4-FFF2-40B4-BE49-F238E27FC236}">
                <a16:creationId xmlns:a16="http://schemas.microsoft.com/office/drawing/2014/main" id="{E63D4099-D401-439A-94E1-A2AB26841F67}"/>
              </a:ext>
            </a:extLst>
          </p:cNvPr>
          <p:cNvSpPr txBox="1">
            <a:spLocks/>
          </p:cNvSpPr>
          <p:nvPr/>
        </p:nvSpPr>
        <p:spPr>
          <a:xfrm>
            <a:off x="460580" y="3761921"/>
            <a:ext cx="3694169" cy="6449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CSS data usage</a:t>
            </a:r>
            <a:endParaRPr lang="en-US" sz="2000" b="1" dirty="0">
              <a:latin typeface="Franklin Gothic Medium" panose="020B0603020102020204" pitchFamily="34" charset="0"/>
            </a:endParaRPr>
          </a:p>
        </p:txBody>
      </p:sp>
      <p:sp>
        <p:nvSpPr>
          <p:cNvPr id="11" name="직사각형 10">
            <a:extLst>
              <a:ext uri="{FF2B5EF4-FFF2-40B4-BE49-F238E27FC236}">
                <a16:creationId xmlns:a16="http://schemas.microsoft.com/office/drawing/2014/main" id="{15D64B44-C48E-4374-AEAD-1340E385CC81}"/>
              </a:ext>
            </a:extLst>
          </p:cNvPr>
          <p:cNvSpPr/>
          <p:nvPr/>
        </p:nvSpPr>
        <p:spPr>
          <a:xfrm>
            <a:off x="566291" y="4377367"/>
            <a:ext cx="8231480" cy="584775"/>
          </a:xfrm>
          <a:prstGeom prst="rect">
            <a:avLst/>
          </a:prstGeom>
        </p:spPr>
        <p:txBody>
          <a:bodyPr wrap="square">
            <a:spAutoFit/>
          </a:bodyPr>
          <a:lstStyle/>
          <a:p>
            <a:pPr marL="342900" indent="-342900">
              <a:buAutoNum type="arabicPeriod"/>
            </a:pPr>
            <a:r>
              <a:rPr lang="en-US" sz="1600" dirty="0">
                <a:latin typeface="Franklin Gothic Medium" panose="020B0603020102020204" pitchFamily="34" charset="0"/>
              </a:rPr>
              <a:t>Determine the amount of </a:t>
            </a:r>
            <a:r>
              <a:rPr lang="en-US" sz="1600" b="1" i="1" dirty="0">
                <a:latin typeface="Franklin Gothic Medium" panose="020B0603020102020204" pitchFamily="34" charset="0"/>
              </a:rPr>
              <a:t>consensus</a:t>
            </a:r>
            <a:r>
              <a:rPr lang="en-US" sz="1600" dirty="0">
                <a:latin typeface="Franklin Gothic Medium" panose="020B0603020102020204" pitchFamily="34" charset="0"/>
              </a:rPr>
              <a:t> on network structures as perceived by the actors</a:t>
            </a:r>
          </a:p>
          <a:p>
            <a:pPr marL="342900" indent="-342900">
              <a:buAutoNum type="arabicPeriod"/>
            </a:pPr>
            <a:r>
              <a:rPr lang="en-US" sz="1600" dirty="0">
                <a:latin typeface="Franklin Gothic Medium" panose="020B0603020102020204" pitchFamily="34" charset="0"/>
              </a:rPr>
              <a:t>Assess </a:t>
            </a:r>
            <a:r>
              <a:rPr lang="en-US" sz="1600" b="1" i="1" dirty="0">
                <a:latin typeface="Franklin Gothic Medium" panose="020B0603020102020204" pitchFamily="34" charset="0"/>
              </a:rPr>
              <a:t>biases</a:t>
            </a:r>
            <a:r>
              <a:rPr lang="en-US" sz="1600" dirty="0">
                <a:latin typeface="Franklin Gothic Medium" panose="020B0603020102020204" pitchFamily="34" charset="0"/>
              </a:rPr>
              <a:t> in perceived network structures in comparison to some criterion. </a:t>
            </a:r>
          </a:p>
        </p:txBody>
      </p:sp>
      <p:sp>
        <p:nvSpPr>
          <p:cNvPr id="12" name="제목 4">
            <a:extLst>
              <a:ext uri="{FF2B5EF4-FFF2-40B4-BE49-F238E27FC236}">
                <a16:creationId xmlns:a16="http://schemas.microsoft.com/office/drawing/2014/main" id="{7147F457-A1DC-4DA5-BC42-CA439442B57E}"/>
              </a:ext>
            </a:extLst>
          </p:cNvPr>
          <p:cNvSpPr txBox="1">
            <a:spLocks/>
          </p:cNvSpPr>
          <p:nvPr/>
        </p:nvSpPr>
        <p:spPr>
          <a:xfrm>
            <a:off x="274149" y="4996397"/>
            <a:ext cx="3694169" cy="6449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Consensus &amp; Bias</a:t>
            </a:r>
          </a:p>
        </p:txBody>
      </p:sp>
      <p:sp>
        <p:nvSpPr>
          <p:cNvPr id="13" name="직사각형 12">
            <a:extLst>
              <a:ext uri="{FF2B5EF4-FFF2-40B4-BE49-F238E27FC236}">
                <a16:creationId xmlns:a16="http://schemas.microsoft.com/office/drawing/2014/main" id="{106BFAEA-8420-4FF8-8CC4-E189A7DD52C0}"/>
              </a:ext>
            </a:extLst>
          </p:cNvPr>
          <p:cNvSpPr/>
          <p:nvPr/>
        </p:nvSpPr>
        <p:spPr>
          <a:xfrm>
            <a:off x="566291" y="5641342"/>
            <a:ext cx="11454073" cy="830997"/>
          </a:xfrm>
          <a:prstGeom prst="rect">
            <a:avLst/>
          </a:prstGeom>
        </p:spPr>
        <p:txBody>
          <a:bodyPr wrap="square">
            <a:spAutoFit/>
          </a:bodyPr>
          <a:lstStyle/>
          <a:p>
            <a:pPr marL="285750" indent="-285750">
              <a:buFont typeface="Arial" panose="020B0604020202020204" pitchFamily="34" charset="0"/>
              <a:buChar char="•"/>
            </a:pPr>
            <a:r>
              <a:rPr lang="en-US" sz="1600" b="1" dirty="0">
                <a:latin typeface="Franklin Gothic Medium" panose="020B0603020102020204" pitchFamily="34" charset="0"/>
              </a:rPr>
              <a:t>Consensus</a:t>
            </a:r>
            <a:r>
              <a:rPr lang="en-US" sz="1600" dirty="0">
                <a:latin typeface="Franklin Gothic Medium" panose="020B0603020102020204" pitchFamily="34" charset="0"/>
              </a:rPr>
              <a:t>: extent of agreement between two or more informants’ judgements or assessments of social relations</a:t>
            </a:r>
          </a:p>
          <a:p>
            <a:pPr marL="285750" indent="-285750">
              <a:buFont typeface="Arial" panose="020B0604020202020204" pitchFamily="34" charset="0"/>
              <a:buChar char="•"/>
            </a:pPr>
            <a:r>
              <a:rPr lang="en-US" sz="1600" b="1" dirty="0">
                <a:latin typeface="Franklin Gothic Medium" panose="020B0603020102020204" pitchFamily="34" charset="0"/>
              </a:rPr>
              <a:t>Bias</a:t>
            </a:r>
            <a:r>
              <a:rPr lang="en-US" sz="1600" dirty="0">
                <a:latin typeface="Franklin Gothic Medium" panose="020B0603020102020204" pitchFamily="34" charset="0"/>
              </a:rPr>
              <a:t>: accuracy of an informant’s perceptions of network relations when compared to a specified criterion. ( aggregation of all participant’s perceived networks or relational data obtained from direct behaviors of participants)</a:t>
            </a:r>
          </a:p>
        </p:txBody>
      </p:sp>
    </p:spTree>
    <p:extLst>
      <p:ext uri="{BB962C8B-B14F-4D97-AF65-F5344CB8AC3E}">
        <p14:creationId xmlns:p14="http://schemas.microsoft.com/office/powerpoint/2010/main" val="74484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3. Cognitive Social Structure</a:t>
            </a:r>
            <a:endParaRPr lang="en-US" sz="3800" i="1" dirty="0">
              <a:latin typeface="Franklin Gothic Medium" panose="020B0603020102020204" pitchFamily="34" charset="0"/>
            </a:endParaRPr>
          </a:p>
        </p:txBody>
      </p:sp>
      <p:sp>
        <p:nvSpPr>
          <p:cNvPr id="7" name="제목 4">
            <a:extLst>
              <a:ext uri="{FF2B5EF4-FFF2-40B4-BE49-F238E27FC236}">
                <a16:creationId xmlns:a16="http://schemas.microsoft.com/office/drawing/2014/main" id="{2F4D1CF4-962F-4A3F-9EB2-151EB55FF9F0}"/>
              </a:ext>
            </a:extLst>
          </p:cNvPr>
          <p:cNvSpPr txBox="1">
            <a:spLocks/>
          </p:cNvSpPr>
          <p:nvPr/>
        </p:nvSpPr>
        <p:spPr>
          <a:xfrm>
            <a:off x="291903" y="1391548"/>
            <a:ext cx="8576889" cy="125599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Perceptual Errors</a:t>
            </a:r>
          </a:p>
          <a:p>
            <a:endParaRPr lang="en-US" sz="2000" b="1" dirty="0">
              <a:latin typeface="Franklin Gothic Medium" panose="020B0603020102020204" pitchFamily="34" charset="0"/>
            </a:endParaRPr>
          </a:p>
          <a:p>
            <a:r>
              <a:rPr lang="en-US" sz="1800" dirty="0">
                <a:latin typeface="Franklin Gothic Medium" panose="020B0603020102020204" pitchFamily="34" charset="0"/>
              </a:rPr>
              <a:t>Cognitive Social Structure (CSS) also helps researchers identify perceptual errors in respondent interview or process of data collection. Both close and distant ties can be subject to high informant bias.</a:t>
            </a:r>
          </a:p>
          <a:p>
            <a:endParaRPr lang="en-US" sz="2400" b="1" dirty="0">
              <a:latin typeface="Franklin Gothic Medium" panose="020B0603020102020204" pitchFamily="34" charset="0"/>
            </a:endParaRPr>
          </a:p>
        </p:txBody>
      </p:sp>
      <p:sp>
        <p:nvSpPr>
          <p:cNvPr id="8" name="직사각형 7">
            <a:extLst>
              <a:ext uri="{FF2B5EF4-FFF2-40B4-BE49-F238E27FC236}">
                <a16:creationId xmlns:a16="http://schemas.microsoft.com/office/drawing/2014/main" id="{B953F8EE-10F8-49EC-A34A-61C839991618}"/>
              </a:ext>
            </a:extLst>
          </p:cNvPr>
          <p:cNvSpPr/>
          <p:nvPr/>
        </p:nvSpPr>
        <p:spPr>
          <a:xfrm>
            <a:off x="672823" y="2827154"/>
            <a:ext cx="11723364" cy="861774"/>
          </a:xfrm>
          <a:prstGeom prst="rect">
            <a:avLst/>
          </a:prstGeom>
        </p:spPr>
        <p:txBody>
          <a:bodyPr wrap="square">
            <a:spAutoFit/>
          </a:bodyPr>
          <a:lstStyle/>
          <a:p>
            <a:r>
              <a:rPr lang="en-US" sz="1600" dirty="0">
                <a:latin typeface="Franklin Gothic Medium" panose="020B0603020102020204" pitchFamily="34" charset="0"/>
              </a:rPr>
              <a:t>Respondent’s self-reports often includes systematic perceptual errors. </a:t>
            </a:r>
            <a:r>
              <a:rPr lang="en-US" sz="1600" u="sng" dirty="0">
                <a:latin typeface="Franklin Gothic Medium" panose="020B0603020102020204" pitchFamily="34" charset="0"/>
              </a:rPr>
              <a:t>Individuals tend to see themselves as closer to the center of their own network representations than to the global network center</a:t>
            </a:r>
            <a:r>
              <a:rPr lang="en-US" sz="1600" dirty="0">
                <a:latin typeface="Franklin Gothic Medium" panose="020B0603020102020204" pitchFamily="34" charset="0"/>
              </a:rPr>
              <a:t>; they view themselves as surrounded by friends who also had numerous friendships among themselves. </a:t>
            </a:r>
            <a:r>
              <a:rPr lang="en-US" sz="1400" i="1" dirty="0">
                <a:latin typeface="Franklin Gothic Medium" panose="020B0603020102020204" pitchFamily="34" charset="0"/>
              </a:rPr>
              <a:t>(</a:t>
            </a:r>
            <a:r>
              <a:rPr lang="en-US" sz="1400" i="1" dirty="0" err="1">
                <a:latin typeface="Franklin Gothic Medium" panose="020B0603020102020204" pitchFamily="34" charset="0"/>
              </a:rPr>
              <a:t>Kumbasar</a:t>
            </a:r>
            <a:r>
              <a:rPr lang="en-US" sz="1400" i="1" dirty="0">
                <a:latin typeface="Franklin Gothic Medium" panose="020B0603020102020204" pitchFamily="34" charset="0"/>
              </a:rPr>
              <a:t> et al. 1994)</a:t>
            </a:r>
            <a:endParaRPr lang="en-US" sz="1600" i="1" dirty="0">
              <a:latin typeface="Franklin Gothic Medium" panose="020B0603020102020204" pitchFamily="34" charset="0"/>
            </a:endParaRPr>
          </a:p>
        </p:txBody>
      </p:sp>
      <p:sp>
        <p:nvSpPr>
          <p:cNvPr id="15" name="직사각형 14">
            <a:extLst>
              <a:ext uri="{FF2B5EF4-FFF2-40B4-BE49-F238E27FC236}">
                <a16:creationId xmlns:a16="http://schemas.microsoft.com/office/drawing/2014/main" id="{7504EAC7-E036-414D-A8EC-CEEA1F048BF2}"/>
              </a:ext>
            </a:extLst>
          </p:cNvPr>
          <p:cNvSpPr/>
          <p:nvPr/>
        </p:nvSpPr>
        <p:spPr>
          <a:xfrm>
            <a:off x="672823" y="3918075"/>
            <a:ext cx="11723364" cy="830997"/>
          </a:xfrm>
          <a:prstGeom prst="rect">
            <a:avLst/>
          </a:prstGeom>
        </p:spPr>
        <p:txBody>
          <a:bodyPr wrap="square">
            <a:spAutoFit/>
          </a:bodyPr>
          <a:lstStyle/>
          <a:p>
            <a:r>
              <a:rPr lang="en-US" sz="1600" dirty="0">
                <a:latin typeface="Franklin Gothic Medium" panose="020B0603020102020204" pitchFamily="34" charset="0"/>
              </a:rPr>
              <a:t>Individuals are more prone to provide distorted, biased information about their friends’ relations. Information about more distant contacts are less susceptible to these distortions. Cognitive correction occurs when individuals see unbalanced relations, because people experience psychological or emotional stress (Balance Schema). </a:t>
            </a:r>
            <a:r>
              <a:rPr lang="en-US" sz="1400" i="1" dirty="0">
                <a:latin typeface="Franklin Gothic Medium" panose="020B0603020102020204" pitchFamily="34" charset="0"/>
              </a:rPr>
              <a:t>(Heider, 1958; Newcomb, 1961)</a:t>
            </a:r>
            <a:endParaRPr lang="en-US" sz="1600" i="1" dirty="0">
              <a:latin typeface="Franklin Gothic Medium" panose="020B0603020102020204" pitchFamily="34" charset="0"/>
            </a:endParaRPr>
          </a:p>
        </p:txBody>
      </p:sp>
      <p:sp>
        <p:nvSpPr>
          <p:cNvPr id="16" name="직사각형 15">
            <a:extLst>
              <a:ext uri="{FF2B5EF4-FFF2-40B4-BE49-F238E27FC236}">
                <a16:creationId xmlns:a16="http://schemas.microsoft.com/office/drawing/2014/main" id="{1DA56FA0-4278-4123-AC10-33B34C223F5F}"/>
              </a:ext>
            </a:extLst>
          </p:cNvPr>
          <p:cNvSpPr/>
          <p:nvPr/>
        </p:nvSpPr>
        <p:spPr>
          <a:xfrm>
            <a:off x="672823" y="4881677"/>
            <a:ext cx="11723364" cy="830997"/>
          </a:xfrm>
          <a:prstGeom prst="rect">
            <a:avLst/>
          </a:prstGeom>
        </p:spPr>
        <p:txBody>
          <a:bodyPr wrap="square">
            <a:spAutoFit/>
          </a:bodyPr>
          <a:lstStyle/>
          <a:p>
            <a:r>
              <a:rPr lang="en-US" sz="1600" dirty="0">
                <a:latin typeface="Franklin Gothic Medium" panose="020B0603020102020204" pitchFamily="34" charset="0"/>
              </a:rPr>
              <a:t>Cognitive miser model </a:t>
            </a:r>
            <a:r>
              <a:rPr lang="en-US" sz="1400" i="1" dirty="0">
                <a:latin typeface="Franklin Gothic Medium" panose="020B0603020102020204" pitchFamily="34" charset="0"/>
              </a:rPr>
              <a:t>(Taylor and Fiske’s, 1978)</a:t>
            </a:r>
            <a:r>
              <a:rPr lang="en-US" sz="1400" dirty="0">
                <a:latin typeface="Franklin Gothic Medium" panose="020B0603020102020204" pitchFamily="34" charset="0"/>
              </a:rPr>
              <a:t> </a:t>
            </a:r>
            <a:r>
              <a:rPr lang="en-US" sz="1600" dirty="0">
                <a:latin typeface="Franklin Gothic Medium" panose="020B0603020102020204" pitchFamily="34" charset="0"/>
              </a:rPr>
              <a:t>informants typically have less knowledge about the distant relations with whom they are not directly linked. Balance schema activates and informants report biased information while filling in knowledge gaps about close and distant relations, regardless of their motivations</a:t>
            </a:r>
          </a:p>
        </p:txBody>
      </p:sp>
    </p:spTree>
    <p:extLst>
      <p:ext uri="{BB962C8B-B14F-4D97-AF65-F5344CB8AC3E}">
        <p14:creationId xmlns:p14="http://schemas.microsoft.com/office/powerpoint/2010/main" val="1075509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4. Informant Bias</a:t>
            </a:r>
            <a:endParaRPr lang="en-US" sz="3800" i="1" dirty="0">
              <a:latin typeface="Franklin Gothic Medium" panose="020B0603020102020204" pitchFamily="34" charset="0"/>
            </a:endParaRPr>
          </a:p>
        </p:txBody>
      </p:sp>
      <p:sp>
        <p:nvSpPr>
          <p:cNvPr id="7" name="제목 4">
            <a:extLst>
              <a:ext uri="{FF2B5EF4-FFF2-40B4-BE49-F238E27FC236}">
                <a16:creationId xmlns:a16="http://schemas.microsoft.com/office/drawing/2014/main" id="{2F4D1CF4-962F-4A3F-9EB2-151EB55FF9F0}"/>
              </a:ext>
            </a:extLst>
          </p:cNvPr>
          <p:cNvSpPr txBox="1">
            <a:spLocks/>
          </p:cNvSpPr>
          <p:nvPr/>
        </p:nvSpPr>
        <p:spPr>
          <a:xfrm>
            <a:off x="291903" y="1391548"/>
            <a:ext cx="8576889" cy="12559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Information Bias</a:t>
            </a:r>
          </a:p>
          <a:p>
            <a:endParaRPr lang="en-US" sz="2000" b="1" dirty="0">
              <a:latin typeface="Franklin Gothic Medium" panose="020B0603020102020204" pitchFamily="34" charset="0"/>
            </a:endParaRPr>
          </a:p>
          <a:p>
            <a:r>
              <a:rPr lang="en-US" sz="1800" dirty="0">
                <a:latin typeface="Franklin Gothic Medium" panose="020B0603020102020204" pitchFamily="34" charset="0"/>
              </a:rPr>
              <a:t>Discrepancy between self-reported and actual behaviors. It is the cause of gap between verbal and behavioral data. </a:t>
            </a:r>
          </a:p>
          <a:p>
            <a:endParaRPr lang="en-US" sz="2400" b="1" dirty="0">
              <a:latin typeface="Franklin Gothic Medium" panose="020B0603020102020204" pitchFamily="34" charset="0"/>
            </a:endParaRPr>
          </a:p>
        </p:txBody>
      </p:sp>
      <p:sp>
        <p:nvSpPr>
          <p:cNvPr id="9" name="제목 4">
            <a:extLst>
              <a:ext uri="{FF2B5EF4-FFF2-40B4-BE49-F238E27FC236}">
                <a16:creationId xmlns:a16="http://schemas.microsoft.com/office/drawing/2014/main" id="{98D7F7C6-9C1B-4483-A3AC-849B9C9EF281}"/>
              </a:ext>
            </a:extLst>
          </p:cNvPr>
          <p:cNvSpPr txBox="1">
            <a:spLocks/>
          </p:cNvSpPr>
          <p:nvPr/>
        </p:nvSpPr>
        <p:spPr>
          <a:xfrm>
            <a:off x="220882" y="2619964"/>
            <a:ext cx="8399336" cy="28464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The Cause</a:t>
            </a:r>
          </a:p>
          <a:p>
            <a:endParaRPr lang="en-US" sz="1800" b="1"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Disability to cognitively handle the large amount of data required to report their behaviors accurately </a:t>
            </a:r>
            <a:r>
              <a:rPr lang="en-US" sz="1400" i="1" dirty="0">
                <a:latin typeface="Franklin Gothic Medium" panose="020B0603020102020204" pitchFamily="34" charset="0"/>
              </a:rPr>
              <a:t>(Bernard, </a:t>
            </a:r>
            <a:r>
              <a:rPr lang="en-US" sz="1400" i="1" dirty="0" err="1">
                <a:latin typeface="Franklin Gothic Medium" panose="020B0603020102020204" pitchFamily="34" charset="0"/>
              </a:rPr>
              <a:t>Killworth</a:t>
            </a:r>
            <a:r>
              <a:rPr lang="en-US" sz="1400" i="1" dirty="0">
                <a:latin typeface="Franklin Gothic Medium" panose="020B0603020102020204" pitchFamily="34" charset="0"/>
              </a:rPr>
              <a:t>, </a:t>
            </a:r>
            <a:r>
              <a:rPr lang="en-US" sz="1400" i="1" dirty="0" err="1">
                <a:latin typeface="Franklin Gothic Medium" panose="020B0603020102020204" pitchFamily="34" charset="0"/>
              </a:rPr>
              <a:t>Sailer</a:t>
            </a:r>
            <a:r>
              <a:rPr lang="en-US" sz="1400" i="1" dirty="0">
                <a:latin typeface="Franklin Gothic Medium" panose="020B0603020102020204" pitchFamily="34" charset="0"/>
              </a:rPr>
              <a:t> &amp; </a:t>
            </a:r>
            <a:r>
              <a:rPr lang="en-US" sz="1400" i="1" dirty="0" err="1">
                <a:latin typeface="Franklin Gothic Medium" panose="020B0603020102020204" pitchFamily="34" charset="0"/>
              </a:rPr>
              <a:t>Kronenfeld</a:t>
            </a:r>
            <a:r>
              <a:rPr lang="en-US" sz="1400" i="1" dirty="0">
                <a:latin typeface="Franklin Gothic Medium" panose="020B0603020102020204" pitchFamily="34" charset="0"/>
              </a:rPr>
              <a:t>, 1984)</a:t>
            </a:r>
            <a:endParaRPr lang="en-US" sz="1600" i="1" dirty="0">
              <a:latin typeface="Franklin Gothic Medium" panose="020B0603020102020204" pitchFamily="34" charset="0"/>
            </a:endParaRPr>
          </a:p>
          <a:p>
            <a:pPr marL="285750" indent="-285750">
              <a:buFontTx/>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Informant’s false impose of categorical form on noncategorical affiliation patterns</a:t>
            </a:r>
          </a:p>
          <a:p>
            <a:r>
              <a:rPr lang="en-US" sz="1600" dirty="0">
                <a:latin typeface="Franklin Gothic Medium" panose="020B0603020102020204" pitchFamily="34" charset="0"/>
              </a:rPr>
              <a:t>     </a:t>
            </a:r>
            <a:r>
              <a:rPr lang="en-US" sz="1400" i="1" dirty="0">
                <a:latin typeface="Franklin Gothic Medium" panose="020B0603020102020204" pitchFamily="34" charset="0"/>
              </a:rPr>
              <a:t>(Freeman, 1992)</a:t>
            </a:r>
            <a:endParaRPr lang="en-US" sz="1600" i="1" dirty="0">
              <a:latin typeface="Franklin Gothic Medium" panose="020B0603020102020204" pitchFamily="34" charset="0"/>
            </a:endParaRPr>
          </a:p>
          <a:p>
            <a:pPr marL="285750" indent="-285750">
              <a:buFontTx/>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Informant’s correction of perceptions to maintain a balanced network among their close friends. </a:t>
            </a:r>
            <a:r>
              <a:rPr lang="en-US" sz="1400" i="1" dirty="0">
                <a:latin typeface="Franklin Gothic Medium" panose="020B0603020102020204" pitchFamily="34" charset="0"/>
              </a:rPr>
              <a:t>(</a:t>
            </a:r>
            <a:r>
              <a:rPr lang="en-US" sz="1400" i="1" dirty="0" err="1">
                <a:latin typeface="Franklin Gothic Medium" panose="020B0603020102020204" pitchFamily="34" charset="0"/>
              </a:rPr>
              <a:t>Krackhardt</a:t>
            </a:r>
            <a:r>
              <a:rPr lang="en-US" sz="1400" i="1" dirty="0">
                <a:latin typeface="Franklin Gothic Medium" panose="020B0603020102020204" pitchFamily="34" charset="0"/>
              </a:rPr>
              <a:t> &amp; </a:t>
            </a:r>
            <a:r>
              <a:rPr lang="en-US" sz="1400" i="1" dirty="0" err="1">
                <a:latin typeface="Franklin Gothic Medium" panose="020B0603020102020204" pitchFamily="34" charset="0"/>
              </a:rPr>
              <a:t>Kilduff</a:t>
            </a:r>
            <a:r>
              <a:rPr lang="en-US" sz="1400" i="1" dirty="0">
                <a:latin typeface="Franklin Gothic Medium" panose="020B0603020102020204" pitchFamily="34" charset="0"/>
              </a:rPr>
              <a:t>, 1999)</a:t>
            </a:r>
            <a:endParaRPr lang="en-US" sz="1600" i="1" dirty="0">
              <a:latin typeface="Franklin Gothic Medium" panose="020B0603020102020204" pitchFamily="34" charset="0"/>
            </a:endParaRPr>
          </a:p>
          <a:p>
            <a:endParaRPr lang="en-US" sz="2400" b="1" dirty="0">
              <a:latin typeface="Franklin Gothic Medium" panose="020B0603020102020204" pitchFamily="34" charset="0"/>
            </a:endParaRPr>
          </a:p>
        </p:txBody>
      </p:sp>
      <p:sp>
        <p:nvSpPr>
          <p:cNvPr id="2" name="직사각형 1">
            <a:extLst>
              <a:ext uri="{FF2B5EF4-FFF2-40B4-BE49-F238E27FC236}">
                <a16:creationId xmlns:a16="http://schemas.microsoft.com/office/drawing/2014/main" id="{130A175A-D42F-484B-B56F-BEC94B70DDE0}"/>
              </a:ext>
            </a:extLst>
          </p:cNvPr>
          <p:cNvSpPr/>
          <p:nvPr/>
        </p:nvSpPr>
        <p:spPr>
          <a:xfrm>
            <a:off x="291903" y="5542435"/>
            <a:ext cx="10592120" cy="338554"/>
          </a:xfrm>
          <a:prstGeom prst="rect">
            <a:avLst/>
          </a:prstGeom>
        </p:spPr>
        <p:txBody>
          <a:bodyPr wrap="square">
            <a:spAutoFit/>
          </a:bodyPr>
          <a:lstStyle/>
          <a:p>
            <a:r>
              <a:rPr lang="en-US" sz="1600" i="1" dirty="0">
                <a:latin typeface="Franklin Gothic Medium" panose="020B0603020102020204" pitchFamily="34" charset="0"/>
              </a:rPr>
              <a:t>Group level representation of a network may be more accurate than the individual level reports </a:t>
            </a:r>
            <a:r>
              <a:rPr lang="en-US" sz="1400" i="1" dirty="0">
                <a:latin typeface="Franklin Gothic Medium" panose="020B0603020102020204" pitchFamily="34" charset="0"/>
              </a:rPr>
              <a:t>(</a:t>
            </a:r>
            <a:r>
              <a:rPr lang="en-US" sz="1400" i="1" dirty="0" err="1">
                <a:latin typeface="Franklin Gothic Medium" panose="020B0603020102020204" pitchFamily="34" charset="0"/>
              </a:rPr>
              <a:t>Kumbasar</a:t>
            </a:r>
            <a:r>
              <a:rPr lang="en-US" sz="1400" i="1" dirty="0">
                <a:latin typeface="Franklin Gothic Medium" panose="020B0603020102020204" pitchFamily="34" charset="0"/>
              </a:rPr>
              <a:t> et al., 1994)</a:t>
            </a:r>
            <a:endParaRPr lang="en-US" i="1" dirty="0">
              <a:latin typeface="Franklin Gothic Medium" panose="020B0603020102020204" pitchFamily="34" charset="0"/>
            </a:endParaRPr>
          </a:p>
        </p:txBody>
      </p:sp>
    </p:spTree>
    <p:extLst>
      <p:ext uri="{BB962C8B-B14F-4D97-AF65-F5344CB8AC3E}">
        <p14:creationId xmlns:p14="http://schemas.microsoft.com/office/powerpoint/2010/main" val="1678206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4. Informant Bias</a:t>
            </a:r>
            <a:endParaRPr lang="en-US" sz="3800" i="1" dirty="0">
              <a:latin typeface="Franklin Gothic Medium" panose="020B0603020102020204" pitchFamily="34" charset="0"/>
            </a:endParaRPr>
          </a:p>
        </p:txBody>
      </p:sp>
      <p:sp>
        <p:nvSpPr>
          <p:cNvPr id="9" name="제목 4">
            <a:extLst>
              <a:ext uri="{FF2B5EF4-FFF2-40B4-BE49-F238E27FC236}">
                <a16:creationId xmlns:a16="http://schemas.microsoft.com/office/drawing/2014/main" id="{98D7F7C6-9C1B-4483-A3AC-849B9C9EF281}"/>
              </a:ext>
            </a:extLst>
          </p:cNvPr>
          <p:cNvSpPr txBox="1">
            <a:spLocks/>
          </p:cNvSpPr>
          <p:nvPr/>
        </p:nvSpPr>
        <p:spPr>
          <a:xfrm>
            <a:off x="354047" y="1272752"/>
            <a:ext cx="10441200" cy="16213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The Cause (continued)</a:t>
            </a:r>
          </a:p>
          <a:p>
            <a:pPr marL="285750" indent="-285750">
              <a:buFont typeface="Arial" panose="020B0604020202020204" pitchFamily="34" charset="0"/>
              <a:buChar char="•"/>
            </a:pPr>
            <a:endParaRPr lang="en-US" sz="18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“People do not know, with any acceptable accuracy to whom they talk over any given period of time...... We are now convinced that cognitive data about communication cannot be used as proxy for the equivalent behavioral data”  </a:t>
            </a:r>
            <a:r>
              <a:rPr lang="en-US" sz="1400" i="1" dirty="0">
                <a:latin typeface="Franklin Gothic Medium" panose="020B0603020102020204" pitchFamily="34" charset="0"/>
              </a:rPr>
              <a:t>(Bernard et al. 1981, pg.17)</a:t>
            </a:r>
            <a:endParaRPr lang="en-US" sz="1200" i="1" dirty="0">
              <a:latin typeface="Franklin Gothic Medium" panose="020B0603020102020204" pitchFamily="34" charset="0"/>
            </a:endParaRPr>
          </a:p>
        </p:txBody>
      </p:sp>
      <p:sp>
        <p:nvSpPr>
          <p:cNvPr id="2" name="직사각형 1">
            <a:extLst>
              <a:ext uri="{FF2B5EF4-FFF2-40B4-BE49-F238E27FC236}">
                <a16:creationId xmlns:a16="http://schemas.microsoft.com/office/drawing/2014/main" id="{130A175A-D42F-484B-B56F-BEC94B70DDE0}"/>
              </a:ext>
            </a:extLst>
          </p:cNvPr>
          <p:cNvSpPr/>
          <p:nvPr/>
        </p:nvSpPr>
        <p:spPr>
          <a:xfrm>
            <a:off x="697435" y="5974673"/>
            <a:ext cx="9914221" cy="584775"/>
          </a:xfrm>
          <a:prstGeom prst="rect">
            <a:avLst/>
          </a:prstGeom>
        </p:spPr>
        <p:txBody>
          <a:bodyPr wrap="square">
            <a:spAutoFit/>
          </a:bodyPr>
          <a:lstStyle/>
          <a:p>
            <a:r>
              <a:rPr lang="en-US" sz="1600" i="1" dirty="0">
                <a:latin typeface="Franklin Gothic Medium" panose="020B0603020102020204" pitchFamily="34" charset="0"/>
              </a:rPr>
              <a:t>Despite some systematic distortion in cognitive data, facilitative factors could reduce informant biases, such as greater informant familiarity with cultural subjects or informants providing recall aid to informants</a:t>
            </a:r>
            <a:endParaRPr lang="en-US" i="1" dirty="0">
              <a:latin typeface="Franklin Gothic Medium" panose="020B0603020102020204" pitchFamily="34" charset="0"/>
            </a:endParaRPr>
          </a:p>
        </p:txBody>
      </p:sp>
      <p:sp>
        <p:nvSpPr>
          <p:cNvPr id="6" name="제목 4">
            <a:extLst>
              <a:ext uri="{FF2B5EF4-FFF2-40B4-BE49-F238E27FC236}">
                <a16:creationId xmlns:a16="http://schemas.microsoft.com/office/drawing/2014/main" id="{7259EC66-0A2C-438F-BEA3-705B2E6A982D}"/>
              </a:ext>
            </a:extLst>
          </p:cNvPr>
          <p:cNvSpPr txBox="1">
            <a:spLocks/>
          </p:cNvSpPr>
          <p:nvPr/>
        </p:nvSpPr>
        <p:spPr>
          <a:xfrm>
            <a:off x="354047" y="3044115"/>
            <a:ext cx="10814062" cy="20834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Arial" panose="020B0604020202020204" pitchFamily="34" charset="0"/>
              <a:buChar char="•"/>
            </a:pPr>
            <a:r>
              <a:rPr lang="en-US" sz="1600" dirty="0">
                <a:latin typeface="Franklin Gothic Medium" panose="020B0603020102020204" pitchFamily="34" charset="0"/>
              </a:rPr>
              <a:t>Biased informants perceive themselves as close to the center, forget less-prominent players, falsely recall major actors in a network</a:t>
            </a: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Cognitively correct their perceptions to force a balanced network between themselves and their close or distant friends.</a:t>
            </a: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Inaccurate recall of </a:t>
            </a:r>
            <a:r>
              <a:rPr lang="en-US" sz="1200" dirty="0">
                <a:latin typeface="Franklin Gothic Medium" panose="020B0603020102020204" pitchFamily="34" charset="0"/>
              </a:rPr>
              <a:t>(1)</a:t>
            </a:r>
            <a:r>
              <a:rPr lang="en-US" sz="1600" dirty="0">
                <a:latin typeface="Franklin Gothic Medium" panose="020B0603020102020204" pitchFamily="34" charset="0"/>
              </a:rPr>
              <a:t> whom they have interacted, </a:t>
            </a:r>
            <a:r>
              <a:rPr lang="en-US" sz="1200" dirty="0">
                <a:latin typeface="Franklin Gothic Medium" panose="020B0603020102020204" pitchFamily="34" charset="0"/>
              </a:rPr>
              <a:t>(2)</a:t>
            </a:r>
            <a:r>
              <a:rPr lang="en-US" sz="1600" dirty="0">
                <a:latin typeface="Franklin Gothic Medium" panose="020B0603020102020204" pitchFamily="34" charset="0"/>
              </a:rPr>
              <a:t> falsely recalling interactions that never occurred</a:t>
            </a:r>
            <a:endParaRPr lang="en-US" sz="1100" dirty="0">
              <a:latin typeface="Franklin Gothic Medium" panose="020B0603020102020204" pitchFamily="34" charset="0"/>
            </a:endParaRPr>
          </a:p>
        </p:txBody>
      </p:sp>
    </p:spTree>
    <p:extLst>
      <p:ext uri="{BB962C8B-B14F-4D97-AF65-F5344CB8AC3E}">
        <p14:creationId xmlns:p14="http://schemas.microsoft.com/office/powerpoint/2010/main" val="1852202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4. Informant Bias</a:t>
            </a:r>
            <a:endParaRPr lang="en-US" sz="3800" i="1" dirty="0">
              <a:latin typeface="Franklin Gothic Medium" panose="020B0603020102020204" pitchFamily="34" charset="0"/>
            </a:endParaRPr>
          </a:p>
        </p:txBody>
      </p:sp>
      <p:sp>
        <p:nvSpPr>
          <p:cNvPr id="9" name="제목 4">
            <a:extLst>
              <a:ext uri="{FF2B5EF4-FFF2-40B4-BE49-F238E27FC236}">
                <a16:creationId xmlns:a16="http://schemas.microsoft.com/office/drawing/2014/main" id="{98D7F7C6-9C1B-4483-A3AC-849B9C9EF281}"/>
              </a:ext>
            </a:extLst>
          </p:cNvPr>
          <p:cNvSpPr txBox="1">
            <a:spLocks/>
          </p:cNvSpPr>
          <p:nvPr/>
        </p:nvSpPr>
        <p:spPr>
          <a:xfrm>
            <a:off x="354047" y="1272752"/>
            <a:ext cx="10441200" cy="18610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The Lesson</a:t>
            </a:r>
          </a:p>
          <a:p>
            <a:pPr marL="285750" indent="-285750">
              <a:buFont typeface="Arial" panose="020B0604020202020204" pitchFamily="34" charset="0"/>
              <a:buChar char="•"/>
            </a:pPr>
            <a:endParaRPr lang="en-US" sz="18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High levels of agreement between informants often indicate low levels of bias and greater informant validity. Consensus answers are almost equivalent to valid answers </a:t>
            </a:r>
          </a:p>
          <a:p>
            <a:r>
              <a:rPr lang="en-US" sz="1400" i="1" dirty="0">
                <a:latin typeface="Franklin Gothic Medium" panose="020B0603020102020204" pitchFamily="34" charset="0"/>
              </a:rPr>
              <a:t>      (Romney et al. 1986)</a:t>
            </a:r>
            <a:endParaRPr lang="en-US" sz="1200" i="1" dirty="0">
              <a:latin typeface="Franklin Gothic Medium" panose="020B0603020102020204" pitchFamily="34" charset="0"/>
            </a:endParaRPr>
          </a:p>
        </p:txBody>
      </p:sp>
      <p:sp>
        <p:nvSpPr>
          <p:cNvPr id="2" name="직사각형 1">
            <a:extLst>
              <a:ext uri="{FF2B5EF4-FFF2-40B4-BE49-F238E27FC236}">
                <a16:creationId xmlns:a16="http://schemas.microsoft.com/office/drawing/2014/main" id="{130A175A-D42F-484B-B56F-BEC94B70DDE0}"/>
              </a:ext>
            </a:extLst>
          </p:cNvPr>
          <p:cNvSpPr/>
          <p:nvPr/>
        </p:nvSpPr>
        <p:spPr>
          <a:xfrm>
            <a:off x="881026" y="5585248"/>
            <a:ext cx="9914221" cy="584775"/>
          </a:xfrm>
          <a:prstGeom prst="rect">
            <a:avLst/>
          </a:prstGeom>
        </p:spPr>
        <p:txBody>
          <a:bodyPr wrap="square">
            <a:spAutoFit/>
          </a:bodyPr>
          <a:lstStyle/>
          <a:p>
            <a:r>
              <a:rPr lang="en-US" sz="1600" b="1" dirty="0">
                <a:latin typeface="Franklin Gothic Medium" panose="020B0603020102020204" pitchFamily="34" charset="0"/>
              </a:rPr>
              <a:t>Thus, researchers using egocentric approach to collecting network data should adopt corrective measure to prevent information bias when analyzing close ties and distant relations.</a:t>
            </a:r>
            <a:endParaRPr lang="en-US" b="1" dirty="0">
              <a:latin typeface="Franklin Gothic Medium" panose="020B0603020102020204" pitchFamily="34" charset="0"/>
            </a:endParaRPr>
          </a:p>
        </p:txBody>
      </p:sp>
      <p:sp>
        <p:nvSpPr>
          <p:cNvPr id="6" name="제목 4">
            <a:extLst>
              <a:ext uri="{FF2B5EF4-FFF2-40B4-BE49-F238E27FC236}">
                <a16:creationId xmlns:a16="http://schemas.microsoft.com/office/drawing/2014/main" id="{7259EC66-0A2C-438F-BEA3-705B2E6A982D}"/>
              </a:ext>
            </a:extLst>
          </p:cNvPr>
          <p:cNvSpPr txBox="1">
            <a:spLocks/>
          </p:cNvSpPr>
          <p:nvPr/>
        </p:nvSpPr>
        <p:spPr>
          <a:xfrm>
            <a:off x="354047" y="3044115"/>
            <a:ext cx="10814062" cy="20834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buFont typeface="Arial" panose="020B0604020202020204" pitchFamily="34" charset="0"/>
              <a:buChar char="•"/>
            </a:pPr>
            <a:r>
              <a:rPr lang="en-US" sz="1600" dirty="0">
                <a:latin typeface="Franklin Gothic Medium" panose="020B0603020102020204" pitchFamily="34" charset="0"/>
              </a:rPr>
              <a:t>Highly knowledgeable informants produce unbiased data about long-term repeated patterns and produce consensus answers to questions that promises great validity. </a:t>
            </a: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Because individual’s perceptions are biased toward portraying themselves as more central in a network than systematic aggregation of all network actor’s perceptions, systematic perceptions should be better indicator of people’s locations in a network.</a:t>
            </a: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Egos tend to be biased about their close friends and distant contacts by activating the “balanced schema”, in making reports.</a:t>
            </a:r>
          </a:p>
        </p:txBody>
      </p:sp>
    </p:spTree>
    <p:extLst>
      <p:ext uri="{BB962C8B-B14F-4D97-AF65-F5344CB8AC3E}">
        <p14:creationId xmlns:p14="http://schemas.microsoft.com/office/powerpoint/2010/main" val="1184827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5. Reliability</a:t>
            </a:r>
            <a:endParaRPr lang="en-US" sz="3800" i="1" dirty="0">
              <a:latin typeface="Franklin Gothic Medium" panose="020B0603020102020204" pitchFamily="34" charset="0"/>
            </a:endParaRPr>
          </a:p>
        </p:txBody>
      </p:sp>
      <p:sp>
        <p:nvSpPr>
          <p:cNvPr id="7" name="제목 4">
            <a:extLst>
              <a:ext uri="{FF2B5EF4-FFF2-40B4-BE49-F238E27FC236}">
                <a16:creationId xmlns:a16="http://schemas.microsoft.com/office/drawing/2014/main" id="{2F4D1CF4-962F-4A3F-9EB2-151EB55FF9F0}"/>
              </a:ext>
            </a:extLst>
          </p:cNvPr>
          <p:cNvSpPr txBox="1">
            <a:spLocks/>
          </p:cNvSpPr>
          <p:nvPr/>
        </p:nvSpPr>
        <p:spPr>
          <a:xfrm>
            <a:off x="291903" y="1391548"/>
            <a:ext cx="8576889" cy="12559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b="1" dirty="0">
              <a:latin typeface="Franklin Gothic Medium" panose="020B0603020102020204" pitchFamily="34" charset="0"/>
            </a:endParaRPr>
          </a:p>
        </p:txBody>
      </p:sp>
      <p:sp>
        <p:nvSpPr>
          <p:cNvPr id="4" name="제목 4">
            <a:extLst>
              <a:ext uri="{FF2B5EF4-FFF2-40B4-BE49-F238E27FC236}">
                <a16:creationId xmlns:a16="http://schemas.microsoft.com/office/drawing/2014/main" id="{D3909A9A-6F9C-485D-AC3C-A09C683AA15D}"/>
              </a:ext>
            </a:extLst>
          </p:cNvPr>
          <p:cNvSpPr txBox="1">
            <a:spLocks/>
          </p:cNvSpPr>
          <p:nvPr/>
        </p:nvSpPr>
        <p:spPr>
          <a:xfrm>
            <a:off x="143942" y="1012156"/>
            <a:ext cx="12048058" cy="18610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Reliability</a:t>
            </a:r>
          </a:p>
          <a:p>
            <a:endParaRPr lang="en-US" sz="1800" b="1" dirty="0">
              <a:latin typeface="Franklin Gothic Medium" panose="020B0603020102020204" pitchFamily="34" charset="0"/>
            </a:endParaRPr>
          </a:p>
          <a:p>
            <a:r>
              <a:rPr lang="en-US" sz="1600" dirty="0">
                <a:latin typeface="Franklin Gothic Medium" panose="020B0603020102020204" pitchFamily="34" charset="0"/>
              </a:rPr>
              <a:t>Measures the extent to which a particular instrument when applied repeatedly to the same subjects, yields an identical result every time. </a:t>
            </a:r>
          </a:p>
        </p:txBody>
      </p:sp>
      <p:sp>
        <p:nvSpPr>
          <p:cNvPr id="2" name="직사각형 1">
            <a:extLst>
              <a:ext uri="{FF2B5EF4-FFF2-40B4-BE49-F238E27FC236}">
                <a16:creationId xmlns:a16="http://schemas.microsoft.com/office/drawing/2014/main" id="{B2AC35D5-03E6-4F69-AA83-9ADCAF648D54}"/>
              </a:ext>
            </a:extLst>
          </p:cNvPr>
          <p:cNvSpPr/>
          <p:nvPr/>
        </p:nvSpPr>
        <p:spPr>
          <a:xfrm>
            <a:off x="543674" y="2478261"/>
            <a:ext cx="1967911" cy="338554"/>
          </a:xfrm>
          <a:prstGeom prst="rect">
            <a:avLst/>
          </a:prstGeom>
        </p:spPr>
        <p:txBody>
          <a:bodyPr wrap="none">
            <a:spAutoFit/>
          </a:bodyPr>
          <a:lstStyle/>
          <a:p>
            <a:r>
              <a:rPr lang="en-US" sz="1600" b="1" dirty="0">
                <a:latin typeface="Franklin Gothic Medium" panose="020B0603020102020204" pitchFamily="34" charset="0"/>
              </a:rPr>
              <a:t>Reliability measures</a:t>
            </a:r>
            <a:endParaRPr lang="en-US" sz="1600" dirty="0"/>
          </a:p>
        </p:txBody>
      </p:sp>
      <p:sp>
        <p:nvSpPr>
          <p:cNvPr id="3" name="직사각형 2">
            <a:extLst>
              <a:ext uri="{FF2B5EF4-FFF2-40B4-BE49-F238E27FC236}">
                <a16:creationId xmlns:a16="http://schemas.microsoft.com/office/drawing/2014/main" id="{2340D362-0E94-4C07-BB72-AC1836EF6BE4}"/>
              </a:ext>
            </a:extLst>
          </p:cNvPr>
          <p:cNvSpPr/>
          <p:nvPr/>
        </p:nvSpPr>
        <p:spPr>
          <a:xfrm>
            <a:off x="929433" y="2607837"/>
            <a:ext cx="6096000" cy="1107996"/>
          </a:xfrm>
          <a:prstGeom prst="rect">
            <a:avLst/>
          </a:prstGeom>
        </p:spPr>
        <p:txBody>
          <a:bodyPr>
            <a:spAutoFit/>
          </a:bodyPr>
          <a:lstStyle/>
          <a:p>
            <a:endParaRPr lang="en-US" b="1"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Interobserver reliability</a:t>
            </a:r>
          </a:p>
          <a:p>
            <a:pPr marL="285750" indent="-285750">
              <a:buFont typeface="Arial" panose="020B0604020202020204" pitchFamily="34" charset="0"/>
              <a:buChar char="•"/>
            </a:pPr>
            <a:r>
              <a:rPr lang="en-US" sz="1600" b="1" dirty="0">
                <a:latin typeface="Franklin Gothic Medium" panose="020B0603020102020204" pitchFamily="34" charset="0"/>
              </a:rPr>
              <a:t>Test-retest reliability</a:t>
            </a:r>
          </a:p>
          <a:p>
            <a:pPr marL="285750" indent="-285750">
              <a:buFont typeface="Arial" panose="020B0604020202020204" pitchFamily="34" charset="0"/>
              <a:buChar char="•"/>
            </a:pPr>
            <a:r>
              <a:rPr lang="en-US" sz="1600" dirty="0">
                <a:latin typeface="Franklin Gothic Medium" panose="020B0603020102020204" pitchFamily="34" charset="0"/>
              </a:rPr>
              <a:t>Internal consistency-reliability </a:t>
            </a:r>
          </a:p>
        </p:txBody>
      </p:sp>
      <p:sp>
        <p:nvSpPr>
          <p:cNvPr id="6" name="직사각형 5">
            <a:extLst>
              <a:ext uri="{FF2B5EF4-FFF2-40B4-BE49-F238E27FC236}">
                <a16:creationId xmlns:a16="http://schemas.microsoft.com/office/drawing/2014/main" id="{F1A93F5C-CADD-4B76-A5B8-FE361A2577F6}"/>
              </a:ext>
            </a:extLst>
          </p:cNvPr>
          <p:cNvSpPr/>
          <p:nvPr/>
        </p:nvSpPr>
        <p:spPr>
          <a:xfrm>
            <a:off x="543674" y="4047652"/>
            <a:ext cx="2495686" cy="338554"/>
          </a:xfrm>
          <a:prstGeom prst="rect">
            <a:avLst/>
          </a:prstGeom>
        </p:spPr>
        <p:txBody>
          <a:bodyPr wrap="square">
            <a:spAutoFit/>
          </a:bodyPr>
          <a:lstStyle/>
          <a:p>
            <a:r>
              <a:rPr lang="en-US" sz="1600" b="1" dirty="0">
                <a:latin typeface="Franklin Gothic Medium" panose="020B0603020102020204" pitchFamily="34" charset="0"/>
              </a:rPr>
              <a:t>Test-retest reliability</a:t>
            </a:r>
          </a:p>
        </p:txBody>
      </p:sp>
      <p:sp>
        <p:nvSpPr>
          <p:cNvPr id="8" name="직사각형 7">
            <a:extLst>
              <a:ext uri="{FF2B5EF4-FFF2-40B4-BE49-F238E27FC236}">
                <a16:creationId xmlns:a16="http://schemas.microsoft.com/office/drawing/2014/main" id="{30B32567-D8DA-4C4A-B134-0EE6A8B628EF}"/>
              </a:ext>
            </a:extLst>
          </p:cNvPr>
          <p:cNvSpPr/>
          <p:nvPr/>
        </p:nvSpPr>
        <p:spPr>
          <a:xfrm>
            <a:off x="1123919" y="4533931"/>
            <a:ext cx="9567992" cy="1569660"/>
          </a:xfrm>
          <a:prstGeom prst="rect">
            <a:avLst/>
          </a:prstGeom>
        </p:spPr>
        <p:txBody>
          <a:bodyPr wrap="square">
            <a:spAutoFit/>
          </a:bodyPr>
          <a:lstStyle/>
          <a:p>
            <a:pPr marL="285750" indent="-285750">
              <a:buFont typeface="Arial" panose="020B0604020202020204" pitchFamily="34" charset="0"/>
              <a:buChar char="•"/>
            </a:pPr>
            <a:r>
              <a:rPr lang="en-US" sz="1600" dirty="0">
                <a:latin typeface="Franklin Gothic Medium" panose="020B0603020102020204" pitchFamily="34" charset="0"/>
              </a:rPr>
              <a:t>Often used to evaluate informant reliability. Retest is the repeated version of test conducted at a later time. By comparing the test and retest result, informant’s reliability can be decided.</a:t>
            </a: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Interval between test and retest is a critical issue. (It should be short)</a:t>
            </a:r>
          </a:p>
          <a:p>
            <a:endParaRPr lang="en-US" sz="1600" dirty="0">
              <a:latin typeface="Franklin Gothic Medium" panose="020B0603020102020204" pitchFamily="34" charset="0"/>
            </a:endParaRPr>
          </a:p>
          <a:p>
            <a:endParaRPr lang="en-US" sz="1600" dirty="0">
              <a:latin typeface="Franklin Gothic Medium" panose="020B0603020102020204" pitchFamily="34" charset="0"/>
            </a:endParaRPr>
          </a:p>
        </p:txBody>
      </p:sp>
    </p:spTree>
    <p:extLst>
      <p:ext uri="{BB962C8B-B14F-4D97-AF65-F5344CB8AC3E}">
        <p14:creationId xmlns:p14="http://schemas.microsoft.com/office/powerpoint/2010/main" val="832204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5. Reliability</a:t>
            </a:r>
            <a:endParaRPr lang="en-US" sz="3800" i="1" dirty="0">
              <a:latin typeface="Franklin Gothic Medium" panose="020B0603020102020204" pitchFamily="34" charset="0"/>
            </a:endParaRPr>
          </a:p>
        </p:txBody>
      </p:sp>
      <p:sp>
        <p:nvSpPr>
          <p:cNvPr id="7" name="제목 4">
            <a:extLst>
              <a:ext uri="{FF2B5EF4-FFF2-40B4-BE49-F238E27FC236}">
                <a16:creationId xmlns:a16="http://schemas.microsoft.com/office/drawing/2014/main" id="{2F4D1CF4-962F-4A3F-9EB2-151EB55FF9F0}"/>
              </a:ext>
            </a:extLst>
          </p:cNvPr>
          <p:cNvSpPr txBox="1">
            <a:spLocks/>
          </p:cNvSpPr>
          <p:nvPr/>
        </p:nvSpPr>
        <p:spPr>
          <a:xfrm>
            <a:off x="291903" y="1391548"/>
            <a:ext cx="8576889" cy="12559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b="1" dirty="0">
              <a:latin typeface="Franklin Gothic Medium" panose="020B0603020102020204" pitchFamily="34" charset="0"/>
            </a:endParaRPr>
          </a:p>
        </p:txBody>
      </p:sp>
      <p:sp>
        <p:nvSpPr>
          <p:cNvPr id="4" name="제목 4">
            <a:extLst>
              <a:ext uri="{FF2B5EF4-FFF2-40B4-BE49-F238E27FC236}">
                <a16:creationId xmlns:a16="http://schemas.microsoft.com/office/drawing/2014/main" id="{D3909A9A-6F9C-485D-AC3C-A09C683AA15D}"/>
              </a:ext>
            </a:extLst>
          </p:cNvPr>
          <p:cNvSpPr txBox="1">
            <a:spLocks/>
          </p:cNvSpPr>
          <p:nvPr/>
        </p:nvSpPr>
        <p:spPr>
          <a:xfrm>
            <a:off x="143942" y="1337030"/>
            <a:ext cx="12048058" cy="18610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Franklin Gothic Medium" panose="020B0603020102020204" pitchFamily="34" charset="0"/>
              </a:rPr>
              <a:t>Jaccard Coefficient</a:t>
            </a:r>
          </a:p>
          <a:p>
            <a:pPr marL="285750" indent="-285750">
              <a:buFont typeface="Arial" panose="020B0604020202020204" pitchFamily="34" charset="0"/>
              <a:buChar char="•"/>
            </a:pPr>
            <a:endParaRPr lang="en-US" sz="1800" b="1"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One of the simple and frequently used test-retest reliability measure</a:t>
            </a: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Measures proportion of agreements after </a:t>
            </a:r>
            <a:r>
              <a:rPr lang="en-US" sz="1600" b="1" u="sng" dirty="0">
                <a:latin typeface="Franklin Gothic Medium" panose="020B0603020102020204" pitchFamily="34" charset="0"/>
              </a:rPr>
              <a:t>excluding joint negative pairs</a:t>
            </a:r>
          </a:p>
          <a:p>
            <a:pPr marL="285750" indent="-285750">
              <a:buFont typeface="Arial" panose="020B0604020202020204" pitchFamily="34" charset="0"/>
              <a:buChar char="•"/>
            </a:pPr>
            <a:endParaRPr lang="en-US" sz="1600" b="1"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 Ranges from 0 to 1   (0.00 = no reliability,  1.00 = complete reliability)</a:t>
            </a:r>
          </a:p>
        </p:txBody>
      </p:sp>
      <p:graphicFrame>
        <p:nvGraphicFramePr>
          <p:cNvPr id="10" name="표 9">
            <a:extLst>
              <a:ext uri="{FF2B5EF4-FFF2-40B4-BE49-F238E27FC236}">
                <a16:creationId xmlns:a16="http://schemas.microsoft.com/office/drawing/2014/main" id="{7FD6D384-75C6-46F6-A277-7FAD85BC72A0}"/>
              </a:ext>
            </a:extLst>
          </p:cNvPr>
          <p:cNvGraphicFramePr>
            <a:graphicFrameLocks noGrp="1"/>
          </p:cNvGraphicFramePr>
          <p:nvPr>
            <p:extLst>
              <p:ext uri="{D42A27DB-BD31-4B8C-83A1-F6EECF244321}">
                <p14:modId xmlns:p14="http://schemas.microsoft.com/office/powerpoint/2010/main" val="1368121779"/>
              </p:ext>
            </p:extLst>
          </p:nvPr>
        </p:nvGraphicFramePr>
        <p:xfrm>
          <a:off x="1614750" y="3429000"/>
          <a:ext cx="8127999" cy="1483360"/>
        </p:xfrm>
        <a:graphic>
          <a:graphicData uri="http://schemas.openxmlformats.org/drawingml/2006/table">
            <a:tbl>
              <a:tblPr firstRow="1" bandRow="1">
                <a:tableStyleId>{2D5ABB26-0587-4C30-8999-92F81FD0307C}</a:tableStyleId>
              </a:tblPr>
              <a:tblGrid>
                <a:gridCol w="2709333">
                  <a:extLst>
                    <a:ext uri="{9D8B030D-6E8A-4147-A177-3AD203B41FA5}">
                      <a16:colId xmlns:a16="http://schemas.microsoft.com/office/drawing/2014/main" val="4077546709"/>
                    </a:ext>
                  </a:extLst>
                </a:gridCol>
                <a:gridCol w="2709333">
                  <a:extLst>
                    <a:ext uri="{9D8B030D-6E8A-4147-A177-3AD203B41FA5}">
                      <a16:colId xmlns:a16="http://schemas.microsoft.com/office/drawing/2014/main" val="207491310"/>
                    </a:ext>
                  </a:extLst>
                </a:gridCol>
                <a:gridCol w="2709333">
                  <a:extLst>
                    <a:ext uri="{9D8B030D-6E8A-4147-A177-3AD203B41FA5}">
                      <a16:colId xmlns:a16="http://schemas.microsoft.com/office/drawing/2014/main" val="2639158354"/>
                    </a:ext>
                  </a:extLst>
                </a:gridCol>
              </a:tblGrid>
              <a:tr h="370840">
                <a:tc gridSpan="3">
                  <a:txBody>
                    <a:bodyPr/>
                    <a:lstStyle/>
                    <a:p>
                      <a:pPr algn="ctr"/>
                      <a:r>
                        <a:rPr lang="en-US" dirty="0"/>
                        <a:t>                                               Second Interview                    </a:t>
                      </a:r>
                    </a:p>
                  </a:txBody>
                  <a:tcPr>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3943503"/>
                  </a:ext>
                </a:extLst>
              </a:tr>
              <a:tr h="370840">
                <a:tc>
                  <a:txBody>
                    <a:bodyPr/>
                    <a:lstStyle/>
                    <a:p>
                      <a:r>
                        <a:rPr lang="en-US" dirty="0"/>
                        <a:t>First Interview</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Names Checked</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Not Checked</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1564265"/>
                  </a:ext>
                </a:extLst>
              </a:tr>
              <a:tr h="370840">
                <a:tc>
                  <a:txBody>
                    <a:bodyPr/>
                    <a:lstStyle/>
                    <a:p>
                      <a:r>
                        <a:rPr lang="en-US" dirty="0"/>
                        <a:t>Names Checked</a:t>
                      </a:r>
                    </a:p>
                  </a:txBody>
                  <a:tcPr>
                    <a:lnT w="12700" cap="flat" cmpd="sng" algn="ctr">
                      <a:solidFill>
                        <a:schemeClr val="tx1"/>
                      </a:solidFill>
                      <a:prstDash val="solid"/>
                      <a:round/>
                      <a:headEnd type="none" w="med" len="med"/>
                      <a:tailEnd type="none" w="med" len="med"/>
                    </a:lnT>
                  </a:tcPr>
                </a:tc>
                <a:tc>
                  <a:txBody>
                    <a:bodyPr/>
                    <a:lstStyle/>
                    <a:p>
                      <a:pPr algn="ctr"/>
                      <a:r>
                        <a:rPr lang="en-US" dirty="0"/>
                        <a:t>A = 12</a:t>
                      </a:r>
                    </a:p>
                  </a:txBody>
                  <a:tcPr>
                    <a:lnT w="12700" cap="flat" cmpd="sng" algn="ctr">
                      <a:solidFill>
                        <a:schemeClr val="tx1"/>
                      </a:solidFill>
                      <a:prstDash val="solid"/>
                      <a:round/>
                      <a:headEnd type="none" w="med" len="med"/>
                      <a:tailEnd type="none" w="med" len="med"/>
                    </a:lnT>
                  </a:tcPr>
                </a:tc>
                <a:tc>
                  <a:txBody>
                    <a:bodyPr/>
                    <a:lstStyle/>
                    <a:p>
                      <a:pPr algn="ctr"/>
                      <a:r>
                        <a:rPr lang="en-US" dirty="0"/>
                        <a:t>B = 5</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04444155"/>
                  </a:ext>
                </a:extLst>
              </a:tr>
              <a:tr h="370840">
                <a:tc>
                  <a:txBody>
                    <a:bodyPr/>
                    <a:lstStyle/>
                    <a:p>
                      <a:r>
                        <a:rPr lang="en-US" dirty="0"/>
                        <a:t>Not Checked</a:t>
                      </a:r>
                    </a:p>
                  </a:txBody>
                  <a:tcPr>
                    <a:lnB w="12700" cap="flat" cmpd="sng" algn="ctr">
                      <a:solidFill>
                        <a:schemeClr val="tx1"/>
                      </a:solidFill>
                      <a:prstDash val="solid"/>
                      <a:round/>
                      <a:headEnd type="none" w="med" len="med"/>
                      <a:tailEnd type="none" w="med" len="med"/>
                    </a:lnB>
                  </a:tcPr>
                </a:tc>
                <a:tc>
                  <a:txBody>
                    <a:bodyPr/>
                    <a:lstStyle/>
                    <a:p>
                      <a:pPr algn="ctr"/>
                      <a:r>
                        <a:rPr lang="en-US" dirty="0"/>
                        <a:t>C = 3</a:t>
                      </a:r>
                    </a:p>
                  </a:txBody>
                  <a:tcPr>
                    <a:lnB w="12700" cap="flat" cmpd="sng" algn="ctr">
                      <a:solidFill>
                        <a:schemeClr val="tx1"/>
                      </a:solidFill>
                      <a:prstDash val="solid"/>
                      <a:round/>
                      <a:headEnd type="none" w="med" len="med"/>
                      <a:tailEnd type="none" w="med" len="med"/>
                    </a:lnB>
                  </a:tcPr>
                </a:tc>
                <a:tc>
                  <a:txBody>
                    <a:bodyPr/>
                    <a:lstStyle/>
                    <a:p>
                      <a:pPr algn="ctr"/>
                      <a:r>
                        <a:rPr lang="en-US" dirty="0"/>
                        <a:t>D = 15</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2964362"/>
                  </a:ext>
                </a:extLst>
              </a:tr>
            </a:tbl>
          </a:graphicData>
        </a:graphic>
      </p:graphicFrame>
      <p:sp>
        <p:nvSpPr>
          <p:cNvPr id="11" name="직사각형 10">
            <a:extLst>
              <a:ext uri="{FF2B5EF4-FFF2-40B4-BE49-F238E27FC236}">
                <a16:creationId xmlns:a16="http://schemas.microsoft.com/office/drawing/2014/main" id="{E75A09D5-257A-4CDA-8E1B-115B2E9923FC}"/>
              </a:ext>
            </a:extLst>
          </p:cNvPr>
          <p:cNvSpPr/>
          <p:nvPr/>
        </p:nvSpPr>
        <p:spPr>
          <a:xfrm>
            <a:off x="1614750" y="5143265"/>
            <a:ext cx="5711692" cy="1446550"/>
          </a:xfrm>
          <a:prstGeom prst="rect">
            <a:avLst/>
          </a:prstGeom>
        </p:spPr>
        <p:txBody>
          <a:bodyPr wrap="none">
            <a:spAutoFit/>
          </a:bodyPr>
          <a:lstStyle/>
          <a:p>
            <a:r>
              <a:rPr lang="en-US" sz="1400" dirty="0">
                <a:latin typeface="Franklin Gothic Medium" panose="020B0603020102020204" pitchFamily="34" charset="0"/>
              </a:rPr>
              <a:t>First interview, informant checked 17 names, not checked 18 names</a:t>
            </a:r>
          </a:p>
          <a:p>
            <a:r>
              <a:rPr lang="en-US" sz="1400" dirty="0">
                <a:latin typeface="Franklin Gothic Medium" panose="020B0603020102020204" pitchFamily="34" charset="0"/>
              </a:rPr>
              <a:t>Second interview, informant checked 15 names, not checked 20 names</a:t>
            </a:r>
          </a:p>
          <a:p>
            <a:endParaRPr lang="en-US" sz="1400" dirty="0">
              <a:latin typeface="Franklin Gothic Medium" panose="020B0603020102020204" pitchFamily="34" charset="0"/>
            </a:endParaRPr>
          </a:p>
          <a:p>
            <a:r>
              <a:rPr lang="en-US" sz="1400" dirty="0">
                <a:latin typeface="Franklin Gothic Medium" panose="020B0603020102020204" pitchFamily="34" charset="0"/>
              </a:rPr>
              <a:t>In both interviews, 15 names were not checked</a:t>
            </a:r>
          </a:p>
          <a:p>
            <a:endParaRPr lang="en-US" sz="1600" dirty="0">
              <a:latin typeface="Franklin Gothic Medium" panose="020B0603020102020204" pitchFamily="34" charset="0"/>
            </a:endParaRPr>
          </a:p>
          <a:p>
            <a:r>
              <a:rPr lang="en-US" sz="1600" dirty="0">
                <a:latin typeface="Franklin Gothic Medium" panose="020B0603020102020204" pitchFamily="34" charset="0"/>
              </a:rPr>
              <a:t>Jaccard Coefficient = A/(A+B+C) = 12/(12+5+3) = 0.60</a:t>
            </a:r>
            <a:endParaRPr lang="en-US" sz="1600" dirty="0"/>
          </a:p>
        </p:txBody>
      </p:sp>
    </p:spTree>
    <p:extLst>
      <p:ext uri="{BB962C8B-B14F-4D97-AF65-F5344CB8AC3E}">
        <p14:creationId xmlns:p14="http://schemas.microsoft.com/office/powerpoint/2010/main" val="2201713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5. Reliability</a:t>
            </a:r>
            <a:endParaRPr lang="en-US" sz="3800" i="1" dirty="0">
              <a:latin typeface="Franklin Gothic Medium" panose="020B0603020102020204" pitchFamily="34" charset="0"/>
            </a:endParaRPr>
          </a:p>
        </p:txBody>
      </p:sp>
      <p:sp>
        <p:nvSpPr>
          <p:cNvPr id="7" name="제목 4">
            <a:extLst>
              <a:ext uri="{FF2B5EF4-FFF2-40B4-BE49-F238E27FC236}">
                <a16:creationId xmlns:a16="http://schemas.microsoft.com/office/drawing/2014/main" id="{2F4D1CF4-962F-4A3F-9EB2-151EB55FF9F0}"/>
              </a:ext>
            </a:extLst>
          </p:cNvPr>
          <p:cNvSpPr txBox="1">
            <a:spLocks/>
          </p:cNvSpPr>
          <p:nvPr/>
        </p:nvSpPr>
        <p:spPr>
          <a:xfrm>
            <a:off x="291903" y="1391548"/>
            <a:ext cx="8576889" cy="12559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b="1" dirty="0">
              <a:latin typeface="Franklin Gothic Medium" panose="020B0603020102020204" pitchFamily="34" charset="0"/>
            </a:endParaRPr>
          </a:p>
        </p:txBody>
      </p:sp>
      <p:sp>
        <p:nvSpPr>
          <p:cNvPr id="2" name="직사각형 1">
            <a:extLst>
              <a:ext uri="{FF2B5EF4-FFF2-40B4-BE49-F238E27FC236}">
                <a16:creationId xmlns:a16="http://schemas.microsoft.com/office/drawing/2014/main" id="{B2AC35D5-03E6-4F69-AA83-9ADCAF648D54}"/>
              </a:ext>
            </a:extLst>
          </p:cNvPr>
          <p:cNvSpPr/>
          <p:nvPr/>
        </p:nvSpPr>
        <p:spPr>
          <a:xfrm>
            <a:off x="543674" y="1620462"/>
            <a:ext cx="1953868" cy="369332"/>
          </a:xfrm>
          <a:prstGeom prst="rect">
            <a:avLst/>
          </a:prstGeom>
        </p:spPr>
        <p:txBody>
          <a:bodyPr wrap="none">
            <a:spAutoFit/>
          </a:bodyPr>
          <a:lstStyle/>
          <a:p>
            <a:r>
              <a:rPr lang="en-US" b="1" dirty="0">
                <a:latin typeface="Franklin Gothic Medium" panose="020B0603020102020204" pitchFamily="34" charset="0"/>
              </a:rPr>
              <a:t>Reliability Studies</a:t>
            </a:r>
            <a:endParaRPr lang="en-US" dirty="0"/>
          </a:p>
        </p:txBody>
      </p:sp>
      <p:sp>
        <p:nvSpPr>
          <p:cNvPr id="8" name="직사각형 7">
            <a:extLst>
              <a:ext uri="{FF2B5EF4-FFF2-40B4-BE49-F238E27FC236}">
                <a16:creationId xmlns:a16="http://schemas.microsoft.com/office/drawing/2014/main" id="{30B32567-D8DA-4C4A-B134-0EE6A8B628EF}"/>
              </a:ext>
            </a:extLst>
          </p:cNvPr>
          <p:cNvSpPr/>
          <p:nvPr/>
        </p:nvSpPr>
        <p:spPr>
          <a:xfrm>
            <a:off x="813201" y="2314514"/>
            <a:ext cx="9567992" cy="2492990"/>
          </a:xfrm>
          <a:prstGeom prst="rect">
            <a:avLst/>
          </a:prstGeom>
        </p:spPr>
        <p:txBody>
          <a:bodyPr wrap="square">
            <a:spAutoFit/>
          </a:bodyPr>
          <a:lstStyle/>
          <a:p>
            <a:pPr marL="285750" indent="-285750">
              <a:buFont typeface="Arial" panose="020B0604020202020204" pitchFamily="34" charset="0"/>
              <a:buChar char="•"/>
            </a:pPr>
            <a:r>
              <a:rPr lang="en-US" sz="1600" dirty="0">
                <a:latin typeface="Franklin Gothic Medium" panose="020B0603020102020204" pitchFamily="34" charset="0"/>
              </a:rPr>
              <a:t>Informant reliability is often correlated with validity…informants should be weighted by their reliability.  </a:t>
            </a:r>
            <a:r>
              <a:rPr lang="en-US" sz="1400" i="1" dirty="0">
                <a:latin typeface="Franklin Gothic Medium" panose="020B0603020102020204" pitchFamily="34" charset="0"/>
              </a:rPr>
              <a:t>(Romney &amp; Weller, 1984)</a:t>
            </a:r>
          </a:p>
          <a:p>
            <a:pPr marL="285750" indent="-285750">
              <a:buFont typeface="Arial" panose="020B0604020202020204" pitchFamily="34" charset="0"/>
              <a:buChar char="•"/>
            </a:pPr>
            <a:endParaRPr lang="en-US" sz="1400" i="1"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High valid network responses typically have high reliability, if an informant can always enumerate all friends in response to a specific name generator.</a:t>
            </a: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endParaRPr lang="en-US" sz="1600" dirty="0">
              <a:latin typeface="Franklin Gothic Medium" panose="020B0603020102020204" pitchFamily="34" charset="0"/>
            </a:endParaRPr>
          </a:p>
          <a:p>
            <a:endParaRPr lang="en-US" sz="1600" dirty="0">
              <a:latin typeface="Franklin Gothic Medium" panose="020B0603020102020204" pitchFamily="34" charset="0"/>
            </a:endParaRPr>
          </a:p>
          <a:p>
            <a:endParaRPr lang="en-US" sz="1600" dirty="0">
              <a:latin typeface="Franklin Gothic Medium" panose="020B0603020102020204" pitchFamily="34" charset="0"/>
            </a:endParaRPr>
          </a:p>
        </p:txBody>
      </p:sp>
      <p:pic>
        <p:nvPicPr>
          <p:cNvPr id="9" name="그림 8">
            <a:extLst>
              <a:ext uri="{FF2B5EF4-FFF2-40B4-BE49-F238E27FC236}">
                <a16:creationId xmlns:a16="http://schemas.microsoft.com/office/drawing/2014/main" id="{4059D7C5-CB82-42B6-8CD2-27AC1F7045E2}"/>
              </a:ext>
            </a:extLst>
          </p:cNvPr>
          <p:cNvPicPr>
            <a:picLocks noChangeAspect="1"/>
          </p:cNvPicPr>
          <p:nvPr/>
        </p:nvPicPr>
        <p:blipFill rotWithShape="1">
          <a:blip r:embed="rId2"/>
          <a:srcRect l="32840" t="43789" r="35049" b="36310"/>
          <a:stretch/>
        </p:blipFill>
        <p:spPr>
          <a:xfrm>
            <a:off x="2849731" y="4145588"/>
            <a:ext cx="5344357" cy="1863029"/>
          </a:xfrm>
          <a:prstGeom prst="rect">
            <a:avLst/>
          </a:prstGeom>
        </p:spPr>
      </p:pic>
    </p:spTree>
    <p:extLst>
      <p:ext uri="{BB962C8B-B14F-4D97-AF65-F5344CB8AC3E}">
        <p14:creationId xmlns:p14="http://schemas.microsoft.com/office/powerpoint/2010/main" val="2075817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6. Missing Data</a:t>
            </a:r>
            <a:endParaRPr lang="en-US" sz="3800" i="1" dirty="0">
              <a:latin typeface="Franklin Gothic Medium" panose="020B0603020102020204" pitchFamily="34" charset="0"/>
            </a:endParaRPr>
          </a:p>
        </p:txBody>
      </p:sp>
      <mc:AlternateContent xmlns:mc="http://schemas.openxmlformats.org/markup-compatibility/2006">
        <mc:Choice xmlns:a14="http://schemas.microsoft.com/office/drawing/2010/main" Requires="a14">
          <p:sp>
            <p:nvSpPr>
              <p:cNvPr id="7" name="제목 4">
                <a:extLst>
                  <a:ext uri="{FF2B5EF4-FFF2-40B4-BE49-F238E27FC236}">
                    <a16:creationId xmlns:a16="http://schemas.microsoft.com/office/drawing/2014/main" id="{2F4D1CF4-962F-4A3F-9EB2-151EB55FF9F0}"/>
                  </a:ext>
                </a:extLst>
              </p:cNvPr>
              <p:cNvSpPr txBox="1">
                <a:spLocks/>
              </p:cNvSpPr>
              <p:nvPr/>
            </p:nvSpPr>
            <p:spPr>
              <a:xfrm>
                <a:off x="348842" y="1293607"/>
                <a:ext cx="10420079" cy="23357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Relational Response Rate (</a:t>
                </a:r>
                <a:r>
                  <a:rPr lang="en-US" sz="2000" b="1" i="1" dirty="0">
                    <a:latin typeface="Franklin Gothic Medium" panose="020B0603020102020204" pitchFamily="34" charset="0"/>
                  </a:rPr>
                  <a:t>R</a:t>
                </a:r>
                <a:r>
                  <a:rPr lang="en-US" sz="2000" b="1" dirty="0">
                    <a:latin typeface="Franklin Gothic Medium" panose="020B0603020102020204" pitchFamily="34" charset="0"/>
                  </a:rPr>
                  <a:t>)</a:t>
                </a:r>
              </a:p>
              <a:p>
                <a:pPr marL="342900" indent="-342900">
                  <a:buFont typeface="Arial" panose="020B0604020202020204" pitchFamily="34" charset="0"/>
                  <a:buChar char="•"/>
                </a:pPr>
                <a:endParaRPr lang="en-US" sz="2000" b="1"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Social network studies are especially sensitive to missing data. In egocentric data collection, an ego with </a:t>
                </a:r>
                <a:r>
                  <a:rPr lang="en-US" sz="1600" i="1" dirty="0">
                    <a:latin typeface="Franklin Gothic Medium" panose="020B0603020102020204" pitchFamily="34" charset="0"/>
                  </a:rPr>
                  <a:t>N </a:t>
                </a:r>
                <a:r>
                  <a:rPr lang="en-US" sz="1600" dirty="0">
                    <a:latin typeface="Franklin Gothic Medium" panose="020B0603020102020204" pitchFamily="34" charset="0"/>
                  </a:rPr>
                  <a:t>alters should report on </a:t>
                </a:r>
                <a:r>
                  <a:rPr lang="en-US" sz="2000" dirty="0">
                    <a:latin typeface="Franklin Gothic Medium" panose="020B0603020102020204" pitchFamily="34" charset="0"/>
                  </a:rPr>
                  <a:t> </a:t>
                </a:r>
                <a14:m>
                  <m:oMath xmlns:m="http://schemas.openxmlformats.org/officeDocument/2006/math">
                    <m:d>
                      <m:dPr>
                        <m:ctrlPr>
                          <a:rPr lang="en-US" sz="1800" i="1" smtClean="0">
                            <a:latin typeface="Cambria Math" panose="02040503050406030204" pitchFamily="18" charset="0"/>
                          </a:rPr>
                        </m:ctrlPr>
                      </m:dPr>
                      <m:e>
                        <m:f>
                          <m:fPr>
                            <m:type m:val="noBar"/>
                            <m:ctrlPr>
                              <a:rPr lang="en-US" sz="1800" i="1" smtClean="0">
                                <a:latin typeface="Cambria Math" panose="02040503050406030204" pitchFamily="18" charset="0"/>
                              </a:rPr>
                            </m:ctrlPr>
                          </m:fPr>
                          <m:num>
                            <m:r>
                              <a:rPr lang="en-US" sz="1800" b="0" i="1" smtClean="0">
                                <a:latin typeface="Cambria Math" panose="02040503050406030204" pitchFamily="18" charset="0"/>
                              </a:rPr>
                              <m:t>2</m:t>
                            </m:r>
                          </m:num>
                          <m:den>
                            <m:r>
                              <a:rPr lang="en-US" sz="1800" b="0" i="1" smtClean="0">
                                <a:latin typeface="Cambria Math" panose="02040503050406030204" pitchFamily="18" charset="0"/>
                              </a:rPr>
                              <m:t>𝑁</m:t>
                            </m:r>
                          </m:den>
                        </m:f>
                      </m:e>
                    </m:d>
                    <m:r>
                      <a:rPr lang="en-US" sz="1800" b="0" i="1" smtClean="0">
                        <a:latin typeface="Cambria Math" panose="02040503050406030204" pitchFamily="18" charset="0"/>
                      </a:rPr>
                      <m:t> </m:t>
                    </m:r>
                  </m:oMath>
                </a14:m>
                <a:r>
                  <a:rPr lang="en-US" sz="1800" dirty="0">
                    <a:latin typeface="Franklin Gothic Medium" panose="020B0603020102020204" pitchFamily="34" charset="0"/>
                  </a:rPr>
                  <a:t> </a:t>
                </a:r>
                <a:r>
                  <a:rPr lang="en-US" sz="1600" dirty="0">
                    <a:latin typeface="Franklin Gothic Medium" panose="020B0603020102020204" pitchFamily="34" charset="0"/>
                  </a:rPr>
                  <a:t>nondirected dyadic relations. For directed studies, it would be </a:t>
                </a:r>
                <a14:m>
                  <m:oMath xmlns:m="http://schemas.openxmlformats.org/officeDocument/2006/math">
                    <m:r>
                      <a:rPr lang="en-US" sz="1400" b="0" i="0" smtClean="0">
                        <a:latin typeface="Cambria Math" panose="02040503050406030204" pitchFamily="18" charset="0"/>
                      </a:rPr>
                      <m:t>2</m:t>
                    </m:r>
                    <m:r>
                      <a:rPr lang="en-US" sz="1400" b="0" i="1" smtClean="0">
                        <a:latin typeface="Cambria Math" panose="02040503050406030204" pitchFamily="18" charset="0"/>
                        <a:ea typeface="Cambria Math" panose="02040503050406030204" pitchFamily="18" charset="0"/>
                      </a:rPr>
                      <m:t>×</m:t>
                    </m:r>
                    <m:d>
                      <m:dPr>
                        <m:ctrlPr>
                          <a:rPr lang="en-US" sz="1400" i="1">
                            <a:latin typeface="Cambria Math" panose="02040503050406030204" pitchFamily="18" charset="0"/>
                          </a:rPr>
                        </m:ctrlPr>
                      </m:dPr>
                      <m:e>
                        <m:f>
                          <m:fPr>
                            <m:type m:val="noBar"/>
                            <m:ctrlPr>
                              <a:rPr lang="en-US" sz="1400" i="1">
                                <a:latin typeface="Cambria Math" panose="02040503050406030204" pitchFamily="18" charset="0"/>
                              </a:rPr>
                            </m:ctrlPr>
                          </m:fPr>
                          <m:num>
                            <m:r>
                              <a:rPr lang="en-US" sz="1400" i="1">
                                <a:latin typeface="Cambria Math" panose="02040503050406030204" pitchFamily="18" charset="0"/>
                              </a:rPr>
                              <m:t>2</m:t>
                            </m:r>
                          </m:num>
                          <m:den>
                            <m:r>
                              <a:rPr lang="en-US" sz="1400" i="1">
                                <a:latin typeface="Cambria Math" panose="02040503050406030204" pitchFamily="18" charset="0"/>
                              </a:rPr>
                              <m:t>𝑁</m:t>
                            </m:r>
                          </m:den>
                        </m:f>
                      </m:e>
                    </m:d>
                    <m:r>
                      <a:rPr lang="en-US" sz="1400" i="1">
                        <a:latin typeface="Cambria Math" panose="02040503050406030204" pitchFamily="18" charset="0"/>
                      </a:rPr>
                      <m:t> </m:t>
                    </m:r>
                  </m:oMath>
                </a14:m>
                <a:endParaRPr lang="en-US" sz="1400" dirty="0">
                  <a:latin typeface="Franklin Gothic Medium" panose="020B0603020102020204" pitchFamily="34" charset="0"/>
                </a:endParaRPr>
              </a:p>
              <a:p>
                <a:pPr marL="285750" indent="-285750">
                  <a:buFont typeface="Arial" panose="020B0604020202020204" pitchFamily="34" charset="0"/>
                  <a:buChar char="•"/>
                </a:pPr>
                <a:endParaRPr lang="en-US" sz="14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The relational response rate (</a:t>
                </a:r>
                <a:r>
                  <a:rPr lang="en-US" sz="1600" i="1" dirty="0">
                    <a:latin typeface="Franklin Gothic Medium" panose="020B0603020102020204" pitchFamily="34" charset="0"/>
                  </a:rPr>
                  <a:t>R</a:t>
                </a:r>
                <a:r>
                  <a:rPr lang="en-US" sz="1600" dirty="0">
                    <a:latin typeface="Franklin Gothic Medium" panose="020B0603020102020204" pitchFamily="34" charset="0"/>
                  </a:rPr>
                  <a:t>) for egocentric networks is calculated by dividing the number of reported ties by the total number of possible dyadic relations.</a:t>
                </a:r>
              </a:p>
              <a:p>
                <a:pPr marL="285750" indent="-285750">
                  <a:buFont typeface="Arial" panose="020B0604020202020204" pitchFamily="34" charset="0"/>
                  <a:buChar char="•"/>
                </a:pPr>
                <a:endParaRPr lang="en-US" sz="1600"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Response rate for complete network is more complex</a:t>
                </a:r>
              </a:p>
            </p:txBody>
          </p:sp>
        </mc:Choice>
        <mc:Fallback>
          <p:sp>
            <p:nvSpPr>
              <p:cNvPr id="7" name="제목 4">
                <a:extLst>
                  <a:ext uri="{FF2B5EF4-FFF2-40B4-BE49-F238E27FC236}">
                    <a16:creationId xmlns:a16="http://schemas.microsoft.com/office/drawing/2014/main" id="{2F4D1CF4-962F-4A3F-9EB2-151EB55FF9F0}"/>
                  </a:ext>
                </a:extLst>
              </p:cNvPr>
              <p:cNvSpPr txBox="1">
                <a:spLocks noRot="1" noChangeAspect="1" noMove="1" noResize="1" noEditPoints="1" noAdjustHandles="1" noChangeArrowheads="1" noChangeShapeType="1" noTextEdit="1"/>
              </p:cNvSpPr>
              <p:nvPr/>
            </p:nvSpPr>
            <p:spPr>
              <a:xfrm>
                <a:off x="348842" y="1293607"/>
                <a:ext cx="10420079" cy="2335790"/>
              </a:xfrm>
              <a:prstGeom prst="rect">
                <a:avLst/>
              </a:prstGeom>
              <a:blipFill>
                <a:blip r:embed="rId2"/>
                <a:stretch>
                  <a:fillRect l="-585" t="-261" r="-702" b="-1305"/>
                </a:stretch>
              </a:blipFill>
            </p:spPr>
            <p:txBody>
              <a:bodyPr/>
              <a:lstStyle/>
              <a:p>
                <a:r>
                  <a:rPr lang="en-US">
                    <a:noFill/>
                  </a:rPr>
                  <a:t> </a:t>
                </a:r>
              </a:p>
            </p:txBody>
          </p:sp>
        </mc:Fallback>
      </mc:AlternateContent>
      <p:sp>
        <p:nvSpPr>
          <p:cNvPr id="2" name="직사각형 1">
            <a:extLst>
              <a:ext uri="{FF2B5EF4-FFF2-40B4-BE49-F238E27FC236}">
                <a16:creationId xmlns:a16="http://schemas.microsoft.com/office/drawing/2014/main" id="{FADABBA7-7117-4B7F-B1D3-741B989F4FC4}"/>
              </a:ext>
            </a:extLst>
          </p:cNvPr>
          <p:cNvSpPr/>
          <p:nvPr/>
        </p:nvSpPr>
        <p:spPr>
          <a:xfrm>
            <a:off x="543674" y="3828494"/>
            <a:ext cx="1874872" cy="307777"/>
          </a:xfrm>
          <a:prstGeom prst="rect">
            <a:avLst/>
          </a:prstGeom>
        </p:spPr>
        <p:txBody>
          <a:bodyPr wrap="none">
            <a:spAutoFit/>
          </a:bodyPr>
          <a:lstStyle/>
          <a:p>
            <a:r>
              <a:rPr lang="en-US" sz="1400" dirty="0">
                <a:latin typeface="Franklin Gothic Medium" panose="020B0603020102020204" pitchFamily="34" charset="0"/>
              </a:rPr>
              <a:t>ex) if ego has 5 alters:</a:t>
            </a:r>
            <a:endParaRPr lang="en-US" sz="1400" dirty="0"/>
          </a:p>
        </p:txBody>
      </p:sp>
      <p:grpSp>
        <p:nvGrpSpPr>
          <p:cNvPr id="6" name="그룹 5">
            <a:extLst>
              <a:ext uri="{FF2B5EF4-FFF2-40B4-BE49-F238E27FC236}">
                <a16:creationId xmlns:a16="http://schemas.microsoft.com/office/drawing/2014/main" id="{EE45553F-ED0C-44DD-A2EB-7FF065509398}"/>
              </a:ext>
            </a:extLst>
          </p:cNvPr>
          <p:cNvGrpSpPr/>
          <p:nvPr/>
        </p:nvGrpSpPr>
        <p:grpSpPr>
          <a:xfrm>
            <a:off x="2527200" y="5139730"/>
            <a:ext cx="466794" cy="435006"/>
            <a:chOff x="2201662" y="5086905"/>
            <a:chExt cx="466794" cy="435006"/>
          </a:xfrm>
        </p:grpSpPr>
        <p:sp>
          <p:nvSpPr>
            <p:cNvPr id="3" name="타원 2">
              <a:extLst>
                <a:ext uri="{FF2B5EF4-FFF2-40B4-BE49-F238E27FC236}">
                  <a16:creationId xmlns:a16="http://schemas.microsoft.com/office/drawing/2014/main" id="{72DFAC4D-C107-470B-BB7B-F35138522F95}"/>
                </a:ext>
              </a:extLst>
            </p:cNvPr>
            <p:cNvSpPr/>
            <p:nvPr/>
          </p:nvSpPr>
          <p:spPr>
            <a:xfrm>
              <a:off x="2210540" y="5086905"/>
              <a:ext cx="435006" cy="435006"/>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4" name="직사각형 3">
              <a:extLst>
                <a:ext uri="{FF2B5EF4-FFF2-40B4-BE49-F238E27FC236}">
                  <a16:creationId xmlns:a16="http://schemas.microsoft.com/office/drawing/2014/main" id="{0328B6A4-DBCF-41AA-9A40-82EB7B1E8491}"/>
                </a:ext>
              </a:extLst>
            </p:cNvPr>
            <p:cNvSpPr/>
            <p:nvPr/>
          </p:nvSpPr>
          <p:spPr>
            <a:xfrm>
              <a:off x="2201662" y="5131748"/>
              <a:ext cx="466794" cy="307777"/>
            </a:xfrm>
            <a:prstGeom prst="rect">
              <a:avLst/>
            </a:prstGeom>
          </p:spPr>
          <p:txBody>
            <a:bodyPr wrap="none">
              <a:spAutoFit/>
            </a:bodyPr>
            <a:lstStyle/>
            <a:p>
              <a:r>
                <a:rPr lang="en-US" sz="1400" dirty="0">
                  <a:latin typeface="Franklin Gothic Medium" panose="020B0603020102020204" pitchFamily="34" charset="0"/>
                </a:rPr>
                <a:t>ego</a:t>
              </a:r>
              <a:endParaRPr lang="en-US" sz="1400" dirty="0"/>
            </a:p>
          </p:txBody>
        </p:sp>
      </p:grpSp>
      <p:sp>
        <p:nvSpPr>
          <p:cNvPr id="19" name="타원 18">
            <a:extLst>
              <a:ext uri="{FF2B5EF4-FFF2-40B4-BE49-F238E27FC236}">
                <a16:creationId xmlns:a16="http://schemas.microsoft.com/office/drawing/2014/main" id="{4FB1BC95-920F-4D05-9802-45690DC8D5A6}"/>
              </a:ext>
            </a:extLst>
          </p:cNvPr>
          <p:cNvSpPr/>
          <p:nvPr/>
        </p:nvSpPr>
        <p:spPr>
          <a:xfrm>
            <a:off x="3410505" y="4651899"/>
            <a:ext cx="435006" cy="43500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20" name="직사각형 19">
            <a:extLst>
              <a:ext uri="{FF2B5EF4-FFF2-40B4-BE49-F238E27FC236}">
                <a16:creationId xmlns:a16="http://schemas.microsoft.com/office/drawing/2014/main" id="{D0EF01C7-83C6-4318-9F7B-5FB474B58908}"/>
              </a:ext>
            </a:extLst>
          </p:cNvPr>
          <p:cNvSpPr/>
          <p:nvPr/>
        </p:nvSpPr>
        <p:spPr>
          <a:xfrm>
            <a:off x="3383870" y="4705620"/>
            <a:ext cx="584447" cy="307777"/>
          </a:xfrm>
          <a:prstGeom prst="rect">
            <a:avLst/>
          </a:prstGeom>
        </p:spPr>
        <p:txBody>
          <a:bodyPr wrap="square">
            <a:spAutoFit/>
          </a:bodyPr>
          <a:lstStyle/>
          <a:p>
            <a:r>
              <a:rPr lang="en-US" sz="1400" dirty="0">
                <a:latin typeface="Franklin Gothic Medium" panose="020B0603020102020204" pitchFamily="34" charset="0"/>
              </a:rPr>
              <a:t>alter</a:t>
            </a:r>
            <a:endParaRPr lang="en-US" sz="1400" dirty="0"/>
          </a:p>
        </p:txBody>
      </p:sp>
      <p:sp>
        <p:nvSpPr>
          <p:cNvPr id="21" name="타원 20">
            <a:extLst>
              <a:ext uri="{FF2B5EF4-FFF2-40B4-BE49-F238E27FC236}">
                <a16:creationId xmlns:a16="http://schemas.microsoft.com/office/drawing/2014/main" id="{69F5D4F0-447C-4662-9433-37B65D8AE95C}"/>
              </a:ext>
            </a:extLst>
          </p:cNvPr>
          <p:cNvSpPr/>
          <p:nvPr/>
        </p:nvSpPr>
        <p:spPr>
          <a:xfrm>
            <a:off x="3357977" y="5528222"/>
            <a:ext cx="435006" cy="43500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22" name="직사각형 21">
            <a:extLst>
              <a:ext uri="{FF2B5EF4-FFF2-40B4-BE49-F238E27FC236}">
                <a16:creationId xmlns:a16="http://schemas.microsoft.com/office/drawing/2014/main" id="{E4D5CDF1-76BF-4D73-AC43-8072B0010497}"/>
              </a:ext>
            </a:extLst>
          </p:cNvPr>
          <p:cNvSpPr/>
          <p:nvPr/>
        </p:nvSpPr>
        <p:spPr>
          <a:xfrm>
            <a:off x="3331342" y="5581943"/>
            <a:ext cx="584447" cy="307777"/>
          </a:xfrm>
          <a:prstGeom prst="rect">
            <a:avLst/>
          </a:prstGeom>
        </p:spPr>
        <p:txBody>
          <a:bodyPr wrap="square">
            <a:spAutoFit/>
          </a:bodyPr>
          <a:lstStyle/>
          <a:p>
            <a:r>
              <a:rPr lang="en-US" sz="1400" dirty="0">
                <a:latin typeface="Franklin Gothic Medium" panose="020B0603020102020204" pitchFamily="34" charset="0"/>
              </a:rPr>
              <a:t>alter</a:t>
            </a:r>
            <a:endParaRPr lang="en-US" sz="1400" dirty="0"/>
          </a:p>
        </p:txBody>
      </p:sp>
      <p:grpSp>
        <p:nvGrpSpPr>
          <p:cNvPr id="29" name="그룹 28">
            <a:extLst>
              <a:ext uri="{FF2B5EF4-FFF2-40B4-BE49-F238E27FC236}">
                <a16:creationId xmlns:a16="http://schemas.microsoft.com/office/drawing/2014/main" id="{923D4695-ABB2-4B9C-ADAD-0E8B8CA9F5E9}"/>
              </a:ext>
            </a:extLst>
          </p:cNvPr>
          <p:cNvGrpSpPr/>
          <p:nvPr/>
        </p:nvGrpSpPr>
        <p:grpSpPr>
          <a:xfrm>
            <a:off x="2353322" y="5963228"/>
            <a:ext cx="584447" cy="435006"/>
            <a:chOff x="2922229" y="6045613"/>
            <a:chExt cx="584447" cy="435006"/>
          </a:xfrm>
        </p:grpSpPr>
        <p:sp>
          <p:nvSpPr>
            <p:cNvPr id="23" name="타원 22">
              <a:extLst>
                <a:ext uri="{FF2B5EF4-FFF2-40B4-BE49-F238E27FC236}">
                  <a16:creationId xmlns:a16="http://schemas.microsoft.com/office/drawing/2014/main" id="{3CB8A4CE-81CA-455C-9AFF-0B63693FAF1D}"/>
                </a:ext>
              </a:extLst>
            </p:cNvPr>
            <p:cNvSpPr/>
            <p:nvPr/>
          </p:nvSpPr>
          <p:spPr>
            <a:xfrm>
              <a:off x="2948864" y="6045613"/>
              <a:ext cx="435006" cy="43500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24" name="직사각형 23">
              <a:extLst>
                <a:ext uri="{FF2B5EF4-FFF2-40B4-BE49-F238E27FC236}">
                  <a16:creationId xmlns:a16="http://schemas.microsoft.com/office/drawing/2014/main" id="{5A2D06CE-99BC-4969-A294-3CE644CB7044}"/>
                </a:ext>
              </a:extLst>
            </p:cNvPr>
            <p:cNvSpPr/>
            <p:nvPr/>
          </p:nvSpPr>
          <p:spPr>
            <a:xfrm>
              <a:off x="2922229" y="6099334"/>
              <a:ext cx="584447" cy="307777"/>
            </a:xfrm>
            <a:prstGeom prst="rect">
              <a:avLst/>
            </a:prstGeom>
          </p:spPr>
          <p:txBody>
            <a:bodyPr wrap="square">
              <a:spAutoFit/>
            </a:bodyPr>
            <a:lstStyle/>
            <a:p>
              <a:r>
                <a:rPr lang="en-US" sz="1400" dirty="0">
                  <a:latin typeface="Franklin Gothic Medium" panose="020B0603020102020204" pitchFamily="34" charset="0"/>
                </a:rPr>
                <a:t>alter</a:t>
              </a:r>
              <a:endParaRPr lang="en-US" sz="1400" dirty="0"/>
            </a:p>
          </p:txBody>
        </p:sp>
      </p:grpSp>
      <p:sp>
        <p:nvSpPr>
          <p:cNvPr id="25" name="타원 24">
            <a:extLst>
              <a:ext uri="{FF2B5EF4-FFF2-40B4-BE49-F238E27FC236}">
                <a16:creationId xmlns:a16="http://schemas.microsoft.com/office/drawing/2014/main" id="{CB3BC0E2-835C-449D-A434-754A805C4826}"/>
              </a:ext>
            </a:extLst>
          </p:cNvPr>
          <p:cNvSpPr/>
          <p:nvPr/>
        </p:nvSpPr>
        <p:spPr>
          <a:xfrm>
            <a:off x="2428043" y="4361075"/>
            <a:ext cx="435006" cy="43500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26" name="직사각형 25">
            <a:extLst>
              <a:ext uri="{FF2B5EF4-FFF2-40B4-BE49-F238E27FC236}">
                <a16:creationId xmlns:a16="http://schemas.microsoft.com/office/drawing/2014/main" id="{8B4B0A3A-38E8-4237-819C-668609B879B1}"/>
              </a:ext>
            </a:extLst>
          </p:cNvPr>
          <p:cNvSpPr/>
          <p:nvPr/>
        </p:nvSpPr>
        <p:spPr>
          <a:xfrm>
            <a:off x="2401408" y="4414796"/>
            <a:ext cx="584447" cy="307777"/>
          </a:xfrm>
          <a:prstGeom prst="rect">
            <a:avLst/>
          </a:prstGeom>
        </p:spPr>
        <p:txBody>
          <a:bodyPr wrap="square">
            <a:spAutoFit/>
          </a:bodyPr>
          <a:lstStyle/>
          <a:p>
            <a:r>
              <a:rPr lang="en-US" sz="1400" dirty="0">
                <a:latin typeface="Franklin Gothic Medium" panose="020B0603020102020204" pitchFamily="34" charset="0"/>
              </a:rPr>
              <a:t>alter</a:t>
            </a:r>
            <a:endParaRPr lang="en-US" sz="1400" dirty="0"/>
          </a:p>
        </p:txBody>
      </p:sp>
      <p:sp>
        <p:nvSpPr>
          <p:cNvPr id="27" name="타원 26">
            <a:extLst>
              <a:ext uri="{FF2B5EF4-FFF2-40B4-BE49-F238E27FC236}">
                <a16:creationId xmlns:a16="http://schemas.microsoft.com/office/drawing/2014/main" id="{AA3B6C0D-A6F7-4589-B387-39FF1D9D6BDC}"/>
              </a:ext>
            </a:extLst>
          </p:cNvPr>
          <p:cNvSpPr/>
          <p:nvPr/>
        </p:nvSpPr>
        <p:spPr>
          <a:xfrm>
            <a:off x="1675663" y="5044763"/>
            <a:ext cx="435006" cy="435006"/>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28" name="직사각형 27">
            <a:extLst>
              <a:ext uri="{FF2B5EF4-FFF2-40B4-BE49-F238E27FC236}">
                <a16:creationId xmlns:a16="http://schemas.microsoft.com/office/drawing/2014/main" id="{37550076-004F-4B97-98C9-A34294652C76}"/>
              </a:ext>
            </a:extLst>
          </p:cNvPr>
          <p:cNvSpPr/>
          <p:nvPr/>
        </p:nvSpPr>
        <p:spPr>
          <a:xfrm>
            <a:off x="1649028" y="5098484"/>
            <a:ext cx="584447" cy="307777"/>
          </a:xfrm>
          <a:prstGeom prst="rect">
            <a:avLst/>
          </a:prstGeom>
        </p:spPr>
        <p:txBody>
          <a:bodyPr wrap="square">
            <a:spAutoFit/>
          </a:bodyPr>
          <a:lstStyle/>
          <a:p>
            <a:r>
              <a:rPr lang="en-US" sz="1400" dirty="0">
                <a:latin typeface="Franklin Gothic Medium" panose="020B0603020102020204" pitchFamily="34" charset="0"/>
              </a:rPr>
              <a:t>alter</a:t>
            </a:r>
            <a:endParaRPr lang="en-US" sz="1400" dirty="0"/>
          </a:p>
        </p:txBody>
      </p:sp>
      <p:cxnSp>
        <p:nvCxnSpPr>
          <p:cNvPr id="31" name="직선 연결선 30">
            <a:extLst>
              <a:ext uri="{FF2B5EF4-FFF2-40B4-BE49-F238E27FC236}">
                <a16:creationId xmlns:a16="http://schemas.microsoft.com/office/drawing/2014/main" id="{7BC226D7-718B-41DA-A02B-62AFE53FEE9E}"/>
              </a:ext>
            </a:extLst>
          </p:cNvPr>
          <p:cNvCxnSpPr>
            <a:cxnSpLocks/>
            <a:stCxn id="27" idx="6"/>
            <a:endCxn id="3" idx="2"/>
          </p:cNvCxnSpPr>
          <p:nvPr/>
        </p:nvCxnSpPr>
        <p:spPr>
          <a:xfrm>
            <a:off x="2110669" y="5262266"/>
            <a:ext cx="425409" cy="94967"/>
          </a:xfrm>
          <a:prstGeom prst="line">
            <a:avLst/>
          </a:prstGeom>
        </p:spPr>
        <p:style>
          <a:lnRef idx="1">
            <a:schemeClr val="dk1"/>
          </a:lnRef>
          <a:fillRef idx="0">
            <a:schemeClr val="dk1"/>
          </a:fillRef>
          <a:effectRef idx="0">
            <a:schemeClr val="dk1"/>
          </a:effectRef>
          <a:fontRef idx="minor">
            <a:schemeClr val="tx1"/>
          </a:fontRef>
        </p:style>
      </p:cxnSp>
      <p:cxnSp>
        <p:nvCxnSpPr>
          <p:cNvPr id="33" name="직선 연결선 32">
            <a:extLst>
              <a:ext uri="{FF2B5EF4-FFF2-40B4-BE49-F238E27FC236}">
                <a16:creationId xmlns:a16="http://schemas.microsoft.com/office/drawing/2014/main" id="{9196AC85-02FC-4662-BDFE-E949333DF948}"/>
              </a:ext>
            </a:extLst>
          </p:cNvPr>
          <p:cNvCxnSpPr>
            <a:cxnSpLocks/>
            <a:stCxn id="20" idx="1"/>
            <a:endCxn id="3" idx="7"/>
          </p:cNvCxnSpPr>
          <p:nvPr/>
        </p:nvCxnSpPr>
        <p:spPr>
          <a:xfrm flipH="1">
            <a:off x="2907379" y="4859509"/>
            <a:ext cx="476491" cy="343926"/>
          </a:xfrm>
          <a:prstGeom prst="line">
            <a:avLst/>
          </a:prstGeom>
        </p:spPr>
        <p:style>
          <a:lnRef idx="1">
            <a:schemeClr val="dk1"/>
          </a:lnRef>
          <a:fillRef idx="0">
            <a:schemeClr val="dk1"/>
          </a:fillRef>
          <a:effectRef idx="0">
            <a:schemeClr val="dk1"/>
          </a:effectRef>
          <a:fontRef idx="minor">
            <a:schemeClr val="tx1"/>
          </a:fontRef>
        </p:style>
      </p:cxnSp>
      <p:cxnSp>
        <p:nvCxnSpPr>
          <p:cNvPr id="36" name="직선 연결선 35">
            <a:extLst>
              <a:ext uri="{FF2B5EF4-FFF2-40B4-BE49-F238E27FC236}">
                <a16:creationId xmlns:a16="http://schemas.microsoft.com/office/drawing/2014/main" id="{4BD50B94-99FB-4B19-A0F4-699F74EF8F1F}"/>
              </a:ext>
            </a:extLst>
          </p:cNvPr>
          <p:cNvCxnSpPr>
            <a:cxnSpLocks/>
            <a:stCxn id="3" idx="0"/>
            <a:endCxn id="25" idx="4"/>
          </p:cNvCxnSpPr>
          <p:nvPr/>
        </p:nvCxnSpPr>
        <p:spPr>
          <a:xfrm flipH="1" flipV="1">
            <a:off x="2645546" y="4796081"/>
            <a:ext cx="108035" cy="343649"/>
          </a:xfrm>
          <a:prstGeom prst="line">
            <a:avLst/>
          </a:prstGeom>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C07F97B4-7840-41BF-970C-C383AF609FB7}"/>
              </a:ext>
            </a:extLst>
          </p:cNvPr>
          <p:cNvCxnSpPr>
            <a:cxnSpLocks/>
            <a:stCxn id="21" idx="2"/>
            <a:endCxn id="3" idx="5"/>
          </p:cNvCxnSpPr>
          <p:nvPr/>
        </p:nvCxnSpPr>
        <p:spPr>
          <a:xfrm flipH="1" flipV="1">
            <a:off x="2907379" y="5511031"/>
            <a:ext cx="450598" cy="234694"/>
          </a:xfrm>
          <a:prstGeom prst="line">
            <a:avLst/>
          </a:prstGeom>
        </p:spPr>
        <p:style>
          <a:lnRef idx="1">
            <a:schemeClr val="dk1"/>
          </a:lnRef>
          <a:fillRef idx="0">
            <a:schemeClr val="dk1"/>
          </a:fillRef>
          <a:effectRef idx="0">
            <a:schemeClr val="dk1"/>
          </a:effectRef>
          <a:fontRef idx="minor">
            <a:schemeClr val="tx1"/>
          </a:fontRef>
        </p:style>
      </p:cxnSp>
      <p:cxnSp>
        <p:nvCxnSpPr>
          <p:cNvPr id="42" name="직선 연결선 41">
            <a:extLst>
              <a:ext uri="{FF2B5EF4-FFF2-40B4-BE49-F238E27FC236}">
                <a16:creationId xmlns:a16="http://schemas.microsoft.com/office/drawing/2014/main" id="{D5EBD987-4E23-4422-956E-292818C567EE}"/>
              </a:ext>
            </a:extLst>
          </p:cNvPr>
          <p:cNvCxnSpPr>
            <a:cxnSpLocks/>
            <a:stCxn id="23" idx="0"/>
            <a:endCxn id="3" idx="4"/>
          </p:cNvCxnSpPr>
          <p:nvPr/>
        </p:nvCxnSpPr>
        <p:spPr>
          <a:xfrm flipV="1">
            <a:off x="2597460" y="5574736"/>
            <a:ext cx="156121" cy="388492"/>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5" name="직사각형 44">
                <a:extLst>
                  <a:ext uri="{FF2B5EF4-FFF2-40B4-BE49-F238E27FC236}">
                    <a16:creationId xmlns:a16="http://schemas.microsoft.com/office/drawing/2014/main" id="{03A8EFB9-474F-43A4-A415-583E22B7AC0C}"/>
                  </a:ext>
                </a:extLst>
              </p:cNvPr>
              <p:cNvSpPr/>
              <p:nvPr/>
            </p:nvSpPr>
            <p:spPr>
              <a:xfrm>
                <a:off x="4703799" y="4500070"/>
                <a:ext cx="6008183" cy="472309"/>
              </a:xfrm>
              <a:prstGeom prst="rect">
                <a:avLst/>
              </a:prstGeom>
            </p:spPr>
            <p:txBody>
              <a:bodyPr wrap="none">
                <a:spAutoFit/>
              </a:bodyPr>
              <a:lstStyle/>
              <a:p>
                <a:r>
                  <a:rPr lang="en-US" sz="1600" dirty="0">
                    <a:latin typeface="Franklin Gothic Medium" panose="020B0603020102020204" pitchFamily="34" charset="0"/>
                  </a:rPr>
                  <a:t>Ego has to report relationship of all 5 alters</a:t>
                </a:r>
                <a:r>
                  <a:rPr lang="en-US" dirty="0">
                    <a:latin typeface="Franklin Gothic Medium" panose="020B0603020102020204" pitchFamily="34" charset="0"/>
                  </a:rPr>
                  <a:t>: </a:t>
                </a:r>
                <a14:m>
                  <m:oMath xmlns:m="http://schemas.openxmlformats.org/officeDocument/2006/math">
                    <m:d>
                      <m:dPr>
                        <m:ctrlPr>
                          <a:rPr lang="en-US" sz="1600" i="1">
                            <a:latin typeface="Cambria Math" panose="02040503050406030204" pitchFamily="18" charset="0"/>
                          </a:rPr>
                        </m:ctrlPr>
                      </m:dPr>
                      <m:e>
                        <m:f>
                          <m:fPr>
                            <m:type m:val="noBar"/>
                            <m:ctrlPr>
                              <a:rPr lang="en-US" sz="1600" i="1">
                                <a:latin typeface="Cambria Math" panose="02040503050406030204" pitchFamily="18" charset="0"/>
                              </a:rPr>
                            </m:ctrlPr>
                          </m:fPr>
                          <m:num>
                            <m:r>
                              <a:rPr lang="en-US" sz="1600" i="1">
                                <a:latin typeface="Cambria Math" panose="02040503050406030204" pitchFamily="18" charset="0"/>
                              </a:rPr>
                              <m:t>2</m:t>
                            </m:r>
                          </m:num>
                          <m:den>
                            <m:r>
                              <a:rPr lang="en-US" sz="1600" b="0" i="1" smtClean="0">
                                <a:latin typeface="Cambria Math" panose="02040503050406030204" pitchFamily="18" charset="0"/>
                              </a:rPr>
                              <m:t>5</m:t>
                            </m:r>
                          </m:den>
                        </m:f>
                      </m:e>
                    </m:d>
                    <m:r>
                      <a:rPr lang="en-US" sz="1600" b="0" i="1" smtClean="0">
                        <a:latin typeface="Cambria Math" panose="02040503050406030204" pitchFamily="18" charset="0"/>
                      </a:rPr>
                      <m:t>= </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𝑁</m:t>
                        </m:r>
                        <m:r>
                          <a:rPr lang="en-US" sz="1600" b="0" i="1" smtClean="0">
                            <a:latin typeface="Cambria Math" panose="02040503050406030204" pitchFamily="18" charset="0"/>
                          </a:rPr>
                          <m:t>!</m:t>
                        </m:r>
                      </m:num>
                      <m:den>
                        <m:r>
                          <a:rPr lang="en-US" sz="1600" b="0" i="1" smtClean="0">
                            <a:latin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5−2</m:t>
                            </m:r>
                          </m:e>
                        </m:d>
                        <m:r>
                          <a:rPr lang="en-US" sz="1600" b="0" i="1" smtClean="0">
                            <a:latin typeface="Cambria Math" panose="02040503050406030204" pitchFamily="18" charset="0"/>
                            <a:ea typeface="Cambria Math" panose="02040503050406030204" pitchFamily="18" charset="0"/>
                          </a:rPr>
                          <m:t>!</m:t>
                        </m:r>
                      </m:den>
                    </m:f>
                    <m:r>
                      <a:rPr lang="en-US" sz="1600" b="0" i="1" smtClean="0">
                        <a:latin typeface="Cambria Math" panose="02040503050406030204" pitchFamily="18" charset="0"/>
                      </a:rPr>
                      <m:t> =10</m:t>
                    </m:r>
                  </m:oMath>
                </a14:m>
                <a:r>
                  <a:rPr lang="en-US" dirty="0">
                    <a:latin typeface="Franklin Gothic Medium" panose="020B0603020102020204" pitchFamily="34" charset="0"/>
                  </a:rPr>
                  <a:t>  </a:t>
                </a:r>
                <a:endParaRPr lang="en-US" dirty="0"/>
              </a:p>
            </p:txBody>
          </p:sp>
        </mc:Choice>
        <mc:Fallback>
          <p:sp>
            <p:nvSpPr>
              <p:cNvPr id="45" name="직사각형 44">
                <a:extLst>
                  <a:ext uri="{FF2B5EF4-FFF2-40B4-BE49-F238E27FC236}">
                    <a16:creationId xmlns:a16="http://schemas.microsoft.com/office/drawing/2014/main" id="{03A8EFB9-474F-43A4-A415-583E22B7AC0C}"/>
                  </a:ext>
                </a:extLst>
              </p:cNvPr>
              <p:cNvSpPr>
                <a:spLocks noRot="1" noChangeAspect="1" noMove="1" noResize="1" noEditPoints="1" noAdjustHandles="1" noChangeArrowheads="1" noChangeShapeType="1" noTextEdit="1"/>
              </p:cNvSpPr>
              <p:nvPr/>
            </p:nvSpPr>
            <p:spPr>
              <a:xfrm>
                <a:off x="4703799" y="4500070"/>
                <a:ext cx="6008183" cy="472309"/>
              </a:xfrm>
              <a:prstGeom prst="rect">
                <a:avLst/>
              </a:prstGeom>
              <a:blipFill>
                <a:blip r:embed="rId3"/>
                <a:stretch>
                  <a:fillRect l="-609" b="-3846"/>
                </a:stretch>
              </a:blipFill>
            </p:spPr>
            <p:txBody>
              <a:bodyPr/>
              <a:lstStyle/>
              <a:p>
                <a:r>
                  <a:rPr lang="en-US">
                    <a:noFill/>
                  </a:rPr>
                  <a:t> </a:t>
                </a:r>
              </a:p>
            </p:txBody>
          </p:sp>
        </mc:Fallback>
      </mc:AlternateContent>
      <p:sp>
        <p:nvSpPr>
          <p:cNvPr id="46" name="직사각형 45">
            <a:extLst>
              <a:ext uri="{FF2B5EF4-FFF2-40B4-BE49-F238E27FC236}">
                <a16:creationId xmlns:a16="http://schemas.microsoft.com/office/drawing/2014/main" id="{AC7730CE-8898-41DD-9C04-A85A8F12E7BA}"/>
              </a:ext>
            </a:extLst>
          </p:cNvPr>
          <p:cNvSpPr/>
          <p:nvPr/>
        </p:nvSpPr>
        <p:spPr>
          <a:xfrm>
            <a:off x="4703799" y="5099386"/>
            <a:ext cx="6065122" cy="338554"/>
          </a:xfrm>
          <a:prstGeom prst="rect">
            <a:avLst/>
          </a:prstGeom>
        </p:spPr>
        <p:txBody>
          <a:bodyPr wrap="none">
            <a:spAutoFit/>
          </a:bodyPr>
          <a:lstStyle/>
          <a:p>
            <a:r>
              <a:rPr lang="en-US" sz="1600" dirty="0">
                <a:latin typeface="Franklin Gothic Medium" panose="020B0603020102020204" pitchFamily="34" charset="0"/>
              </a:rPr>
              <a:t>If ego give information of 8 relations, the </a:t>
            </a:r>
            <a:r>
              <a:rPr lang="en-US" sz="1600" i="1" dirty="0">
                <a:latin typeface="Franklin Gothic Medium" panose="020B0603020102020204" pitchFamily="34" charset="0"/>
              </a:rPr>
              <a:t>R = </a:t>
            </a:r>
            <a:r>
              <a:rPr lang="en-US" sz="1600" dirty="0">
                <a:latin typeface="Franklin Gothic Medium" panose="020B0603020102020204" pitchFamily="34" charset="0"/>
              </a:rPr>
              <a:t>8/10 = 0.80 or 80%</a:t>
            </a:r>
            <a:endParaRPr lang="en-US" dirty="0"/>
          </a:p>
        </p:txBody>
      </p:sp>
    </p:spTree>
    <p:extLst>
      <p:ext uri="{BB962C8B-B14F-4D97-AF65-F5344CB8AC3E}">
        <p14:creationId xmlns:p14="http://schemas.microsoft.com/office/powerpoint/2010/main" val="3678711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6. Missing Data</a:t>
            </a:r>
            <a:endParaRPr lang="en-US" sz="3800" i="1" dirty="0">
              <a:latin typeface="Franklin Gothic Medium" panose="020B0603020102020204" pitchFamily="34" charset="0"/>
            </a:endParaRPr>
          </a:p>
        </p:txBody>
      </p:sp>
      <p:sp>
        <p:nvSpPr>
          <p:cNvPr id="7" name="제목 4">
            <a:extLst>
              <a:ext uri="{FF2B5EF4-FFF2-40B4-BE49-F238E27FC236}">
                <a16:creationId xmlns:a16="http://schemas.microsoft.com/office/drawing/2014/main" id="{2F4D1CF4-962F-4A3F-9EB2-151EB55FF9F0}"/>
              </a:ext>
            </a:extLst>
          </p:cNvPr>
          <p:cNvSpPr txBox="1">
            <a:spLocks/>
          </p:cNvSpPr>
          <p:nvPr/>
        </p:nvSpPr>
        <p:spPr>
          <a:xfrm>
            <a:off x="348842" y="980042"/>
            <a:ext cx="10420079" cy="1360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Relational Response Rate (</a:t>
            </a:r>
            <a:r>
              <a:rPr lang="en-US" sz="2000" b="1" i="1" dirty="0">
                <a:latin typeface="Franklin Gothic Medium" panose="020B0603020102020204" pitchFamily="34" charset="0"/>
              </a:rPr>
              <a:t>R</a:t>
            </a:r>
            <a:r>
              <a:rPr lang="en-US" sz="2000" b="1" dirty="0">
                <a:latin typeface="Franklin Gothic Medium" panose="020B0603020102020204" pitchFamily="34" charset="0"/>
              </a:rPr>
              <a:t>)</a:t>
            </a:r>
          </a:p>
          <a:p>
            <a:pPr marL="342900" indent="-342900">
              <a:buFont typeface="Arial" panose="020B0604020202020204" pitchFamily="34" charset="0"/>
              <a:buChar char="•"/>
            </a:pPr>
            <a:endParaRPr lang="en-US" sz="2000" b="1"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A complete </a:t>
            </a:r>
            <a:r>
              <a:rPr lang="en-US" sz="1600" b="1" dirty="0">
                <a:latin typeface="Franklin Gothic Medium" panose="020B0603020102020204" pitchFamily="34" charset="0"/>
              </a:rPr>
              <a:t>nondirected network</a:t>
            </a:r>
            <a:r>
              <a:rPr lang="en-US" sz="1600" dirty="0">
                <a:latin typeface="Franklin Gothic Medium" panose="020B0603020102020204" pitchFamily="34" charset="0"/>
              </a:rPr>
              <a:t> of N actors with no alter reports from M actors, the response rate for a particular relation is calculated as:</a:t>
            </a:r>
          </a:p>
        </p:txBody>
      </p:sp>
      <mc:AlternateContent xmlns:mc="http://schemas.openxmlformats.org/markup-compatibility/2006">
        <mc:Choice xmlns:a14="http://schemas.microsoft.com/office/drawing/2010/main" Requires="a14">
          <p:sp>
            <p:nvSpPr>
              <p:cNvPr id="47" name="제목 4">
                <a:extLst>
                  <a:ext uri="{FF2B5EF4-FFF2-40B4-BE49-F238E27FC236}">
                    <a16:creationId xmlns:a16="http://schemas.microsoft.com/office/drawing/2014/main" id="{4BE9090C-951E-4417-9538-ECA1F12E63EA}"/>
                  </a:ext>
                </a:extLst>
              </p:cNvPr>
              <p:cNvSpPr txBox="1">
                <a:spLocks/>
              </p:cNvSpPr>
              <p:nvPr/>
            </p:nvSpPr>
            <p:spPr>
              <a:xfrm>
                <a:off x="348842" y="2247971"/>
                <a:ext cx="4729185" cy="16626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i="1" dirty="0"/>
                  <a:t>R </a:t>
                </a:r>
                <a14:m>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b="0" i="1" smtClean="0">
                                <a:latin typeface="Cambria Math" panose="02040503050406030204" pitchFamily="18" charset="0"/>
                              </a:rPr>
                              <m:t>            100%                          </m:t>
                            </m:r>
                            <m:r>
                              <a:rPr lang="en-US" sz="1600" b="0" i="1" smtClean="0">
                                <a:latin typeface="Cambria Math" panose="02040503050406030204" pitchFamily="18" charset="0"/>
                              </a:rPr>
                              <m:t>𝑤h𝑒𝑛</m:t>
                            </m:r>
                            <m:r>
                              <a:rPr lang="en-US" sz="1600" b="0" i="1" smtClean="0">
                                <a:latin typeface="Cambria Math" panose="02040503050406030204" pitchFamily="18" charset="0"/>
                              </a:rPr>
                              <m:t> </m:t>
                            </m:r>
                            <m:r>
                              <a:rPr lang="en-US" sz="1600" b="0" i="1" smtClean="0">
                                <a:latin typeface="Cambria Math" panose="02040503050406030204" pitchFamily="18" charset="0"/>
                              </a:rPr>
                              <m:t>𝑀</m:t>
                            </m:r>
                            <m:r>
                              <a:rPr lang="en-US" sz="1600" b="0" i="1" smtClean="0">
                                <a:latin typeface="Cambria Math" panose="02040503050406030204" pitchFamily="18" charset="0"/>
                              </a:rPr>
                              <m:t>=0 </m:t>
                            </m:r>
                            <m:r>
                              <a:rPr lang="en-US" sz="1600" b="0" i="1" smtClean="0">
                                <a:latin typeface="Cambria Math" panose="02040503050406030204" pitchFamily="18" charset="0"/>
                              </a:rPr>
                              <m:t>𝑜𝑟</m:t>
                            </m:r>
                            <m:r>
                              <a:rPr lang="en-US" sz="1600" b="0" i="1" smtClean="0">
                                <a:latin typeface="Cambria Math" panose="02040503050406030204" pitchFamily="18" charset="0"/>
                              </a:rPr>
                              <m:t> </m:t>
                            </m:r>
                            <m:r>
                              <a:rPr lang="en-US" sz="1600" b="0" i="1" smtClean="0">
                                <a:latin typeface="Cambria Math" panose="02040503050406030204" pitchFamily="18" charset="0"/>
                              </a:rPr>
                              <m:t>𝑀</m:t>
                            </m:r>
                            <m:r>
                              <a:rPr lang="en-US" sz="1600" b="0" i="1" smtClean="0">
                                <a:latin typeface="Cambria Math" panose="02040503050406030204" pitchFamily="18" charset="0"/>
                              </a:rPr>
                              <m:t>=1</m:t>
                            </m:r>
                          </m:e>
                          <m:e>
                            <m:r>
                              <a:rPr lang="en-US" sz="1600" b="0" i="1" smtClean="0">
                                <a:latin typeface="Cambria Math" panose="02040503050406030204" pitchFamily="18" charset="0"/>
                              </a:rPr>
                              <m:t> </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1 − </m:t>
                                </m:r>
                                <m:f>
                                  <m:fPr>
                                    <m:ctrlPr>
                                      <a:rPr lang="en-US" sz="1600" b="0" i="1" smtClean="0">
                                        <a:latin typeface="Cambria Math" panose="02040503050406030204" pitchFamily="18" charset="0"/>
                                      </a:rPr>
                                    </m:ctrlPr>
                                  </m:fPr>
                                  <m:num>
                                    <m:d>
                                      <m:dPr>
                                        <m:ctrlPr>
                                          <a:rPr lang="en-US" sz="1600" b="0" i="1" smtClean="0">
                                            <a:latin typeface="Cambria Math" panose="02040503050406030204" pitchFamily="18" charset="0"/>
                                          </a:rPr>
                                        </m:ctrlPr>
                                      </m:dPr>
                                      <m:e>
                                        <m:f>
                                          <m:fPr>
                                            <m:type m:val="noBar"/>
                                            <m:ctrlPr>
                                              <a:rPr lang="en-US" sz="1600" b="0" i="1" smtClean="0">
                                                <a:latin typeface="Cambria Math" panose="02040503050406030204" pitchFamily="18" charset="0"/>
                                              </a:rPr>
                                            </m:ctrlPr>
                                          </m:fPr>
                                          <m:num>
                                            <m:r>
                                              <a:rPr lang="en-US" sz="1600" b="0" i="1" smtClean="0">
                                                <a:latin typeface="Cambria Math" panose="02040503050406030204" pitchFamily="18" charset="0"/>
                                              </a:rPr>
                                              <m:t>2</m:t>
                                            </m:r>
                                          </m:num>
                                          <m:den>
                                            <m:r>
                                              <a:rPr lang="en-US" sz="1600" b="0" i="1" smtClean="0">
                                                <a:latin typeface="Cambria Math" panose="02040503050406030204" pitchFamily="18" charset="0"/>
                                              </a:rPr>
                                              <m:t>𝑀</m:t>
                                            </m:r>
                                          </m:den>
                                        </m:f>
                                      </m:e>
                                    </m:d>
                                  </m:num>
                                  <m:den>
                                    <m:d>
                                      <m:dPr>
                                        <m:ctrlPr>
                                          <a:rPr lang="en-US" sz="1600" i="1">
                                            <a:latin typeface="Cambria Math" panose="02040503050406030204" pitchFamily="18" charset="0"/>
                                          </a:rPr>
                                        </m:ctrlPr>
                                      </m:dPr>
                                      <m:e>
                                        <m:f>
                                          <m:fPr>
                                            <m:type m:val="noBar"/>
                                            <m:ctrlPr>
                                              <a:rPr lang="en-US" sz="1600" i="1">
                                                <a:latin typeface="Cambria Math" panose="02040503050406030204" pitchFamily="18" charset="0"/>
                                              </a:rPr>
                                            </m:ctrlPr>
                                          </m:fPr>
                                          <m:num>
                                            <m:r>
                                              <a:rPr lang="en-US" sz="1600" i="1">
                                                <a:latin typeface="Cambria Math" panose="02040503050406030204" pitchFamily="18" charset="0"/>
                                              </a:rPr>
                                              <m:t>2</m:t>
                                            </m:r>
                                          </m:num>
                                          <m:den>
                                            <m:r>
                                              <a:rPr lang="en-US" sz="1600" b="0" i="1" smtClean="0">
                                                <a:latin typeface="Cambria Math" panose="02040503050406030204" pitchFamily="18" charset="0"/>
                                              </a:rPr>
                                              <m:t>𝑁</m:t>
                                            </m:r>
                                          </m:den>
                                        </m:f>
                                      </m:e>
                                    </m:d>
                                  </m:den>
                                </m:f>
                              </m:e>
                            </m:d>
                            <m:r>
                              <a:rPr lang="en-US" sz="1600" b="0" i="1" smtClean="0">
                                <a:latin typeface="Cambria Math" panose="02040503050406030204" pitchFamily="18" charset="0"/>
                                <a:ea typeface="Cambria Math" panose="02040503050406030204" pitchFamily="18" charset="0"/>
                              </a:rPr>
                              <m:t>×100 %    </m:t>
                            </m:r>
                            <m:r>
                              <a:rPr lang="en-US" sz="1600" b="0" i="1" smtClean="0">
                                <a:latin typeface="Cambria Math" panose="02040503050406030204" pitchFamily="18" charset="0"/>
                                <a:ea typeface="Cambria Math" panose="02040503050406030204" pitchFamily="18" charset="0"/>
                              </a:rPr>
                              <m:t>𝑤h𝑒𝑛</m:t>
                            </m:r>
                            <m:r>
                              <a:rPr lang="en-US" sz="1600" b="0" i="1" smtClean="0">
                                <a:latin typeface="Cambria Math" panose="02040503050406030204" pitchFamily="18" charset="0"/>
                                <a:ea typeface="Cambria Math" panose="02040503050406030204" pitchFamily="18" charset="0"/>
                              </a:rPr>
                              <m:t> 1&lt;</m:t>
                            </m:r>
                            <m:r>
                              <a:rPr lang="en-US" sz="1600" b="0" i="1" smtClean="0">
                                <a:latin typeface="Cambria Math" panose="02040503050406030204" pitchFamily="18" charset="0"/>
                                <a:ea typeface="Cambria Math" panose="02040503050406030204" pitchFamily="18" charset="0"/>
                              </a:rPr>
                              <m:t>𝑀</m:t>
                            </m:r>
                            <m:r>
                              <a:rPr lang="en-US" sz="1600" b="0" i="1" smtClean="0">
                                <a:latin typeface="Cambria Math" panose="02040503050406030204" pitchFamily="18" charset="0"/>
                                <a:ea typeface="Cambria Math" panose="02040503050406030204" pitchFamily="18" charset="0"/>
                              </a:rPr>
                              <m:t>&lt;</m:t>
                            </m:r>
                            <m:r>
                              <a:rPr lang="en-US" sz="1600" b="0" i="1" smtClean="0">
                                <a:latin typeface="Cambria Math" panose="02040503050406030204" pitchFamily="18" charset="0"/>
                                <a:ea typeface="Cambria Math" panose="02040503050406030204" pitchFamily="18" charset="0"/>
                              </a:rPr>
                              <m:t>𝑁</m:t>
                            </m:r>
                          </m:e>
                          <m:e>
                            <m:r>
                              <a:rPr lang="en-US" sz="1600" b="0" i="1" smtClean="0">
                                <a:latin typeface="Cambria Math" panose="02040503050406030204" pitchFamily="18" charset="0"/>
                              </a:rPr>
                              <m:t>0 %                           </m:t>
                            </m:r>
                            <m:r>
                              <a:rPr lang="en-US" sz="1600" b="0" i="1" smtClean="0">
                                <a:latin typeface="Cambria Math" panose="02040503050406030204" pitchFamily="18" charset="0"/>
                              </a:rPr>
                              <m:t>𝑤h𝑒𝑛</m:t>
                            </m:r>
                            <m:r>
                              <a:rPr lang="en-US" sz="1600" b="0" i="1" smtClean="0">
                                <a:latin typeface="Cambria Math" panose="02040503050406030204" pitchFamily="18" charset="0"/>
                              </a:rPr>
                              <m:t> </m:t>
                            </m:r>
                            <m:r>
                              <a:rPr lang="en-US" sz="1600" b="0" i="1" smtClean="0">
                                <a:latin typeface="Cambria Math" panose="02040503050406030204" pitchFamily="18" charset="0"/>
                              </a:rPr>
                              <m:t>𝑀</m:t>
                            </m:r>
                            <m:r>
                              <a:rPr lang="en-US" sz="1600" b="0" i="1" smtClean="0">
                                <a:latin typeface="Cambria Math" panose="02040503050406030204" pitchFamily="18" charset="0"/>
                              </a:rPr>
                              <m:t>=</m:t>
                            </m:r>
                            <m:r>
                              <a:rPr lang="en-US" sz="1600" b="0" i="1" smtClean="0">
                                <a:latin typeface="Cambria Math" panose="02040503050406030204" pitchFamily="18" charset="0"/>
                              </a:rPr>
                              <m:t>𝑁</m:t>
                            </m:r>
                          </m:e>
                        </m:eqArr>
                      </m:e>
                    </m:d>
                  </m:oMath>
                </a14:m>
                <a:endParaRPr lang="en-US" sz="1600" dirty="0">
                  <a:latin typeface="Franklin Gothic Medium" panose="020B0603020102020204" pitchFamily="34" charset="0"/>
                </a:endParaRPr>
              </a:p>
            </p:txBody>
          </p:sp>
        </mc:Choice>
        <mc:Fallback>
          <p:sp>
            <p:nvSpPr>
              <p:cNvPr id="47" name="제목 4">
                <a:extLst>
                  <a:ext uri="{FF2B5EF4-FFF2-40B4-BE49-F238E27FC236}">
                    <a16:creationId xmlns:a16="http://schemas.microsoft.com/office/drawing/2014/main" id="{4BE9090C-951E-4417-9538-ECA1F12E63EA}"/>
                  </a:ext>
                </a:extLst>
              </p:cNvPr>
              <p:cNvSpPr txBox="1">
                <a:spLocks noRot="1" noChangeAspect="1" noMove="1" noResize="1" noEditPoints="1" noAdjustHandles="1" noChangeArrowheads="1" noChangeShapeType="1" noTextEdit="1"/>
              </p:cNvSpPr>
              <p:nvPr/>
            </p:nvSpPr>
            <p:spPr>
              <a:xfrm>
                <a:off x="348842" y="2247971"/>
                <a:ext cx="4729185" cy="1662657"/>
              </a:xfrm>
              <a:prstGeom prst="rect">
                <a:avLst/>
              </a:prstGeom>
              <a:blipFill>
                <a:blip r:embed="rId2"/>
                <a:stretch>
                  <a:fillRect l="-64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 name="제목 4">
                <a:extLst>
                  <a:ext uri="{FF2B5EF4-FFF2-40B4-BE49-F238E27FC236}">
                    <a16:creationId xmlns:a16="http://schemas.microsoft.com/office/drawing/2014/main" id="{AD8F07A2-4017-4FFB-8ABB-4ECF136DC649}"/>
                  </a:ext>
                </a:extLst>
              </p:cNvPr>
              <p:cNvSpPr txBox="1">
                <a:spLocks/>
              </p:cNvSpPr>
              <p:nvPr/>
            </p:nvSpPr>
            <p:spPr>
              <a:xfrm>
                <a:off x="348842" y="5270782"/>
                <a:ext cx="4729185" cy="16626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i="1" dirty="0"/>
                  <a:t>R </a:t>
                </a:r>
                <a14:m>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b="0" i="1" smtClean="0">
                                <a:latin typeface="Cambria Math" panose="02040503050406030204" pitchFamily="18" charset="0"/>
                              </a:rPr>
                              <m:t>            100%                          </m:t>
                            </m:r>
                            <m:r>
                              <a:rPr lang="en-US" sz="1600" b="0" i="1" smtClean="0">
                                <a:latin typeface="Cambria Math" panose="02040503050406030204" pitchFamily="18" charset="0"/>
                              </a:rPr>
                              <m:t>𝑤h𝑒𝑛</m:t>
                            </m:r>
                            <m:r>
                              <a:rPr lang="en-US" sz="1600" b="0" i="1" smtClean="0">
                                <a:latin typeface="Cambria Math" panose="02040503050406030204" pitchFamily="18" charset="0"/>
                              </a:rPr>
                              <m:t> </m:t>
                            </m:r>
                            <m:r>
                              <a:rPr lang="en-US" sz="1600" b="0" i="1" smtClean="0">
                                <a:latin typeface="Cambria Math" panose="02040503050406030204" pitchFamily="18" charset="0"/>
                              </a:rPr>
                              <m:t>𝑀</m:t>
                            </m:r>
                            <m:r>
                              <a:rPr lang="en-US" sz="1600" b="0" i="1" smtClean="0">
                                <a:latin typeface="Cambria Math" panose="02040503050406030204" pitchFamily="18" charset="0"/>
                              </a:rPr>
                              <m:t>=0 </m:t>
                            </m:r>
                            <m:r>
                              <a:rPr lang="en-US" sz="1600" b="0" i="1" smtClean="0">
                                <a:latin typeface="Cambria Math" panose="02040503050406030204" pitchFamily="18" charset="0"/>
                              </a:rPr>
                              <m:t>𝑜𝑟</m:t>
                            </m:r>
                            <m:r>
                              <a:rPr lang="en-US" sz="1600" b="0" i="1" smtClean="0">
                                <a:latin typeface="Cambria Math" panose="02040503050406030204" pitchFamily="18" charset="0"/>
                              </a:rPr>
                              <m:t> </m:t>
                            </m:r>
                            <m:r>
                              <a:rPr lang="en-US" sz="1600" b="0" i="1" smtClean="0">
                                <a:latin typeface="Cambria Math" panose="02040503050406030204" pitchFamily="18" charset="0"/>
                              </a:rPr>
                              <m:t>𝑀</m:t>
                            </m:r>
                            <m:r>
                              <a:rPr lang="en-US" sz="1600" b="0" i="1" smtClean="0">
                                <a:latin typeface="Cambria Math" panose="02040503050406030204" pitchFamily="18" charset="0"/>
                              </a:rPr>
                              <m:t>=1</m:t>
                            </m:r>
                          </m:e>
                          <m:e>
                            <m:r>
                              <a:rPr lang="en-US" sz="1600" b="0" i="1" smtClean="0">
                                <a:latin typeface="Cambria Math" panose="02040503050406030204" pitchFamily="18" charset="0"/>
                              </a:rPr>
                              <m:t> </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1 − </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𝑀</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𝑁</m:t>
                                    </m:r>
                                    <m:r>
                                      <a:rPr lang="en-US" sz="1600" b="0" i="1" smtClean="0">
                                        <a:latin typeface="Cambria Math" panose="02040503050406030204" pitchFamily="18" charset="0"/>
                                        <a:ea typeface="Cambria Math" panose="02040503050406030204" pitchFamily="18" charset="0"/>
                                      </a:rPr>
                                      <m:t>−1)</m:t>
                                    </m:r>
                                  </m:num>
                                  <m:den>
                                    <m:r>
                                      <a:rPr lang="en-US" sz="1600" b="0" i="1" smtClean="0">
                                        <a:latin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m:t>
                                    </m:r>
                                    <m:d>
                                      <m:dPr>
                                        <m:ctrlPr>
                                          <a:rPr lang="en-US" sz="1600" i="1">
                                            <a:latin typeface="Cambria Math" panose="02040503050406030204" pitchFamily="18" charset="0"/>
                                          </a:rPr>
                                        </m:ctrlPr>
                                      </m:dPr>
                                      <m:e>
                                        <m:f>
                                          <m:fPr>
                                            <m:type m:val="noBar"/>
                                            <m:ctrlPr>
                                              <a:rPr lang="en-US" sz="1600" i="1">
                                                <a:latin typeface="Cambria Math" panose="02040503050406030204" pitchFamily="18" charset="0"/>
                                              </a:rPr>
                                            </m:ctrlPr>
                                          </m:fPr>
                                          <m:num>
                                            <m:r>
                                              <a:rPr lang="en-US" sz="1600" i="1">
                                                <a:latin typeface="Cambria Math" panose="02040503050406030204" pitchFamily="18" charset="0"/>
                                              </a:rPr>
                                              <m:t>2</m:t>
                                            </m:r>
                                          </m:num>
                                          <m:den>
                                            <m:r>
                                              <a:rPr lang="en-US" sz="1600" b="0" i="1" smtClean="0">
                                                <a:latin typeface="Cambria Math" panose="02040503050406030204" pitchFamily="18" charset="0"/>
                                              </a:rPr>
                                              <m:t>𝑁</m:t>
                                            </m:r>
                                          </m:den>
                                        </m:f>
                                      </m:e>
                                    </m:d>
                                  </m:den>
                                </m:f>
                              </m:e>
                            </m:d>
                            <m:r>
                              <a:rPr lang="en-US" sz="1600" b="0" i="1" smtClean="0">
                                <a:latin typeface="Cambria Math" panose="02040503050406030204" pitchFamily="18" charset="0"/>
                                <a:ea typeface="Cambria Math" panose="02040503050406030204" pitchFamily="18" charset="0"/>
                              </a:rPr>
                              <m:t>×100 %    </m:t>
                            </m:r>
                            <m:r>
                              <a:rPr lang="en-US" sz="1600" b="0" i="1" smtClean="0">
                                <a:latin typeface="Cambria Math" panose="02040503050406030204" pitchFamily="18" charset="0"/>
                                <a:ea typeface="Cambria Math" panose="02040503050406030204" pitchFamily="18" charset="0"/>
                              </a:rPr>
                              <m:t>𝑤h𝑒𝑛</m:t>
                            </m:r>
                            <m:r>
                              <a:rPr lang="en-US" sz="1600" b="0" i="1" smtClean="0">
                                <a:latin typeface="Cambria Math" panose="02040503050406030204" pitchFamily="18" charset="0"/>
                                <a:ea typeface="Cambria Math" panose="02040503050406030204" pitchFamily="18" charset="0"/>
                              </a:rPr>
                              <m:t> 1&lt;</m:t>
                            </m:r>
                            <m:r>
                              <a:rPr lang="en-US" sz="1600" b="0" i="1" smtClean="0">
                                <a:latin typeface="Cambria Math" panose="02040503050406030204" pitchFamily="18" charset="0"/>
                                <a:ea typeface="Cambria Math" panose="02040503050406030204" pitchFamily="18" charset="0"/>
                              </a:rPr>
                              <m:t>𝑀</m:t>
                            </m:r>
                            <m:r>
                              <a:rPr lang="en-US" sz="1600" b="0" i="1" smtClean="0">
                                <a:latin typeface="Cambria Math" panose="02040503050406030204" pitchFamily="18" charset="0"/>
                                <a:ea typeface="Cambria Math" panose="02040503050406030204" pitchFamily="18" charset="0"/>
                              </a:rPr>
                              <m:t>&lt;</m:t>
                            </m:r>
                            <m:r>
                              <a:rPr lang="en-US" sz="1600" b="0" i="1" smtClean="0">
                                <a:latin typeface="Cambria Math" panose="02040503050406030204" pitchFamily="18" charset="0"/>
                                <a:ea typeface="Cambria Math" panose="02040503050406030204" pitchFamily="18" charset="0"/>
                              </a:rPr>
                              <m:t>𝑁</m:t>
                            </m:r>
                          </m:e>
                          <m:e>
                            <m:r>
                              <a:rPr lang="en-US" sz="1600" b="0" i="1" smtClean="0">
                                <a:latin typeface="Cambria Math" panose="02040503050406030204" pitchFamily="18" charset="0"/>
                              </a:rPr>
                              <m:t>0 %                           </m:t>
                            </m:r>
                            <m:r>
                              <a:rPr lang="en-US" sz="1600" b="0" i="1" smtClean="0">
                                <a:latin typeface="Cambria Math" panose="02040503050406030204" pitchFamily="18" charset="0"/>
                              </a:rPr>
                              <m:t>𝑤h𝑒𝑛</m:t>
                            </m:r>
                            <m:r>
                              <a:rPr lang="en-US" sz="1600" b="0" i="1" smtClean="0">
                                <a:latin typeface="Cambria Math" panose="02040503050406030204" pitchFamily="18" charset="0"/>
                              </a:rPr>
                              <m:t> </m:t>
                            </m:r>
                            <m:r>
                              <a:rPr lang="en-US" sz="1600" b="0" i="1" smtClean="0">
                                <a:latin typeface="Cambria Math" panose="02040503050406030204" pitchFamily="18" charset="0"/>
                              </a:rPr>
                              <m:t>𝑀</m:t>
                            </m:r>
                            <m:r>
                              <a:rPr lang="en-US" sz="1600" b="0" i="1" smtClean="0">
                                <a:latin typeface="Cambria Math" panose="02040503050406030204" pitchFamily="18" charset="0"/>
                              </a:rPr>
                              <m:t>=</m:t>
                            </m:r>
                            <m:r>
                              <a:rPr lang="en-US" sz="1600" b="0" i="1" smtClean="0">
                                <a:latin typeface="Cambria Math" panose="02040503050406030204" pitchFamily="18" charset="0"/>
                              </a:rPr>
                              <m:t>𝑁</m:t>
                            </m:r>
                          </m:e>
                        </m:eqArr>
                      </m:e>
                    </m:d>
                  </m:oMath>
                </a14:m>
                <a:endParaRPr lang="en-US" sz="1600" dirty="0">
                  <a:latin typeface="Franklin Gothic Medium" panose="020B0603020102020204" pitchFamily="34" charset="0"/>
                </a:endParaRPr>
              </a:p>
            </p:txBody>
          </p:sp>
        </mc:Choice>
        <mc:Fallback>
          <p:sp>
            <p:nvSpPr>
              <p:cNvPr id="48" name="제목 4">
                <a:extLst>
                  <a:ext uri="{FF2B5EF4-FFF2-40B4-BE49-F238E27FC236}">
                    <a16:creationId xmlns:a16="http://schemas.microsoft.com/office/drawing/2014/main" id="{AD8F07A2-4017-4FFB-8ABB-4ECF136DC649}"/>
                  </a:ext>
                </a:extLst>
              </p:cNvPr>
              <p:cNvSpPr txBox="1">
                <a:spLocks noRot="1" noChangeAspect="1" noMove="1" noResize="1" noEditPoints="1" noAdjustHandles="1" noChangeArrowheads="1" noChangeShapeType="1" noTextEdit="1"/>
              </p:cNvSpPr>
              <p:nvPr/>
            </p:nvSpPr>
            <p:spPr>
              <a:xfrm>
                <a:off x="348842" y="5270782"/>
                <a:ext cx="4729185" cy="1662657"/>
              </a:xfrm>
              <a:prstGeom prst="rect">
                <a:avLst/>
              </a:prstGeom>
              <a:blipFill>
                <a:blip r:embed="rId3"/>
                <a:stretch>
                  <a:fillRect l="-644"/>
                </a:stretch>
              </a:blipFill>
            </p:spPr>
            <p:txBody>
              <a:bodyPr/>
              <a:lstStyle/>
              <a:p>
                <a:r>
                  <a:rPr lang="en-US">
                    <a:noFill/>
                  </a:rPr>
                  <a:t> </a:t>
                </a:r>
              </a:p>
            </p:txBody>
          </p:sp>
        </mc:Fallback>
      </mc:AlternateContent>
      <p:sp>
        <p:nvSpPr>
          <p:cNvPr id="49" name="직사각형 48">
            <a:extLst>
              <a:ext uri="{FF2B5EF4-FFF2-40B4-BE49-F238E27FC236}">
                <a16:creationId xmlns:a16="http://schemas.microsoft.com/office/drawing/2014/main" id="{23F52FF5-FD7D-43CF-83CA-BA2301B7E9F5}"/>
              </a:ext>
            </a:extLst>
          </p:cNvPr>
          <p:cNvSpPr/>
          <p:nvPr/>
        </p:nvSpPr>
        <p:spPr>
          <a:xfrm>
            <a:off x="348842" y="4557467"/>
            <a:ext cx="10623958" cy="830997"/>
          </a:xfrm>
          <a:prstGeom prst="rect">
            <a:avLst/>
          </a:prstGeom>
        </p:spPr>
        <p:txBody>
          <a:bodyPr wrap="square">
            <a:spAutoFit/>
          </a:bodyPr>
          <a:lstStyle/>
          <a:p>
            <a:pPr marL="285750" indent="-285750">
              <a:buFont typeface="Arial" panose="020B0604020202020204" pitchFamily="34" charset="0"/>
              <a:buChar char="•"/>
            </a:pPr>
            <a:r>
              <a:rPr lang="en-US" sz="1600" dirty="0">
                <a:latin typeface="Franklin Gothic Medium" panose="020B0603020102020204" pitchFamily="34" charset="0"/>
              </a:rPr>
              <a:t>In a directed network, relational response rate = nodal response rate</a:t>
            </a:r>
          </a:p>
          <a:p>
            <a:pPr marL="285750" indent="-285750">
              <a:buFont typeface="Arial" panose="020B0604020202020204" pitchFamily="34" charset="0"/>
              <a:buChar char="•"/>
            </a:pPr>
            <a:r>
              <a:rPr lang="en-US" sz="1600" dirty="0">
                <a:latin typeface="Franklin Gothic Medium" panose="020B0603020102020204" pitchFamily="34" charset="0"/>
              </a:rPr>
              <a:t>A complete </a:t>
            </a:r>
            <a:r>
              <a:rPr lang="en-US" sz="1600" b="1" dirty="0">
                <a:latin typeface="Franklin Gothic Medium" panose="020B0603020102020204" pitchFamily="34" charset="0"/>
              </a:rPr>
              <a:t>directed network</a:t>
            </a:r>
            <a:r>
              <a:rPr lang="en-US" sz="1600" dirty="0">
                <a:latin typeface="Franklin Gothic Medium" panose="020B0603020102020204" pitchFamily="34" charset="0"/>
              </a:rPr>
              <a:t> of N actors with no alter reports from M actors, the response rate for a particular relation is calculated as:</a:t>
            </a:r>
          </a:p>
        </p:txBody>
      </p:sp>
      <mc:AlternateContent xmlns:mc="http://schemas.openxmlformats.org/markup-compatibility/2006">
        <mc:Choice xmlns:a14="http://schemas.microsoft.com/office/drawing/2010/main" Requires="a14">
          <p:graphicFrame>
            <p:nvGraphicFramePr>
              <p:cNvPr id="50" name="표 49">
                <a:extLst>
                  <a:ext uri="{FF2B5EF4-FFF2-40B4-BE49-F238E27FC236}">
                    <a16:creationId xmlns:a16="http://schemas.microsoft.com/office/drawing/2014/main" id="{860F5797-ADDC-4E60-996F-3E71719D1393}"/>
                  </a:ext>
                </a:extLst>
              </p:cNvPr>
              <p:cNvGraphicFramePr>
                <a:graphicFrameLocks noGrp="1"/>
              </p:cNvGraphicFramePr>
              <p:nvPr>
                <p:extLst>
                  <p:ext uri="{D42A27DB-BD31-4B8C-83A1-F6EECF244321}">
                    <p14:modId xmlns:p14="http://schemas.microsoft.com/office/powerpoint/2010/main" val="34695634"/>
                  </p:ext>
                </p:extLst>
              </p:nvPr>
            </p:nvGraphicFramePr>
            <p:xfrm>
              <a:off x="5797118" y="2104008"/>
              <a:ext cx="6394882" cy="2155924"/>
            </p:xfrm>
            <a:graphic>
              <a:graphicData uri="http://schemas.openxmlformats.org/drawingml/2006/table">
                <a:tbl>
                  <a:tblPr firstRow="1" bandRow="1">
                    <a:tableStyleId>{2D5ABB26-0587-4C30-8999-92F81FD0307C}</a:tableStyleId>
                  </a:tblPr>
                  <a:tblGrid>
                    <a:gridCol w="1819338">
                      <a:extLst>
                        <a:ext uri="{9D8B030D-6E8A-4147-A177-3AD203B41FA5}">
                          <a16:colId xmlns:a16="http://schemas.microsoft.com/office/drawing/2014/main" val="2765810749"/>
                        </a:ext>
                      </a:extLst>
                    </a:gridCol>
                    <a:gridCol w="2443916">
                      <a:extLst>
                        <a:ext uri="{9D8B030D-6E8A-4147-A177-3AD203B41FA5}">
                          <a16:colId xmlns:a16="http://schemas.microsoft.com/office/drawing/2014/main" val="3704397650"/>
                        </a:ext>
                      </a:extLst>
                    </a:gridCol>
                    <a:gridCol w="2131628">
                      <a:extLst>
                        <a:ext uri="{9D8B030D-6E8A-4147-A177-3AD203B41FA5}">
                          <a16:colId xmlns:a16="http://schemas.microsoft.com/office/drawing/2014/main" val="1070375228"/>
                        </a:ext>
                      </a:extLst>
                    </a:gridCol>
                  </a:tblGrid>
                  <a:tr h="328474">
                    <a:tc>
                      <a:txBody>
                        <a:bodyPr/>
                        <a:lstStyle/>
                        <a:p>
                          <a:r>
                            <a:rPr lang="en-US" sz="1100" dirty="0"/>
                            <a:t>Number of missing nodes </a:t>
                          </a:r>
                        </a:p>
                      </a:txBody>
                      <a:tcPr marL="73893" marR="73893" marT="36947" marB="3694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t>Nodal Response Rate </a:t>
                          </a:r>
                          <a:r>
                            <a:rPr lang="en-US" sz="1100" b="0" dirty="0"/>
                            <a:t>= </a:t>
                          </a:r>
                          <a:r>
                            <a:rPr lang="en-US" sz="1100" b="1" dirty="0"/>
                            <a:t>1-</a:t>
                          </a:r>
                          <a14:m>
                            <m:oMath xmlns:m="http://schemas.openxmlformats.org/officeDocument/2006/math">
                              <m:r>
                                <a:rPr lang="en-US" sz="1100" b="1" i="0" smtClean="0">
                                  <a:latin typeface="Cambria Math" panose="02040503050406030204" pitchFamily="18" charset="0"/>
                                </a:rPr>
                                <m:t>(</m:t>
                              </m:r>
                              <m:f>
                                <m:fPr>
                                  <m:type m:val="noBar"/>
                                  <m:ctrlPr>
                                    <a:rPr lang="en-US" sz="1100" b="1" i="1" smtClean="0">
                                      <a:latin typeface="Cambria Math" panose="02040503050406030204" pitchFamily="18" charset="0"/>
                                    </a:rPr>
                                  </m:ctrlPr>
                                </m:fPr>
                                <m:num>
                                  <m:r>
                                    <a:rPr lang="en-US" sz="1100" b="1" i="1" smtClean="0">
                                      <a:latin typeface="Cambria Math" panose="02040503050406030204" pitchFamily="18" charset="0"/>
                                    </a:rPr>
                                    <m:t>𝑵</m:t>
                                  </m:r>
                                </m:num>
                                <m:den>
                                  <m:r>
                                    <a:rPr lang="en-US" sz="1100" b="1" i="1" smtClean="0">
                                      <a:latin typeface="Cambria Math" panose="02040503050406030204" pitchFamily="18" charset="0"/>
                                    </a:rPr>
                                    <m:t>𝑴</m:t>
                                  </m:r>
                                </m:den>
                              </m:f>
                              <m:r>
                                <a:rPr lang="en-US" sz="1100" b="1" i="1" smtClean="0">
                                  <a:latin typeface="Cambria Math" panose="02040503050406030204" pitchFamily="18" charset="0"/>
                                </a:rPr>
                                <m:t>)</m:t>
                              </m:r>
                              <m:r>
                                <a:rPr lang="en-US" sz="1100" b="1" i="1" smtClean="0">
                                  <a:latin typeface="Cambria Math" panose="02040503050406030204" pitchFamily="18" charset="0"/>
                                  <a:ea typeface="Cambria Math" panose="02040503050406030204" pitchFamily="18" charset="0"/>
                                </a:rPr>
                                <m:t>×</m:t>
                              </m:r>
                              <m:r>
                                <a:rPr lang="en-US" sz="1100" b="1" i="1" smtClean="0">
                                  <a:latin typeface="Cambria Math" panose="02040503050406030204" pitchFamily="18" charset="0"/>
                                  <a:ea typeface="Cambria Math" panose="02040503050406030204" pitchFamily="18" charset="0"/>
                                </a:rPr>
                                <m:t>𝟏𝟎𝟎</m:t>
                              </m:r>
                            </m:oMath>
                          </a14:m>
                          <a:endParaRPr lang="en-US" sz="1200" b="1" dirty="0"/>
                        </a:p>
                      </a:txBody>
                      <a:tcPr marL="73893" marR="73893" marT="36947" marB="3694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Relational Response Rate</a:t>
                          </a:r>
                        </a:p>
                      </a:txBody>
                      <a:tcPr marL="73893" marR="73893" marT="36947" marB="3694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279289"/>
                      </a:ext>
                    </a:extLst>
                  </a:tr>
                  <a:tr h="304575">
                    <a:tc>
                      <a:txBody>
                        <a:bodyPr/>
                        <a:lstStyle/>
                        <a:p>
                          <a:r>
                            <a:rPr lang="en-US" sz="1100" dirty="0"/>
                            <a:t>0</a:t>
                          </a:r>
                        </a:p>
                      </a:txBody>
                      <a:tcPr marL="73893" marR="73893" marT="36947" marB="36947">
                        <a:lnT w="12700" cap="flat" cmpd="sng" algn="ctr">
                          <a:solidFill>
                            <a:schemeClr val="tx1"/>
                          </a:solidFill>
                          <a:prstDash val="solid"/>
                          <a:round/>
                          <a:headEnd type="none" w="med" len="med"/>
                          <a:tailEnd type="none" w="med" len="med"/>
                        </a:lnT>
                      </a:tcPr>
                    </a:tc>
                    <a:tc>
                      <a:txBody>
                        <a:bodyPr/>
                        <a:lstStyle/>
                        <a:p>
                          <a:pPr algn="ctr"/>
                          <a:r>
                            <a:rPr lang="en-US" sz="1100" dirty="0"/>
                            <a:t>100%</a:t>
                          </a:r>
                        </a:p>
                      </a:txBody>
                      <a:tcPr marL="73893" marR="73893" marT="36947" marB="36947">
                        <a:lnT w="12700" cap="flat" cmpd="sng" algn="ctr">
                          <a:solidFill>
                            <a:schemeClr val="tx1"/>
                          </a:solidFill>
                          <a:prstDash val="solid"/>
                          <a:round/>
                          <a:headEnd type="none" w="med" len="med"/>
                          <a:tailEnd type="none" w="med" len="med"/>
                        </a:lnT>
                      </a:tcPr>
                    </a:tc>
                    <a:tc>
                      <a:txBody>
                        <a:bodyPr/>
                        <a:lstStyle/>
                        <a:p>
                          <a:pPr algn="ctr"/>
                          <a:r>
                            <a:rPr lang="en-US" sz="1100" dirty="0"/>
                            <a:t>100%</a:t>
                          </a:r>
                        </a:p>
                      </a:txBody>
                      <a:tcPr marL="73893" marR="73893" marT="36947" marB="36947">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407754060"/>
                      </a:ext>
                    </a:extLst>
                  </a:tr>
                  <a:tr h="304575">
                    <a:tc>
                      <a:txBody>
                        <a:bodyPr/>
                        <a:lstStyle/>
                        <a:p>
                          <a:r>
                            <a:rPr lang="en-US" sz="1100" dirty="0"/>
                            <a:t>1</a:t>
                          </a:r>
                        </a:p>
                      </a:txBody>
                      <a:tcPr marL="73893" marR="73893" marT="36947" marB="36947"/>
                    </a:tc>
                    <a:tc>
                      <a:txBody>
                        <a:bodyPr/>
                        <a:lstStyle/>
                        <a:p>
                          <a:pPr algn="ctr"/>
                          <a:r>
                            <a:rPr lang="en-US" sz="1100" dirty="0"/>
                            <a:t>80%</a:t>
                          </a:r>
                        </a:p>
                      </a:txBody>
                      <a:tcPr marL="73893" marR="73893" marT="36947" marB="36947"/>
                    </a:tc>
                    <a:tc>
                      <a:txBody>
                        <a:bodyPr/>
                        <a:lstStyle/>
                        <a:p>
                          <a:pPr algn="ctr"/>
                          <a:r>
                            <a:rPr lang="en-US" sz="1100" dirty="0"/>
                            <a:t>100%</a:t>
                          </a:r>
                        </a:p>
                      </a:txBody>
                      <a:tcPr marL="73893" marR="73893" marT="36947" marB="36947"/>
                    </a:tc>
                    <a:extLst>
                      <a:ext uri="{0D108BD9-81ED-4DB2-BD59-A6C34878D82A}">
                        <a16:rowId xmlns:a16="http://schemas.microsoft.com/office/drawing/2014/main" val="1980737833"/>
                      </a:ext>
                    </a:extLst>
                  </a:tr>
                  <a:tr h="304575">
                    <a:tc>
                      <a:txBody>
                        <a:bodyPr/>
                        <a:lstStyle/>
                        <a:p>
                          <a:r>
                            <a:rPr lang="en-US" sz="1100" dirty="0"/>
                            <a:t>2</a:t>
                          </a:r>
                        </a:p>
                      </a:txBody>
                      <a:tcPr marL="73893" marR="73893" marT="36947" marB="36947"/>
                    </a:tc>
                    <a:tc>
                      <a:txBody>
                        <a:bodyPr/>
                        <a:lstStyle/>
                        <a:p>
                          <a:pPr algn="ctr"/>
                          <a:r>
                            <a:rPr lang="en-US" sz="1100" dirty="0"/>
                            <a:t>60%</a:t>
                          </a:r>
                        </a:p>
                      </a:txBody>
                      <a:tcPr marL="73893" marR="73893" marT="36947" marB="36947"/>
                    </a:tc>
                    <a:tc>
                      <a:txBody>
                        <a:bodyPr/>
                        <a:lstStyle/>
                        <a:p>
                          <a:pPr algn="ctr"/>
                          <a:r>
                            <a:rPr lang="en-US" sz="1100" dirty="0"/>
                            <a:t>90%</a:t>
                          </a:r>
                        </a:p>
                      </a:txBody>
                      <a:tcPr marL="73893" marR="73893" marT="36947" marB="36947"/>
                    </a:tc>
                    <a:extLst>
                      <a:ext uri="{0D108BD9-81ED-4DB2-BD59-A6C34878D82A}">
                        <a16:rowId xmlns:a16="http://schemas.microsoft.com/office/drawing/2014/main" val="3509728558"/>
                      </a:ext>
                    </a:extLst>
                  </a:tr>
                  <a:tr h="304575">
                    <a:tc>
                      <a:txBody>
                        <a:bodyPr/>
                        <a:lstStyle/>
                        <a:p>
                          <a:r>
                            <a:rPr lang="en-US" sz="1100" dirty="0"/>
                            <a:t>3</a:t>
                          </a:r>
                        </a:p>
                      </a:txBody>
                      <a:tcPr marL="73893" marR="73893" marT="36947" marB="36947"/>
                    </a:tc>
                    <a:tc>
                      <a:txBody>
                        <a:bodyPr/>
                        <a:lstStyle/>
                        <a:p>
                          <a:pPr algn="ctr"/>
                          <a:r>
                            <a:rPr lang="en-US" sz="1100" dirty="0"/>
                            <a:t>40%</a:t>
                          </a:r>
                        </a:p>
                      </a:txBody>
                      <a:tcPr marL="73893" marR="73893" marT="36947" marB="36947"/>
                    </a:tc>
                    <a:tc>
                      <a:txBody>
                        <a:bodyPr/>
                        <a:lstStyle/>
                        <a:p>
                          <a:pPr algn="ctr"/>
                          <a:r>
                            <a:rPr lang="en-US" sz="1100" dirty="0"/>
                            <a:t>70%</a:t>
                          </a:r>
                        </a:p>
                      </a:txBody>
                      <a:tcPr marL="73893" marR="73893" marT="36947" marB="36947"/>
                    </a:tc>
                    <a:extLst>
                      <a:ext uri="{0D108BD9-81ED-4DB2-BD59-A6C34878D82A}">
                        <a16:rowId xmlns:a16="http://schemas.microsoft.com/office/drawing/2014/main" val="1102564326"/>
                      </a:ext>
                    </a:extLst>
                  </a:tr>
                  <a:tr h="304575">
                    <a:tc>
                      <a:txBody>
                        <a:bodyPr/>
                        <a:lstStyle/>
                        <a:p>
                          <a:r>
                            <a:rPr lang="en-US" sz="1100" dirty="0"/>
                            <a:t>4</a:t>
                          </a:r>
                        </a:p>
                      </a:txBody>
                      <a:tcPr marL="73893" marR="73893" marT="36947" marB="36947"/>
                    </a:tc>
                    <a:tc>
                      <a:txBody>
                        <a:bodyPr/>
                        <a:lstStyle/>
                        <a:p>
                          <a:pPr algn="ctr"/>
                          <a:r>
                            <a:rPr lang="en-US" sz="1100" dirty="0"/>
                            <a:t>20%</a:t>
                          </a:r>
                        </a:p>
                      </a:txBody>
                      <a:tcPr marL="73893" marR="73893" marT="36947" marB="36947"/>
                    </a:tc>
                    <a:tc>
                      <a:txBody>
                        <a:bodyPr/>
                        <a:lstStyle/>
                        <a:p>
                          <a:pPr algn="ctr"/>
                          <a:r>
                            <a:rPr lang="en-US" sz="1100" dirty="0"/>
                            <a:t>40%</a:t>
                          </a:r>
                        </a:p>
                      </a:txBody>
                      <a:tcPr marL="73893" marR="73893" marT="36947" marB="36947"/>
                    </a:tc>
                    <a:extLst>
                      <a:ext uri="{0D108BD9-81ED-4DB2-BD59-A6C34878D82A}">
                        <a16:rowId xmlns:a16="http://schemas.microsoft.com/office/drawing/2014/main" val="2507279659"/>
                      </a:ext>
                    </a:extLst>
                  </a:tr>
                  <a:tr h="304575">
                    <a:tc>
                      <a:txBody>
                        <a:bodyPr/>
                        <a:lstStyle/>
                        <a:p>
                          <a:r>
                            <a:rPr lang="en-US" sz="1100" dirty="0"/>
                            <a:t>5</a:t>
                          </a:r>
                        </a:p>
                      </a:txBody>
                      <a:tcPr marL="73893" marR="73893" marT="36947" marB="36947">
                        <a:lnB w="12700" cap="flat" cmpd="sng" algn="ctr">
                          <a:solidFill>
                            <a:schemeClr val="tx1"/>
                          </a:solidFill>
                          <a:prstDash val="solid"/>
                          <a:round/>
                          <a:headEnd type="none" w="med" len="med"/>
                          <a:tailEnd type="none" w="med" len="med"/>
                        </a:lnB>
                      </a:tcPr>
                    </a:tc>
                    <a:tc>
                      <a:txBody>
                        <a:bodyPr/>
                        <a:lstStyle/>
                        <a:p>
                          <a:pPr algn="ctr"/>
                          <a:r>
                            <a:rPr lang="en-US" sz="1100" dirty="0"/>
                            <a:t>0%</a:t>
                          </a:r>
                        </a:p>
                      </a:txBody>
                      <a:tcPr marL="73893" marR="73893" marT="36947" marB="36947">
                        <a:lnB w="12700" cap="flat" cmpd="sng" algn="ctr">
                          <a:solidFill>
                            <a:schemeClr val="tx1"/>
                          </a:solidFill>
                          <a:prstDash val="solid"/>
                          <a:round/>
                          <a:headEnd type="none" w="med" len="med"/>
                          <a:tailEnd type="none" w="med" len="med"/>
                        </a:lnB>
                      </a:tcPr>
                    </a:tc>
                    <a:tc>
                      <a:txBody>
                        <a:bodyPr/>
                        <a:lstStyle/>
                        <a:p>
                          <a:pPr algn="ctr"/>
                          <a:r>
                            <a:rPr lang="en-US" sz="1100" dirty="0"/>
                            <a:t>0%</a:t>
                          </a:r>
                        </a:p>
                      </a:txBody>
                      <a:tcPr marL="73893" marR="73893" marT="36947" marB="36947">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5163850"/>
                      </a:ext>
                    </a:extLst>
                  </a:tr>
                </a:tbl>
              </a:graphicData>
            </a:graphic>
          </p:graphicFrame>
        </mc:Choice>
        <mc:Fallback>
          <p:graphicFrame>
            <p:nvGraphicFramePr>
              <p:cNvPr id="50" name="표 49">
                <a:extLst>
                  <a:ext uri="{FF2B5EF4-FFF2-40B4-BE49-F238E27FC236}">
                    <a16:creationId xmlns:a16="http://schemas.microsoft.com/office/drawing/2014/main" id="{860F5797-ADDC-4E60-996F-3E71719D1393}"/>
                  </a:ext>
                </a:extLst>
              </p:cNvPr>
              <p:cNvGraphicFramePr>
                <a:graphicFrameLocks noGrp="1"/>
              </p:cNvGraphicFramePr>
              <p:nvPr>
                <p:extLst>
                  <p:ext uri="{D42A27DB-BD31-4B8C-83A1-F6EECF244321}">
                    <p14:modId xmlns:p14="http://schemas.microsoft.com/office/powerpoint/2010/main" val="34695634"/>
                  </p:ext>
                </p:extLst>
              </p:nvPr>
            </p:nvGraphicFramePr>
            <p:xfrm>
              <a:off x="5797118" y="2104008"/>
              <a:ext cx="6394882" cy="2155924"/>
            </p:xfrm>
            <a:graphic>
              <a:graphicData uri="http://schemas.openxmlformats.org/drawingml/2006/table">
                <a:tbl>
                  <a:tblPr firstRow="1" bandRow="1">
                    <a:tableStyleId>{2D5ABB26-0587-4C30-8999-92F81FD0307C}</a:tableStyleId>
                  </a:tblPr>
                  <a:tblGrid>
                    <a:gridCol w="1819338">
                      <a:extLst>
                        <a:ext uri="{9D8B030D-6E8A-4147-A177-3AD203B41FA5}">
                          <a16:colId xmlns:a16="http://schemas.microsoft.com/office/drawing/2014/main" val="2765810749"/>
                        </a:ext>
                      </a:extLst>
                    </a:gridCol>
                    <a:gridCol w="2443916">
                      <a:extLst>
                        <a:ext uri="{9D8B030D-6E8A-4147-A177-3AD203B41FA5}">
                          <a16:colId xmlns:a16="http://schemas.microsoft.com/office/drawing/2014/main" val="3704397650"/>
                        </a:ext>
                      </a:extLst>
                    </a:gridCol>
                    <a:gridCol w="2131628">
                      <a:extLst>
                        <a:ext uri="{9D8B030D-6E8A-4147-A177-3AD203B41FA5}">
                          <a16:colId xmlns:a16="http://schemas.microsoft.com/office/drawing/2014/main" val="1070375228"/>
                        </a:ext>
                      </a:extLst>
                    </a:gridCol>
                  </a:tblGrid>
                  <a:tr h="328474">
                    <a:tc>
                      <a:txBody>
                        <a:bodyPr/>
                        <a:lstStyle/>
                        <a:p>
                          <a:r>
                            <a:rPr lang="en-US" sz="1100" dirty="0"/>
                            <a:t>Number of missing nodes </a:t>
                          </a:r>
                        </a:p>
                      </a:txBody>
                      <a:tcPr marL="73893" marR="73893" marT="36947" marB="3694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3893" marR="73893" marT="36947" marB="3694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564" t="-3704" r="-87781" b="-557407"/>
                          </a:stretch>
                        </a:blipFill>
                      </a:tcPr>
                    </a:tc>
                    <a:tc>
                      <a:txBody>
                        <a:bodyPr/>
                        <a:lstStyle/>
                        <a:p>
                          <a:pPr algn="ctr"/>
                          <a:r>
                            <a:rPr lang="en-US" sz="1100" dirty="0"/>
                            <a:t>Relational Response Rate</a:t>
                          </a:r>
                        </a:p>
                      </a:txBody>
                      <a:tcPr marL="73893" marR="73893" marT="36947" marB="3694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279289"/>
                      </a:ext>
                    </a:extLst>
                  </a:tr>
                  <a:tr h="304575">
                    <a:tc>
                      <a:txBody>
                        <a:bodyPr/>
                        <a:lstStyle/>
                        <a:p>
                          <a:r>
                            <a:rPr lang="en-US" sz="1100" dirty="0"/>
                            <a:t>0</a:t>
                          </a:r>
                        </a:p>
                      </a:txBody>
                      <a:tcPr marL="73893" marR="73893" marT="36947" marB="36947">
                        <a:lnT w="12700" cap="flat" cmpd="sng" algn="ctr">
                          <a:solidFill>
                            <a:schemeClr val="tx1"/>
                          </a:solidFill>
                          <a:prstDash val="solid"/>
                          <a:round/>
                          <a:headEnd type="none" w="med" len="med"/>
                          <a:tailEnd type="none" w="med" len="med"/>
                        </a:lnT>
                      </a:tcPr>
                    </a:tc>
                    <a:tc>
                      <a:txBody>
                        <a:bodyPr/>
                        <a:lstStyle/>
                        <a:p>
                          <a:pPr algn="ctr"/>
                          <a:r>
                            <a:rPr lang="en-US" sz="1100" dirty="0"/>
                            <a:t>100%</a:t>
                          </a:r>
                        </a:p>
                      </a:txBody>
                      <a:tcPr marL="73893" marR="73893" marT="36947" marB="36947">
                        <a:lnT w="12700" cap="flat" cmpd="sng" algn="ctr">
                          <a:solidFill>
                            <a:schemeClr val="tx1"/>
                          </a:solidFill>
                          <a:prstDash val="solid"/>
                          <a:round/>
                          <a:headEnd type="none" w="med" len="med"/>
                          <a:tailEnd type="none" w="med" len="med"/>
                        </a:lnT>
                      </a:tcPr>
                    </a:tc>
                    <a:tc>
                      <a:txBody>
                        <a:bodyPr/>
                        <a:lstStyle/>
                        <a:p>
                          <a:pPr algn="ctr"/>
                          <a:r>
                            <a:rPr lang="en-US" sz="1100" dirty="0"/>
                            <a:t>100%</a:t>
                          </a:r>
                        </a:p>
                      </a:txBody>
                      <a:tcPr marL="73893" marR="73893" marT="36947" marB="36947">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407754060"/>
                      </a:ext>
                    </a:extLst>
                  </a:tr>
                  <a:tr h="304575">
                    <a:tc>
                      <a:txBody>
                        <a:bodyPr/>
                        <a:lstStyle/>
                        <a:p>
                          <a:r>
                            <a:rPr lang="en-US" sz="1100" dirty="0"/>
                            <a:t>1</a:t>
                          </a:r>
                        </a:p>
                      </a:txBody>
                      <a:tcPr marL="73893" marR="73893" marT="36947" marB="36947"/>
                    </a:tc>
                    <a:tc>
                      <a:txBody>
                        <a:bodyPr/>
                        <a:lstStyle/>
                        <a:p>
                          <a:pPr algn="ctr"/>
                          <a:r>
                            <a:rPr lang="en-US" sz="1100" dirty="0"/>
                            <a:t>80%</a:t>
                          </a:r>
                        </a:p>
                      </a:txBody>
                      <a:tcPr marL="73893" marR="73893" marT="36947" marB="36947"/>
                    </a:tc>
                    <a:tc>
                      <a:txBody>
                        <a:bodyPr/>
                        <a:lstStyle/>
                        <a:p>
                          <a:pPr algn="ctr"/>
                          <a:r>
                            <a:rPr lang="en-US" sz="1100" dirty="0"/>
                            <a:t>100%</a:t>
                          </a:r>
                        </a:p>
                      </a:txBody>
                      <a:tcPr marL="73893" marR="73893" marT="36947" marB="36947"/>
                    </a:tc>
                    <a:extLst>
                      <a:ext uri="{0D108BD9-81ED-4DB2-BD59-A6C34878D82A}">
                        <a16:rowId xmlns:a16="http://schemas.microsoft.com/office/drawing/2014/main" val="1980737833"/>
                      </a:ext>
                    </a:extLst>
                  </a:tr>
                  <a:tr h="304575">
                    <a:tc>
                      <a:txBody>
                        <a:bodyPr/>
                        <a:lstStyle/>
                        <a:p>
                          <a:r>
                            <a:rPr lang="en-US" sz="1100" dirty="0"/>
                            <a:t>2</a:t>
                          </a:r>
                        </a:p>
                      </a:txBody>
                      <a:tcPr marL="73893" marR="73893" marT="36947" marB="36947"/>
                    </a:tc>
                    <a:tc>
                      <a:txBody>
                        <a:bodyPr/>
                        <a:lstStyle/>
                        <a:p>
                          <a:pPr algn="ctr"/>
                          <a:r>
                            <a:rPr lang="en-US" sz="1100" dirty="0"/>
                            <a:t>60%</a:t>
                          </a:r>
                        </a:p>
                      </a:txBody>
                      <a:tcPr marL="73893" marR="73893" marT="36947" marB="36947"/>
                    </a:tc>
                    <a:tc>
                      <a:txBody>
                        <a:bodyPr/>
                        <a:lstStyle/>
                        <a:p>
                          <a:pPr algn="ctr"/>
                          <a:r>
                            <a:rPr lang="en-US" sz="1100" dirty="0"/>
                            <a:t>90%</a:t>
                          </a:r>
                        </a:p>
                      </a:txBody>
                      <a:tcPr marL="73893" marR="73893" marT="36947" marB="36947"/>
                    </a:tc>
                    <a:extLst>
                      <a:ext uri="{0D108BD9-81ED-4DB2-BD59-A6C34878D82A}">
                        <a16:rowId xmlns:a16="http://schemas.microsoft.com/office/drawing/2014/main" val="3509728558"/>
                      </a:ext>
                    </a:extLst>
                  </a:tr>
                  <a:tr h="304575">
                    <a:tc>
                      <a:txBody>
                        <a:bodyPr/>
                        <a:lstStyle/>
                        <a:p>
                          <a:r>
                            <a:rPr lang="en-US" sz="1100" dirty="0"/>
                            <a:t>3</a:t>
                          </a:r>
                        </a:p>
                      </a:txBody>
                      <a:tcPr marL="73893" marR="73893" marT="36947" marB="36947"/>
                    </a:tc>
                    <a:tc>
                      <a:txBody>
                        <a:bodyPr/>
                        <a:lstStyle/>
                        <a:p>
                          <a:pPr algn="ctr"/>
                          <a:r>
                            <a:rPr lang="en-US" sz="1100" dirty="0"/>
                            <a:t>40%</a:t>
                          </a:r>
                        </a:p>
                      </a:txBody>
                      <a:tcPr marL="73893" marR="73893" marT="36947" marB="36947"/>
                    </a:tc>
                    <a:tc>
                      <a:txBody>
                        <a:bodyPr/>
                        <a:lstStyle/>
                        <a:p>
                          <a:pPr algn="ctr"/>
                          <a:r>
                            <a:rPr lang="en-US" sz="1100" dirty="0"/>
                            <a:t>70%</a:t>
                          </a:r>
                        </a:p>
                      </a:txBody>
                      <a:tcPr marL="73893" marR="73893" marT="36947" marB="36947"/>
                    </a:tc>
                    <a:extLst>
                      <a:ext uri="{0D108BD9-81ED-4DB2-BD59-A6C34878D82A}">
                        <a16:rowId xmlns:a16="http://schemas.microsoft.com/office/drawing/2014/main" val="1102564326"/>
                      </a:ext>
                    </a:extLst>
                  </a:tr>
                  <a:tr h="304575">
                    <a:tc>
                      <a:txBody>
                        <a:bodyPr/>
                        <a:lstStyle/>
                        <a:p>
                          <a:r>
                            <a:rPr lang="en-US" sz="1100" dirty="0"/>
                            <a:t>4</a:t>
                          </a:r>
                        </a:p>
                      </a:txBody>
                      <a:tcPr marL="73893" marR="73893" marT="36947" marB="36947"/>
                    </a:tc>
                    <a:tc>
                      <a:txBody>
                        <a:bodyPr/>
                        <a:lstStyle/>
                        <a:p>
                          <a:pPr algn="ctr"/>
                          <a:r>
                            <a:rPr lang="en-US" sz="1100" dirty="0"/>
                            <a:t>20%</a:t>
                          </a:r>
                        </a:p>
                      </a:txBody>
                      <a:tcPr marL="73893" marR="73893" marT="36947" marB="36947"/>
                    </a:tc>
                    <a:tc>
                      <a:txBody>
                        <a:bodyPr/>
                        <a:lstStyle/>
                        <a:p>
                          <a:pPr algn="ctr"/>
                          <a:r>
                            <a:rPr lang="en-US" sz="1100" dirty="0"/>
                            <a:t>40%</a:t>
                          </a:r>
                        </a:p>
                      </a:txBody>
                      <a:tcPr marL="73893" marR="73893" marT="36947" marB="36947"/>
                    </a:tc>
                    <a:extLst>
                      <a:ext uri="{0D108BD9-81ED-4DB2-BD59-A6C34878D82A}">
                        <a16:rowId xmlns:a16="http://schemas.microsoft.com/office/drawing/2014/main" val="2507279659"/>
                      </a:ext>
                    </a:extLst>
                  </a:tr>
                  <a:tr h="304575">
                    <a:tc>
                      <a:txBody>
                        <a:bodyPr/>
                        <a:lstStyle/>
                        <a:p>
                          <a:r>
                            <a:rPr lang="en-US" sz="1100" dirty="0"/>
                            <a:t>5</a:t>
                          </a:r>
                        </a:p>
                      </a:txBody>
                      <a:tcPr marL="73893" marR="73893" marT="36947" marB="36947">
                        <a:lnB w="12700" cap="flat" cmpd="sng" algn="ctr">
                          <a:solidFill>
                            <a:schemeClr val="tx1"/>
                          </a:solidFill>
                          <a:prstDash val="solid"/>
                          <a:round/>
                          <a:headEnd type="none" w="med" len="med"/>
                          <a:tailEnd type="none" w="med" len="med"/>
                        </a:lnB>
                      </a:tcPr>
                    </a:tc>
                    <a:tc>
                      <a:txBody>
                        <a:bodyPr/>
                        <a:lstStyle/>
                        <a:p>
                          <a:pPr algn="ctr"/>
                          <a:r>
                            <a:rPr lang="en-US" sz="1100" dirty="0"/>
                            <a:t>0%</a:t>
                          </a:r>
                        </a:p>
                      </a:txBody>
                      <a:tcPr marL="73893" marR="73893" marT="36947" marB="36947">
                        <a:lnB w="12700" cap="flat" cmpd="sng" algn="ctr">
                          <a:solidFill>
                            <a:schemeClr val="tx1"/>
                          </a:solidFill>
                          <a:prstDash val="solid"/>
                          <a:round/>
                          <a:headEnd type="none" w="med" len="med"/>
                          <a:tailEnd type="none" w="med" len="med"/>
                        </a:lnB>
                      </a:tcPr>
                    </a:tc>
                    <a:tc>
                      <a:txBody>
                        <a:bodyPr/>
                        <a:lstStyle/>
                        <a:p>
                          <a:pPr algn="ctr"/>
                          <a:r>
                            <a:rPr lang="en-US" sz="1100" dirty="0"/>
                            <a:t>0%</a:t>
                          </a:r>
                        </a:p>
                      </a:txBody>
                      <a:tcPr marL="73893" marR="73893" marT="36947" marB="36947">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5163850"/>
                      </a:ext>
                    </a:extLst>
                  </a:tr>
                </a:tbl>
              </a:graphicData>
            </a:graphic>
          </p:graphicFrame>
        </mc:Fallback>
      </mc:AlternateContent>
      <p:sp>
        <p:nvSpPr>
          <p:cNvPr id="51" name="직사각형 50">
            <a:extLst>
              <a:ext uri="{FF2B5EF4-FFF2-40B4-BE49-F238E27FC236}">
                <a16:creationId xmlns:a16="http://schemas.microsoft.com/office/drawing/2014/main" id="{E888E8AB-7B73-43C0-8FA4-8796DE20B771}"/>
              </a:ext>
            </a:extLst>
          </p:cNvPr>
          <p:cNvSpPr/>
          <p:nvPr/>
        </p:nvSpPr>
        <p:spPr>
          <a:xfrm>
            <a:off x="7494853" y="4259932"/>
            <a:ext cx="2999411" cy="276999"/>
          </a:xfrm>
          <a:prstGeom prst="rect">
            <a:avLst/>
          </a:prstGeom>
        </p:spPr>
        <p:txBody>
          <a:bodyPr wrap="none">
            <a:spAutoFit/>
          </a:bodyPr>
          <a:lstStyle/>
          <a:p>
            <a:r>
              <a:rPr lang="en-US" sz="1200" dirty="0">
                <a:latin typeface="Franklin Gothic Medium" panose="020B0603020102020204" pitchFamily="34" charset="0"/>
              </a:rPr>
              <a:t>Response rates for a network of five actors</a:t>
            </a:r>
            <a:endParaRPr lang="en-US" sz="1200" dirty="0"/>
          </a:p>
        </p:txBody>
      </p:sp>
      <p:sp>
        <p:nvSpPr>
          <p:cNvPr id="52" name="직사각형 51">
            <a:extLst>
              <a:ext uri="{FF2B5EF4-FFF2-40B4-BE49-F238E27FC236}">
                <a16:creationId xmlns:a16="http://schemas.microsoft.com/office/drawing/2014/main" id="{16986A92-1734-40AA-8BF1-4CDCBF236E10}"/>
              </a:ext>
            </a:extLst>
          </p:cNvPr>
          <p:cNvSpPr/>
          <p:nvPr/>
        </p:nvSpPr>
        <p:spPr>
          <a:xfrm>
            <a:off x="872806" y="3611938"/>
            <a:ext cx="3997663" cy="461665"/>
          </a:xfrm>
          <a:prstGeom prst="rect">
            <a:avLst/>
          </a:prstGeom>
        </p:spPr>
        <p:txBody>
          <a:bodyPr wrap="square">
            <a:spAutoFit/>
          </a:bodyPr>
          <a:lstStyle/>
          <a:p>
            <a:r>
              <a:rPr lang="en-US" sz="1200" b="1" dirty="0">
                <a:latin typeface="Franklin Gothic Medium" panose="020B0603020102020204" pitchFamily="34" charset="0"/>
              </a:rPr>
              <a:t>*Includes assumption that a report by one member of a dyad can be treated as a reliable measure</a:t>
            </a:r>
            <a:endParaRPr lang="en-US" sz="1200" b="1" dirty="0"/>
          </a:p>
        </p:txBody>
      </p:sp>
    </p:spTree>
    <p:extLst>
      <p:ext uri="{BB962C8B-B14F-4D97-AF65-F5344CB8AC3E}">
        <p14:creationId xmlns:p14="http://schemas.microsoft.com/office/powerpoint/2010/main" val="2537940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latin typeface="Franklin Gothic Medium" panose="020B0603020102020204" pitchFamily="34" charset="0"/>
              </a:rPr>
              <a:t>6. Missing Data</a:t>
            </a:r>
            <a:endParaRPr lang="en-US" sz="3800" i="1" dirty="0">
              <a:latin typeface="Franklin Gothic Medium" panose="020B0603020102020204" pitchFamily="34" charset="0"/>
            </a:endParaRPr>
          </a:p>
        </p:txBody>
      </p:sp>
      <p:sp>
        <p:nvSpPr>
          <p:cNvPr id="7" name="제목 4">
            <a:extLst>
              <a:ext uri="{FF2B5EF4-FFF2-40B4-BE49-F238E27FC236}">
                <a16:creationId xmlns:a16="http://schemas.microsoft.com/office/drawing/2014/main" id="{2F4D1CF4-962F-4A3F-9EB2-151EB55FF9F0}"/>
              </a:ext>
            </a:extLst>
          </p:cNvPr>
          <p:cNvSpPr txBox="1">
            <a:spLocks/>
          </p:cNvSpPr>
          <p:nvPr/>
        </p:nvSpPr>
        <p:spPr>
          <a:xfrm>
            <a:off x="348842" y="1293607"/>
            <a:ext cx="10420079" cy="23357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Franklin Gothic Medium" panose="020B0603020102020204" pitchFamily="34" charset="0"/>
              </a:rPr>
              <a:t>Prevention</a:t>
            </a:r>
          </a:p>
          <a:p>
            <a:pPr marL="342900" indent="-342900">
              <a:buFont typeface="Arial" panose="020B0604020202020204" pitchFamily="34" charset="0"/>
              <a:buChar char="•"/>
            </a:pPr>
            <a:endParaRPr lang="en-US" sz="2000" b="1" dirty="0">
              <a:latin typeface="Franklin Gothic Medium" panose="020B0603020102020204" pitchFamily="34" charset="0"/>
            </a:endParaRPr>
          </a:p>
          <a:p>
            <a:pPr marL="285750" indent="-285750">
              <a:buFont typeface="Arial" panose="020B0604020202020204" pitchFamily="34" charset="0"/>
              <a:buChar char="•"/>
            </a:pPr>
            <a:r>
              <a:rPr lang="en-US" sz="1600" dirty="0">
                <a:latin typeface="Franklin Gothic Medium" panose="020B0603020102020204" pitchFamily="34" charset="0"/>
              </a:rPr>
              <a:t>Missing data does not have a complete solution. The only way is convincing respondents of the importance of participation in the research and utilizing different persuasion techniques, and extraordinary research design and putting efforts</a:t>
            </a:r>
          </a:p>
        </p:txBody>
      </p:sp>
    </p:spTree>
    <p:extLst>
      <p:ext uri="{BB962C8B-B14F-4D97-AF65-F5344CB8AC3E}">
        <p14:creationId xmlns:p14="http://schemas.microsoft.com/office/powerpoint/2010/main" val="1258296147"/>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TM02892315[[fn=줄기]]</Template>
  <TotalTime>6635</TotalTime>
  <Words>2510</Words>
  <Application>Microsoft Office PowerPoint</Application>
  <PresentationFormat>와이드스크린</PresentationFormat>
  <Paragraphs>250</Paragraphs>
  <Slides>21</Slides>
  <Notes>0</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21</vt:i4>
      </vt:variant>
    </vt:vector>
  </HeadingPairs>
  <TitlesOfParts>
    <vt:vector size="30" baseType="lpstr">
      <vt:lpstr>맑은 고딕</vt:lpstr>
      <vt:lpstr>Arial</vt:lpstr>
      <vt:lpstr>Calibri</vt:lpstr>
      <vt:lpstr>Calibri Light</vt:lpstr>
      <vt:lpstr>Cambria Math</vt:lpstr>
      <vt:lpstr>Franklin Gothic Medium</vt:lpstr>
      <vt:lpstr>Wingdings 2</vt:lpstr>
      <vt:lpstr>HDOfficeLightV0</vt:lpstr>
      <vt:lpstr>Office 테마</vt:lpstr>
      <vt:lpstr>Social Network Analysis</vt:lpstr>
      <vt:lpstr>Contents</vt:lpstr>
      <vt:lpstr>1. Boundary Specification</vt:lpstr>
      <vt:lpstr>1. Boundary Specification - Continued</vt:lpstr>
      <vt:lpstr>1. Boundary Specification - Continued</vt:lpstr>
      <vt:lpstr>2. Data Collection Procedures</vt:lpstr>
      <vt:lpstr>2. Data Collection Procedures</vt:lpstr>
      <vt:lpstr>2. Data Collection Procedures</vt:lpstr>
      <vt:lpstr>2. Data Collection Procedures</vt:lpstr>
      <vt:lpstr>2. Data Collection Procedures</vt:lpstr>
      <vt:lpstr>3. Cognitive Social Structure</vt:lpstr>
      <vt:lpstr>3. Cognitive Social Structure</vt:lpstr>
      <vt:lpstr>4. Informant Bias</vt:lpstr>
      <vt:lpstr>4. Informant Bias</vt:lpstr>
      <vt:lpstr>4. Informant Bias</vt:lpstr>
      <vt:lpstr>5. Reliability</vt:lpstr>
      <vt:lpstr>5. Reliability</vt:lpstr>
      <vt:lpstr>5. Reliability</vt:lpstr>
      <vt:lpstr>6. Missing Data</vt:lpstr>
      <vt:lpstr>6. Missing Data</vt:lpstr>
      <vt:lpstr>6. Missing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agdal1125@gmail.com</dc:creator>
  <cp:lastModifiedBy>agdal1125@gmail.com</cp:lastModifiedBy>
  <cp:revision>192</cp:revision>
  <dcterms:created xsi:type="dcterms:W3CDTF">2018-01-23T16:32:33Z</dcterms:created>
  <dcterms:modified xsi:type="dcterms:W3CDTF">2018-03-14T06:00:41Z</dcterms:modified>
</cp:coreProperties>
</file>