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sldIdLst>
    <p:sldId id="256" r:id="rId3"/>
    <p:sldId id="269" r:id="rId4"/>
    <p:sldId id="267" r:id="rId5"/>
    <p:sldId id="270" r:id="rId6"/>
    <p:sldId id="271" r:id="rId7"/>
    <p:sldId id="272" r:id="rId8"/>
    <p:sldId id="273" r:id="rId9"/>
    <p:sldId id="274" r:id="rId10"/>
    <p:sldId id="275" r:id="rId11"/>
    <p:sldId id="276" r:id="rId12"/>
    <p:sldId id="278" r:id="rId13"/>
    <p:sldId id="279" r:id="rId14"/>
    <p:sldId id="280"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2/14/2018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2/14/2018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2/14/2018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2/14/2018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t>Prof. </a:t>
            </a:r>
            <a:r>
              <a:rPr lang="en-US" dirty="0" err="1"/>
              <a:t>Keeheon</a:t>
            </a:r>
            <a:r>
              <a:rPr lang="en-US" dirty="0"/>
              <a:t> Lee</a:t>
            </a:r>
          </a:p>
          <a:p>
            <a:pPr algn="r"/>
            <a:endParaRPr lang="en-US" dirty="0"/>
          </a:p>
          <a:p>
            <a:pPr algn="r"/>
            <a:r>
              <a:rPr lang="en-US" dirty="0"/>
              <a:t>TA. </a:t>
            </a:r>
            <a:r>
              <a:rPr lang="en-US" dirty="0" err="1"/>
              <a:t>Jaekeun</a:t>
            </a:r>
            <a:r>
              <a:rPr lang="en-US" dirty="0"/>
              <a:t> Lee</a:t>
            </a:r>
            <a:br>
              <a:rPr lang="en-US" dirty="0"/>
            </a:br>
            <a:r>
              <a:rPr lang="en-US" dirty="0"/>
              <a:t>010-5599-9411</a:t>
            </a:r>
            <a:br>
              <a:rPr lang="en-US" dirty="0"/>
            </a:br>
            <a:r>
              <a:rPr lang="en-US" dirty="0"/>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Network Fundamentals</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365125"/>
            <a:ext cx="12451672" cy="1339388"/>
          </a:xfrm>
        </p:spPr>
        <p:txBody>
          <a:bodyPr>
            <a:normAutofit/>
          </a:bodyPr>
          <a:lstStyle/>
          <a:p>
            <a:r>
              <a:rPr lang="en-US" sz="3800" dirty="0"/>
              <a:t>Contents</a:t>
            </a:r>
          </a:p>
        </p:txBody>
      </p:sp>
      <p:sp>
        <p:nvSpPr>
          <p:cNvPr id="4" name="직사각형 3">
            <a:extLst>
              <a:ext uri="{FF2B5EF4-FFF2-40B4-BE49-F238E27FC236}">
                <a16:creationId xmlns:a16="http://schemas.microsoft.com/office/drawing/2014/main" id="{4C2C6BA2-5B88-4692-833B-27E8DDA27143}"/>
              </a:ext>
            </a:extLst>
          </p:cNvPr>
          <p:cNvSpPr/>
          <p:nvPr/>
        </p:nvSpPr>
        <p:spPr>
          <a:xfrm>
            <a:off x="1000607" y="1781579"/>
            <a:ext cx="10738283" cy="2677656"/>
          </a:xfrm>
          <a:prstGeom prst="rect">
            <a:avLst/>
          </a:prstGeom>
        </p:spPr>
        <p:txBody>
          <a:bodyPr wrap="square">
            <a:spAutoFit/>
          </a:bodyPr>
          <a:lstStyle/>
          <a:p>
            <a:pPr marL="457200" indent="-457200">
              <a:buAutoNum type="arabicPeriod"/>
            </a:pPr>
            <a:r>
              <a:rPr lang="en-US" sz="2400" dirty="0"/>
              <a:t>Underlying Assumptions</a:t>
            </a:r>
          </a:p>
          <a:p>
            <a:pPr marL="457200" indent="-457200">
              <a:buAutoNum type="arabicPeriod"/>
            </a:pPr>
            <a:endParaRPr lang="en-US" sz="2400" dirty="0"/>
          </a:p>
          <a:p>
            <a:pPr marL="457200" indent="-457200">
              <a:buAutoNum type="arabicPeriod"/>
            </a:pPr>
            <a:r>
              <a:rPr lang="en-US" sz="2400" dirty="0"/>
              <a:t>Actors and Relations</a:t>
            </a:r>
          </a:p>
          <a:p>
            <a:pPr marL="457200" indent="-457200">
              <a:buAutoNum type="arabicPeriod"/>
            </a:pPr>
            <a:endParaRPr lang="en-US" sz="2400" dirty="0"/>
          </a:p>
          <a:p>
            <a:pPr marL="457200" indent="-457200">
              <a:buAutoNum type="arabicPeriod"/>
            </a:pPr>
            <a:r>
              <a:rPr lang="en-US" sz="2400" dirty="0"/>
              <a:t>Networks</a:t>
            </a:r>
          </a:p>
          <a:p>
            <a:pPr marL="457200" indent="-457200">
              <a:buAutoNum type="arabicPeriod"/>
            </a:pPr>
            <a:endParaRPr lang="en-US" sz="2400" dirty="0"/>
          </a:p>
          <a:p>
            <a:pPr marL="457200" indent="-457200">
              <a:buAutoNum type="arabicPeriod"/>
            </a:pPr>
            <a:r>
              <a:rPr lang="en-US" sz="2400" dirty="0"/>
              <a:t>Research Design Elements</a:t>
            </a:r>
          </a:p>
        </p:txBody>
      </p:sp>
    </p:spTree>
    <p:extLst>
      <p:ext uri="{BB962C8B-B14F-4D97-AF65-F5344CB8AC3E}">
        <p14:creationId xmlns:p14="http://schemas.microsoft.com/office/powerpoint/2010/main" val="871865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365125"/>
            <a:ext cx="12451672" cy="1339388"/>
          </a:xfrm>
        </p:spPr>
        <p:txBody>
          <a:bodyPr>
            <a:normAutofit/>
          </a:bodyPr>
          <a:lstStyle/>
          <a:p>
            <a:r>
              <a:rPr lang="en-US" sz="3800" dirty="0"/>
              <a:t>1. Underlying Assumptions behind Social Network Analysis</a:t>
            </a:r>
          </a:p>
        </p:txBody>
      </p:sp>
      <p:sp>
        <p:nvSpPr>
          <p:cNvPr id="4" name="직사각형 3">
            <a:extLst>
              <a:ext uri="{FF2B5EF4-FFF2-40B4-BE49-F238E27FC236}">
                <a16:creationId xmlns:a16="http://schemas.microsoft.com/office/drawing/2014/main" id="{4C2C6BA2-5B88-4692-833B-27E8DDA27143}"/>
              </a:ext>
            </a:extLst>
          </p:cNvPr>
          <p:cNvSpPr/>
          <p:nvPr/>
        </p:nvSpPr>
        <p:spPr>
          <a:xfrm>
            <a:off x="947696" y="1704513"/>
            <a:ext cx="10738283" cy="1569660"/>
          </a:xfrm>
          <a:prstGeom prst="rect">
            <a:avLst/>
          </a:prstGeom>
        </p:spPr>
        <p:txBody>
          <a:bodyPr wrap="square">
            <a:spAutoFit/>
          </a:bodyPr>
          <a:lstStyle/>
          <a:p>
            <a:r>
              <a:rPr lang="en-US" sz="2400" dirty="0"/>
              <a:t>Network perspective emphasizes </a:t>
            </a:r>
            <a:r>
              <a:rPr lang="en-US" sz="2400" b="1" i="1" dirty="0"/>
              <a:t>structural relations </a:t>
            </a:r>
            <a:r>
              <a:rPr lang="en-US" sz="2400" dirty="0"/>
              <a:t>as a key principle. Social structure consists of “regularities in the patterns of relations among concrete entities; it is not a harmony among abstract norms and values or a classification of concrete entities by their attributes” </a:t>
            </a:r>
            <a:r>
              <a:rPr lang="en-US" dirty="0"/>
              <a:t>(White, Boorman * </a:t>
            </a:r>
            <a:r>
              <a:rPr lang="en-US" dirty="0" err="1"/>
              <a:t>Breiger</a:t>
            </a:r>
            <a:r>
              <a:rPr lang="en-US" dirty="0"/>
              <a:t>, 1976, pp. 733-734)</a:t>
            </a:r>
            <a:endParaRPr lang="en-US" sz="2400" b="1" i="1" dirty="0"/>
          </a:p>
        </p:txBody>
      </p:sp>
      <p:sp>
        <p:nvSpPr>
          <p:cNvPr id="31" name="직사각형 30">
            <a:extLst>
              <a:ext uri="{FF2B5EF4-FFF2-40B4-BE49-F238E27FC236}">
                <a16:creationId xmlns:a16="http://schemas.microsoft.com/office/drawing/2014/main" id="{85A90947-22BD-4221-859B-153C997208EE}"/>
              </a:ext>
            </a:extLst>
          </p:cNvPr>
          <p:cNvSpPr/>
          <p:nvPr/>
        </p:nvSpPr>
        <p:spPr>
          <a:xfrm>
            <a:off x="947696" y="3482118"/>
            <a:ext cx="10738283" cy="830997"/>
          </a:xfrm>
          <a:prstGeom prst="rect">
            <a:avLst/>
          </a:prstGeom>
        </p:spPr>
        <p:txBody>
          <a:bodyPr wrap="square">
            <a:spAutoFit/>
          </a:bodyPr>
          <a:lstStyle/>
          <a:p>
            <a:r>
              <a:rPr lang="en-US" sz="2400" dirty="0"/>
              <a:t>Importance of social network analysis rests on three underlying assumptions about patterned relations and their effects. </a:t>
            </a:r>
          </a:p>
        </p:txBody>
      </p:sp>
    </p:spTree>
    <p:extLst>
      <p:ext uri="{BB962C8B-B14F-4D97-AF65-F5344CB8AC3E}">
        <p14:creationId xmlns:p14="http://schemas.microsoft.com/office/powerpoint/2010/main" val="422539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125428"/>
            <a:ext cx="12451672" cy="1339388"/>
          </a:xfrm>
        </p:spPr>
        <p:txBody>
          <a:bodyPr>
            <a:normAutofit/>
          </a:bodyPr>
          <a:lstStyle/>
          <a:p>
            <a:r>
              <a:rPr lang="en-US" sz="3800" dirty="0"/>
              <a:t>Assumption 1</a:t>
            </a:r>
          </a:p>
        </p:txBody>
      </p:sp>
      <p:sp>
        <p:nvSpPr>
          <p:cNvPr id="4" name="직사각형 3">
            <a:extLst>
              <a:ext uri="{FF2B5EF4-FFF2-40B4-BE49-F238E27FC236}">
                <a16:creationId xmlns:a16="http://schemas.microsoft.com/office/drawing/2014/main" id="{4C2C6BA2-5B88-4692-833B-27E8DDA27143}"/>
              </a:ext>
            </a:extLst>
          </p:cNvPr>
          <p:cNvSpPr/>
          <p:nvPr/>
        </p:nvSpPr>
        <p:spPr>
          <a:xfrm>
            <a:off x="910042" y="1224144"/>
            <a:ext cx="10738283" cy="830997"/>
          </a:xfrm>
          <a:prstGeom prst="rect">
            <a:avLst/>
          </a:prstGeom>
        </p:spPr>
        <p:txBody>
          <a:bodyPr wrap="square">
            <a:spAutoFit/>
          </a:bodyPr>
          <a:lstStyle/>
          <a:p>
            <a:r>
              <a:rPr lang="en-US" sz="2400" b="1" dirty="0"/>
              <a:t>Structural relations are often more important for understanding observed behaviors than are such attributes as age, gender, values and ideology. </a:t>
            </a:r>
            <a:endParaRPr lang="en-US" sz="2400" b="1" i="1" dirty="0"/>
          </a:p>
        </p:txBody>
      </p:sp>
      <p:sp>
        <p:nvSpPr>
          <p:cNvPr id="6" name="직사각형 5">
            <a:extLst>
              <a:ext uri="{FF2B5EF4-FFF2-40B4-BE49-F238E27FC236}">
                <a16:creationId xmlns:a16="http://schemas.microsoft.com/office/drawing/2014/main" id="{CFF08DD6-6897-4D9B-B13A-D2987CBCA43E}"/>
              </a:ext>
            </a:extLst>
          </p:cNvPr>
          <p:cNvSpPr/>
          <p:nvPr/>
        </p:nvSpPr>
        <p:spPr>
          <a:xfrm>
            <a:off x="947696" y="2290440"/>
            <a:ext cx="10738283" cy="1938992"/>
          </a:xfrm>
          <a:prstGeom prst="rect">
            <a:avLst/>
          </a:prstGeom>
        </p:spPr>
        <p:txBody>
          <a:bodyPr wrap="square">
            <a:spAutoFit/>
          </a:bodyPr>
          <a:lstStyle/>
          <a:p>
            <a:r>
              <a:rPr lang="en-US" sz="2400" dirty="0"/>
              <a:t>Unlike many attributes that remain unaltered across the numerous social contexts that entities participate, particular social relations exists only at specific time and place locales and either disappear or are suspended.</a:t>
            </a:r>
          </a:p>
          <a:p>
            <a:endParaRPr lang="en-US" sz="1600" dirty="0"/>
          </a:p>
          <a:p>
            <a:r>
              <a:rPr lang="en-US" sz="1600" dirty="0"/>
              <a:t>ex) teacher-student relation do not exist outside a school setting</a:t>
            </a:r>
          </a:p>
          <a:p>
            <a:r>
              <a:rPr lang="en-US" sz="1600" dirty="0"/>
              <a:t>      person’s gender, race, education status do not change regardless of the location </a:t>
            </a:r>
          </a:p>
        </p:txBody>
      </p:sp>
      <p:sp>
        <p:nvSpPr>
          <p:cNvPr id="7" name="직사각형 6">
            <a:extLst>
              <a:ext uri="{FF2B5EF4-FFF2-40B4-BE49-F238E27FC236}">
                <a16:creationId xmlns:a16="http://schemas.microsoft.com/office/drawing/2014/main" id="{841EFA9A-1646-4C8C-A675-EFF3DF2863DA}"/>
              </a:ext>
            </a:extLst>
          </p:cNvPr>
          <p:cNvSpPr/>
          <p:nvPr/>
        </p:nvSpPr>
        <p:spPr>
          <a:xfrm>
            <a:off x="947696" y="4404259"/>
            <a:ext cx="10738283" cy="1200329"/>
          </a:xfrm>
          <a:prstGeom prst="rect">
            <a:avLst/>
          </a:prstGeom>
        </p:spPr>
        <p:txBody>
          <a:bodyPr wrap="square">
            <a:spAutoFit/>
          </a:bodyPr>
          <a:lstStyle/>
          <a:p>
            <a:r>
              <a:rPr lang="en-US" sz="2400" dirty="0"/>
              <a:t>In conjecturing that patterned relations influence social entities apart from their attributes, network analysis claims to offer more comprehensive theoretical and empirical explanations of the sources of social action.</a:t>
            </a:r>
            <a:endParaRPr lang="en-US" sz="2400" b="1" i="1" dirty="0"/>
          </a:p>
        </p:txBody>
      </p:sp>
      <p:sp>
        <p:nvSpPr>
          <p:cNvPr id="2" name="직사각형 1">
            <a:extLst>
              <a:ext uri="{FF2B5EF4-FFF2-40B4-BE49-F238E27FC236}">
                <a16:creationId xmlns:a16="http://schemas.microsoft.com/office/drawing/2014/main" id="{DD7BF1FC-E8CD-4F31-B95A-ED0E12DFA04C}"/>
              </a:ext>
            </a:extLst>
          </p:cNvPr>
          <p:cNvSpPr/>
          <p:nvPr/>
        </p:nvSpPr>
        <p:spPr>
          <a:xfrm>
            <a:off x="947696" y="6019112"/>
            <a:ext cx="11441179" cy="584775"/>
          </a:xfrm>
          <a:prstGeom prst="rect">
            <a:avLst/>
          </a:prstGeom>
        </p:spPr>
        <p:txBody>
          <a:bodyPr wrap="square">
            <a:spAutoFit/>
          </a:bodyPr>
          <a:lstStyle/>
          <a:p>
            <a:r>
              <a:rPr lang="en-US" sz="1600" dirty="0"/>
              <a:t>ex) Elite families in the 15</a:t>
            </a:r>
            <a:r>
              <a:rPr lang="en-US" sz="1600" baseline="30000" dirty="0"/>
              <a:t>th</a:t>
            </a:r>
            <a:r>
              <a:rPr lang="en-US" sz="1600" dirty="0"/>
              <a:t> century Florence supported the rival Medici or political factions depended more on the ruling elite’s</a:t>
            </a:r>
            <a:br>
              <a:rPr lang="en-US" sz="1600" dirty="0"/>
            </a:br>
            <a:r>
              <a:rPr lang="en-US" sz="1600" dirty="0"/>
              <a:t>      economic, patronage, and marital relations than on their class and status attributes  (Padgett &amp; Ansell 1993)</a:t>
            </a:r>
          </a:p>
        </p:txBody>
      </p:sp>
    </p:spTree>
    <p:extLst>
      <p:ext uri="{BB962C8B-B14F-4D97-AF65-F5344CB8AC3E}">
        <p14:creationId xmlns:p14="http://schemas.microsoft.com/office/powerpoint/2010/main" val="734458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12451672" cy="1339388"/>
          </a:xfrm>
        </p:spPr>
        <p:txBody>
          <a:bodyPr>
            <a:normAutofit/>
          </a:bodyPr>
          <a:lstStyle/>
          <a:p>
            <a:r>
              <a:rPr lang="en-US" sz="3800" dirty="0"/>
              <a:t>Assumption 2</a:t>
            </a:r>
          </a:p>
        </p:txBody>
      </p:sp>
      <p:sp>
        <p:nvSpPr>
          <p:cNvPr id="4" name="직사각형 3">
            <a:extLst>
              <a:ext uri="{FF2B5EF4-FFF2-40B4-BE49-F238E27FC236}">
                <a16:creationId xmlns:a16="http://schemas.microsoft.com/office/drawing/2014/main" id="{4C2C6BA2-5B88-4692-833B-27E8DDA27143}"/>
              </a:ext>
            </a:extLst>
          </p:cNvPr>
          <p:cNvSpPr/>
          <p:nvPr/>
        </p:nvSpPr>
        <p:spPr>
          <a:xfrm>
            <a:off x="947696" y="1150599"/>
            <a:ext cx="10738283" cy="707886"/>
          </a:xfrm>
          <a:prstGeom prst="rect">
            <a:avLst/>
          </a:prstGeom>
        </p:spPr>
        <p:txBody>
          <a:bodyPr wrap="square">
            <a:spAutoFit/>
          </a:bodyPr>
          <a:lstStyle/>
          <a:p>
            <a:r>
              <a:rPr lang="en-US" sz="2000" b="1" dirty="0"/>
              <a:t>Social networks affect perceptions, beliefs and actions through a variety of structural mechanisms that are socially constructed by relations among entities. </a:t>
            </a:r>
            <a:endParaRPr lang="en-US" sz="2000" b="1" i="1" dirty="0"/>
          </a:p>
        </p:txBody>
      </p:sp>
      <p:sp>
        <p:nvSpPr>
          <p:cNvPr id="6" name="직사각형 5">
            <a:extLst>
              <a:ext uri="{FF2B5EF4-FFF2-40B4-BE49-F238E27FC236}">
                <a16:creationId xmlns:a16="http://schemas.microsoft.com/office/drawing/2014/main" id="{CFF08DD6-6897-4D9B-B13A-D2987CBCA43E}"/>
              </a:ext>
            </a:extLst>
          </p:cNvPr>
          <p:cNvSpPr/>
          <p:nvPr/>
        </p:nvSpPr>
        <p:spPr>
          <a:xfrm>
            <a:off x="947696" y="1968644"/>
            <a:ext cx="10738283" cy="4093428"/>
          </a:xfrm>
          <a:prstGeom prst="rect">
            <a:avLst/>
          </a:prstGeom>
        </p:spPr>
        <p:txBody>
          <a:bodyPr wrap="square">
            <a:spAutoFit/>
          </a:bodyPr>
          <a:lstStyle/>
          <a:p>
            <a:r>
              <a:rPr lang="en-US" sz="2000" dirty="0"/>
              <a:t>Direct contacts, and more intensive interactions dispose entities to better information, greater awareness and higher susceptibility to influencing or being influenced by others. </a:t>
            </a:r>
          </a:p>
          <a:p>
            <a:endParaRPr lang="en-US" sz="2000" dirty="0"/>
          </a:p>
          <a:p>
            <a:r>
              <a:rPr lang="en-US" sz="2000" dirty="0"/>
              <a:t>Indirect relations through intermediaries (broker connections) bring exposure to relatively new ideas and potential access to useful resources. </a:t>
            </a:r>
          </a:p>
          <a:p>
            <a:endParaRPr lang="en-US" sz="2000" dirty="0"/>
          </a:p>
          <a:p>
            <a:r>
              <a:rPr lang="en-US" sz="2000" dirty="0"/>
              <a:t>Network helps create interests, shared identities, and to promote shared norms and values by channeling information and resources to particular structural locations</a:t>
            </a:r>
          </a:p>
          <a:p>
            <a:endParaRPr lang="en-US" sz="2000" dirty="0"/>
          </a:p>
          <a:p>
            <a:r>
              <a:rPr lang="en-US" sz="2000" dirty="0"/>
              <a:t>Network analysis help uncovering the set of theoretical mechanisms where social relations affect social entities and to identify the contingent conditions under which specific mechanisms operate in particular empirical contexts</a:t>
            </a:r>
          </a:p>
          <a:p>
            <a:endParaRPr lang="en-US" sz="2000" dirty="0"/>
          </a:p>
        </p:txBody>
      </p:sp>
      <p:sp>
        <p:nvSpPr>
          <p:cNvPr id="2" name="직사각형 1">
            <a:extLst>
              <a:ext uri="{FF2B5EF4-FFF2-40B4-BE49-F238E27FC236}">
                <a16:creationId xmlns:a16="http://schemas.microsoft.com/office/drawing/2014/main" id="{DD7BF1FC-E8CD-4F31-B95A-ED0E12DFA04C}"/>
              </a:ext>
            </a:extLst>
          </p:cNvPr>
          <p:cNvSpPr/>
          <p:nvPr/>
        </p:nvSpPr>
        <p:spPr>
          <a:xfrm>
            <a:off x="947696" y="5849007"/>
            <a:ext cx="11441179" cy="830997"/>
          </a:xfrm>
          <a:prstGeom prst="rect">
            <a:avLst/>
          </a:prstGeom>
        </p:spPr>
        <p:txBody>
          <a:bodyPr wrap="square">
            <a:spAutoFit/>
          </a:bodyPr>
          <a:lstStyle/>
          <a:p>
            <a:r>
              <a:rPr lang="en-US" sz="1600" dirty="0"/>
              <a:t>ex) Individual physical and mental health depend substantially on social support networks </a:t>
            </a:r>
            <a:r>
              <a:rPr lang="en-US" sz="1400" dirty="0"/>
              <a:t>(Cohen et al., 1998)</a:t>
            </a:r>
          </a:p>
          <a:p>
            <a:r>
              <a:rPr lang="en-US" sz="1600" dirty="0"/>
              <a:t>       Spread of sexually transmitted infections in American cities </a:t>
            </a:r>
            <a:r>
              <a:rPr lang="en-US" sz="1400" dirty="0"/>
              <a:t>(Jolly, </a:t>
            </a:r>
            <a:r>
              <a:rPr lang="en-US" sz="1400" dirty="0" err="1"/>
              <a:t>Muth</a:t>
            </a:r>
            <a:r>
              <a:rPr lang="en-US" sz="1400" dirty="0"/>
              <a:t>, Wylie &amp; </a:t>
            </a:r>
            <a:r>
              <a:rPr lang="en-US" sz="1400" dirty="0" err="1"/>
              <a:t>Potterat</a:t>
            </a:r>
            <a:r>
              <a:rPr lang="en-US" sz="1400" dirty="0"/>
              <a:t>, 2001)</a:t>
            </a:r>
            <a:br>
              <a:rPr lang="en-US" sz="1400" dirty="0"/>
            </a:br>
            <a:r>
              <a:rPr lang="en-US" sz="1600" dirty="0"/>
              <a:t>      Operation of “Dark networks” for drug trafficking, immigrant smuggling, and terrorist campaigns </a:t>
            </a:r>
            <a:r>
              <a:rPr lang="en-US" sz="1400" dirty="0"/>
              <a:t>(</a:t>
            </a:r>
            <a:r>
              <a:rPr lang="en-US" sz="1400" dirty="0" err="1"/>
              <a:t>Raab</a:t>
            </a:r>
            <a:r>
              <a:rPr lang="en-US" sz="1400" dirty="0"/>
              <a:t> &amp; Milward, 2003)</a:t>
            </a:r>
          </a:p>
        </p:txBody>
      </p:sp>
    </p:spTree>
    <p:extLst>
      <p:ext uri="{BB962C8B-B14F-4D97-AF65-F5344CB8AC3E}">
        <p14:creationId xmlns:p14="http://schemas.microsoft.com/office/powerpoint/2010/main" val="3056696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12451672" cy="1339388"/>
          </a:xfrm>
        </p:spPr>
        <p:txBody>
          <a:bodyPr>
            <a:normAutofit/>
          </a:bodyPr>
          <a:lstStyle/>
          <a:p>
            <a:r>
              <a:rPr lang="en-US" sz="3800" dirty="0"/>
              <a:t>Assumption 3</a:t>
            </a:r>
          </a:p>
        </p:txBody>
      </p:sp>
      <p:sp>
        <p:nvSpPr>
          <p:cNvPr id="4" name="직사각형 3">
            <a:extLst>
              <a:ext uri="{FF2B5EF4-FFF2-40B4-BE49-F238E27FC236}">
                <a16:creationId xmlns:a16="http://schemas.microsoft.com/office/drawing/2014/main" id="{4C2C6BA2-5B88-4692-833B-27E8DDA27143}"/>
              </a:ext>
            </a:extLst>
          </p:cNvPr>
          <p:cNvSpPr/>
          <p:nvPr/>
        </p:nvSpPr>
        <p:spPr>
          <a:xfrm>
            <a:off x="947696" y="1150599"/>
            <a:ext cx="10738283" cy="400110"/>
          </a:xfrm>
          <a:prstGeom prst="rect">
            <a:avLst/>
          </a:prstGeom>
        </p:spPr>
        <p:txBody>
          <a:bodyPr wrap="square">
            <a:spAutoFit/>
          </a:bodyPr>
          <a:lstStyle/>
          <a:p>
            <a:r>
              <a:rPr lang="en-US" sz="2000" b="1" dirty="0"/>
              <a:t>Structural relations should be viewed as dynamic processes.  </a:t>
            </a:r>
            <a:endParaRPr lang="en-US" sz="2000" b="1" i="1" dirty="0"/>
          </a:p>
        </p:txBody>
      </p:sp>
      <p:sp>
        <p:nvSpPr>
          <p:cNvPr id="7" name="직사각형 6">
            <a:extLst>
              <a:ext uri="{FF2B5EF4-FFF2-40B4-BE49-F238E27FC236}">
                <a16:creationId xmlns:a16="http://schemas.microsoft.com/office/drawing/2014/main" id="{4B6C86AB-8A11-45A1-A064-CCAA4B5BB2A6}"/>
              </a:ext>
            </a:extLst>
          </p:cNvPr>
          <p:cNvSpPr/>
          <p:nvPr/>
        </p:nvSpPr>
        <p:spPr>
          <a:xfrm>
            <a:off x="947696" y="1638871"/>
            <a:ext cx="10738283" cy="3662541"/>
          </a:xfrm>
          <a:prstGeom prst="rect">
            <a:avLst/>
          </a:prstGeom>
        </p:spPr>
        <p:txBody>
          <a:bodyPr wrap="square">
            <a:spAutoFit/>
          </a:bodyPr>
          <a:lstStyle/>
          <a:p>
            <a:r>
              <a:rPr lang="en-US" sz="2000" dirty="0"/>
              <a:t>Networks are not static structures but continuously change through interactions among their constituent people, groups or organizations. </a:t>
            </a:r>
          </a:p>
          <a:p>
            <a:endParaRPr lang="en-US" sz="2000" i="1" dirty="0"/>
          </a:p>
          <a:p>
            <a:r>
              <a:rPr lang="en-US" sz="2000" dirty="0"/>
              <a:t>Network analysis encompasses both structures and entities, thus it provides conceptual and methodological tools for linking changes in micro-level choices to macro level structural alterations.</a:t>
            </a:r>
          </a:p>
          <a:p>
            <a:endParaRPr lang="en-US" sz="2000" dirty="0"/>
          </a:p>
          <a:p>
            <a:r>
              <a:rPr lang="en-US" sz="2000" dirty="0"/>
              <a:t>The cross-level dynamic processes are still in development and notable things is that longitudinal network datasets are continuing to proliferate as well as its methods for conceptualization and investigation of changes in network</a:t>
            </a:r>
          </a:p>
          <a:p>
            <a:endParaRPr lang="en-US" sz="2000" dirty="0"/>
          </a:p>
          <a:p>
            <a:r>
              <a:rPr lang="en-US" sz="1600" dirty="0"/>
              <a:t>Ex. ) COMPARING NETWORKS ACROSS SPACE AND TIME, SIZE AND SPECIES, Faust, </a:t>
            </a:r>
            <a:r>
              <a:rPr lang="en-US" sz="1600" dirty="0" err="1"/>
              <a:t>Skvoretz</a:t>
            </a:r>
            <a:r>
              <a:rPr lang="en-US" sz="1600" dirty="0"/>
              <a:t>, 2002</a:t>
            </a:r>
          </a:p>
          <a:p>
            <a:r>
              <a:rPr lang="en-US" sz="1600" dirty="0"/>
              <a:t>         Statistical Analysis of Longitudinal Network Data with Changing Composition. </a:t>
            </a:r>
            <a:r>
              <a:rPr lang="en-US" sz="1600" dirty="0" err="1"/>
              <a:t>Snijders</a:t>
            </a:r>
            <a:r>
              <a:rPr lang="en-US" sz="1600" dirty="0"/>
              <a:t>, Huisman, 2007</a:t>
            </a:r>
          </a:p>
        </p:txBody>
      </p:sp>
    </p:spTree>
    <p:extLst>
      <p:ext uri="{BB962C8B-B14F-4D97-AF65-F5344CB8AC3E}">
        <p14:creationId xmlns:p14="http://schemas.microsoft.com/office/powerpoint/2010/main" val="3871883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4951603" cy="1255990"/>
          </a:xfrm>
        </p:spPr>
        <p:txBody>
          <a:bodyPr>
            <a:normAutofit/>
          </a:bodyPr>
          <a:lstStyle/>
          <a:p>
            <a:r>
              <a:rPr lang="en-US" sz="3800" dirty="0"/>
              <a:t>2. Actors and Relations</a:t>
            </a:r>
          </a:p>
        </p:txBody>
      </p:sp>
      <p:sp>
        <p:nvSpPr>
          <p:cNvPr id="7" name="직사각형 6">
            <a:extLst>
              <a:ext uri="{FF2B5EF4-FFF2-40B4-BE49-F238E27FC236}">
                <a16:creationId xmlns:a16="http://schemas.microsoft.com/office/drawing/2014/main" id="{4B6C86AB-8A11-45A1-A064-CCAA4B5BB2A6}"/>
              </a:ext>
            </a:extLst>
          </p:cNvPr>
          <p:cNvSpPr/>
          <p:nvPr/>
        </p:nvSpPr>
        <p:spPr>
          <a:xfrm>
            <a:off x="417252" y="1136975"/>
            <a:ext cx="11524038" cy="400110"/>
          </a:xfrm>
          <a:prstGeom prst="rect">
            <a:avLst/>
          </a:prstGeom>
        </p:spPr>
        <p:txBody>
          <a:bodyPr wrap="square">
            <a:spAutoFit/>
          </a:bodyPr>
          <a:lstStyle/>
          <a:p>
            <a:r>
              <a:rPr lang="en-US" sz="2000" dirty="0"/>
              <a:t>Any networks, including social networks consist of at least two indispensable elements</a:t>
            </a:r>
            <a:r>
              <a:rPr lang="en-US" sz="2000" b="1" dirty="0"/>
              <a:t>: actors and relations</a:t>
            </a:r>
          </a:p>
        </p:txBody>
      </p:sp>
      <p:sp>
        <p:nvSpPr>
          <p:cNvPr id="6" name="제목 4">
            <a:extLst>
              <a:ext uri="{FF2B5EF4-FFF2-40B4-BE49-F238E27FC236}">
                <a16:creationId xmlns:a16="http://schemas.microsoft.com/office/drawing/2014/main" id="{0FBF93B5-511C-4DC7-876C-75D2E44EC1F1}"/>
              </a:ext>
            </a:extLst>
          </p:cNvPr>
          <p:cNvSpPr txBox="1">
            <a:spLocks/>
          </p:cNvSpPr>
          <p:nvPr/>
        </p:nvSpPr>
        <p:spPr>
          <a:xfrm>
            <a:off x="417252" y="1830048"/>
            <a:ext cx="1187471" cy="40011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Actors</a:t>
            </a:r>
          </a:p>
        </p:txBody>
      </p:sp>
      <p:sp>
        <p:nvSpPr>
          <p:cNvPr id="8" name="직사각형 7">
            <a:extLst>
              <a:ext uri="{FF2B5EF4-FFF2-40B4-BE49-F238E27FC236}">
                <a16:creationId xmlns:a16="http://schemas.microsoft.com/office/drawing/2014/main" id="{1F4AA25E-BA1F-4391-BCAD-F313E9F3593B}"/>
              </a:ext>
            </a:extLst>
          </p:cNvPr>
          <p:cNvSpPr/>
          <p:nvPr/>
        </p:nvSpPr>
        <p:spPr>
          <a:xfrm>
            <a:off x="417252" y="2230158"/>
            <a:ext cx="11524038" cy="1200329"/>
          </a:xfrm>
          <a:prstGeom prst="rect">
            <a:avLst/>
          </a:prstGeom>
        </p:spPr>
        <p:txBody>
          <a:bodyPr wrap="square">
            <a:spAutoFit/>
          </a:bodyPr>
          <a:lstStyle/>
          <a:p>
            <a:r>
              <a:rPr lang="en-US" sz="2000" dirty="0"/>
              <a:t>Individual natural persons, or collectivities such as informal groups, or formal organizations. Actors are the subjects that consist the network</a:t>
            </a:r>
          </a:p>
          <a:p>
            <a:br>
              <a:rPr lang="en-US" sz="1600" dirty="0"/>
            </a:br>
            <a:r>
              <a:rPr lang="en-US" sz="1600" dirty="0"/>
              <a:t>ex) Charities, political parties, children, residents of nursing home, high school students attending a prom, </a:t>
            </a:r>
            <a:r>
              <a:rPr lang="en-US" sz="1600" dirty="0" err="1"/>
              <a:t>etc</a:t>
            </a:r>
            <a:endParaRPr lang="en-US" sz="1400" dirty="0"/>
          </a:p>
        </p:txBody>
      </p:sp>
      <p:sp>
        <p:nvSpPr>
          <p:cNvPr id="9" name="제목 4">
            <a:extLst>
              <a:ext uri="{FF2B5EF4-FFF2-40B4-BE49-F238E27FC236}">
                <a16:creationId xmlns:a16="http://schemas.microsoft.com/office/drawing/2014/main" id="{FC45BF0A-DD0B-4256-82EE-108ECDD7CD7F}"/>
              </a:ext>
            </a:extLst>
          </p:cNvPr>
          <p:cNvSpPr txBox="1">
            <a:spLocks/>
          </p:cNvSpPr>
          <p:nvPr/>
        </p:nvSpPr>
        <p:spPr>
          <a:xfrm>
            <a:off x="417252" y="3830597"/>
            <a:ext cx="1500325" cy="40011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Relations</a:t>
            </a:r>
          </a:p>
        </p:txBody>
      </p:sp>
      <p:sp>
        <p:nvSpPr>
          <p:cNvPr id="10" name="직사각형 9">
            <a:extLst>
              <a:ext uri="{FF2B5EF4-FFF2-40B4-BE49-F238E27FC236}">
                <a16:creationId xmlns:a16="http://schemas.microsoft.com/office/drawing/2014/main" id="{2DEC42BB-BFB2-4EE1-AFC3-D973C7CE8587}"/>
              </a:ext>
            </a:extLst>
          </p:cNvPr>
          <p:cNvSpPr/>
          <p:nvPr/>
        </p:nvSpPr>
        <p:spPr>
          <a:xfrm>
            <a:off x="417252" y="4281328"/>
            <a:ext cx="11524038" cy="1200329"/>
          </a:xfrm>
          <a:prstGeom prst="rect">
            <a:avLst/>
          </a:prstGeom>
        </p:spPr>
        <p:txBody>
          <a:bodyPr wrap="square">
            <a:spAutoFit/>
          </a:bodyPr>
          <a:lstStyle/>
          <a:p>
            <a:r>
              <a:rPr lang="en-US" sz="2000" dirty="0"/>
              <a:t>Specific kind of contact, connection or tie between </a:t>
            </a:r>
            <a:r>
              <a:rPr lang="en-US" sz="2000" b="1" dirty="0"/>
              <a:t>a pair of actors</a:t>
            </a:r>
            <a:r>
              <a:rPr lang="en-US" sz="2000" dirty="0"/>
              <a:t> (</a:t>
            </a:r>
            <a:r>
              <a:rPr lang="en-US" sz="2000" i="1" dirty="0"/>
              <a:t>dyad</a:t>
            </a:r>
            <a:r>
              <a:rPr lang="en-US" sz="2000" dirty="0"/>
              <a:t>). Relations may be either </a:t>
            </a:r>
            <a:r>
              <a:rPr lang="en-US" sz="2000" b="1" dirty="0"/>
              <a:t>directed</a:t>
            </a:r>
            <a:r>
              <a:rPr lang="en-US" sz="2000" dirty="0"/>
              <a:t>, where the sender and receiver can be clarified or </a:t>
            </a:r>
            <a:r>
              <a:rPr lang="en-US" sz="2000" b="1" dirty="0"/>
              <a:t>nondirected</a:t>
            </a:r>
            <a:r>
              <a:rPr lang="en-US" sz="2000" dirty="0"/>
              <a:t>, where mutuality occurs.</a:t>
            </a:r>
          </a:p>
          <a:p>
            <a:br>
              <a:rPr lang="en-US" sz="1600" dirty="0"/>
            </a:br>
            <a:r>
              <a:rPr lang="en-US" sz="1600" dirty="0"/>
              <a:t>ex) Friendship, sue, collaboration, exchange, trust, backstab, </a:t>
            </a:r>
            <a:endParaRPr lang="en-US" sz="1400" dirty="0"/>
          </a:p>
        </p:txBody>
      </p:sp>
      <p:grpSp>
        <p:nvGrpSpPr>
          <p:cNvPr id="25" name="그룹 24">
            <a:extLst>
              <a:ext uri="{FF2B5EF4-FFF2-40B4-BE49-F238E27FC236}">
                <a16:creationId xmlns:a16="http://schemas.microsoft.com/office/drawing/2014/main" id="{CC2010DC-B754-4CA3-8839-E808852266E6}"/>
              </a:ext>
            </a:extLst>
          </p:cNvPr>
          <p:cNvGrpSpPr/>
          <p:nvPr/>
        </p:nvGrpSpPr>
        <p:grpSpPr>
          <a:xfrm>
            <a:off x="7059352" y="5087652"/>
            <a:ext cx="4268556" cy="1532855"/>
            <a:chOff x="7696940" y="5316611"/>
            <a:chExt cx="3630967" cy="1303894"/>
          </a:xfrm>
        </p:grpSpPr>
        <p:sp>
          <p:nvSpPr>
            <p:cNvPr id="2" name="타원 1">
              <a:extLst>
                <a:ext uri="{FF2B5EF4-FFF2-40B4-BE49-F238E27FC236}">
                  <a16:creationId xmlns:a16="http://schemas.microsoft.com/office/drawing/2014/main" id="{77B345F1-21D0-449E-BCBA-DCE4221C403C}"/>
                </a:ext>
              </a:extLst>
            </p:cNvPr>
            <p:cNvSpPr/>
            <p:nvPr/>
          </p:nvSpPr>
          <p:spPr>
            <a:xfrm>
              <a:off x="7945515" y="5532278"/>
              <a:ext cx="541538" cy="5415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1" name="타원 10">
              <a:extLst>
                <a:ext uri="{FF2B5EF4-FFF2-40B4-BE49-F238E27FC236}">
                  <a16:creationId xmlns:a16="http://schemas.microsoft.com/office/drawing/2014/main" id="{AA243A57-B151-4FCA-A169-5BF6984782F6}"/>
                </a:ext>
              </a:extLst>
            </p:cNvPr>
            <p:cNvSpPr/>
            <p:nvPr/>
          </p:nvSpPr>
          <p:spPr>
            <a:xfrm>
              <a:off x="10520039" y="5532278"/>
              <a:ext cx="541538" cy="5415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직선 화살표 연결선 11">
              <a:extLst>
                <a:ext uri="{FF2B5EF4-FFF2-40B4-BE49-F238E27FC236}">
                  <a16:creationId xmlns:a16="http://schemas.microsoft.com/office/drawing/2014/main" id="{0EC702DD-6EDD-4507-8D19-08307CBF59E5}"/>
                </a:ext>
              </a:extLst>
            </p:cNvPr>
            <p:cNvCxnSpPr/>
            <p:nvPr/>
          </p:nvCxnSpPr>
          <p:spPr>
            <a:xfrm>
              <a:off x="8611340" y="5803047"/>
              <a:ext cx="178441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직사각형 13">
              <a:extLst>
                <a:ext uri="{FF2B5EF4-FFF2-40B4-BE49-F238E27FC236}">
                  <a16:creationId xmlns:a16="http://schemas.microsoft.com/office/drawing/2014/main" id="{6C8FD312-30F0-4C46-BE43-25F475C7BD60}"/>
                </a:ext>
              </a:extLst>
            </p:cNvPr>
            <p:cNvSpPr/>
            <p:nvPr/>
          </p:nvSpPr>
          <p:spPr>
            <a:xfrm>
              <a:off x="9209972" y="6281951"/>
              <a:ext cx="587148" cy="338554"/>
            </a:xfrm>
            <a:prstGeom prst="rect">
              <a:avLst/>
            </a:prstGeom>
          </p:spPr>
          <p:txBody>
            <a:bodyPr wrap="none">
              <a:spAutoFit/>
            </a:bodyPr>
            <a:lstStyle/>
            <a:p>
              <a:r>
                <a:rPr lang="en-US" sz="1600" dirty="0"/>
                <a:t>dyad</a:t>
              </a:r>
            </a:p>
          </p:txBody>
        </p:sp>
        <p:sp>
          <p:nvSpPr>
            <p:cNvPr id="15" name="직사각형 14">
              <a:extLst>
                <a:ext uri="{FF2B5EF4-FFF2-40B4-BE49-F238E27FC236}">
                  <a16:creationId xmlns:a16="http://schemas.microsoft.com/office/drawing/2014/main" id="{3328EE19-0369-4BCA-BE1D-F9061EB54A3A}"/>
                </a:ext>
              </a:extLst>
            </p:cNvPr>
            <p:cNvSpPr/>
            <p:nvPr/>
          </p:nvSpPr>
          <p:spPr>
            <a:xfrm>
              <a:off x="7696940" y="5326602"/>
              <a:ext cx="3630967" cy="9553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직사각형 15">
              <a:extLst>
                <a:ext uri="{FF2B5EF4-FFF2-40B4-BE49-F238E27FC236}">
                  <a16:creationId xmlns:a16="http://schemas.microsoft.com/office/drawing/2014/main" id="{DAEFB14C-6A13-4E49-A561-2AF75F1EA97E}"/>
                </a:ext>
              </a:extLst>
            </p:cNvPr>
            <p:cNvSpPr/>
            <p:nvPr/>
          </p:nvSpPr>
          <p:spPr>
            <a:xfrm>
              <a:off x="8000180" y="5680726"/>
              <a:ext cx="524631" cy="276999"/>
            </a:xfrm>
            <a:prstGeom prst="rect">
              <a:avLst/>
            </a:prstGeom>
            <a:noFill/>
          </p:spPr>
          <p:txBody>
            <a:bodyPr wrap="none">
              <a:spAutoFit/>
            </a:bodyPr>
            <a:lstStyle/>
            <a:p>
              <a:r>
                <a:rPr lang="en-US" sz="1200" dirty="0">
                  <a:solidFill>
                    <a:schemeClr val="bg1"/>
                  </a:solidFill>
                </a:rPr>
                <a:t>Actor</a:t>
              </a:r>
              <a:endParaRPr lang="en-US" sz="1600" dirty="0">
                <a:solidFill>
                  <a:schemeClr val="bg1"/>
                </a:solidFill>
              </a:endParaRPr>
            </a:p>
          </p:txBody>
        </p:sp>
        <p:sp>
          <p:nvSpPr>
            <p:cNvPr id="17" name="직사각형 16">
              <a:extLst>
                <a:ext uri="{FF2B5EF4-FFF2-40B4-BE49-F238E27FC236}">
                  <a16:creationId xmlns:a16="http://schemas.microsoft.com/office/drawing/2014/main" id="{7EE75E41-89F2-464D-81BA-FE7BB9FA8072}"/>
                </a:ext>
              </a:extLst>
            </p:cNvPr>
            <p:cNvSpPr/>
            <p:nvPr/>
          </p:nvSpPr>
          <p:spPr>
            <a:xfrm>
              <a:off x="10583530" y="5680726"/>
              <a:ext cx="524631" cy="276999"/>
            </a:xfrm>
            <a:prstGeom prst="rect">
              <a:avLst/>
            </a:prstGeom>
            <a:noFill/>
          </p:spPr>
          <p:txBody>
            <a:bodyPr wrap="none">
              <a:spAutoFit/>
            </a:bodyPr>
            <a:lstStyle/>
            <a:p>
              <a:r>
                <a:rPr lang="en-US" sz="1200" dirty="0">
                  <a:solidFill>
                    <a:schemeClr val="bg1"/>
                  </a:solidFill>
                </a:rPr>
                <a:t>Actor</a:t>
              </a:r>
              <a:endParaRPr lang="en-US" sz="1600" dirty="0">
                <a:solidFill>
                  <a:schemeClr val="bg1"/>
                </a:solidFill>
              </a:endParaRPr>
            </a:p>
          </p:txBody>
        </p:sp>
        <p:sp>
          <p:nvSpPr>
            <p:cNvPr id="20" name="직사각형 19">
              <a:extLst>
                <a:ext uri="{FF2B5EF4-FFF2-40B4-BE49-F238E27FC236}">
                  <a16:creationId xmlns:a16="http://schemas.microsoft.com/office/drawing/2014/main" id="{A7BD862E-76C2-4E60-8434-6BE106645761}"/>
                </a:ext>
              </a:extLst>
            </p:cNvPr>
            <p:cNvSpPr/>
            <p:nvPr/>
          </p:nvSpPr>
          <p:spPr>
            <a:xfrm>
              <a:off x="9052214" y="5765500"/>
              <a:ext cx="954813" cy="276999"/>
            </a:xfrm>
            <a:prstGeom prst="rect">
              <a:avLst/>
            </a:prstGeom>
            <a:noFill/>
          </p:spPr>
          <p:txBody>
            <a:bodyPr wrap="none">
              <a:spAutoFit/>
            </a:bodyPr>
            <a:lstStyle/>
            <a:p>
              <a:r>
                <a:rPr lang="en-US" sz="1200" dirty="0"/>
                <a:t>Relationship</a:t>
              </a:r>
              <a:endParaRPr lang="en-US" sz="1600" dirty="0"/>
            </a:p>
          </p:txBody>
        </p:sp>
        <p:sp>
          <p:nvSpPr>
            <p:cNvPr id="21" name="타원 20">
              <a:extLst>
                <a:ext uri="{FF2B5EF4-FFF2-40B4-BE49-F238E27FC236}">
                  <a16:creationId xmlns:a16="http://schemas.microsoft.com/office/drawing/2014/main" id="{511DC9FB-2549-4A99-A96A-287DF9D82882}"/>
                </a:ext>
              </a:extLst>
            </p:cNvPr>
            <p:cNvSpPr/>
            <p:nvPr/>
          </p:nvSpPr>
          <p:spPr>
            <a:xfrm>
              <a:off x="10173809" y="5664547"/>
              <a:ext cx="266806" cy="27699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직선 연결선 22">
              <a:extLst>
                <a:ext uri="{FF2B5EF4-FFF2-40B4-BE49-F238E27FC236}">
                  <a16:creationId xmlns:a16="http://schemas.microsoft.com/office/drawing/2014/main" id="{ECAD08DC-BA25-4764-881F-65C48B0497E5}"/>
                </a:ext>
              </a:extLst>
            </p:cNvPr>
            <p:cNvCxnSpPr>
              <a:stCxn id="21" idx="1"/>
            </p:cNvCxnSpPr>
            <p:nvPr/>
          </p:nvCxnSpPr>
          <p:spPr>
            <a:xfrm flipH="1" flipV="1">
              <a:off x="9977943" y="5532278"/>
              <a:ext cx="234939" cy="172834"/>
            </a:xfrm>
            <a:prstGeom prst="line">
              <a:avLst/>
            </a:prstGeom>
          </p:spPr>
          <p:style>
            <a:lnRef idx="1">
              <a:schemeClr val="accent1"/>
            </a:lnRef>
            <a:fillRef idx="0">
              <a:schemeClr val="accent1"/>
            </a:fillRef>
            <a:effectRef idx="0">
              <a:schemeClr val="accent1"/>
            </a:effectRef>
            <a:fontRef idx="minor">
              <a:schemeClr val="tx1"/>
            </a:fontRef>
          </p:style>
        </p:cxnSp>
        <p:sp>
          <p:nvSpPr>
            <p:cNvPr id="24" name="직사각형 23">
              <a:extLst>
                <a:ext uri="{FF2B5EF4-FFF2-40B4-BE49-F238E27FC236}">
                  <a16:creationId xmlns:a16="http://schemas.microsoft.com/office/drawing/2014/main" id="{346BC333-C47D-4A78-90D1-B8F85C5CE338}"/>
                </a:ext>
              </a:extLst>
            </p:cNvPr>
            <p:cNvSpPr/>
            <p:nvPr/>
          </p:nvSpPr>
          <p:spPr>
            <a:xfrm>
              <a:off x="9503545" y="5316611"/>
              <a:ext cx="714747" cy="276999"/>
            </a:xfrm>
            <a:prstGeom prst="rect">
              <a:avLst/>
            </a:prstGeom>
            <a:noFill/>
          </p:spPr>
          <p:txBody>
            <a:bodyPr wrap="none">
              <a:spAutoFit/>
            </a:bodyPr>
            <a:lstStyle/>
            <a:p>
              <a:r>
                <a:rPr lang="en-US" sz="1200" dirty="0"/>
                <a:t>Directed</a:t>
              </a:r>
              <a:endParaRPr lang="en-US" sz="1600" dirty="0"/>
            </a:p>
          </p:txBody>
        </p:sp>
      </p:grpSp>
    </p:spTree>
    <p:extLst>
      <p:ext uri="{BB962C8B-B14F-4D97-AF65-F5344CB8AC3E}">
        <p14:creationId xmlns:p14="http://schemas.microsoft.com/office/powerpoint/2010/main" val="4002489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7224286" cy="1255990"/>
          </a:xfrm>
        </p:spPr>
        <p:txBody>
          <a:bodyPr>
            <a:normAutofit/>
          </a:bodyPr>
          <a:lstStyle/>
          <a:p>
            <a:r>
              <a:rPr lang="en-US" sz="3800" dirty="0"/>
              <a:t>Actors and Relations </a:t>
            </a:r>
            <a:r>
              <a:rPr lang="en-US" sz="2800" dirty="0"/>
              <a:t>-</a:t>
            </a:r>
            <a:r>
              <a:rPr lang="en-US" sz="3800" dirty="0"/>
              <a:t> </a:t>
            </a:r>
            <a:r>
              <a:rPr lang="en-US" sz="2800" i="1" dirty="0"/>
              <a:t>Continued</a:t>
            </a:r>
            <a:endParaRPr lang="en-US" sz="3800" i="1" dirty="0"/>
          </a:p>
        </p:txBody>
      </p:sp>
      <p:sp>
        <p:nvSpPr>
          <p:cNvPr id="7" name="직사각형 6">
            <a:extLst>
              <a:ext uri="{FF2B5EF4-FFF2-40B4-BE49-F238E27FC236}">
                <a16:creationId xmlns:a16="http://schemas.microsoft.com/office/drawing/2014/main" id="{4B6C86AB-8A11-45A1-A064-CCAA4B5BB2A6}"/>
              </a:ext>
            </a:extLst>
          </p:cNvPr>
          <p:cNvSpPr/>
          <p:nvPr/>
        </p:nvSpPr>
        <p:spPr>
          <a:xfrm>
            <a:off x="159798" y="1136975"/>
            <a:ext cx="12032202" cy="4216539"/>
          </a:xfrm>
          <a:prstGeom prst="rect">
            <a:avLst/>
          </a:prstGeom>
        </p:spPr>
        <p:txBody>
          <a:bodyPr wrap="square">
            <a:spAutoFit/>
          </a:bodyPr>
          <a:lstStyle/>
          <a:p>
            <a:r>
              <a:rPr lang="en-US" sz="2000" dirty="0"/>
              <a:t>Social researches tend to rely heavily on measuring and analyzing the attributes of actors as the units of analysis, whether through survey or experimental data collection. (Remember assumption 1)</a:t>
            </a:r>
          </a:p>
          <a:p>
            <a:endParaRPr lang="en-US" sz="2000" dirty="0"/>
          </a:p>
          <a:p>
            <a:r>
              <a:rPr lang="en-US" sz="2000" dirty="0"/>
              <a:t>Attributes and relations are conceptually distinct approaches to investigating social behavior, but they should not be seen as mutually exclusive options. Many </a:t>
            </a:r>
            <a:r>
              <a:rPr lang="en-US" sz="2000" b="1" dirty="0"/>
              <a:t>actor attributes can be</a:t>
            </a:r>
            <a:r>
              <a:rPr lang="en-US" sz="2000" dirty="0"/>
              <a:t> </a:t>
            </a:r>
            <a:r>
              <a:rPr lang="en-US" sz="2000" b="1" dirty="0"/>
              <a:t>reconceptualized as relations </a:t>
            </a:r>
            <a:r>
              <a:rPr lang="en-US" sz="2000" dirty="0"/>
              <a:t>among dyads.</a:t>
            </a:r>
          </a:p>
          <a:p>
            <a:endParaRPr lang="en-US" sz="2000" dirty="0"/>
          </a:p>
          <a:p>
            <a:endParaRPr lang="en-US" sz="1600" dirty="0"/>
          </a:p>
          <a:p>
            <a:pPr marL="285750" indent="-285750">
              <a:buFont typeface="Arial" panose="020B0604020202020204" pitchFamily="34" charset="0"/>
              <a:buChar char="•"/>
            </a:pPr>
            <a:r>
              <a:rPr lang="en-US" sz="1600" dirty="0"/>
              <a:t>Number of friends in child </a:t>
            </a:r>
            <a:r>
              <a:rPr lang="en-US" sz="1600" dirty="0">
                <a:sym typeface="Wingdings" panose="05000000000000000000" pitchFamily="2" charset="2"/>
              </a:rPr>
              <a:t> analysis of all dyadic friendship choices can uncover important cliques and clusters</a:t>
            </a:r>
          </a:p>
          <a:p>
            <a:pPr marL="285750" indent="-285750">
              <a:buFont typeface="Arial" panose="020B0604020202020204" pitchFamily="34" charset="0"/>
              <a:buChar char="•"/>
            </a:pPr>
            <a:endParaRPr lang="en-US" sz="1600" dirty="0">
              <a:sym typeface="Wingdings" panose="05000000000000000000" pitchFamily="2" charset="2"/>
            </a:endParaRPr>
          </a:p>
          <a:p>
            <a:pPr marL="285750" indent="-285750">
              <a:buFont typeface="Arial" panose="020B0604020202020204" pitchFamily="34" charset="0"/>
              <a:buChar char="•"/>
            </a:pPr>
            <a:r>
              <a:rPr lang="en-US" sz="1600" dirty="0">
                <a:sym typeface="Wingdings" panose="05000000000000000000" pitchFamily="2" charset="2"/>
              </a:rPr>
              <a:t>Baseball team’s aggregate won &amp; lost record  ratios of victory to defeat for each pair of teams may reveal the subtleties in a league’s power structure</a:t>
            </a:r>
          </a:p>
          <a:p>
            <a:pPr marL="285750" indent="-285750">
              <a:buFont typeface="Arial" panose="020B0604020202020204" pitchFamily="34" charset="0"/>
              <a:buChar char="•"/>
            </a:pPr>
            <a:endParaRPr lang="en-US" sz="1600" dirty="0">
              <a:sym typeface="Wingdings" panose="05000000000000000000" pitchFamily="2" charset="2"/>
            </a:endParaRPr>
          </a:p>
          <a:p>
            <a:pPr marL="285750" indent="-285750">
              <a:buFont typeface="Arial" panose="020B0604020202020204" pitchFamily="34" charset="0"/>
              <a:buChar char="•"/>
            </a:pPr>
            <a:r>
              <a:rPr lang="en-US" sz="1600" dirty="0">
                <a:sym typeface="Wingdings" panose="05000000000000000000" pitchFamily="2" charset="2"/>
              </a:rPr>
              <a:t>Nation’s annual volumes of exports and imports  Amount of exchanges between each national dyad represents the structure of trading networks</a:t>
            </a:r>
          </a:p>
          <a:p>
            <a:pPr marL="285750" indent="-285750">
              <a:buFont typeface="Arial" panose="020B0604020202020204" pitchFamily="34" charset="0"/>
              <a:buChar char="•"/>
            </a:pPr>
            <a:endParaRPr lang="en-US" sz="2000" dirty="0"/>
          </a:p>
        </p:txBody>
      </p:sp>
      <p:sp>
        <p:nvSpPr>
          <p:cNvPr id="3" name="직사각형 2">
            <a:extLst>
              <a:ext uri="{FF2B5EF4-FFF2-40B4-BE49-F238E27FC236}">
                <a16:creationId xmlns:a16="http://schemas.microsoft.com/office/drawing/2014/main" id="{61B659F4-7B9E-46D2-AEF9-C8B6318BD549}"/>
              </a:ext>
            </a:extLst>
          </p:cNvPr>
          <p:cNvSpPr/>
          <p:nvPr/>
        </p:nvSpPr>
        <p:spPr>
          <a:xfrm>
            <a:off x="248574" y="5238077"/>
            <a:ext cx="10129421" cy="1538883"/>
          </a:xfrm>
          <a:prstGeom prst="rect">
            <a:avLst/>
          </a:prstGeom>
        </p:spPr>
        <p:txBody>
          <a:bodyPr wrap="square">
            <a:spAutoFit/>
          </a:bodyPr>
          <a:lstStyle/>
          <a:p>
            <a:r>
              <a:rPr lang="en-US" sz="2000" dirty="0"/>
              <a:t>Relations reflect emergent dimensions of complex social systems that cannot be captured by simple statistics of actor attributes. </a:t>
            </a:r>
          </a:p>
          <a:p>
            <a:endParaRPr lang="en-US" dirty="0"/>
          </a:p>
          <a:p>
            <a:r>
              <a:rPr lang="en-US" dirty="0"/>
              <a:t>When performing network analysis, exclusive focus on actor attributes loses many important explanatory insights provided by network perspectives on social behavior.</a:t>
            </a:r>
          </a:p>
        </p:txBody>
      </p:sp>
    </p:spTree>
    <p:extLst>
      <p:ext uri="{BB962C8B-B14F-4D97-AF65-F5344CB8AC3E}">
        <p14:creationId xmlns:p14="http://schemas.microsoft.com/office/powerpoint/2010/main" val="1504865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7224286" cy="1255990"/>
          </a:xfrm>
        </p:spPr>
        <p:txBody>
          <a:bodyPr>
            <a:normAutofit/>
          </a:bodyPr>
          <a:lstStyle/>
          <a:p>
            <a:r>
              <a:rPr lang="en-US" sz="3800" dirty="0"/>
              <a:t>3. Networks</a:t>
            </a:r>
            <a:endParaRPr lang="en-US" sz="3800" i="1" dirty="0"/>
          </a:p>
        </p:txBody>
      </p:sp>
      <p:sp>
        <p:nvSpPr>
          <p:cNvPr id="3" name="직사각형 2">
            <a:extLst>
              <a:ext uri="{FF2B5EF4-FFF2-40B4-BE49-F238E27FC236}">
                <a16:creationId xmlns:a16="http://schemas.microsoft.com/office/drawing/2014/main" id="{61B659F4-7B9E-46D2-AEF9-C8B6318BD549}"/>
              </a:ext>
            </a:extLst>
          </p:cNvPr>
          <p:cNvSpPr/>
          <p:nvPr/>
        </p:nvSpPr>
        <p:spPr>
          <a:xfrm>
            <a:off x="118368" y="1337030"/>
            <a:ext cx="12073632" cy="4339650"/>
          </a:xfrm>
          <a:prstGeom prst="rect">
            <a:avLst/>
          </a:prstGeom>
        </p:spPr>
        <p:txBody>
          <a:bodyPr wrap="square">
            <a:spAutoFit/>
          </a:bodyPr>
          <a:lstStyle/>
          <a:p>
            <a:r>
              <a:rPr lang="en-US" sz="2000" b="1" dirty="0"/>
              <a:t>Social Network </a:t>
            </a:r>
            <a:r>
              <a:rPr lang="en-US" sz="2000" dirty="0"/>
              <a:t>is a structure composed of a set of actors, some of whose members are connected by a set of one or more relations. The first researcher credited with using the term was Joh A. Barnes (1954). Barnes viewed social interactions as “set of points some of which are joined by lines” to form “total network” or relations, whereas informal set of personal relations was viewed as “partial network” within this totality. </a:t>
            </a:r>
          </a:p>
          <a:p>
            <a:endParaRPr lang="en-US" sz="2000" dirty="0"/>
          </a:p>
          <a:p>
            <a:r>
              <a:rPr lang="en-US" sz="2000" dirty="0"/>
              <a:t>Social Structures can be represented as networks; as sets of </a:t>
            </a:r>
            <a:r>
              <a:rPr lang="en-US" sz="2000" b="1" dirty="0"/>
              <a:t>nodes</a:t>
            </a:r>
            <a:r>
              <a:rPr lang="en-US" sz="2000" dirty="0"/>
              <a:t> (or social system members) and sets of </a:t>
            </a:r>
            <a:r>
              <a:rPr lang="en-US" sz="2000" b="1" dirty="0"/>
              <a:t>ties</a:t>
            </a:r>
            <a:r>
              <a:rPr lang="en-US" sz="2000" dirty="0"/>
              <a:t> depicting their interconnections </a:t>
            </a:r>
            <a:r>
              <a:rPr lang="en-US" sz="1600" dirty="0"/>
              <a:t>(Wellman &amp; Berkowitz, 1988, p. 4)</a:t>
            </a:r>
          </a:p>
          <a:p>
            <a:endParaRPr lang="en-US" sz="1600" dirty="0"/>
          </a:p>
          <a:p>
            <a:r>
              <a:rPr lang="en-US" sz="2000" dirty="0"/>
              <a:t>A configuration of empirical relations among concrete entities identifies a specific </a:t>
            </a:r>
            <a:r>
              <a:rPr lang="en-US" sz="2000" b="1" dirty="0"/>
              <a:t>network structure, </a:t>
            </a:r>
            <a:r>
              <a:rPr lang="en-US" sz="2000" dirty="0"/>
              <a:t>a pattern or form of that network. Structures can vary from isolated(no connections) to saturated (full connections) structures.</a:t>
            </a:r>
          </a:p>
          <a:p>
            <a:endParaRPr lang="en-US" sz="2000" b="1" dirty="0"/>
          </a:p>
          <a:p>
            <a:r>
              <a:rPr lang="en-US" sz="2000" b="1" dirty="0"/>
              <a:t>Social Network Analysis </a:t>
            </a:r>
            <a:r>
              <a:rPr lang="en-US" sz="2000" dirty="0"/>
              <a:t>is not merely a representation and visualization. It proposes that network analysis can explain variation in structural relations and their consequences. It is analysis of social structures and describing underlying patterns and impact of such patterns on behavior and attitudes. </a:t>
            </a:r>
            <a:endParaRPr lang="en-US" sz="2000" b="1" dirty="0"/>
          </a:p>
        </p:txBody>
      </p:sp>
    </p:spTree>
    <p:extLst>
      <p:ext uri="{BB962C8B-B14F-4D97-AF65-F5344CB8AC3E}">
        <p14:creationId xmlns:p14="http://schemas.microsoft.com/office/powerpoint/2010/main" val="3812662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7224286" cy="1255990"/>
          </a:xfrm>
        </p:spPr>
        <p:txBody>
          <a:bodyPr>
            <a:normAutofit/>
          </a:bodyPr>
          <a:lstStyle/>
          <a:p>
            <a:r>
              <a:rPr lang="en-US" sz="3800" dirty="0"/>
              <a:t>4. Research Design Elements</a:t>
            </a:r>
            <a:endParaRPr lang="en-US" sz="3800" i="1" dirty="0"/>
          </a:p>
        </p:txBody>
      </p:sp>
      <p:sp>
        <p:nvSpPr>
          <p:cNvPr id="3" name="직사각형 2">
            <a:extLst>
              <a:ext uri="{FF2B5EF4-FFF2-40B4-BE49-F238E27FC236}">
                <a16:creationId xmlns:a16="http://schemas.microsoft.com/office/drawing/2014/main" id="{61B659F4-7B9E-46D2-AEF9-C8B6318BD549}"/>
              </a:ext>
            </a:extLst>
          </p:cNvPr>
          <p:cNvSpPr/>
          <p:nvPr/>
        </p:nvSpPr>
        <p:spPr>
          <a:xfrm>
            <a:off x="118368" y="1337030"/>
            <a:ext cx="12073632" cy="707886"/>
          </a:xfrm>
          <a:prstGeom prst="rect">
            <a:avLst/>
          </a:prstGeom>
        </p:spPr>
        <p:txBody>
          <a:bodyPr wrap="square">
            <a:spAutoFit/>
          </a:bodyPr>
          <a:lstStyle/>
          <a:p>
            <a:r>
              <a:rPr lang="en-US" sz="2000" dirty="0"/>
              <a:t>Network research design has three principal elements: </a:t>
            </a:r>
          </a:p>
          <a:p>
            <a:r>
              <a:rPr lang="en-US" sz="2000" b="1" dirty="0"/>
              <a:t>1. Sampling units, 2. relational form and content, 3. level of data analysis</a:t>
            </a:r>
            <a:endParaRPr lang="en-US" sz="2000" dirty="0"/>
          </a:p>
        </p:txBody>
      </p:sp>
      <p:sp>
        <p:nvSpPr>
          <p:cNvPr id="4" name="제목 4">
            <a:extLst>
              <a:ext uri="{FF2B5EF4-FFF2-40B4-BE49-F238E27FC236}">
                <a16:creationId xmlns:a16="http://schemas.microsoft.com/office/drawing/2014/main" id="{7EAAAC52-397E-4063-8480-EA0B6937BDD7}"/>
              </a:ext>
            </a:extLst>
          </p:cNvPr>
          <p:cNvSpPr txBox="1">
            <a:spLocks/>
          </p:cNvSpPr>
          <p:nvPr/>
        </p:nvSpPr>
        <p:spPr>
          <a:xfrm>
            <a:off x="118368" y="2239077"/>
            <a:ext cx="2104007"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Sampling Units</a:t>
            </a:r>
          </a:p>
        </p:txBody>
      </p:sp>
      <p:sp>
        <p:nvSpPr>
          <p:cNvPr id="6" name="직사각형 5">
            <a:extLst>
              <a:ext uri="{FF2B5EF4-FFF2-40B4-BE49-F238E27FC236}">
                <a16:creationId xmlns:a16="http://schemas.microsoft.com/office/drawing/2014/main" id="{21EF7DA9-6354-4EE8-8DD1-697A8B005287}"/>
              </a:ext>
            </a:extLst>
          </p:cNvPr>
          <p:cNvSpPr/>
          <p:nvPr/>
        </p:nvSpPr>
        <p:spPr>
          <a:xfrm>
            <a:off x="264115" y="2855112"/>
            <a:ext cx="10738283" cy="369332"/>
          </a:xfrm>
          <a:prstGeom prst="rect">
            <a:avLst/>
          </a:prstGeom>
        </p:spPr>
        <p:txBody>
          <a:bodyPr wrap="square">
            <a:spAutoFit/>
          </a:bodyPr>
          <a:lstStyle/>
          <a:p>
            <a:r>
              <a:rPr lang="en-US" dirty="0"/>
              <a:t>Choosing the most relevant social setting and decide which entities in that setting comprise the network actors. </a:t>
            </a:r>
            <a:endParaRPr lang="en-US" sz="1400" dirty="0"/>
          </a:p>
        </p:txBody>
      </p:sp>
      <p:sp>
        <p:nvSpPr>
          <p:cNvPr id="7" name="제목 4">
            <a:extLst>
              <a:ext uri="{FF2B5EF4-FFF2-40B4-BE49-F238E27FC236}">
                <a16:creationId xmlns:a16="http://schemas.microsoft.com/office/drawing/2014/main" id="{D8034985-944D-420A-ABFB-8D9B7B2EF376}"/>
              </a:ext>
            </a:extLst>
          </p:cNvPr>
          <p:cNvSpPr txBox="1">
            <a:spLocks/>
          </p:cNvSpPr>
          <p:nvPr/>
        </p:nvSpPr>
        <p:spPr>
          <a:xfrm>
            <a:off x="118368" y="3346414"/>
            <a:ext cx="446251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Relational Form and Content</a:t>
            </a:r>
          </a:p>
        </p:txBody>
      </p:sp>
      <p:sp>
        <p:nvSpPr>
          <p:cNvPr id="8" name="직사각형 7">
            <a:extLst>
              <a:ext uri="{FF2B5EF4-FFF2-40B4-BE49-F238E27FC236}">
                <a16:creationId xmlns:a16="http://schemas.microsoft.com/office/drawing/2014/main" id="{A481C48A-15BA-4C42-B7C0-3DF991B6FB4C}"/>
              </a:ext>
            </a:extLst>
          </p:cNvPr>
          <p:cNvSpPr/>
          <p:nvPr/>
        </p:nvSpPr>
        <p:spPr>
          <a:xfrm>
            <a:off x="264115" y="3979803"/>
            <a:ext cx="10930627" cy="2585323"/>
          </a:xfrm>
          <a:prstGeom prst="rect">
            <a:avLst/>
          </a:prstGeom>
        </p:spPr>
        <p:txBody>
          <a:bodyPr wrap="square">
            <a:spAutoFit/>
          </a:bodyPr>
          <a:lstStyle/>
          <a:p>
            <a:r>
              <a:rPr lang="en-US" dirty="0"/>
              <a:t>Deciding specific relations to collect data. Relation among pairs of actors have both form and content, a dichotomy that Georg Simmel proposed in his paper (1908)</a:t>
            </a:r>
          </a:p>
          <a:p>
            <a:endParaRPr lang="en-US" sz="1400" b="1" dirty="0"/>
          </a:p>
          <a:p>
            <a:r>
              <a:rPr lang="en-US" sz="1400" b="1" dirty="0"/>
              <a:t>Contents – </a:t>
            </a:r>
            <a:r>
              <a:rPr lang="en-US" sz="1400" dirty="0"/>
              <a:t>interests, purposes, drives, motives of individuals in an interaction</a:t>
            </a:r>
          </a:p>
          <a:p>
            <a:endParaRPr lang="en-US" sz="1400" b="1" dirty="0"/>
          </a:p>
          <a:p>
            <a:r>
              <a:rPr lang="en-US" sz="1400" b="1" dirty="0"/>
              <a:t>Forms – </a:t>
            </a:r>
            <a:r>
              <a:rPr lang="en-US" sz="1400" dirty="0"/>
              <a:t>modes of interaction through which specific contents attain social reality. </a:t>
            </a:r>
          </a:p>
          <a:p>
            <a:endParaRPr lang="en-US" sz="1400" b="1" dirty="0"/>
          </a:p>
          <a:p>
            <a:r>
              <a:rPr lang="en-US" sz="1400" b="1" dirty="0"/>
              <a:t>Relational Form – </a:t>
            </a:r>
            <a:r>
              <a:rPr lang="en-US" sz="1400" dirty="0"/>
              <a:t>property of actor relations that exists independently of any specific contents. Two fundamental relational forms are 1. strength, intensity, frequency and 2. direction of relations, asymmetric, mutual or null choices.</a:t>
            </a:r>
          </a:p>
          <a:p>
            <a:endParaRPr lang="en-US" sz="1400" b="1" dirty="0"/>
          </a:p>
          <a:p>
            <a:r>
              <a:rPr lang="en-US" sz="1400" b="1" dirty="0"/>
              <a:t>Relational Content – </a:t>
            </a:r>
            <a:r>
              <a:rPr lang="en-US" sz="1400" dirty="0"/>
              <a:t>analytic construct created by a researcher to capture the meaning of a relation from the actors’ subjective viewpoints</a:t>
            </a:r>
            <a:endParaRPr lang="en-US" sz="1400" b="1" dirty="0"/>
          </a:p>
        </p:txBody>
      </p:sp>
    </p:spTree>
    <p:extLst>
      <p:ext uri="{BB962C8B-B14F-4D97-AF65-F5344CB8AC3E}">
        <p14:creationId xmlns:p14="http://schemas.microsoft.com/office/powerpoint/2010/main" val="1059227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5" y="81040"/>
            <a:ext cx="8618080" cy="1255990"/>
          </a:xfrm>
        </p:spPr>
        <p:txBody>
          <a:bodyPr>
            <a:normAutofit/>
          </a:bodyPr>
          <a:lstStyle/>
          <a:p>
            <a:r>
              <a:rPr lang="en-US" sz="3800" dirty="0"/>
              <a:t>4. Research Design Elements</a:t>
            </a:r>
            <a:r>
              <a:rPr lang="en-US" sz="4000" dirty="0"/>
              <a:t> </a:t>
            </a:r>
            <a:r>
              <a:rPr lang="en-US" sz="2800" dirty="0"/>
              <a:t>- Continued</a:t>
            </a:r>
            <a:endParaRPr lang="en-US" sz="3800" i="1" dirty="0"/>
          </a:p>
        </p:txBody>
      </p:sp>
      <p:sp>
        <p:nvSpPr>
          <p:cNvPr id="7" name="제목 4">
            <a:extLst>
              <a:ext uri="{FF2B5EF4-FFF2-40B4-BE49-F238E27FC236}">
                <a16:creationId xmlns:a16="http://schemas.microsoft.com/office/drawing/2014/main" id="{D8034985-944D-420A-ABFB-8D9B7B2EF376}"/>
              </a:ext>
            </a:extLst>
          </p:cNvPr>
          <p:cNvSpPr txBox="1">
            <a:spLocks/>
          </p:cNvSpPr>
          <p:nvPr/>
        </p:nvSpPr>
        <p:spPr>
          <a:xfrm>
            <a:off x="118368" y="983087"/>
            <a:ext cx="446251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Relational Form and Content- continued</a:t>
            </a:r>
          </a:p>
        </p:txBody>
      </p:sp>
      <p:sp>
        <p:nvSpPr>
          <p:cNvPr id="8" name="직사각형 7">
            <a:extLst>
              <a:ext uri="{FF2B5EF4-FFF2-40B4-BE49-F238E27FC236}">
                <a16:creationId xmlns:a16="http://schemas.microsoft.com/office/drawing/2014/main" id="{A481C48A-15BA-4C42-B7C0-3DF991B6FB4C}"/>
              </a:ext>
            </a:extLst>
          </p:cNvPr>
          <p:cNvSpPr/>
          <p:nvPr/>
        </p:nvSpPr>
        <p:spPr>
          <a:xfrm>
            <a:off x="264115" y="1690973"/>
            <a:ext cx="10930627" cy="4431983"/>
          </a:xfrm>
          <a:prstGeom prst="rect">
            <a:avLst/>
          </a:prstGeom>
        </p:spPr>
        <p:txBody>
          <a:bodyPr wrap="square">
            <a:spAutoFit/>
          </a:bodyPr>
          <a:lstStyle/>
          <a:p>
            <a:r>
              <a:rPr lang="en-US" sz="1400" b="1" dirty="0"/>
              <a:t>Type of tie – </a:t>
            </a:r>
            <a:r>
              <a:rPr lang="en-US" sz="1400" dirty="0"/>
              <a:t>choice of a relational content </a:t>
            </a:r>
          </a:p>
          <a:p>
            <a:endParaRPr lang="en-US" sz="1400" dirty="0"/>
          </a:p>
          <a:p>
            <a:r>
              <a:rPr lang="en-US" sz="1400" b="1" dirty="0"/>
              <a:t>Multiplex networks - </a:t>
            </a:r>
            <a:r>
              <a:rPr lang="en-US" sz="1400" dirty="0"/>
              <a:t>network with two or more types of ties</a:t>
            </a:r>
          </a:p>
          <a:p>
            <a:endParaRPr lang="en-US" sz="1600" b="1" dirty="0"/>
          </a:p>
          <a:p>
            <a:r>
              <a:rPr lang="en-US" sz="1400" b="1" dirty="0"/>
              <a:t>Examples of Types of relational content</a:t>
            </a:r>
          </a:p>
          <a:p>
            <a:endParaRPr lang="en-US" sz="1400" b="1" dirty="0"/>
          </a:p>
          <a:p>
            <a:pPr marL="285750" indent="-285750">
              <a:buFont typeface="Arial" panose="020B0604020202020204" pitchFamily="34" charset="0"/>
              <a:buChar char="•"/>
            </a:pPr>
            <a:r>
              <a:rPr lang="en-US" sz="1400" b="1" dirty="0"/>
              <a:t>Transaction relations </a:t>
            </a:r>
            <a:r>
              <a:rPr lang="en-US" sz="1400" dirty="0"/>
              <a:t>– Actors exchange control over physical or symbolic media, for example, in gift giving or economic sales and purchases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Communication relations </a:t>
            </a:r>
            <a:r>
              <a:rPr lang="en-US" sz="1400" dirty="0"/>
              <a:t>– Linkages between actors are channels through which message may be transmitted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Boundary penetration relations</a:t>
            </a:r>
            <a:r>
              <a:rPr lang="en-US" sz="1400" dirty="0"/>
              <a:t> – Ties consist of membership in two or more social formations, for example, corporation boards of directors                </a:t>
            </a:r>
          </a:p>
          <a:p>
            <a:r>
              <a:rPr lang="en-US" sz="1400" dirty="0"/>
              <a:t>                                                                       with overlapping members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b="1" dirty="0"/>
              <a:t>Instrumental relations – </a:t>
            </a:r>
            <a:r>
              <a:rPr lang="en-US" sz="1400" dirty="0"/>
              <a:t>Actors contact one another in efforts to secure valuable goods, services, or information such as jobs, abortion, advice</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b="1" dirty="0"/>
              <a:t>Sentiment relations – </a:t>
            </a:r>
            <a:r>
              <a:rPr lang="en-US" sz="1400" dirty="0"/>
              <a:t>Actors expressing their feelings of affecting, deference, loathing, hostility towards one another</a:t>
            </a:r>
            <a:endParaRPr lang="en-US" sz="1400" b="1" dirty="0"/>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b="1" dirty="0"/>
              <a:t>Authority/power relations – </a:t>
            </a:r>
            <a:r>
              <a:rPr lang="en-US" sz="1400" dirty="0"/>
              <a:t>Rights and obligations of actors to issue and obey commands. Frequent appearance in hierarchical organizations</a:t>
            </a:r>
            <a:endParaRPr lang="en-US" sz="1400" b="1" dirty="0"/>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b="1" dirty="0"/>
              <a:t>Kinship and descent relations – </a:t>
            </a:r>
            <a:r>
              <a:rPr lang="en-US" sz="1400" dirty="0"/>
              <a:t>blonds of blood and marriage reflect relations among family roles</a:t>
            </a:r>
            <a:endParaRPr lang="en-US" sz="1400" b="1" dirty="0"/>
          </a:p>
        </p:txBody>
      </p:sp>
    </p:spTree>
    <p:extLst>
      <p:ext uri="{BB962C8B-B14F-4D97-AF65-F5344CB8AC3E}">
        <p14:creationId xmlns:p14="http://schemas.microsoft.com/office/powerpoint/2010/main" val="3579456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4" y="81040"/>
            <a:ext cx="8653591" cy="1255990"/>
          </a:xfrm>
        </p:spPr>
        <p:txBody>
          <a:bodyPr>
            <a:normAutofit/>
          </a:bodyPr>
          <a:lstStyle/>
          <a:p>
            <a:r>
              <a:rPr lang="en-US" sz="3800" dirty="0"/>
              <a:t>4. Research Design Elements </a:t>
            </a:r>
            <a:r>
              <a:rPr lang="en-US" sz="2800" dirty="0"/>
              <a:t>- Continued</a:t>
            </a:r>
            <a:endParaRPr lang="en-US" sz="3800" i="1" dirty="0"/>
          </a:p>
        </p:txBody>
      </p:sp>
      <p:sp>
        <p:nvSpPr>
          <p:cNvPr id="4" name="제목 4">
            <a:extLst>
              <a:ext uri="{FF2B5EF4-FFF2-40B4-BE49-F238E27FC236}">
                <a16:creationId xmlns:a16="http://schemas.microsoft.com/office/drawing/2014/main" id="{7EAAAC52-397E-4063-8480-EA0B6937BDD7}"/>
              </a:ext>
            </a:extLst>
          </p:cNvPr>
          <p:cNvSpPr txBox="1">
            <a:spLocks/>
          </p:cNvSpPr>
          <p:nvPr/>
        </p:nvSpPr>
        <p:spPr>
          <a:xfrm>
            <a:off x="118368" y="1337030"/>
            <a:ext cx="2104007"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Levels of Analysis</a:t>
            </a:r>
          </a:p>
        </p:txBody>
      </p:sp>
      <mc:AlternateContent xmlns:mc="http://schemas.openxmlformats.org/markup-compatibility/2006">
        <mc:Choice xmlns:a14="http://schemas.microsoft.com/office/drawing/2010/main" Requires="a14">
          <p:sp>
            <p:nvSpPr>
              <p:cNvPr id="6" name="직사각형 5">
                <a:extLst>
                  <a:ext uri="{FF2B5EF4-FFF2-40B4-BE49-F238E27FC236}">
                    <a16:creationId xmlns:a16="http://schemas.microsoft.com/office/drawing/2014/main" id="{21EF7DA9-6354-4EE8-8DD1-697A8B005287}"/>
                  </a:ext>
                </a:extLst>
              </p:cNvPr>
              <p:cNvSpPr/>
              <p:nvPr/>
            </p:nvSpPr>
            <p:spPr>
              <a:xfrm>
                <a:off x="264115" y="1970419"/>
                <a:ext cx="10738283" cy="4845365"/>
              </a:xfrm>
              <a:prstGeom prst="rect">
                <a:avLst/>
              </a:prstGeom>
            </p:spPr>
            <p:txBody>
              <a:bodyPr wrap="square">
                <a:spAutoFit/>
              </a:bodyPr>
              <a:lstStyle/>
              <a:p>
                <a:r>
                  <a:rPr lang="en-US" dirty="0"/>
                  <a:t>There are four conceptually distinct levels of analysis.</a:t>
                </a:r>
              </a:p>
              <a:p>
                <a:endParaRPr lang="en-US" sz="1600" dirty="0"/>
              </a:p>
              <a:p>
                <a:pPr marL="342900" indent="-342900">
                  <a:buAutoNum type="arabicPeriod"/>
                </a:pPr>
                <a:r>
                  <a:rPr lang="en-US" sz="1600" b="1" dirty="0"/>
                  <a:t>Egocentric Network </a:t>
                </a:r>
              </a:p>
              <a:p>
                <a:pPr marL="342900" indent="-342900">
                  <a:buAutoNum type="arabicPeriod"/>
                </a:pPr>
                <a:endParaRPr lang="en-US" sz="1600" b="1" dirty="0"/>
              </a:p>
              <a:p>
                <a:pPr lvl="1"/>
                <a:r>
                  <a:rPr lang="en-US" sz="1600" dirty="0"/>
                  <a:t>Consisting of one actor (ego) and all other actors (alters). If the network size is N actors, an egocentric analysis would have N units of analysis. Observation of each ego actors and their alters</a:t>
                </a:r>
              </a:p>
              <a:p>
                <a:pPr lvl="1"/>
                <a:endParaRPr lang="en-US" sz="1600" dirty="0"/>
              </a:p>
              <a:p>
                <a:pPr lvl="1"/>
                <a:r>
                  <a:rPr lang="en-US" sz="1400" dirty="0"/>
                  <a:t>ex) Crack addict’s personal risk networks found that users in Puerto Rico were more likely to engage in HIV related sex risk                        </a:t>
                </a:r>
              </a:p>
              <a:p>
                <a:pPr lvl="1"/>
                <a:r>
                  <a:rPr lang="en-US" sz="1400" dirty="0"/>
                  <a:t>      behaviors with strangers or acquaintances than were New York addicts</a:t>
                </a:r>
                <a:r>
                  <a:rPr lang="en-US" sz="1600" dirty="0"/>
                  <a:t> </a:t>
                </a:r>
                <a:r>
                  <a:rPr lang="en-US" sz="1200" dirty="0"/>
                  <a:t>(Kang, </a:t>
                </a:r>
                <a:r>
                  <a:rPr lang="en-US" sz="1200" dirty="0" err="1"/>
                  <a:t>Deren</a:t>
                </a:r>
                <a:r>
                  <a:rPr lang="en-US" sz="1200" dirty="0"/>
                  <a:t>, </a:t>
                </a:r>
                <a:r>
                  <a:rPr lang="en-US" sz="1200" dirty="0" err="1"/>
                  <a:t>Andia</a:t>
                </a:r>
                <a:r>
                  <a:rPr lang="en-US" sz="1200" dirty="0"/>
                  <a:t>, Colon &amp; Robles, 2005)</a:t>
                </a:r>
                <a:endParaRPr lang="en-US" sz="1600" dirty="0"/>
              </a:p>
              <a:p>
                <a:pPr marL="342900" indent="-342900">
                  <a:buAutoNum type="arabicPeriod"/>
                </a:pPr>
                <a:endParaRPr lang="en-US" sz="1600" dirty="0"/>
              </a:p>
              <a:p>
                <a:pPr marL="342900" indent="-342900">
                  <a:buAutoNum type="arabicPeriod"/>
                </a:pPr>
                <a:r>
                  <a:rPr lang="en-US" sz="1600" b="1" dirty="0"/>
                  <a:t>Dyadic Network</a:t>
                </a:r>
              </a:p>
              <a:p>
                <a:pPr lvl="1"/>
                <a:endParaRPr lang="en-US" sz="1600" dirty="0"/>
              </a:p>
              <a:p>
                <a:pPr lvl="1"/>
                <a:r>
                  <a:rPr lang="en-US" sz="1600" dirty="0"/>
                  <a:t>Consisting of pairs of actors. If the order of pair is irrelevant, sample of N actors has </a:t>
                </a:r>
                <a14:m>
                  <m:oMath xmlns:m="http://schemas.openxmlformats.org/officeDocument/2006/math">
                    <m:f>
                      <m:fPr>
                        <m:ctrlPr>
                          <a:rPr lang="en-US" sz="1600" b="0" i="1" smtClean="0">
                            <a:latin typeface="Cambria Math" panose="02040503050406030204" pitchFamily="18" charset="0"/>
                          </a:rPr>
                        </m:ctrlPr>
                      </m:fPr>
                      <m:num>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𝑁</m:t>
                            </m:r>
                          </m:e>
                          <m:sup>
                            <m:r>
                              <a:rPr lang="en-US" sz="160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𝑁</m:t>
                        </m:r>
                      </m:num>
                      <m:den>
                        <m:r>
                          <a:rPr lang="en-US" sz="1600" b="0" i="1" smtClean="0">
                            <a:latin typeface="Cambria Math" panose="02040503050406030204" pitchFamily="18" charset="0"/>
                          </a:rPr>
                          <m:t>2</m:t>
                        </m:r>
                      </m:den>
                    </m:f>
                    <m:r>
                      <a:rPr lang="en-US" sz="1600" b="0" i="1" smtClean="0">
                        <a:latin typeface="Cambria Math" panose="02040503050406030204" pitchFamily="18" charset="0"/>
                      </a:rPr>
                      <m:t> </m:t>
                    </m:r>
                  </m:oMath>
                </a14:m>
                <a:r>
                  <a:rPr lang="en-US" sz="1600" dirty="0"/>
                  <a:t> dyadic units of analysis.</a:t>
                </a:r>
              </a:p>
              <a:p>
                <a:pPr lvl="1"/>
                <a:r>
                  <a:rPr lang="en-US" sz="1600" dirty="0"/>
                  <a:t>If not, the sample contains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𝑁</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𝑁</m:t>
                    </m:r>
                  </m:oMath>
                </a14:m>
                <a:r>
                  <a:rPr lang="en-US" sz="1600" dirty="0"/>
                  <a:t> dyadic ordered dyads. Searching for specific ties between two actors, and investigating its strength, duration, intensity of the relation. Analysis based on pair characteristics belongs here. </a:t>
                </a:r>
              </a:p>
              <a:p>
                <a:pPr lvl="1"/>
                <a:endParaRPr lang="en-US" sz="1600" dirty="0"/>
              </a:p>
              <a:p>
                <a:pPr lvl="1"/>
                <a:r>
                  <a:rPr lang="en-US" sz="1400" dirty="0"/>
                  <a:t>ex) Analysis of international conflicts from 1951 to 1985 revealed that dyads linked by tight security and economic relations were only slightly less likely to engage in disputes than were pairs of nations lacking such ties (Benson, 2004)</a:t>
                </a:r>
                <a:endParaRPr lang="en-US" sz="1600" dirty="0"/>
              </a:p>
              <a:p>
                <a:endParaRPr lang="en-US" sz="1600" dirty="0"/>
              </a:p>
            </p:txBody>
          </p:sp>
        </mc:Choice>
        <mc:Fallback>
          <p:sp>
            <p:nvSpPr>
              <p:cNvPr id="6" name="직사각형 5">
                <a:extLst>
                  <a:ext uri="{FF2B5EF4-FFF2-40B4-BE49-F238E27FC236}">
                    <a16:creationId xmlns:a16="http://schemas.microsoft.com/office/drawing/2014/main" id="{21EF7DA9-6354-4EE8-8DD1-697A8B005287}"/>
                  </a:ext>
                </a:extLst>
              </p:cNvPr>
              <p:cNvSpPr>
                <a:spLocks noRot="1" noChangeAspect="1" noMove="1" noResize="1" noEditPoints="1" noAdjustHandles="1" noChangeArrowheads="1" noChangeShapeType="1" noTextEdit="1"/>
              </p:cNvSpPr>
              <p:nvPr/>
            </p:nvSpPr>
            <p:spPr>
              <a:xfrm>
                <a:off x="264115" y="1970419"/>
                <a:ext cx="10738283" cy="4845365"/>
              </a:xfrm>
              <a:prstGeom prst="rect">
                <a:avLst/>
              </a:prstGeom>
              <a:blipFill>
                <a:blip r:embed="rId2"/>
                <a:stretch>
                  <a:fillRect l="-454" t="-629" r="-341"/>
                </a:stretch>
              </a:blipFill>
            </p:spPr>
            <p:txBody>
              <a:bodyPr/>
              <a:lstStyle/>
              <a:p>
                <a:r>
                  <a:rPr lang="en-US">
                    <a:noFill/>
                  </a:rPr>
                  <a:t> </a:t>
                </a:r>
              </a:p>
            </p:txBody>
          </p:sp>
        </mc:Fallback>
      </mc:AlternateContent>
    </p:spTree>
    <p:extLst>
      <p:ext uri="{BB962C8B-B14F-4D97-AF65-F5344CB8AC3E}">
        <p14:creationId xmlns:p14="http://schemas.microsoft.com/office/powerpoint/2010/main" val="554895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543674" y="81040"/>
            <a:ext cx="8653591" cy="1255990"/>
          </a:xfrm>
        </p:spPr>
        <p:txBody>
          <a:bodyPr>
            <a:normAutofit/>
          </a:bodyPr>
          <a:lstStyle/>
          <a:p>
            <a:r>
              <a:rPr lang="en-US" sz="3800" dirty="0"/>
              <a:t>4. Research Design Elements </a:t>
            </a:r>
            <a:r>
              <a:rPr lang="en-US" sz="2800" dirty="0"/>
              <a:t>- Continued</a:t>
            </a:r>
            <a:endParaRPr lang="en-US" sz="3800" i="1" dirty="0"/>
          </a:p>
        </p:txBody>
      </p:sp>
      <p:sp>
        <p:nvSpPr>
          <p:cNvPr id="4" name="제목 4">
            <a:extLst>
              <a:ext uri="{FF2B5EF4-FFF2-40B4-BE49-F238E27FC236}">
                <a16:creationId xmlns:a16="http://schemas.microsoft.com/office/drawing/2014/main" id="{7EAAAC52-397E-4063-8480-EA0B6937BDD7}"/>
              </a:ext>
            </a:extLst>
          </p:cNvPr>
          <p:cNvSpPr txBox="1">
            <a:spLocks/>
          </p:cNvSpPr>
          <p:nvPr/>
        </p:nvSpPr>
        <p:spPr>
          <a:xfrm>
            <a:off x="118368" y="1337030"/>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Levels of Analysis - </a:t>
            </a:r>
            <a:r>
              <a:rPr lang="en-US" sz="1800" b="1" dirty="0"/>
              <a:t>Continued</a:t>
            </a:r>
            <a:endParaRPr lang="en-US" sz="2000" b="1" dirty="0"/>
          </a:p>
        </p:txBody>
      </p:sp>
      <mc:AlternateContent xmlns:mc="http://schemas.openxmlformats.org/markup-compatibility/2006">
        <mc:Choice xmlns:a14="http://schemas.microsoft.com/office/drawing/2010/main" Requires="a14">
          <p:sp>
            <p:nvSpPr>
              <p:cNvPr id="6" name="직사각형 5">
                <a:extLst>
                  <a:ext uri="{FF2B5EF4-FFF2-40B4-BE49-F238E27FC236}">
                    <a16:creationId xmlns:a16="http://schemas.microsoft.com/office/drawing/2014/main" id="{21EF7DA9-6354-4EE8-8DD1-697A8B005287}"/>
                  </a:ext>
                </a:extLst>
              </p:cNvPr>
              <p:cNvSpPr/>
              <p:nvPr/>
            </p:nvSpPr>
            <p:spPr>
              <a:xfrm>
                <a:off x="264115" y="1970419"/>
                <a:ext cx="10738283" cy="2328843"/>
              </a:xfrm>
              <a:prstGeom prst="rect">
                <a:avLst/>
              </a:prstGeom>
            </p:spPr>
            <p:txBody>
              <a:bodyPr wrap="square">
                <a:spAutoFit/>
              </a:bodyPr>
              <a:lstStyle/>
              <a:p>
                <a:r>
                  <a:rPr lang="en-US" sz="1600" b="1" dirty="0"/>
                  <a:t>3.     Triadic Relations</a:t>
                </a:r>
              </a:p>
              <a:p>
                <a:r>
                  <a:rPr lang="en-US" sz="1600" b="1" dirty="0"/>
                  <a:t> </a:t>
                </a:r>
              </a:p>
              <a:p>
                <a:pPr lvl="1"/>
                <a:r>
                  <a:rPr lang="en-US" sz="1600" dirty="0"/>
                  <a:t>A set of N actors have </a:t>
                </a:r>
                <a14:m>
                  <m:oMath xmlns:m="http://schemas.openxmlformats.org/officeDocument/2006/math">
                    <m:d>
                      <m:dPr>
                        <m:ctrlPr>
                          <a:rPr lang="en-US" sz="1600" i="1" smtClean="0">
                            <a:latin typeface="Cambria Math" panose="02040503050406030204" pitchFamily="18" charset="0"/>
                          </a:rPr>
                        </m:ctrlPr>
                      </m:dPr>
                      <m:e>
                        <m:f>
                          <m:fPr>
                            <m:type m:val="noBar"/>
                            <m:ctrlPr>
                              <a:rPr lang="en-US" sz="1600" i="1" smtClean="0">
                                <a:latin typeface="Cambria Math" panose="02040503050406030204" pitchFamily="18" charset="0"/>
                              </a:rPr>
                            </m:ctrlPr>
                          </m:fPr>
                          <m:num>
                            <m:r>
                              <a:rPr lang="en-US" sz="1600" b="0" i="1" smtClean="0">
                                <a:latin typeface="Cambria Math" panose="02040503050406030204" pitchFamily="18" charset="0"/>
                              </a:rPr>
                              <m:t>𝑁</m:t>
                            </m:r>
                          </m:num>
                          <m:den>
                            <m:r>
                              <a:rPr lang="en-US" sz="1600" b="0" i="1" smtClean="0">
                                <a:latin typeface="Cambria Math" panose="02040503050406030204" pitchFamily="18" charset="0"/>
                              </a:rPr>
                              <m:t>3</m:t>
                            </m:r>
                          </m:den>
                        </m:f>
                      </m:e>
                    </m:d>
                  </m:oMath>
                </a14:m>
                <a:r>
                  <a:rPr lang="en-US" sz="1600" dirty="0"/>
                  <a:t> triples, the number of ways to take N actors, three at a time. All possible combinations of present and absent choice of relations among the actors in a triple generates a set of 16 distinct triad types. A summary tabulation called triad census shows the distribution of observed triads among the 16 types. </a:t>
                </a:r>
              </a:p>
              <a:p>
                <a:pPr lvl="1"/>
                <a:endParaRPr lang="en-US" sz="1600" dirty="0"/>
              </a:p>
              <a:p>
                <a:pPr lvl="1"/>
                <a:r>
                  <a:rPr lang="en-US" sz="1400" dirty="0"/>
                  <a:t>ex) If A chooses B, and B chooses C, will A tend to choose C? </a:t>
                </a:r>
                <a:endParaRPr lang="en-US" sz="1600" dirty="0"/>
              </a:p>
              <a:p>
                <a:pPr marL="342900" indent="-342900">
                  <a:buAutoNum type="arabicPeriod"/>
                </a:pPr>
                <a:endParaRPr lang="en-US" sz="1600" dirty="0"/>
              </a:p>
              <a:p>
                <a:endParaRPr lang="en-US" sz="1600" dirty="0"/>
              </a:p>
            </p:txBody>
          </p:sp>
        </mc:Choice>
        <mc:Fallback>
          <p:sp>
            <p:nvSpPr>
              <p:cNvPr id="6" name="직사각형 5">
                <a:extLst>
                  <a:ext uri="{FF2B5EF4-FFF2-40B4-BE49-F238E27FC236}">
                    <a16:creationId xmlns:a16="http://schemas.microsoft.com/office/drawing/2014/main" id="{21EF7DA9-6354-4EE8-8DD1-697A8B005287}"/>
                  </a:ext>
                </a:extLst>
              </p:cNvPr>
              <p:cNvSpPr>
                <a:spLocks noRot="1" noChangeAspect="1" noMove="1" noResize="1" noEditPoints="1" noAdjustHandles="1" noChangeArrowheads="1" noChangeShapeType="1" noTextEdit="1"/>
              </p:cNvSpPr>
              <p:nvPr/>
            </p:nvSpPr>
            <p:spPr>
              <a:xfrm>
                <a:off x="264115" y="1970419"/>
                <a:ext cx="10738283" cy="2328843"/>
              </a:xfrm>
              <a:prstGeom prst="rect">
                <a:avLst/>
              </a:prstGeom>
              <a:blipFill>
                <a:blip r:embed="rId2"/>
                <a:stretch>
                  <a:fillRect l="-284" t="-785"/>
                </a:stretch>
              </a:blipFill>
            </p:spPr>
            <p:txBody>
              <a:bodyPr/>
              <a:lstStyle/>
              <a:p>
                <a:r>
                  <a:rPr lang="en-US">
                    <a:noFill/>
                  </a:rPr>
                  <a:t> </a:t>
                </a:r>
              </a:p>
            </p:txBody>
          </p:sp>
        </mc:Fallback>
      </mc:AlternateContent>
      <p:pic>
        <p:nvPicPr>
          <p:cNvPr id="1026" name="Picture 2" descr="triadic census에 대한 이미지 검색결과">
            <a:extLst>
              <a:ext uri="{FF2B5EF4-FFF2-40B4-BE49-F238E27FC236}">
                <a16:creationId xmlns:a16="http://schemas.microsoft.com/office/drawing/2014/main" id="{265066CF-0D57-482C-86CD-F579BF4D2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178" y="4299262"/>
            <a:ext cx="7486650" cy="1524000"/>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DDF63655-1716-464D-B468-04DA4DA4F2A5}"/>
              </a:ext>
            </a:extLst>
          </p:cNvPr>
          <p:cNvSpPr/>
          <p:nvPr/>
        </p:nvSpPr>
        <p:spPr>
          <a:xfrm>
            <a:off x="5018011" y="6049678"/>
            <a:ext cx="989502" cy="276999"/>
          </a:xfrm>
          <a:prstGeom prst="rect">
            <a:avLst/>
          </a:prstGeom>
        </p:spPr>
        <p:txBody>
          <a:bodyPr wrap="none">
            <a:spAutoFit/>
          </a:bodyPr>
          <a:lstStyle/>
          <a:p>
            <a:r>
              <a:rPr lang="en-US" sz="1200" b="1" dirty="0"/>
              <a:t>Triadic types</a:t>
            </a:r>
          </a:p>
        </p:txBody>
      </p:sp>
    </p:spTree>
    <p:extLst>
      <p:ext uri="{BB962C8B-B14F-4D97-AF65-F5344CB8AC3E}">
        <p14:creationId xmlns:p14="http://schemas.microsoft.com/office/powerpoint/2010/main" val="2138837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직사각형 3">
                <a:extLst>
                  <a:ext uri="{FF2B5EF4-FFF2-40B4-BE49-F238E27FC236}">
                    <a16:creationId xmlns:a16="http://schemas.microsoft.com/office/drawing/2014/main" id="{5FF08D20-40C7-4B79-AFE3-74918123A09C}"/>
                  </a:ext>
                </a:extLst>
              </p:cNvPr>
              <p:cNvSpPr/>
              <p:nvPr/>
            </p:nvSpPr>
            <p:spPr>
              <a:xfrm>
                <a:off x="543674" y="2044916"/>
                <a:ext cx="11192606" cy="2215991"/>
              </a:xfrm>
              <a:prstGeom prst="rect">
                <a:avLst/>
              </a:prstGeom>
            </p:spPr>
            <p:txBody>
              <a:bodyPr wrap="square">
                <a:spAutoFit/>
              </a:bodyPr>
              <a:lstStyle/>
              <a:p>
                <a:r>
                  <a:rPr lang="en-US" sz="1600" b="1" dirty="0"/>
                  <a:t>4.       Complete Network</a:t>
                </a:r>
              </a:p>
              <a:p>
                <a:pPr lvl="1"/>
                <a:endParaRPr lang="en-US" sz="1600" dirty="0"/>
              </a:p>
              <a:p>
                <a:pPr lvl="1"/>
                <a:r>
                  <a:rPr lang="en-US" sz="1600" dirty="0"/>
                  <a:t>1 ~ 3 levels are microlevels. The complete network is the most important macro level of analysis. Every relation among all N actors are used to represent and explain an entire network’s structural relations.  The complete network has N actors and </a:t>
                </a:r>
              </a:p>
              <a:p>
                <a:pPr lvl="1"/>
                <a14:m>
                  <m:oMath xmlns:m="http://schemas.openxmlformats.org/officeDocument/2006/math">
                    <m:sSup>
                      <m:sSupPr>
                        <m:ctrlPr>
                          <a:rPr lang="en-US" sz="1600" i="1">
                            <a:latin typeface="Cambria Math" panose="02040503050406030204" pitchFamily="18" charset="0"/>
                          </a:rPr>
                        </m:ctrlPr>
                      </m:sSupPr>
                      <m:e>
                        <m:r>
                          <a:rPr lang="en-US" sz="1600" i="1">
                            <a:latin typeface="Cambria Math" panose="02040503050406030204" pitchFamily="18" charset="0"/>
                          </a:rPr>
                          <m:t>𝑁</m:t>
                        </m:r>
                      </m:e>
                      <m:sup>
                        <m:r>
                          <a:rPr lang="en-US" sz="1600" i="1">
                            <a:latin typeface="Cambria Math" panose="02040503050406030204" pitchFamily="18" charset="0"/>
                          </a:rPr>
                          <m:t>2</m:t>
                        </m:r>
                      </m:sup>
                    </m:sSup>
                    <m:r>
                      <a:rPr lang="en-US" sz="1600" i="1">
                        <a:latin typeface="Cambria Math" panose="02040503050406030204" pitchFamily="18" charset="0"/>
                      </a:rPr>
                      <m:t>−</m:t>
                    </m:r>
                    <m:r>
                      <a:rPr lang="en-US" sz="1600" i="1">
                        <a:latin typeface="Cambria Math" panose="02040503050406030204" pitchFamily="18" charset="0"/>
                      </a:rPr>
                      <m:t>𝑁</m:t>
                    </m:r>
                  </m:oMath>
                </a14:m>
                <a:r>
                  <a:rPr lang="en-US" sz="1600" dirty="0"/>
                  <a:t>  dyads (excluding self relations; they are generally ignored) </a:t>
                </a:r>
              </a:p>
              <a:p>
                <a:pPr lvl="1"/>
                <a:endParaRPr lang="en-US" sz="1600" dirty="0"/>
              </a:p>
              <a:p>
                <a:pPr lvl="1"/>
                <a:r>
                  <a:rPr lang="en-US" sz="1400" dirty="0"/>
                  <a:t>ex) Friend and pal relations among adolescent peers in Dublin, Ireland (Kirke, 1996)</a:t>
                </a:r>
              </a:p>
              <a:p>
                <a:pPr lvl="1"/>
                <a:r>
                  <a:rPr lang="en-US" sz="1400" dirty="0"/>
                  <a:t>      Dominance hierarchies among the world’s cities (Smith &amp; Timberlake, 2002)</a:t>
                </a:r>
              </a:p>
              <a:p>
                <a:pPr lvl="1"/>
                <a:r>
                  <a:rPr lang="en-US" sz="1400" dirty="0"/>
                  <a:t>      Strategic alliances among firms in the Global Information Sector (</a:t>
                </a:r>
                <a:r>
                  <a:rPr lang="en-US" sz="1400" dirty="0" err="1"/>
                  <a:t>Knoke</a:t>
                </a:r>
                <a:r>
                  <a:rPr lang="en-US" sz="1400" dirty="0"/>
                  <a:t>, in press)</a:t>
                </a:r>
                <a:endParaRPr lang="en-US" sz="1600" dirty="0"/>
              </a:p>
            </p:txBody>
          </p:sp>
        </mc:Choice>
        <mc:Fallback>
          <p:sp>
            <p:nvSpPr>
              <p:cNvPr id="4" name="직사각형 3">
                <a:extLst>
                  <a:ext uri="{FF2B5EF4-FFF2-40B4-BE49-F238E27FC236}">
                    <a16:creationId xmlns:a16="http://schemas.microsoft.com/office/drawing/2014/main" id="{5FF08D20-40C7-4B79-AFE3-74918123A09C}"/>
                  </a:ext>
                </a:extLst>
              </p:cNvPr>
              <p:cNvSpPr>
                <a:spLocks noRot="1" noChangeAspect="1" noMove="1" noResize="1" noEditPoints="1" noAdjustHandles="1" noChangeArrowheads="1" noChangeShapeType="1" noTextEdit="1"/>
              </p:cNvSpPr>
              <p:nvPr/>
            </p:nvSpPr>
            <p:spPr>
              <a:xfrm>
                <a:off x="543674" y="2044916"/>
                <a:ext cx="11192606" cy="2215991"/>
              </a:xfrm>
              <a:prstGeom prst="rect">
                <a:avLst/>
              </a:prstGeom>
              <a:blipFill>
                <a:blip r:embed="rId2"/>
                <a:stretch>
                  <a:fillRect l="-272" t="-824" b="-1923"/>
                </a:stretch>
              </a:blipFill>
            </p:spPr>
            <p:txBody>
              <a:bodyPr/>
              <a:lstStyle/>
              <a:p>
                <a:r>
                  <a:rPr lang="en-US">
                    <a:noFill/>
                  </a:rPr>
                  <a:t> </a:t>
                </a:r>
              </a:p>
            </p:txBody>
          </p:sp>
        </mc:Fallback>
      </mc:AlternateContent>
      <p:sp>
        <p:nvSpPr>
          <p:cNvPr id="5" name="제목 4">
            <a:extLst>
              <a:ext uri="{FF2B5EF4-FFF2-40B4-BE49-F238E27FC236}">
                <a16:creationId xmlns:a16="http://schemas.microsoft.com/office/drawing/2014/main" id="{B6243797-279D-4AC8-A97C-CE4C4CF84C61}"/>
              </a:ext>
            </a:extLst>
          </p:cNvPr>
          <p:cNvSpPr>
            <a:spLocks noGrp="1"/>
          </p:cNvSpPr>
          <p:nvPr>
            <p:ph type="title"/>
          </p:nvPr>
        </p:nvSpPr>
        <p:spPr>
          <a:xfrm>
            <a:off x="543674" y="81040"/>
            <a:ext cx="8653591" cy="1255990"/>
          </a:xfrm>
        </p:spPr>
        <p:txBody>
          <a:bodyPr>
            <a:normAutofit/>
          </a:bodyPr>
          <a:lstStyle/>
          <a:p>
            <a:r>
              <a:rPr lang="en-US" sz="3800" dirty="0"/>
              <a:t>4. Research Design Elements </a:t>
            </a:r>
            <a:r>
              <a:rPr lang="en-US" sz="2800" dirty="0"/>
              <a:t>- Continued</a:t>
            </a:r>
            <a:endParaRPr lang="en-US" sz="3800" i="1" dirty="0"/>
          </a:p>
        </p:txBody>
      </p:sp>
      <p:sp>
        <p:nvSpPr>
          <p:cNvPr id="6" name="제목 4">
            <a:extLst>
              <a:ext uri="{FF2B5EF4-FFF2-40B4-BE49-F238E27FC236}">
                <a16:creationId xmlns:a16="http://schemas.microsoft.com/office/drawing/2014/main" id="{57D6EC72-98C7-48A9-A8F6-8EE8375BADE1}"/>
              </a:ext>
            </a:extLst>
          </p:cNvPr>
          <p:cNvSpPr txBox="1">
            <a:spLocks/>
          </p:cNvSpPr>
          <p:nvPr/>
        </p:nvSpPr>
        <p:spPr>
          <a:xfrm>
            <a:off x="118368" y="1337030"/>
            <a:ext cx="3583620" cy="7078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Levels of Analysis - </a:t>
            </a:r>
            <a:r>
              <a:rPr lang="en-US" sz="1800" b="1" dirty="0"/>
              <a:t>Continued</a:t>
            </a:r>
            <a:endParaRPr lang="en-US" sz="2000" b="1" dirty="0"/>
          </a:p>
        </p:txBody>
      </p:sp>
      <p:sp>
        <p:nvSpPr>
          <p:cNvPr id="7" name="직사각형 6">
            <a:extLst>
              <a:ext uri="{FF2B5EF4-FFF2-40B4-BE49-F238E27FC236}">
                <a16:creationId xmlns:a16="http://schemas.microsoft.com/office/drawing/2014/main" id="{A7551C4B-9321-4EC7-AE2F-2DD5FC9EC549}"/>
              </a:ext>
            </a:extLst>
          </p:cNvPr>
          <p:cNvSpPr/>
          <p:nvPr/>
        </p:nvSpPr>
        <p:spPr>
          <a:xfrm>
            <a:off x="543674" y="4657082"/>
            <a:ext cx="10896060" cy="923330"/>
          </a:xfrm>
          <a:prstGeom prst="rect">
            <a:avLst/>
          </a:prstGeom>
        </p:spPr>
        <p:txBody>
          <a:bodyPr wrap="none">
            <a:spAutoFit/>
          </a:bodyPr>
          <a:lstStyle/>
          <a:p>
            <a:r>
              <a:rPr lang="en-US" dirty="0"/>
              <a:t>The four levels of analysis imply that emergent phenomena at one level cannot be simply deduced from</a:t>
            </a:r>
          </a:p>
          <a:p>
            <a:r>
              <a:rPr lang="en-US" dirty="0"/>
              <a:t> the knowledge of the relations at other levels. Hence, it is important to find appropriate level of analysis to design</a:t>
            </a:r>
          </a:p>
          <a:p>
            <a:r>
              <a:rPr lang="en-US" dirty="0"/>
              <a:t> your research.</a:t>
            </a:r>
          </a:p>
        </p:txBody>
      </p:sp>
      <p:sp>
        <p:nvSpPr>
          <p:cNvPr id="8" name="직사각형 7">
            <a:extLst>
              <a:ext uri="{FF2B5EF4-FFF2-40B4-BE49-F238E27FC236}">
                <a16:creationId xmlns:a16="http://schemas.microsoft.com/office/drawing/2014/main" id="{838A200E-4CFD-4488-AAC7-D8D5158E4BF4}"/>
              </a:ext>
            </a:extLst>
          </p:cNvPr>
          <p:cNvSpPr/>
          <p:nvPr/>
        </p:nvSpPr>
        <p:spPr>
          <a:xfrm>
            <a:off x="543674" y="5688449"/>
            <a:ext cx="11458936" cy="523220"/>
          </a:xfrm>
          <a:prstGeom prst="rect">
            <a:avLst/>
          </a:prstGeom>
        </p:spPr>
        <p:txBody>
          <a:bodyPr wrap="square">
            <a:spAutoFit/>
          </a:bodyPr>
          <a:lstStyle/>
          <a:p>
            <a:pPr lvl="1"/>
            <a:r>
              <a:rPr lang="en-US" sz="1400" dirty="0"/>
              <a:t>ex) Transitivity of choice relations is a substantively important variable for theories of friendship formation ( “a friend of my friend, is my friend”).</a:t>
            </a:r>
          </a:p>
          <a:p>
            <a:pPr lvl="1"/>
            <a:r>
              <a:rPr lang="en-US" sz="1400" dirty="0"/>
              <a:t>       This can easily be observed in triadic level but not at egocentric</a:t>
            </a:r>
            <a:r>
              <a:rPr lang="en-US" sz="1400"/>
              <a:t>, dyadic level. </a:t>
            </a:r>
            <a:endParaRPr lang="en-US" dirty="0"/>
          </a:p>
        </p:txBody>
      </p:sp>
    </p:spTree>
    <p:extLst>
      <p:ext uri="{BB962C8B-B14F-4D97-AF65-F5344CB8AC3E}">
        <p14:creationId xmlns:p14="http://schemas.microsoft.com/office/powerpoint/2010/main" val="3403595384"/>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4857</TotalTime>
  <Words>1900</Words>
  <Application>Microsoft Office PowerPoint</Application>
  <PresentationFormat>와이드스크린</PresentationFormat>
  <Paragraphs>157</Paragraphs>
  <Slides>14</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14</vt:i4>
      </vt:variant>
    </vt:vector>
  </HeadingPairs>
  <TitlesOfParts>
    <vt:vector size="23" baseType="lpstr">
      <vt:lpstr>맑은 고딕</vt:lpstr>
      <vt:lpstr>Arial</vt:lpstr>
      <vt:lpstr>Calibri</vt:lpstr>
      <vt:lpstr>Calibri Light</vt:lpstr>
      <vt:lpstr>Cambria Math</vt:lpstr>
      <vt:lpstr>Wingdings</vt:lpstr>
      <vt:lpstr>Wingdings 2</vt:lpstr>
      <vt:lpstr>HDOfficeLightV0</vt:lpstr>
      <vt:lpstr>Office 테마</vt:lpstr>
      <vt:lpstr>Social Network Analysis</vt:lpstr>
      <vt:lpstr>Contents</vt:lpstr>
      <vt:lpstr>1. Underlying Assumptions behind Social Network Analysis</vt:lpstr>
      <vt:lpstr>Assumption 1</vt:lpstr>
      <vt:lpstr>Assumption 2</vt:lpstr>
      <vt:lpstr>Assumption 3</vt:lpstr>
      <vt:lpstr>2. Actors and Relations</vt:lpstr>
      <vt:lpstr>Actors and Relations - Continued</vt:lpstr>
      <vt:lpstr>3. Networks</vt:lpstr>
      <vt:lpstr>4. Research Design Elements</vt:lpstr>
      <vt:lpstr>4. Research Design Elements - Continued</vt:lpstr>
      <vt:lpstr>4. Research Design Elements - Continued</vt:lpstr>
      <vt:lpstr>4. Research Design Elements - Continued</vt:lpstr>
      <vt:lpstr>4. Research Design Elements -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139</cp:revision>
  <dcterms:created xsi:type="dcterms:W3CDTF">2018-01-23T16:32:33Z</dcterms:created>
  <dcterms:modified xsi:type="dcterms:W3CDTF">2018-02-14T11:48:49Z</dcterms:modified>
</cp:coreProperties>
</file>